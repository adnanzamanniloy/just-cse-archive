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95" r:id="rId9"/>
    <p:sldId id="296" r:id="rId10"/>
    <p:sldId id="274" r:id="rId11"/>
    <p:sldId id="297" r:id="rId12"/>
    <p:sldId id="298" r:id="rId13"/>
    <p:sldId id="299" r:id="rId14"/>
    <p:sldId id="300" r:id="rId15"/>
    <p:sldId id="301" r:id="rId16"/>
    <p:sldId id="302" r:id="rId17"/>
    <p:sldId id="303" r:id="rId18"/>
    <p:sldId id="304" r:id="rId19"/>
    <p:sldId id="305" r:id="rId20"/>
    <p:sldId id="306" r:id="rId21"/>
    <p:sldId id="264" r:id="rId22"/>
    <p:sldId id="266" r:id="rId23"/>
    <p:sldId id="265" r:id="rId24"/>
    <p:sldId id="267" r:id="rId25"/>
    <p:sldId id="268" r:id="rId26"/>
    <p:sldId id="269" r:id="rId27"/>
    <p:sldId id="271" r:id="rId28"/>
    <p:sldId id="270" r:id="rId29"/>
    <p:sldId id="276" r:id="rId30"/>
    <p:sldId id="277" r:id="rId31"/>
    <p:sldId id="272" r:id="rId32"/>
    <p:sldId id="307" r:id="rId33"/>
    <p:sldId id="308" r:id="rId34"/>
    <p:sldId id="273" r:id="rId35"/>
    <p:sldId id="294" r:id="rId36"/>
    <p:sldId id="278" r:id="rId37"/>
    <p:sldId id="283" r:id="rId38"/>
    <p:sldId id="279" r:id="rId39"/>
    <p:sldId id="280" r:id="rId40"/>
    <p:sldId id="281" r:id="rId41"/>
    <p:sldId id="284" r:id="rId42"/>
    <p:sldId id="285" r:id="rId43"/>
    <p:sldId id="286" r:id="rId44"/>
    <p:sldId id="287" r:id="rId45"/>
    <p:sldId id="288" r:id="rId46"/>
    <p:sldId id="289" r:id="rId47"/>
    <p:sldId id="290" r:id="rId48"/>
    <p:sldId id="291" r:id="rId49"/>
    <p:sldId id="292" r:id="rId50"/>
    <p:sldId id="293" r:id="rId5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p:cViewPr varScale="1">
        <p:scale>
          <a:sx n="63" d="100"/>
          <a:sy n="63" d="100"/>
        </p:scale>
        <p:origin x="1404" y="56"/>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Simulation Modeling and Analysis</a:t>
            </a:r>
          </a:p>
        </p:txBody>
      </p:sp>
      <p:sp>
        <p:nvSpPr>
          <p:cNvPr id="3" name="Subtitle 2"/>
          <p:cNvSpPr>
            <a:spLocks noGrp="1"/>
          </p:cNvSpPr>
          <p:nvPr>
            <p:ph type="subTitle" idx="1"/>
          </p:nvPr>
        </p:nvSpPr>
        <p:spPr/>
        <p:txBody>
          <a:bodyPr/>
          <a:lstStyle/>
          <a:p>
            <a:r>
              <a:rPr lang="en-US" dirty="0"/>
              <a:t>Dr. Md. Nasim Adnan</a:t>
            </a:r>
          </a:p>
        </p:txBody>
      </p:sp>
    </p:spTree>
    <p:extLst>
      <p:ext uri="{BB962C8B-B14F-4D97-AF65-F5344CB8AC3E}">
        <p14:creationId xmlns:p14="http://schemas.microsoft.com/office/powerpoint/2010/main" val="23597227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Random Variables and their Properties</a:t>
            </a:r>
          </a:p>
        </p:txBody>
      </p:sp>
      <p:sp>
        <p:nvSpPr>
          <p:cNvPr id="3" name="Content Placeholder 2"/>
          <p:cNvSpPr>
            <a:spLocks noGrp="1"/>
          </p:cNvSpPr>
          <p:nvPr>
            <p:ph idx="1"/>
          </p:nvPr>
        </p:nvSpPr>
        <p:spPr/>
        <p:txBody>
          <a:bodyPr>
            <a:normAutofit fontScale="92500" lnSpcReduction="20000"/>
          </a:bodyPr>
          <a:lstStyle/>
          <a:p>
            <a:pPr algn="just"/>
            <a:r>
              <a:rPr lang="en-US" dirty="0"/>
              <a:t>An </a:t>
            </a:r>
            <a:r>
              <a:rPr lang="en-US" i="1" dirty="0"/>
              <a:t>experiment </a:t>
            </a:r>
            <a:r>
              <a:rPr lang="en-US" dirty="0"/>
              <a:t>is a process whose outcome is not known with certainty. The set of all possible outcomes of an experiment is called the </a:t>
            </a:r>
            <a:r>
              <a:rPr lang="en-US" i="1" dirty="0"/>
              <a:t>sample space </a:t>
            </a:r>
            <a:r>
              <a:rPr lang="en-US" dirty="0"/>
              <a:t>and is denoted by </a:t>
            </a:r>
            <a:r>
              <a:rPr lang="en-US" i="1" dirty="0"/>
              <a:t>S</a:t>
            </a:r>
            <a:r>
              <a:rPr lang="en-US" dirty="0"/>
              <a:t>.</a:t>
            </a:r>
          </a:p>
          <a:p>
            <a:pPr algn="just"/>
            <a:r>
              <a:rPr lang="en-US" dirty="0"/>
              <a:t>The outcomes themselves are called the </a:t>
            </a:r>
            <a:r>
              <a:rPr lang="en-US" i="1" dirty="0"/>
              <a:t>sample points </a:t>
            </a:r>
            <a:r>
              <a:rPr lang="en-US" dirty="0"/>
              <a:t>in the sample space.</a:t>
            </a:r>
          </a:p>
          <a:p>
            <a:pPr algn="just"/>
            <a:r>
              <a:rPr lang="en-US" dirty="0"/>
              <a:t>If the experiment consists of flipping a coin, then </a:t>
            </a:r>
            <a:r>
              <a:rPr lang="en-US" i="1" dirty="0"/>
              <a:t>S </a:t>
            </a:r>
            <a:r>
              <a:rPr lang="en-US" dirty="0"/>
              <a:t>= {H, T}</a:t>
            </a:r>
          </a:p>
          <a:p>
            <a:pPr lvl="1" algn="just"/>
            <a:r>
              <a:rPr lang="en-US" dirty="0"/>
              <a:t>where the symbol { } means the “set consisting of,” and “H” and “T” mean that the outcome is a head and a tail, respectively.</a:t>
            </a:r>
          </a:p>
        </p:txBody>
      </p:sp>
    </p:spTree>
    <p:extLst>
      <p:ext uri="{BB962C8B-B14F-4D97-AF65-F5344CB8AC3E}">
        <p14:creationId xmlns:p14="http://schemas.microsoft.com/office/powerpoint/2010/main" val="9508520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en-US" dirty="0"/>
              <a:t>If the experiment consists of tossing a die, then S = {1, 2, . . . , 6}</a:t>
            </a:r>
          </a:p>
          <a:p>
            <a:pPr lvl="1" algn="just"/>
            <a:r>
              <a:rPr lang="en-US" dirty="0"/>
              <a:t>where the outcome </a:t>
            </a:r>
            <a:r>
              <a:rPr lang="en-US" i="1" dirty="0" err="1"/>
              <a:t>i</a:t>
            </a:r>
            <a:r>
              <a:rPr lang="en-US" dirty="0"/>
              <a:t> means that </a:t>
            </a:r>
            <a:r>
              <a:rPr lang="en-US" i="1" dirty="0" err="1"/>
              <a:t>i</a:t>
            </a:r>
            <a:r>
              <a:rPr lang="en-US" dirty="0"/>
              <a:t> appeared on the die, </a:t>
            </a:r>
            <a:r>
              <a:rPr lang="en-US" i="1" dirty="0" err="1"/>
              <a:t>i</a:t>
            </a:r>
            <a:r>
              <a:rPr lang="en-US" dirty="0"/>
              <a:t> = 1, 2, . . . , 6.</a:t>
            </a:r>
          </a:p>
          <a:p>
            <a:pPr lvl="1" algn="just"/>
            <a:r>
              <a:rPr lang="en-US" dirty="0"/>
              <a:t>A random variable is a function (or rule) that assigns a real number (any number greater than -ꚙ and less than ꚙ) to each point in the sample space S.</a:t>
            </a:r>
          </a:p>
        </p:txBody>
      </p:sp>
    </p:spTree>
    <p:extLst>
      <p:ext uri="{BB962C8B-B14F-4D97-AF65-F5344CB8AC3E}">
        <p14:creationId xmlns:p14="http://schemas.microsoft.com/office/powerpoint/2010/main" val="1986714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lgn="just"/>
            <a:r>
              <a:rPr lang="en-US" dirty="0"/>
              <a:t>In general, we denote random variables by capital letters such as </a:t>
            </a:r>
            <a:r>
              <a:rPr lang="en-US" i="1" dirty="0"/>
              <a:t>X</a:t>
            </a:r>
            <a:r>
              <a:rPr lang="en-US" dirty="0"/>
              <a:t>, </a:t>
            </a:r>
            <a:r>
              <a:rPr lang="en-US" i="1" dirty="0"/>
              <a:t>Y</a:t>
            </a:r>
            <a:r>
              <a:rPr lang="en-US" dirty="0"/>
              <a:t>, </a:t>
            </a:r>
            <a:r>
              <a:rPr lang="en-US" i="1" dirty="0"/>
              <a:t>Z </a:t>
            </a:r>
            <a:r>
              <a:rPr lang="en-US" dirty="0"/>
              <a:t>and the values that random variables take on by lowercase letters such as </a:t>
            </a:r>
            <a:r>
              <a:rPr lang="en-US" i="1" dirty="0"/>
              <a:t>x</a:t>
            </a:r>
            <a:r>
              <a:rPr lang="en-US" dirty="0"/>
              <a:t>, </a:t>
            </a:r>
            <a:r>
              <a:rPr lang="en-US" i="1" dirty="0"/>
              <a:t>y</a:t>
            </a:r>
            <a:r>
              <a:rPr lang="en-US" dirty="0"/>
              <a:t>, </a:t>
            </a:r>
            <a:r>
              <a:rPr lang="en-US" i="1" dirty="0"/>
              <a:t>z</a:t>
            </a:r>
            <a:r>
              <a:rPr lang="en-US" dirty="0"/>
              <a:t>.</a:t>
            </a:r>
          </a:p>
          <a:p>
            <a:pPr algn="just"/>
            <a:r>
              <a:rPr lang="en-US" dirty="0"/>
              <a:t>The </a:t>
            </a:r>
            <a:r>
              <a:rPr lang="en-US" i="1" dirty="0"/>
              <a:t>distribution function </a:t>
            </a:r>
            <a:r>
              <a:rPr lang="en-US" dirty="0"/>
              <a:t>(sometimes called the </a:t>
            </a:r>
            <a:r>
              <a:rPr lang="en-US" i="1" dirty="0"/>
              <a:t>cumulative </a:t>
            </a:r>
            <a:r>
              <a:rPr lang="en-US" dirty="0"/>
              <a:t>distribution function) </a:t>
            </a:r>
            <a:r>
              <a:rPr lang="en-US" i="1" dirty="0"/>
              <a:t>F</a:t>
            </a:r>
            <a:r>
              <a:rPr lang="en-US" dirty="0"/>
              <a:t>(</a:t>
            </a:r>
            <a:r>
              <a:rPr lang="en-US" i="1" dirty="0"/>
              <a:t>x</a:t>
            </a:r>
            <a:r>
              <a:rPr lang="en-US" dirty="0"/>
              <a:t>) of the random variable </a:t>
            </a:r>
            <a:r>
              <a:rPr lang="en-US" i="1" dirty="0"/>
              <a:t>X </a:t>
            </a:r>
            <a:r>
              <a:rPr lang="en-US" dirty="0"/>
              <a:t>is defined for each real number </a:t>
            </a:r>
            <a:r>
              <a:rPr lang="en-US" i="1" dirty="0"/>
              <a:t>x </a:t>
            </a:r>
            <a:r>
              <a:rPr lang="en-US" dirty="0"/>
              <a:t>as follows:</a:t>
            </a:r>
          </a:p>
          <a:p>
            <a:pPr algn="just"/>
            <a:r>
              <a:rPr lang="en-US" i="1" dirty="0"/>
              <a:t>F</a:t>
            </a:r>
            <a:r>
              <a:rPr lang="en-US" dirty="0"/>
              <a:t>(</a:t>
            </a:r>
            <a:r>
              <a:rPr lang="en-US" i="1" dirty="0"/>
              <a:t>x</a:t>
            </a:r>
            <a:r>
              <a:rPr lang="en-US" dirty="0"/>
              <a:t>) = </a:t>
            </a:r>
            <a:r>
              <a:rPr lang="en-US" i="1" dirty="0"/>
              <a:t>P</a:t>
            </a:r>
            <a:r>
              <a:rPr lang="en-US" dirty="0"/>
              <a:t>(</a:t>
            </a:r>
            <a:r>
              <a:rPr lang="en-US" i="1" dirty="0"/>
              <a:t>X </a:t>
            </a:r>
            <a:r>
              <a:rPr lang="en-US" dirty="0"/>
              <a:t>&lt;= </a:t>
            </a:r>
            <a:r>
              <a:rPr lang="en-US" i="1" dirty="0"/>
              <a:t>x</a:t>
            </a:r>
            <a:r>
              <a:rPr lang="en-US" dirty="0"/>
              <a:t>) for -ꚙ &lt; </a:t>
            </a:r>
            <a:r>
              <a:rPr lang="en-US" i="1" dirty="0"/>
              <a:t>x </a:t>
            </a:r>
            <a:r>
              <a:rPr lang="en-US" dirty="0"/>
              <a:t>&lt; ꚙ</a:t>
            </a:r>
          </a:p>
          <a:p>
            <a:pPr algn="just"/>
            <a:endParaRPr lang="en-US" dirty="0"/>
          </a:p>
        </p:txBody>
      </p:sp>
    </p:spTree>
    <p:extLst>
      <p:ext uri="{BB962C8B-B14F-4D97-AF65-F5344CB8AC3E}">
        <p14:creationId xmlns:p14="http://schemas.microsoft.com/office/powerpoint/2010/main" val="9336802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a:t>where </a:t>
            </a:r>
            <a:r>
              <a:rPr lang="en-US" i="1" dirty="0"/>
              <a:t>P</a:t>
            </a:r>
            <a:r>
              <a:rPr lang="en-US" dirty="0"/>
              <a:t>(</a:t>
            </a:r>
            <a:r>
              <a:rPr lang="en-US" i="1" dirty="0"/>
              <a:t>X </a:t>
            </a:r>
            <a:r>
              <a:rPr lang="en-US" dirty="0"/>
              <a:t>&lt;= </a:t>
            </a:r>
            <a:r>
              <a:rPr lang="en-US" i="1" dirty="0"/>
              <a:t>x</a:t>
            </a:r>
            <a:r>
              <a:rPr lang="en-US" dirty="0"/>
              <a:t>) means the probability associated with the event {</a:t>
            </a:r>
            <a:r>
              <a:rPr lang="en-US" i="1" dirty="0"/>
              <a:t>X </a:t>
            </a:r>
            <a:r>
              <a:rPr lang="en-US" dirty="0"/>
              <a:t>&lt;= </a:t>
            </a:r>
            <a:r>
              <a:rPr lang="en-US" i="1" dirty="0"/>
              <a:t>x</a:t>
            </a:r>
            <a:r>
              <a:rPr lang="en-US" dirty="0"/>
              <a:t>}.</a:t>
            </a:r>
          </a:p>
          <a:p>
            <a:pPr algn="just"/>
            <a:r>
              <a:rPr lang="en-US" dirty="0"/>
              <a:t>Thus, </a:t>
            </a:r>
            <a:r>
              <a:rPr lang="en-US" i="1" dirty="0"/>
              <a:t>F</a:t>
            </a:r>
            <a:r>
              <a:rPr lang="en-US" dirty="0"/>
              <a:t>(</a:t>
            </a:r>
            <a:r>
              <a:rPr lang="en-US" i="1" dirty="0"/>
              <a:t>x</a:t>
            </a:r>
            <a:r>
              <a:rPr lang="en-US" dirty="0"/>
              <a:t>) is the probability that, when the experiment is done, </a:t>
            </a:r>
            <a:r>
              <a:rPr lang="en-US" b="1" dirty="0"/>
              <a:t>the random variable </a:t>
            </a:r>
            <a:r>
              <a:rPr lang="en-US" b="1" i="1" dirty="0"/>
              <a:t>X </a:t>
            </a:r>
            <a:r>
              <a:rPr lang="en-US" b="1" dirty="0"/>
              <a:t>will take on a value no larger than the number </a:t>
            </a:r>
            <a:r>
              <a:rPr lang="en-US" b="1" i="1" dirty="0"/>
              <a:t>x</a:t>
            </a:r>
            <a:r>
              <a:rPr lang="en-US" dirty="0"/>
              <a:t>.</a:t>
            </a:r>
          </a:p>
        </p:txBody>
      </p:sp>
    </p:spTree>
    <p:extLst>
      <p:ext uri="{BB962C8B-B14F-4D97-AF65-F5344CB8AC3E}">
        <p14:creationId xmlns:p14="http://schemas.microsoft.com/office/powerpoint/2010/main" val="1592213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981200"/>
            <a:ext cx="8229600" cy="2668335"/>
          </a:xfrm>
        </p:spPr>
      </p:pic>
    </p:spTree>
    <p:extLst>
      <p:ext uri="{BB962C8B-B14F-4D97-AF65-F5344CB8AC3E}">
        <p14:creationId xmlns:p14="http://schemas.microsoft.com/office/powerpoint/2010/main" val="3432139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algn="just"/>
            <a:r>
              <a:rPr lang="en-US" dirty="0"/>
              <a:t>A random variable </a:t>
            </a:r>
            <a:r>
              <a:rPr lang="en-US" i="1" dirty="0"/>
              <a:t>X </a:t>
            </a:r>
            <a:r>
              <a:rPr lang="en-US" dirty="0"/>
              <a:t>is said to be </a:t>
            </a:r>
            <a:r>
              <a:rPr lang="en-US" i="1" dirty="0"/>
              <a:t>discrete </a:t>
            </a:r>
            <a:r>
              <a:rPr lang="en-US" dirty="0"/>
              <a:t>if it can take on at most a countable number of values, say, </a:t>
            </a:r>
            <a:r>
              <a:rPr lang="en-US" i="1" dirty="0"/>
              <a:t>x</a:t>
            </a:r>
            <a:r>
              <a:rPr lang="en-US" dirty="0"/>
              <a:t>1, </a:t>
            </a:r>
            <a:r>
              <a:rPr lang="en-US" i="1" dirty="0"/>
              <a:t>x</a:t>
            </a:r>
            <a:r>
              <a:rPr lang="en-US" dirty="0"/>
              <a:t>2, . . . An example of an uncountable set is all real numbers between 0 and 1.)</a:t>
            </a:r>
          </a:p>
          <a:p>
            <a:pPr algn="just"/>
            <a:r>
              <a:rPr lang="en-US" dirty="0"/>
              <a:t>Thus, a random variable that takes on only a finite number of values </a:t>
            </a:r>
            <a:r>
              <a:rPr lang="en-US" i="1" dirty="0"/>
              <a:t>x</a:t>
            </a:r>
            <a:r>
              <a:rPr lang="en-US" dirty="0"/>
              <a:t>1, </a:t>
            </a:r>
            <a:r>
              <a:rPr lang="en-US" i="1" dirty="0"/>
              <a:t>x</a:t>
            </a:r>
            <a:r>
              <a:rPr lang="en-US" dirty="0"/>
              <a:t>2, . . . , </a:t>
            </a:r>
            <a:r>
              <a:rPr lang="en-US" i="1" dirty="0" err="1"/>
              <a:t>x</a:t>
            </a:r>
            <a:r>
              <a:rPr lang="en-US" dirty="0" err="1"/>
              <a:t>n</a:t>
            </a:r>
            <a:r>
              <a:rPr lang="en-US" i="1" dirty="0"/>
              <a:t> </a:t>
            </a:r>
            <a:r>
              <a:rPr lang="en-US" dirty="0"/>
              <a:t>is discrete. The probability that the discrete random variable </a:t>
            </a:r>
            <a:r>
              <a:rPr lang="en-US" i="1" dirty="0"/>
              <a:t>X </a:t>
            </a:r>
            <a:r>
              <a:rPr lang="en-US" dirty="0"/>
              <a:t>takes on the value </a:t>
            </a:r>
            <a:r>
              <a:rPr lang="en-US" i="1" dirty="0"/>
              <a:t>x</a:t>
            </a:r>
            <a:r>
              <a:rPr lang="en-US" dirty="0"/>
              <a:t>i</a:t>
            </a:r>
            <a:r>
              <a:rPr lang="en-US" i="1" dirty="0"/>
              <a:t> </a:t>
            </a:r>
            <a:r>
              <a:rPr lang="en-US" dirty="0"/>
              <a:t>is given by:</a:t>
            </a:r>
          </a:p>
          <a:p>
            <a:pPr marL="0" indent="0" algn="just">
              <a:buNone/>
            </a:pPr>
            <a:r>
              <a:rPr lang="en-US" i="1" dirty="0"/>
              <a:t>		p</a:t>
            </a:r>
            <a:r>
              <a:rPr lang="en-US" dirty="0"/>
              <a:t>(</a:t>
            </a:r>
            <a:r>
              <a:rPr lang="en-US" i="1" dirty="0"/>
              <a:t>xi</a:t>
            </a:r>
            <a:r>
              <a:rPr lang="en-US" dirty="0"/>
              <a:t>) = </a:t>
            </a:r>
            <a:r>
              <a:rPr lang="en-US" i="1" dirty="0"/>
              <a:t>P</a:t>
            </a:r>
            <a:r>
              <a:rPr lang="en-US" dirty="0"/>
              <a:t>(</a:t>
            </a:r>
            <a:r>
              <a:rPr lang="en-US" i="1" dirty="0"/>
              <a:t>X </a:t>
            </a:r>
            <a:r>
              <a:rPr lang="en-US" dirty="0"/>
              <a:t>= </a:t>
            </a:r>
            <a:r>
              <a:rPr lang="en-US" i="1" dirty="0"/>
              <a:t>xi</a:t>
            </a:r>
            <a:r>
              <a:rPr lang="en-US" dirty="0"/>
              <a:t>) for </a:t>
            </a:r>
            <a:r>
              <a:rPr lang="en-US" i="1" dirty="0" err="1"/>
              <a:t>i</a:t>
            </a:r>
            <a:r>
              <a:rPr lang="en-US" i="1" dirty="0"/>
              <a:t> </a:t>
            </a:r>
            <a:r>
              <a:rPr lang="en-US" dirty="0"/>
              <a:t>= 1, 2, . . .</a:t>
            </a:r>
          </a:p>
        </p:txBody>
      </p:sp>
    </p:spTree>
    <p:extLst>
      <p:ext uri="{BB962C8B-B14F-4D97-AF65-F5344CB8AC3E}">
        <p14:creationId xmlns:p14="http://schemas.microsoft.com/office/powerpoint/2010/main" val="20449663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84F8E-8820-DA80-1861-721BC5FFCBF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210E526-ADC1-EC10-ECD5-13D6EB008991}"/>
              </a:ext>
            </a:extLst>
          </p:cNvPr>
          <p:cNvSpPr>
            <a:spLocks noGrp="1"/>
          </p:cNvSpPr>
          <p:nvPr>
            <p:ph idx="1"/>
          </p:nvPr>
        </p:nvSpPr>
        <p:spPr>
          <a:xfrm>
            <a:off x="457200" y="1417638"/>
            <a:ext cx="8229600" cy="4708525"/>
          </a:xfrm>
        </p:spPr>
        <p:txBody>
          <a:bodyPr/>
          <a:lstStyle/>
          <a:p>
            <a:r>
              <a:rPr lang="en-US" dirty="0"/>
              <a:t>and we must have</a:t>
            </a:r>
          </a:p>
          <a:p>
            <a:endParaRPr lang="en-US" dirty="0"/>
          </a:p>
        </p:txBody>
      </p:sp>
      <p:pic>
        <p:nvPicPr>
          <p:cNvPr id="5" name="Picture 4">
            <a:extLst>
              <a:ext uri="{FF2B5EF4-FFF2-40B4-BE49-F238E27FC236}">
                <a16:creationId xmlns:a16="http://schemas.microsoft.com/office/drawing/2014/main" id="{1B30F62E-B932-D189-214B-4E207041B3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4134" y="1843555"/>
            <a:ext cx="8902700" cy="4603750"/>
          </a:xfrm>
          <a:prstGeom prst="rect">
            <a:avLst/>
          </a:prstGeom>
        </p:spPr>
      </p:pic>
    </p:spTree>
    <p:extLst>
      <p:ext uri="{BB962C8B-B14F-4D97-AF65-F5344CB8AC3E}">
        <p14:creationId xmlns:p14="http://schemas.microsoft.com/office/powerpoint/2010/main" val="32472658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02833-7B19-953B-D8FE-F62A12AD774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EF12029-10F8-07E2-2BD6-08BB12074869}"/>
              </a:ext>
            </a:extLst>
          </p:cNvPr>
          <p:cNvSpPr>
            <a:spLocks noGrp="1"/>
          </p:cNvSpPr>
          <p:nvPr>
            <p:ph idx="1"/>
          </p:nvPr>
        </p:nvSpPr>
        <p:spPr/>
        <p:txBody>
          <a:bodyPr/>
          <a:lstStyle/>
          <a:p>
            <a:pPr algn="just"/>
            <a:r>
              <a:rPr lang="en-GB" dirty="0"/>
              <a:t>For the inventory example, the size of the demand for the product is a discrete random variable X that takes on the values 1, 2, 3, 4 with respective probabilities 1/6, 1/3, 1/3, 1/6.</a:t>
            </a:r>
          </a:p>
          <a:p>
            <a:pPr algn="just"/>
            <a:r>
              <a:rPr lang="en-GB" dirty="0"/>
              <a:t>The probability mass function and the distribution function for X are given in the following figures.</a:t>
            </a:r>
            <a:endParaRPr lang="en-US" dirty="0"/>
          </a:p>
        </p:txBody>
      </p:sp>
    </p:spTree>
    <p:extLst>
      <p:ext uri="{BB962C8B-B14F-4D97-AF65-F5344CB8AC3E}">
        <p14:creationId xmlns:p14="http://schemas.microsoft.com/office/powerpoint/2010/main" val="986229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A29B9-F064-4F56-BDD8-DA2F444D9A44}"/>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A7EB0CC2-CAFC-4810-9E6A-0D83C7EA8F7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06525" y="1758156"/>
            <a:ext cx="6330950" cy="4210050"/>
          </a:xfrm>
        </p:spPr>
      </p:pic>
    </p:spTree>
    <p:extLst>
      <p:ext uri="{BB962C8B-B14F-4D97-AF65-F5344CB8AC3E}">
        <p14:creationId xmlns:p14="http://schemas.microsoft.com/office/powerpoint/2010/main" val="32642973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C037E-49F3-F9F7-A11D-29ED29C0CB1B}"/>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D9CA9198-14EF-8583-7982-3FB00535F28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46297" y="1600200"/>
            <a:ext cx="7251406" cy="4525963"/>
          </a:xfrm>
        </p:spPr>
      </p:pic>
    </p:spTree>
    <p:extLst>
      <p:ext uri="{BB962C8B-B14F-4D97-AF65-F5344CB8AC3E}">
        <p14:creationId xmlns:p14="http://schemas.microsoft.com/office/powerpoint/2010/main" val="24890489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FA99E-87BB-1730-CE8A-D6462BAC618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6C54227-7805-E8E3-3463-826A9F0B0C6D}"/>
              </a:ext>
            </a:extLst>
          </p:cNvPr>
          <p:cNvSpPr>
            <a:spLocks noGrp="1"/>
          </p:cNvSpPr>
          <p:nvPr>
            <p:ph idx="1"/>
          </p:nvPr>
        </p:nvSpPr>
        <p:spPr/>
        <p:txBody>
          <a:bodyPr/>
          <a:lstStyle/>
          <a:p>
            <a:r>
              <a:rPr lang="en-GB" dirty="0"/>
              <a:t>We now consider random variables that can take on an uncountably infinite number of different values (e.g., all nonnegative real numbers).</a:t>
            </a:r>
          </a:p>
          <a:p>
            <a:r>
              <a:rPr lang="en-GB" dirty="0"/>
              <a:t>A random variable X is said to be continuous if there exists a nonnegative function f(x) such that for any set of real numbers B:</a:t>
            </a:r>
          </a:p>
          <a:p>
            <a:endParaRPr lang="en-US" dirty="0"/>
          </a:p>
        </p:txBody>
      </p:sp>
      <p:pic>
        <p:nvPicPr>
          <p:cNvPr id="5" name="Picture 4">
            <a:extLst>
              <a:ext uri="{FF2B5EF4-FFF2-40B4-BE49-F238E27FC236}">
                <a16:creationId xmlns:a16="http://schemas.microsoft.com/office/drawing/2014/main" id="{B4941B6A-55DC-91A6-85F3-D08C395954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23" y="5336067"/>
            <a:ext cx="9144000" cy="972658"/>
          </a:xfrm>
          <a:prstGeom prst="rect">
            <a:avLst/>
          </a:prstGeom>
        </p:spPr>
      </p:pic>
    </p:spTree>
    <p:extLst>
      <p:ext uri="{BB962C8B-B14F-4D97-AF65-F5344CB8AC3E}">
        <p14:creationId xmlns:p14="http://schemas.microsoft.com/office/powerpoint/2010/main" val="36197331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AD661-60DF-161E-AFA5-A620951C6F0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8A7E49E-3B09-4EBA-2257-E078B4919E2A}"/>
              </a:ext>
            </a:extLst>
          </p:cNvPr>
          <p:cNvSpPr>
            <a:spLocks noGrp="1"/>
          </p:cNvSpPr>
          <p:nvPr>
            <p:ph idx="1"/>
          </p:nvPr>
        </p:nvSpPr>
        <p:spPr/>
        <p:txBody>
          <a:bodyPr>
            <a:normAutofit lnSpcReduction="10000"/>
          </a:bodyPr>
          <a:lstStyle/>
          <a:p>
            <a:pPr algn="just"/>
            <a:r>
              <a:rPr lang="en-GB" dirty="0"/>
              <a:t>Thus, the total area under f(x) is 1.</a:t>
            </a:r>
          </a:p>
          <a:p>
            <a:pPr algn="just"/>
            <a:r>
              <a:rPr lang="en-GB" dirty="0"/>
              <a:t>Also, if X is a nonnegative random variable, as is often the case in simulation applications, the second range of integration is from 0 to </a:t>
            </a:r>
            <a:r>
              <a:rPr lang="en-US" dirty="0"/>
              <a:t>ꝏ</a:t>
            </a:r>
            <a:r>
              <a:rPr lang="en-GB" dirty="0"/>
              <a:t>.</a:t>
            </a:r>
          </a:p>
          <a:p>
            <a:pPr algn="just"/>
            <a:r>
              <a:rPr lang="en-GB" dirty="0"/>
              <a:t>All probability statements about X can (in principle) be computed from f(x), which is called the probability density function for the continuous random variable X.</a:t>
            </a:r>
            <a:endParaRPr lang="en-US" dirty="0"/>
          </a:p>
        </p:txBody>
      </p:sp>
    </p:spTree>
    <p:extLst>
      <p:ext uri="{BB962C8B-B14F-4D97-AF65-F5344CB8AC3E}">
        <p14:creationId xmlns:p14="http://schemas.microsoft.com/office/powerpoint/2010/main" val="10185638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21387-17A7-273B-4BF8-614B3E109060}"/>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350CE26C-502A-0944-4C2C-EEDAE86C69D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2209800"/>
            <a:ext cx="8229600" cy="2957953"/>
          </a:xfrm>
        </p:spPr>
      </p:pic>
    </p:spTree>
    <p:extLst>
      <p:ext uri="{BB962C8B-B14F-4D97-AF65-F5344CB8AC3E}">
        <p14:creationId xmlns:p14="http://schemas.microsoft.com/office/powerpoint/2010/main" val="24740481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D85A7-512D-3118-5B77-F85AA27B42BF}"/>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5A5D7F4C-D67D-E89D-94B3-E89CB736BA7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9448" y="1676400"/>
            <a:ext cx="8229600" cy="2492259"/>
          </a:xfrm>
        </p:spPr>
      </p:pic>
      <p:pic>
        <p:nvPicPr>
          <p:cNvPr id="7" name="Picture 6">
            <a:extLst>
              <a:ext uri="{FF2B5EF4-FFF2-40B4-BE49-F238E27FC236}">
                <a16:creationId xmlns:a16="http://schemas.microsoft.com/office/drawing/2014/main" id="{9E8AE076-05D1-4D7C-D340-28253376CD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9448" y="4413785"/>
            <a:ext cx="8680450" cy="1397000"/>
          </a:xfrm>
          <a:prstGeom prst="rect">
            <a:avLst/>
          </a:prstGeom>
        </p:spPr>
      </p:pic>
    </p:spTree>
    <p:extLst>
      <p:ext uri="{BB962C8B-B14F-4D97-AF65-F5344CB8AC3E}">
        <p14:creationId xmlns:p14="http://schemas.microsoft.com/office/powerpoint/2010/main" val="550013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178FE-654A-D7D2-21C4-F70CADC6FF5B}"/>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8F029675-DD7F-03DE-2185-B2E72082633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22375" y="1723231"/>
            <a:ext cx="6699250" cy="4279900"/>
          </a:xfrm>
        </p:spPr>
      </p:pic>
    </p:spTree>
    <p:extLst>
      <p:ext uri="{BB962C8B-B14F-4D97-AF65-F5344CB8AC3E}">
        <p14:creationId xmlns:p14="http://schemas.microsoft.com/office/powerpoint/2010/main" val="13731408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5D3FA-CFCB-83E0-8D81-7A41B929BDB8}"/>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21D875C3-B168-B3E8-6067-3A8E5ADDF92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2440" y="2133600"/>
            <a:ext cx="8229600" cy="3105978"/>
          </a:xfrm>
        </p:spPr>
      </p:pic>
    </p:spTree>
    <p:extLst>
      <p:ext uri="{BB962C8B-B14F-4D97-AF65-F5344CB8AC3E}">
        <p14:creationId xmlns:p14="http://schemas.microsoft.com/office/powerpoint/2010/main" val="41497617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81F42-27F8-3940-64BB-551222724AE9}"/>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C8E7026F-D804-90C5-028D-6DD9105B3A6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874315"/>
            <a:ext cx="8229600" cy="3977733"/>
          </a:xfrm>
        </p:spPr>
      </p:pic>
    </p:spTree>
    <p:extLst>
      <p:ext uri="{BB962C8B-B14F-4D97-AF65-F5344CB8AC3E}">
        <p14:creationId xmlns:p14="http://schemas.microsoft.com/office/powerpoint/2010/main" val="37754223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54281-66FC-88B3-586C-C37F6B242B1E}"/>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2ADE50AD-3C08-41C4-897D-A21B6AAD2BC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649619"/>
            <a:ext cx="8229600" cy="4427124"/>
          </a:xfrm>
        </p:spPr>
      </p:pic>
    </p:spTree>
    <p:extLst>
      <p:ext uri="{BB962C8B-B14F-4D97-AF65-F5344CB8AC3E}">
        <p14:creationId xmlns:p14="http://schemas.microsoft.com/office/powerpoint/2010/main" val="8498557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5CC0A-02BB-8AA7-B187-CF4E29C798F3}"/>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FAD3E262-0032-9FDD-CF66-BF8B5EAC7DF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2069614"/>
            <a:ext cx="8229600" cy="3587134"/>
          </a:xfrm>
        </p:spPr>
      </p:pic>
    </p:spTree>
    <p:extLst>
      <p:ext uri="{BB962C8B-B14F-4D97-AF65-F5344CB8AC3E}">
        <p14:creationId xmlns:p14="http://schemas.microsoft.com/office/powerpoint/2010/main" val="15431502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Random-Number Generators</a:t>
            </a:r>
          </a:p>
        </p:txBody>
      </p:sp>
      <p:sp>
        <p:nvSpPr>
          <p:cNvPr id="3" name="Content Placeholder 2"/>
          <p:cNvSpPr>
            <a:spLocks noGrp="1"/>
          </p:cNvSpPr>
          <p:nvPr>
            <p:ph idx="1"/>
          </p:nvPr>
        </p:nvSpPr>
        <p:spPr/>
        <p:txBody>
          <a:bodyPr>
            <a:normAutofit fontScale="85000" lnSpcReduction="10000"/>
          </a:bodyPr>
          <a:lstStyle/>
          <a:p>
            <a:pPr algn="just"/>
            <a:r>
              <a:rPr lang="en-US" dirty="0"/>
              <a:t>A simulation of any system or process in which there are inherently random components (Single-Server Queueing System) requires a method of generating or obtaining numbers that are </a:t>
            </a:r>
            <a:r>
              <a:rPr lang="en-US" i="1" dirty="0"/>
              <a:t>random</a:t>
            </a:r>
            <a:r>
              <a:rPr lang="en-US" dirty="0"/>
              <a:t>.</a:t>
            </a:r>
          </a:p>
          <a:p>
            <a:pPr algn="just"/>
            <a:r>
              <a:rPr lang="en-US" dirty="0"/>
              <a:t>We now study some methods of generating random numbers from the uniform distribution on the interval [0, 1]; this distribution is denoted by U(0, 1).</a:t>
            </a:r>
          </a:p>
          <a:p>
            <a:pPr algn="just"/>
            <a:r>
              <a:rPr lang="en-US" dirty="0"/>
              <a:t>We agree that arithmetic generators, if designed carefully, can produce numbers that </a:t>
            </a:r>
            <a:r>
              <a:rPr lang="en-US" i="1" dirty="0"/>
              <a:t>appear </a:t>
            </a:r>
            <a:r>
              <a:rPr lang="en-US" dirty="0"/>
              <a:t>to be independent draws from the U(0, 1) distribution, in that they pass a series of statistical tests.</a:t>
            </a:r>
          </a:p>
        </p:txBody>
      </p:sp>
    </p:spTree>
    <p:extLst>
      <p:ext uri="{BB962C8B-B14F-4D97-AF65-F5344CB8AC3E}">
        <p14:creationId xmlns:p14="http://schemas.microsoft.com/office/powerpoint/2010/main" val="1801872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lgn="just"/>
            <a:r>
              <a:rPr lang="en-US" dirty="0"/>
              <a:t>A “good” arithmetic random-number generator should possess several properties:</a:t>
            </a:r>
          </a:p>
          <a:p>
            <a:pPr lvl="1" algn="just"/>
            <a:r>
              <a:rPr lang="en-US" dirty="0"/>
              <a:t>Above all, the numbers produced should appear to be distributed uniformly on [0, 1] and should not exhibit any correlation with each other; otherwise, the simulation’s results may be completely invalid.</a:t>
            </a:r>
          </a:p>
          <a:p>
            <a:pPr lvl="1" algn="just"/>
            <a:r>
              <a:rPr lang="en-US" dirty="0"/>
              <a:t>From a practical standpoint, we would naturally like the generator to be fast and avoid the need for a lot of storage.</a:t>
            </a:r>
          </a:p>
          <a:p>
            <a:pPr lvl="1" algn="just"/>
            <a:r>
              <a:rPr lang="en-US" dirty="0"/>
              <a:t>We would like to be able to reproduce a given stream of random numbers exactly, for at least two reasons.</a:t>
            </a:r>
          </a:p>
          <a:p>
            <a:pPr lvl="2" algn="just"/>
            <a:r>
              <a:rPr lang="en-US" dirty="0"/>
              <a:t>First, this can sometimes make debugging or verification of the computer program easier.</a:t>
            </a:r>
          </a:p>
        </p:txBody>
      </p:sp>
    </p:spTree>
    <p:extLst>
      <p:ext uri="{BB962C8B-B14F-4D97-AF65-F5344CB8AC3E}">
        <p14:creationId xmlns:p14="http://schemas.microsoft.com/office/powerpoint/2010/main" val="17036201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229600" cy="4724400"/>
          </a:xfrm>
        </p:spPr>
        <p:txBody>
          <a:bodyPr>
            <a:normAutofit lnSpcReduction="10000"/>
          </a:bodyPr>
          <a:lstStyle/>
          <a:p>
            <a:pPr lvl="2" algn="just"/>
            <a:r>
              <a:rPr lang="en-US" dirty="0"/>
              <a:t>More importantly, we might want to use </a:t>
            </a:r>
            <a:r>
              <a:rPr lang="en-US" i="1" dirty="0"/>
              <a:t>identical </a:t>
            </a:r>
            <a:r>
              <a:rPr lang="en-US" dirty="0"/>
              <a:t>random numbers in simulating different systems in order to obtain a more precise comparison.</a:t>
            </a:r>
          </a:p>
          <a:p>
            <a:pPr lvl="1" algn="just"/>
            <a:r>
              <a:rPr lang="en-US" dirty="0"/>
              <a:t>There should be provision in the generator for easily producing separate “streams” of random numbers. We can think of the different streams as being separate and independent generators.</a:t>
            </a:r>
          </a:p>
          <a:p>
            <a:pPr algn="just"/>
            <a:r>
              <a:rPr lang="en-US" dirty="0"/>
              <a:t>We would like the generator to be portable, i.e., to produce the same sequence of random numbers for all standard compilers and computers.</a:t>
            </a:r>
          </a:p>
          <a:p>
            <a:pPr algn="just"/>
            <a:endParaRPr lang="en-US" dirty="0"/>
          </a:p>
        </p:txBody>
      </p:sp>
    </p:spTree>
    <p:extLst>
      <p:ext uri="{BB962C8B-B14F-4D97-AF65-F5344CB8AC3E}">
        <p14:creationId xmlns:p14="http://schemas.microsoft.com/office/powerpoint/2010/main" val="9623700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LINEAR CONGRUENTIAL GENERATORS</a:t>
            </a:r>
          </a:p>
        </p:txBody>
      </p:sp>
      <p:sp>
        <p:nvSpPr>
          <p:cNvPr id="3" name="Content Placeholder 2"/>
          <p:cNvSpPr>
            <a:spLocks noGrp="1"/>
          </p:cNvSpPr>
          <p:nvPr>
            <p:ph idx="1"/>
          </p:nvPr>
        </p:nvSpPr>
        <p:spPr/>
        <p:txBody>
          <a:bodyPr>
            <a:normAutofit lnSpcReduction="10000"/>
          </a:bodyPr>
          <a:lstStyle/>
          <a:p>
            <a:pPr algn="just"/>
            <a:r>
              <a:rPr lang="en-US" dirty="0"/>
              <a:t>Many random-number generators in use today are linear congruential generators (LCGs), introduced by </a:t>
            </a:r>
            <a:r>
              <a:rPr lang="en-US" dirty="0" err="1"/>
              <a:t>Lehmer</a:t>
            </a:r>
            <a:r>
              <a:rPr lang="en-US" dirty="0"/>
              <a:t> (1951).</a:t>
            </a:r>
          </a:p>
          <a:p>
            <a:pPr algn="just"/>
            <a:r>
              <a:rPr lang="en-US" dirty="0"/>
              <a:t>A sequence of integers Z</a:t>
            </a:r>
            <a:r>
              <a:rPr lang="en-US" baseline="-25000" dirty="0"/>
              <a:t>1</a:t>
            </a:r>
            <a:r>
              <a:rPr lang="en-US" dirty="0"/>
              <a:t>, Z</a:t>
            </a:r>
            <a:r>
              <a:rPr lang="en-US" baseline="-25000" dirty="0"/>
              <a:t>2</a:t>
            </a:r>
            <a:r>
              <a:rPr lang="en-US" dirty="0"/>
              <a:t>, . . . is defined by the recursive formula</a:t>
            </a:r>
          </a:p>
          <a:p>
            <a:pPr marL="0" indent="0" algn="just">
              <a:buNone/>
            </a:pPr>
            <a:r>
              <a:rPr lang="en-US" dirty="0"/>
              <a:t>	</a:t>
            </a:r>
            <a:r>
              <a:rPr lang="en-US" dirty="0" err="1"/>
              <a:t>Z</a:t>
            </a:r>
            <a:r>
              <a:rPr lang="en-US" baseline="-25000" dirty="0" err="1"/>
              <a:t>i</a:t>
            </a:r>
            <a:r>
              <a:rPr lang="en-US" dirty="0"/>
              <a:t> = (aZ</a:t>
            </a:r>
            <a:r>
              <a:rPr lang="en-US" baseline="-25000" dirty="0"/>
              <a:t>i-1</a:t>
            </a:r>
            <a:r>
              <a:rPr lang="en-US" dirty="0"/>
              <a:t>+c)(mod m)</a:t>
            </a:r>
          </a:p>
          <a:p>
            <a:pPr algn="just"/>
            <a:r>
              <a:rPr lang="en-US" dirty="0"/>
              <a:t>where </a:t>
            </a:r>
            <a:r>
              <a:rPr lang="en-US" i="1" dirty="0"/>
              <a:t>m </a:t>
            </a:r>
            <a:r>
              <a:rPr lang="en-US" dirty="0"/>
              <a:t>(the </a:t>
            </a:r>
            <a:r>
              <a:rPr lang="en-US" i="1" dirty="0"/>
              <a:t>modulus</a:t>
            </a:r>
            <a:r>
              <a:rPr lang="en-US" dirty="0"/>
              <a:t>), </a:t>
            </a:r>
            <a:r>
              <a:rPr lang="en-US" i="1" dirty="0"/>
              <a:t>a </a:t>
            </a:r>
            <a:r>
              <a:rPr lang="en-US" dirty="0"/>
              <a:t>(the </a:t>
            </a:r>
            <a:r>
              <a:rPr lang="en-US" i="1" dirty="0"/>
              <a:t>multiplier</a:t>
            </a:r>
            <a:r>
              <a:rPr lang="en-US" dirty="0"/>
              <a:t>), </a:t>
            </a:r>
            <a:r>
              <a:rPr lang="en-US" i="1" dirty="0"/>
              <a:t>c </a:t>
            </a:r>
            <a:r>
              <a:rPr lang="en-US" dirty="0"/>
              <a:t>(the </a:t>
            </a:r>
            <a:r>
              <a:rPr lang="en-US" i="1" dirty="0"/>
              <a:t>increment</a:t>
            </a:r>
            <a:r>
              <a:rPr lang="en-US" dirty="0"/>
              <a:t>), and </a:t>
            </a:r>
            <a:r>
              <a:rPr lang="en-US" i="1" dirty="0"/>
              <a:t>Z</a:t>
            </a:r>
            <a:r>
              <a:rPr lang="en-US" baseline="-25000" dirty="0"/>
              <a:t>0</a:t>
            </a:r>
            <a:r>
              <a:rPr lang="en-US" dirty="0"/>
              <a:t> (the </a:t>
            </a:r>
            <a:r>
              <a:rPr lang="en-US" i="1" dirty="0"/>
              <a:t>seed</a:t>
            </a:r>
            <a:r>
              <a:rPr lang="en-US" dirty="0"/>
              <a:t>) are nonnegative integers.</a:t>
            </a:r>
          </a:p>
        </p:txBody>
      </p:sp>
    </p:spTree>
    <p:extLst>
      <p:ext uri="{BB962C8B-B14F-4D97-AF65-F5344CB8AC3E}">
        <p14:creationId xmlns:p14="http://schemas.microsoft.com/office/powerpoint/2010/main" val="7515314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lgn="just"/>
            <a:r>
              <a:rPr lang="en-US" dirty="0"/>
              <a:t>Therefore, 0 &lt;= </a:t>
            </a:r>
            <a:r>
              <a:rPr lang="en-US" i="1" dirty="0" err="1"/>
              <a:t>Z</a:t>
            </a:r>
            <a:r>
              <a:rPr lang="en-US" i="1" baseline="-25000" dirty="0" err="1"/>
              <a:t>i</a:t>
            </a:r>
            <a:r>
              <a:rPr lang="en-US" i="1" dirty="0"/>
              <a:t> </a:t>
            </a:r>
            <a:r>
              <a:rPr lang="en-US" dirty="0"/>
              <a:t>&lt;= </a:t>
            </a:r>
            <a:r>
              <a:rPr lang="en-US" i="1" dirty="0"/>
              <a:t>m </a:t>
            </a:r>
            <a:r>
              <a:rPr lang="en-US" dirty="0"/>
              <a:t>- 1, and to obtain the desired random numbers </a:t>
            </a:r>
            <a:r>
              <a:rPr lang="en-US" i="1" dirty="0" err="1"/>
              <a:t>U</a:t>
            </a:r>
            <a:r>
              <a:rPr lang="en-US" i="1" baseline="-25000" dirty="0" err="1"/>
              <a:t>i</a:t>
            </a:r>
            <a:r>
              <a:rPr lang="en-US" i="1" dirty="0"/>
              <a:t> </a:t>
            </a:r>
            <a:r>
              <a:rPr lang="en-US" dirty="0"/>
              <a:t>(for </a:t>
            </a:r>
            <a:r>
              <a:rPr lang="en-US" i="1" dirty="0" err="1"/>
              <a:t>i</a:t>
            </a:r>
            <a:r>
              <a:rPr lang="en-US" i="1" dirty="0"/>
              <a:t> </a:t>
            </a:r>
            <a:r>
              <a:rPr lang="en-US" dirty="0"/>
              <a:t>= 1, 2, . . . ) in [0, 1], we let </a:t>
            </a:r>
            <a:r>
              <a:rPr lang="en-US" i="1" dirty="0"/>
              <a:t>U</a:t>
            </a:r>
            <a:r>
              <a:rPr lang="en-US" i="1" baseline="-25000" dirty="0"/>
              <a:t>i</a:t>
            </a:r>
            <a:r>
              <a:rPr lang="en-US" i="1" dirty="0"/>
              <a:t> </a:t>
            </a:r>
            <a:r>
              <a:rPr lang="en-US" dirty="0"/>
              <a:t>= </a:t>
            </a:r>
            <a:r>
              <a:rPr lang="en-US" i="1" dirty="0"/>
              <a:t>Z</a:t>
            </a:r>
            <a:r>
              <a:rPr lang="en-US" i="1" baseline="-25000" dirty="0"/>
              <a:t>i</a:t>
            </a:r>
            <a:r>
              <a:rPr lang="en-US" dirty="0"/>
              <a:t>/</a:t>
            </a:r>
            <a:r>
              <a:rPr lang="en-US" i="1" dirty="0"/>
              <a:t>m</a:t>
            </a:r>
            <a:r>
              <a:rPr lang="en-US" dirty="0"/>
              <a:t>.</a:t>
            </a:r>
          </a:p>
          <a:p>
            <a:pPr algn="just"/>
            <a:r>
              <a:rPr lang="en-US" dirty="0"/>
              <a:t>We shall concentrate our attention for the most part on the </a:t>
            </a:r>
            <a:r>
              <a:rPr lang="en-US" i="1" dirty="0" err="1"/>
              <a:t>Z</a:t>
            </a:r>
            <a:r>
              <a:rPr lang="en-US" i="1" baseline="-25000" dirty="0" err="1"/>
              <a:t>i</a:t>
            </a:r>
            <a:r>
              <a:rPr lang="en-US" dirty="0" err="1"/>
              <a:t>’s</a:t>
            </a:r>
            <a:r>
              <a:rPr lang="en-US" dirty="0"/>
              <a:t>, although the precise nature of the division of </a:t>
            </a:r>
            <a:r>
              <a:rPr lang="en-US" i="1" dirty="0" err="1"/>
              <a:t>Zi</a:t>
            </a:r>
            <a:r>
              <a:rPr lang="en-US" i="1" dirty="0"/>
              <a:t> </a:t>
            </a:r>
            <a:r>
              <a:rPr lang="en-US" dirty="0"/>
              <a:t>by </a:t>
            </a:r>
            <a:r>
              <a:rPr lang="en-US" i="1" dirty="0"/>
              <a:t>m </a:t>
            </a:r>
            <a:r>
              <a:rPr lang="en-US" dirty="0"/>
              <a:t>should be paid attention to due to differences in the way various computers and compilers handle floating-point arithmetic.</a:t>
            </a:r>
          </a:p>
          <a:p>
            <a:pPr algn="just"/>
            <a:r>
              <a:rPr lang="en-US" dirty="0"/>
              <a:t>In addition to non-negativity, the integers </a:t>
            </a:r>
            <a:r>
              <a:rPr lang="en-US" i="1" dirty="0"/>
              <a:t>m</a:t>
            </a:r>
            <a:r>
              <a:rPr lang="en-US" dirty="0"/>
              <a:t>, </a:t>
            </a:r>
            <a:r>
              <a:rPr lang="en-US" i="1" dirty="0"/>
              <a:t>a</a:t>
            </a:r>
            <a:r>
              <a:rPr lang="en-US" dirty="0"/>
              <a:t>, </a:t>
            </a:r>
            <a:r>
              <a:rPr lang="en-US" i="1" dirty="0"/>
              <a:t>c</a:t>
            </a:r>
            <a:r>
              <a:rPr lang="en-US" dirty="0"/>
              <a:t>, and </a:t>
            </a:r>
            <a:r>
              <a:rPr lang="en-US" i="1" dirty="0"/>
              <a:t>Z</a:t>
            </a:r>
            <a:r>
              <a:rPr lang="en-US" baseline="-25000" dirty="0"/>
              <a:t>0</a:t>
            </a:r>
            <a:r>
              <a:rPr lang="en-US" dirty="0"/>
              <a:t> should satisfy 0 &lt; </a:t>
            </a:r>
            <a:r>
              <a:rPr lang="en-US" i="1" dirty="0"/>
              <a:t>m</a:t>
            </a:r>
            <a:r>
              <a:rPr lang="en-US" dirty="0"/>
              <a:t>, </a:t>
            </a:r>
            <a:r>
              <a:rPr lang="en-US" i="1" dirty="0"/>
              <a:t>a </a:t>
            </a:r>
            <a:r>
              <a:rPr lang="en-US" dirty="0"/>
              <a:t>&lt; </a:t>
            </a:r>
            <a:r>
              <a:rPr lang="en-US" i="1" dirty="0"/>
              <a:t>m</a:t>
            </a:r>
            <a:r>
              <a:rPr lang="en-US" dirty="0"/>
              <a:t>, </a:t>
            </a:r>
            <a:r>
              <a:rPr lang="en-US" i="1" dirty="0"/>
              <a:t>c </a:t>
            </a:r>
            <a:r>
              <a:rPr lang="en-US" dirty="0"/>
              <a:t>&lt; </a:t>
            </a:r>
            <a:r>
              <a:rPr lang="en-US" i="1" dirty="0"/>
              <a:t>m</a:t>
            </a:r>
            <a:r>
              <a:rPr lang="en-US" dirty="0"/>
              <a:t>, and </a:t>
            </a:r>
            <a:r>
              <a:rPr lang="en-US" i="1" dirty="0"/>
              <a:t>Z</a:t>
            </a:r>
            <a:r>
              <a:rPr lang="en-US" baseline="-25000" dirty="0"/>
              <a:t>0</a:t>
            </a:r>
            <a:r>
              <a:rPr lang="en-US" dirty="0"/>
              <a:t> &lt; </a:t>
            </a:r>
            <a:r>
              <a:rPr lang="en-US" i="1" dirty="0"/>
              <a:t>m</a:t>
            </a:r>
            <a:r>
              <a:rPr lang="en-US" dirty="0"/>
              <a:t>.</a:t>
            </a:r>
          </a:p>
        </p:txBody>
      </p:sp>
    </p:spTree>
    <p:extLst>
      <p:ext uri="{BB962C8B-B14F-4D97-AF65-F5344CB8AC3E}">
        <p14:creationId xmlns:p14="http://schemas.microsoft.com/office/powerpoint/2010/main" val="13458810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lgn="just"/>
            <a:r>
              <a:rPr lang="en-US" dirty="0"/>
              <a:t>In fact, one can show by mathematical induction that that </a:t>
            </a:r>
            <a:r>
              <a:rPr lang="en-US" i="1" dirty="0"/>
              <a:t>every </a:t>
            </a:r>
            <a:r>
              <a:rPr lang="en-US" i="1" dirty="0" err="1"/>
              <a:t>Z</a:t>
            </a:r>
            <a:r>
              <a:rPr lang="en-US" i="1" baseline="-25000" dirty="0" err="1"/>
              <a:t>i</a:t>
            </a:r>
            <a:r>
              <a:rPr lang="en-US" i="1" dirty="0"/>
              <a:t> </a:t>
            </a:r>
            <a:r>
              <a:rPr lang="en-US" dirty="0"/>
              <a:t>is completely determined by </a:t>
            </a:r>
            <a:r>
              <a:rPr lang="en-US" i="1" dirty="0"/>
              <a:t>m</a:t>
            </a:r>
            <a:r>
              <a:rPr lang="en-US" dirty="0"/>
              <a:t>, </a:t>
            </a:r>
            <a:r>
              <a:rPr lang="en-US" i="1" dirty="0"/>
              <a:t>a</a:t>
            </a:r>
            <a:r>
              <a:rPr lang="en-US" dirty="0"/>
              <a:t>, </a:t>
            </a:r>
            <a:r>
              <a:rPr lang="en-US" i="1" dirty="0"/>
              <a:t>c</a:t>
            </a:r>
            <a:r>
              <a:rPr lang="en-US" dirty="0"/>
              <a:t>, and </a:t>
            </a:r>
            <a:r>
              <a:rPr lang="en-US" i="1" dirty="0"/>
              <a:t>Z</a:t>
            </a:r>
            <a:r>
              <a:rPr lang="en-US" baseline="-25000" dirty="0"/>
              <a:t>0</a:t>
            </a:r>
            <a:r>
              <a:rPr lang="en-US" dirty="0"/>
              <a:t>.</a:t>
            </a:r>
          </a:p>
          <a:p>
            <a:pPr algn="just"/>
            <a:r>
              <a:rPr lang="en-US" dirty="0"/>
              <a:t>However, by careful choice of these four parameters we try to induce behavior in the </a:t>
            </a:r>
            <a:r>
              <a:rPr lang="en-US" i="1" dirty="0"/>
              <a:t>Z</a:t>
            </a:r>
            <a:r>
              <a:rPr lang="en-US" i="1" baseline="-25000" dirty="0"/>
              <a:t>i</a:t>
            </a:r>
            <a:r>
              <a:rPr lang="en-US" dirty="0"/>
              <a:t>’s that makes the corresponding </a:t>
            </a:r>
            <a:r>
              <a:rPr lang="en-US" i="1" dirty="0"/>
              <a:t>Ui</a:t>
            </a:r>
            <a:r>
              <a:rPr lang="en-US" dirty="0"/>
              <a:t>’s </a:t>
            </a:r>
            <a:r>
              <a:rPr lang="en-US" i="1" dirty="0"/>
              <a:t>appear </a:t>
            </a:r>
            <a:r>
              <a:rPr lang="en-US" dirty="0"/>
              <a:t>to be </a:t>
            </a:r>
            <a:r>
              <a:rPr lang="en-US" i="1" dirty="0"/>
              <a:t>independent and identically distributed </a:t>
            </a:r>
            <a:r>
              <a:rPr lang="en-US" dirty="0"/>
              <a:t>IID U(0, 1) random variables when subjected to a variety of tests.</a:t>
            </a:r>
          </a:p>
        </p:txBody>
      </p:sp>
    </p:spTree>
    <p:extLst>
      <p:ext uri="{BB962C8B-B14F-4D97-AF65-F5344CB8AC3E}">
        <p14:creationId xmlns:p14="http://schemas.microsoft.com/office/powerpoint/2010/main" val="21813140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1042" y="1417638"/>
            <a:ext cx="8229600" cy="1589117"/>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87" y="3429000"/>
            <a:ext cx="9144000" cy="2459574"/>
          </a:xfrm>
          <a:prstGeom prst="rect">
            <a:avLst/>
          </a:prstGeom>
        </p:spPr>
      </p:pic>
    </p:spTree>
    <p:extLst>
      <p:ext uri="{BB962C8B-B14F-4D97-AF65-F5344CB8AC3E}">
        <p14:creationId xmlns:p14="http://schemas.microsoft.com/office/powerpoint/2010/main" val="35112599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pPr algn="just"/>
            <a:r>
              <a:rPr lang="en-US" dirty="0"/>
              <a:t>One objection to LCGs might be that the </a:t>
            </a:r>
            <a:r>
              <a:rPr lang="en-US" i="1" dirty="0"/>
              <a:t>Ui</a:t>
            </a:r>
            <a:r>
              <a:rPr lang="en-US" dirty="0"/>
              <a:t>’s can take on only the rational values 0, 1/</a:t>
            </a:r>
            <a:r>
              <a:rPr lang="en-US" i="1" dirty="0"/>
              <a:t>m</a:t>
            </a:r>
            <a:r>
              <a:rPr lang="en-US" dirty="0"/>
              <a:t>, 2/</a:t>
            </a:r>
            <a:r>
              <a:rPr lang="en-US" i="1" dirty="0"/>
              <a:t>m</a:t>
            </a:r>
            <a:r>
              <a:rPr lang="en-US" dirty="0"/>
              <a:t>, . . . , (</a:t>
            </a:r>
            <a:r>
              <a:rPr lang="en-US" i="1" dirty="0"/>
              <a:t>m-</a:t>
            </a:r>
            <a:r>
              <a:rPr lang="en-US" dirty="0"/>
              <a:t>1)/</a:t>
            </a:r>
            <a:r>
              <a:rPr lang="en-US" i="1" dirty="0"/>
              <a:t>m</a:t>
            </a:r>
            <a:r>
              <a:rPr lang="en-US" dirty="0"/>
              <a:t>; in fact, the </a:t>
            </a:r>
            <a:r>
              <a:rPr lang="en-US" i="1" dirty="0"/>
              <a:t>Ui</a:t>
            </a:r>
            <a:r>
              <a:rPr lang="en-US" dirty="0"/>
              <a:t>’s might actually take on (only a fraction of) these values, depending on the specification of the constants </a:t>
            </a:r>
            <a:r>
              <a:rPr lang="en-US" i="1" dirty="0"/>
              <a:t>m</a:t>
            </a:r>
            <a:r>
              <a:rPr lang="en-US" dirty="0"/>
              <a:t>, </a:t>
            </a:r>
            <a:r>
              <a:rPr lang="en-US" i="1" dirty="0"/>
              <a:t>a</a:t>
            </a:r>
            <a:r>
              <a:rPr lang="en-US" dirty="0"/>
              <a:t>, </a:t>
            </a:r>
            <a:r>
              <a:rPr lang="en-US" i="1" dirty="0"/>
              <a:t>c</a:t>
            </a:r>
            <a:r>
              <a:rPr lang="en-US" dirty="0"/>
              <a:t>, and </a:t>
            </a:r>
            <a:r>
              <a:rPr lang="en-US" i="1" dirty="0"/>
              <a:t>Z</a:t>
            </a:r>
            <a:r>
              <a:rPr lang="en-US" baseline="-25000" dirty="0"/>
              <a:t>0</a:t>
            </a:r>
            <a:r>
              <a:rPr lang="en-US" dirty="0"/>
              <a:t>, as well as on the nature of the floating-point division by </a:t>
            </a:r>
            <a:r>
              <a:rPr lang="en-US" i="1" dirty="0"/>
              <a:t>m</a:t>
            </a:r>
            <a:r>
              <a:rPr lang="en-US" dirty="0"/>
              <a:t>.</a:t>
            </a:r>
          </a:p>
          <a:p>
            <a:pPr algn="just"/>
            <a:r>
              <a:rPr lang="en-US" dirty="0"/>
              <a:t>Thus there is no possibility of getting a value of </a:t>
            </a:r>
            <a:r>
              <a:rPr lang="en-US" i="1" dirty="0" err="1"/>
              <a:t>U</a:t>
            </a:r>
            <a:r>
              <a:rPr lang="en-US" i="1" baseline="-25000" dirty="0" err="1"/>
              <a:t>i</a:t>
            </a:r>
            <a:r>
              <a:rPr lang="en-US" i="1" dirty="0"/>
              <a:t> </a:t>
            </a:r>
            <a:r>
              <a:rPr lang="en-US" dirty="0"/>
              <a:t>between, say, 0.1/</a:t>
            </a:r>
            <a:r>
              <a:rPr lang="en-US" i="1" dirty="0"/>
              <a:t>m </a:t>
            </a:r>
            <a:r>
              <a:rPr lang="en-US" dirty="0"/>
              <a:t>and 0.9/</a:t>
            </a:r>
            <a:r>
              <a:rPr lang="en-US" i="1" dirty="0"/>
              <a:t>m</a:t>
            </a:r>
            <a:r>
              <a:rPr lang="en-US" dirty="0"/>
              <a:t>, whereas this </a:t>
            </a:r>
            <a:r>
              <a:rPr lang="en-US" i="1" dirty="0"/>
              <a:t>should </a:t>
            </a:r>
            <a:r>
              <a:rPr lang="en-US" dirty="0"/>
              <a:t>occur with probability 0.8/</a:t>
            </a:r>
            <a:r>
              <a:rPr lang="en-US" i="1" dirty="0"/>
              <a:t>m</a:t>
            </a:r>
            <a:r>
              <a:rPr lang="en-US" dirty="0"/>
              <a:t>&gt;0.</a:t>
            </a:r>
          </a:p>
          <a:p>
            <a:pPr algn="just"/>
            <a:r>
              <a:rPr lang="en-US" dirty="0"/>
              <a:t>As we shall see, the modulus </a:t>
            </a:r>
            <a:r>
              <a:rPr lang="en-US" i="1" dirty="0"/>
              <a:t>m </a:t>
            </a:r>
            <a:r>
              <a:rPr lang="en-US" dirty="0"/>
              <a:t>is usually chosen to be very large, say 10</a:t>
            </a:r>
            <a:r>
              <a:rPr lang="en-US" baseline="30000" dirty="0"/>
              <a:t>9</a:t>
            </a:r>
            <a:r>
              <a:rPr lang="en-US" dirty="0"/>
              <a:t> or more, so that the points in [0, 1] where the </a:t>
            </a:r>
            <a:r>
              <a:rPr lang="en-US" i="1" dirty="0" err="1"/>
              <a:t>U</a:t>
            </a:r>
            <a:r>
              <a:rPr lang="en-US" i="1" baseline="-25000" dirty="0" err="1"/>
              <a:t>i</a:t>
            </a:r>
            <a:r>
              <a:rPr lang="en-US" dirty="0" err="1"/>
              <a:t>’s</a:t>
            </a:r>
            <a:r>
              <a:rPr lang="en-US" dirty="0"/>
              <a:t> can fall are very dense; for </a:t>
            </a:r>
            <a:r>
              <a:rPr lang="en-US" i="1" dirty="0"/>
              <a:t>m </a:t>
            </a:r>
            <a:r>
              <a:rPr lang="en-US" dirty="0"/>
              <a:t>&gt;= 10</a:t>
            </a:r>
            <a:r>
              <a:rPr lang="en-US" baseline="30000" dirty="0"/>
              <a:t>9</a:t>
            </a:r>
            <a:r>
              <a:rPr lang="en-US" dirty="0"/>
              <a:t>, there are at least a billion possible values.</a:t>
            </a:r>
          </a:p>
        </p:txBody>
      </p:sp>
    </p:spTree>
    <p:extLst>
      <p:ext uri="{BB962C8B-B14F-4D97-AF65-F5344CB8AC3E}">
        <p14:creationId xmlns:p14="http://schemas.microsoft.com/office/powerpoint/2010/main" val="32737779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A7724-4221-4A25-AC18-AD0FB36FF0A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4AC67EC-F808-4A1F-9E80-3C15D004EB7D}"/>
              </a:ext>
            </a:extLst>
          </p:cNvPr>
          <p:cNvSpPr>
            <a:spLocks noGrp="1"/>
          </p:cNvSpPr>
          <p:nvPr>
            <p:ph idx="1"/>
          </p:nvPr>
        </p:nvSpPr>
        <p:spPr/>
        <p:txBody>
          <a:bodyPr>
            <a:normAutofit fontScale="92500" lnSpcReduction="10000"/>
          </a:bodyPr>
          <a:lstStyle/>
          <a:p>
            <a:pPr algn="just"/>
            <a:r>
              <a:rPr lang="en-GB" dirty="0"/>
              <a:t>Even full-period LCGs, however, can exhibit nonuniform </a:t>
            </a:r>
            <a:r>
              <a:rPr lang="en-GB" dirty="0" err="1"/>
              <a:t>behavior</a:t>
            </a:r>
            <a:r>
              <a:rPr lang="en-GB" dirty="0"/>
              <a:t> in segments within a cycle.</a:t>
            </a:r>
          </a:p>
          <a:p>
            <a:pPr algn="just"/>
            <a:r>
              <a:rPr lang="en-GB" dirty="0"/>
              <a:t>For example, if we generate only m/2 consecutive Zi’s, they may leave large gaps in the sequence 0, 1, . . . , m - 1 of possible values.</a:t>
            </a:r>
          </a:p>
          <a:p>
            <a:pPr algn="just"/>
            <a:r>
              <a:rPr lang="en-GB" dirty="0"/>
              <a:t>Thus, it is useful to know how to choose m, a, and c so that the corresponding LCG will have full period.</a:t>
            </a:r>
          </a:p>
          <a:p>
            <a:pPr algn="just"/>
            <a:r>
              <a:rPr lang="en-GB" dirty="0"/>
              <a:t>The following theorem, proved by Hull and Dobell (1962), gives such a characterization:</a:t>
            </a:r>
            <a:endParaRPr lang="en-US" dirty="0"/>
          </a:p>
        </p:txBody>
      </p:sp>
    </p:spTree>
    <p:extLst>
      <p:ext uri="{BB962C8B-B14F-4D97-AF65-F5344CB8AC3E}">
        <p14:creationId xmlns:p14="http://schemas.microsoft.com/office/powerpoint/2010/main" val="36415561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09391-BBEC-43F0-BECE-880888EB064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692CDC7-7621-4E26-801D-FF3BD016A0BE}"/>
              </a:ext>
            </a:extLst>
          </p:cNvPr>
          <p:cNvSpPr>
            <a:spLocks noGrp="1"/>
          </p:cNvSpPr>
          <p:nvPr>
            <p:ph idx="1"/>
          </p:nvPr>
        </p:nvSpPr>
        <p:spPr/>
        <p:txBody>
          <a:bodyPr>
            <a:normAutofit lnSpcReduction="10000"/>
          </a:bodyPr>
          <a:lstStyle/>
          <a:p>
            <a:pPr algn="just"/>
            <a:r>
              <a:rPr lang="en-GB" dirty="0"/>
              <a:t>The LCG defined previously has full period if and only if the following three conditions hold:</a:t>
            </a:r>
          </a:p>
          <a:p>
            <a:pPr algn="just"/>
            <a:r>
              <a:rPr lang="en-GB" dirty="0"/>
              <a:t>(a) The only positive integer that (exactly) divides both m and c is 1.</a:t>
            </a:r>
          </a:p>
          <a:p>
            <a:pPr algn="just"/>
            <a:r>
              <a:rPr lang="en-GB" dirty="0"/>
              <a:t>(b) If q is a prime number (divisible by only itself and 1) that divides m, then q divides a - 1.</a:t>
            </a:r>
          </a:p>
          <a:p>
            <a:pPr algn="just"/>
            <a:r>
              <a:rPr lang="en-GB" dirty="0"/>
              <a:t>(c) If 4 divides m, then 4 divides a - 1.</a:t>
            </a:r>
            <a:endParaRPr lang="en-US" dirty="0"/>
          </a:p>
        </p:txBody>
      </p:sp>
    </p:spTree>
    <p:extLst>
      <p:ext uri="{BB962C8B-B14F-4D97-AF65-F5344CB8AC3E}">
        <p14:creationId xmlns:p14="http://schemas.microsoft.com/office/powerpoint/2010/main" val="29754108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229600" cy="4724400"/>
          </a:xfrm>
        </p:spPr>
        <p:txBody>
          <a:bodyPr>
            <a:normAutofit fontScale="77500" lnSpcReduction="20000"/>
          </a:bodyPr>
          <a:lstStyle/>
          <a:p>
            <a:pPr algn="just"/>
            <a:r>
              <a:rPr lang="en-US" dirty="0"/>
              <a:t>Obtaining a full (or at least a long) period is just one desirable property for a good LCG.</a:t>
            </a:r>
          </a:p>
          <a:p>
            <a:pPr algn="just"/>
            <a:r>
              <a:rPr lang="en-US" dirty="0"/>
              <a:t>We also want good statistical properties (such as apparent independence), computational and storage efficiency, reproducibility, facilities for separate streams, and portability. </a:t>
            </a:r>
          </a:p>
          <a:p>
            <a:pPr algn="just"/>
            <a:r>
              <a:rPr lang="en-US" dirty="0"/>
              <a:t>Reproducibility is simple, for we must only remember the initial seed used, Z</a:t>
            </a:r>
            <a:r>
              <a:rPr lang="en-US" baseline="-25000" dirty="0"/>
              <a:t>0</a:t>
            </a:r>
            <a:r>
              <a:rPr lang="en-US" dirty="0"/>
              <a:t>, and initiate the generator with this value again to obtain the same sequence of </a:t>
            </a:r>
            <a:r>
              <a:rPr lang="en-US" dirty="0" err="1"/>
              <a:t>U</a:t>
            </a:r>
            <a:r>
              <a:rPr lang="en-US" baseline="-25000" dirty="0" err="1"/>
              <a:t>i</a:t>
            </a:r>
            <a:r>
              <a:rPr lang="en-US" dirty="0" err="1"/>
              <a:t>’s</a:t>
            </a:r>
            <a:r>
              <a:rPr lang="en-US" dirty="0"/>
              <a:t> exactly.</a:t>
            </a:r>
          </a:p>
          <a:p>
            <a:pPr algn="just"/>
            <a:r>
              <a:rPr lang="en-US" dirty="0"/>
              <a:t>Also, we can easily resume generating the </a:t>
            </a:r>
            <a:r>
              <a:rPr lang="en-US" dirty="0" err="1"/>
              <a:t>Z</a:t>
            </a:r>
            <a:r>
              <a:rPr lang="en-US" baseline="-25000" dirty="0" err="1"/>
              <a:t>i</a:t>
            </a:r>
            <a:r>
              <a:rPr lang="en-US" dirty="0" err="1"/>
              <a:t>’s</a:t>
            </a:r>
            <a:r>
              <a:rPr lang="en-US" dirty="0"/>
              <a:t> at any point in the sequence by saving the final </a:t>
            </a:r>
            <a:r>
              <a:rPr lang="en-US" dirty="0" err="1"/>
              <a:t>Z</a:t>
            </a:r>
            <a:r>
              <a:rPr lang="en-US" baseline="-25000" dirty="0" err="1"/>
              <a:t>i</a:t>
            </a:r>
            <a:r>
              <a:rPr lang="en-US" dirty="0"/>
              <a:t> obtained previously and using it as the new seed; this is a common way to obtain </a:t>
            </a:r>
            <a:r>
              <a:rPr lang="en-US" dirty="0" err="1"/>
              <a:t>nonoverlapping</a:t>
            </a:r>
            <a:r>
              <a:rPr lang="en-US" dirty="0"/>
              <a:t>, “independent” sequences of random numbers.</a:t>
            </a:r>
          </a:p>
        </p:txBody>
      </p:sp>
    </p:spTree>
    <p:extLst>
      <p:ext uri="{BB962C8B-B14F-4D97-AF65-F5344CB8AC3E}">
        <p14:creationId xmlns:p14="http://schemas.microsoft.com/office/powerpoint/2010/main" val="38334957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6FA91-DE47-6AF9-741B-FCCB5AF621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5F1B6F-AF30-16C0-F249-CE66866758A0}"/>
              </a:ext>
            </a:extLst>
          </p:cNvPr>
          <p:cNvSpPr>
            <a:spLocks noGrp="1"/>
          </p:cNvSpPr>
          <p:nvPr>
            <p:ph type="title"/>
          </p:nvPr>
        </p:nvSpPr>
        <p:spPr/>
        <p:txBody>
          <a:bodyPr>
            <a:normAutofit fontScale="90000"/>
          </a:bodyPr>
          <a:lstStyle/>
          <a:p>
            <a:r>
              <a:rPr lang="en-US" dirty="0"/>
              <a:t>LINEAR CONGRUENTIAL GENERATORS</a:t>
            </a:r>
          </a:p>
        </p:txBody>
      </p:sp>
      <p:sp>
        <p:nvSpPr>
          <p:cNvPr id="3" name="Content Placeholder 2">
            <a:extLst>
              <a:ext uri="{FF2B5EF4-FFF2-40B4-BE49-F238E27FC236}">
                <a16:creationId xmlns:a16="http://schemas.microsoft.com/office/drawing/2014/main" id="{C9AFE374-3E4C-CE00-6508-01B3779068EF}"/>
              </a:ext>
            </a:extLst>
          </p:cNvPr>
          <p:cNvSpPr>
            <a:spLocks noGrp="1"/>
          </p:cNvSpPr>
          <p:nvPr>
            <p:ph idx="1"/>
          </p:nvPr>
        </p:nvSpPr>
        <p:spPr/>
        <p:txBody>
          <a:bodyPr>
            <a:normAutofit lnSpcReduction="10000"/>
          </a:bodyPr>
          <a:lstStyle/>
          <a:p>
            <a:pPr algn="just"/>
            <a:r>
              <a:rPr lang="en-US" dirty="0"/>
              <a:t>Many random-number generators in use today are linear congruential generators (LCGs), introduced by </a:t>
            </a:r>
            <a:r>
              <a:rPr lang="en-US" dirty="0" err="1"/>
              <a:t>Lehmer</a:t>
            </a:r>
            <a:r>
              <a:rPr lang="en-US" dirty="0"/>
              <a:t> (1951).</a:t>
            </a:r>
          </a:p>
          <a:p>
            <a:pPr algn="just"/>
            <a:r>
              <a:rPr lang="en-US" dirty="0"/>
              <a:t>A sequence of integers Z</a:t>
            </a:r>
            <a:r>
              <a:rPr lang="en-US" baseline="-25000" dirty="0"/>
              <a:t>1</a:t>
            </a:r>
            <a:r>
              <a:rPr lang="en-US" dirty="0"/>
              <a:t>, Z</a:t>
            </a:r>
            <a:r>
              <a:rPr lang="en-US" baseline="-25000" dirty="0"/>
              <a:t>2</a:t>
            </a:r>
            <a:r>
              <a:rPr lang="en-US" dirty="0"/>
              <a:t>, . . . is defined by the recursive formula</a:t>
            </a:r>
          </a:p>
          <a:p>
            <a:pPr marL="0" indent="0" algn="just">
              <a:buNone/>
            </a:pPr>
            <a:r>
              <a:rPr lang="en-US" dirty="0"/>
              <a:t>	</a:t>
            </a:r>
            <a:r>
              <a:rPr lang="en-US" dirty="0" err="1"/>
              <a:t>Z</a:t>
            </a:r>
            <a:r>
              <a:rPr lang="en-US" baseline="-25000" dirty="0" err="1"/>
              <a:t>i</a:t>
            </a:r>
            <a:r>
              <a:rPr lang="en-US" dirty="0"/>
              <a:t> = (aZ</a:t>
            </a:r>
            <a:r>
              <a:rPr lang="en-US" baseline="-25000" dirty="0"/>
              <a:t>i-1</a:t>
            </a:r>
            <a:r>
              <a:rPr lang="en-US" dirty="0"/>
              <a:t>+c)(mod m)</a:t>
            </a:r>
          </a:p>
          <a:p>
            <a:pPr algn="just"/>
            <a:r>
              <a:rPr lang="en-US" dirty="0"/>
              <a:t>where </a:t>
            </a:r>
            <a:r>
              <a:rPr lang="en-US" i="1" dirty="0"/>
              <a:t>m </a:t>
            </a:r>
            <a:r>
              <a:rPr lang="en-US" dirty="0"/>
              <a:t>(the </a:t>
            </a:r>
            <a:r>
              <a:rPr lang="en-US" i="1" dirty="0"/>
              <a:t>modulus</a:t>
            </a:r>
            <a:r>
              <a:rPr lang="en-US" dirty="0"/>
              <a:t>), </a:t>
            </a:r>
            <a:r>
              <a:rPr lang="en-US" i="1" dirty="0"/>
              <a:t>a </a:t>
            </a:r>
            <a:r>
              <a:rPr lang="en-US" dirty="0"/>
              <a:t>(the </a:t>
            </a:r>
            <a:r>
              <a:rPr lang="en-US" i="1" dirty="0"/>
              <a:t>multiplier</a:t>
            </a:r>
            <a:r>
              <a:rPr lang="en-US" dirty="0"/>
              <a:t>), </a:t>
            </a:r>
            <a:r>
              <a:rPr lang="en-US" i="1" dirty="0"/>
              <a:t>c </a:t>
            </a:r>
            <a:r>
              <a:rPr lang="en-US" dirty="0"/>
              <a:t>(the </a:t>
            </a:r>
            <a:r>
              <a:rPr lang="en-US" i="1" dirty="0"/>
              <a:t>increment</a:t>
            </a:r>
            <a:r>
              <a:rPr lang="en-US" dirty="0"/>
              <a:t>), and </a:t>
            </a:r>
            <a:r>
              <a:rPr lang="en-US" i="1" dirty="0"/>
              <a:t>Z</a:t>
            </a:r>
            <a:r>
              <a:rPr lang="en-US" baseline="-25000" dirty="0"/>
              <a:t>0</a:t>
            </a:r>
            <a:r>
              <a:rPr lang="en-US" dirty="0"/>
              <a:t> (the </a:t>
            </a:r>
            <a:r>
              <a:rPr lang="en-US" i="1" dirty="0"/>
              <a:t>seed</a:t>
            </a:r>
            <a:r>
              <a:rPr lang="en-US" dirty="0"/>
              <a:t>) are nonnegative integers.</a:t>
            </a:r>
          </a:p>
        </p:txBody>
      </p:sp>
    </p:spTree>
    <p:extLst>
      <p:ext uri="{BB962C8B-B14F-4D97-AF65-F5344CB8AC3E}">
        <p14:creationId xmlns:p14="http://schemas.microsoft.com/office/powerpoint/2010/main" val="38949846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D9582-65AE-4F16-6FF2-2C4DD95206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B6530E-CA7A-218A-0CD9-58CC2DA20ADD}"/>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3DB12888-6539-2644-12A1-D43BEE743F8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1042" y="1417638"/>
            <a:ext cx="8229600" cy="1589117"/>
          </a:xfrm>
        </p:spPr>
      </p:pic>
      <p:pic>
        <p:nvPicPr>
          <p:cNvPr id="5" name="Picture 4">
            <a:extLst>
              <a:ext uri="{FF2B5EF4-FFF2-40B4-BE49-F238E27FC236}">
                <a16:creationId xmlns:a16="http://schemas.microsoft.com/office/drawing/2014/main" id="{7BA42FE7-611D-CF55-C46B-1A5D713804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87" y="3429000"/>
            <a:ext cx="9144000" cy="2459574"/>
          </a:xfrm>
          <a:prstGeom prst="rect">
            <a:avLst/>
          </a:prstGeom>
        </p:spPr>
      </p:pic>
    </p:spTree>
    <p:extLst>
      <p:ext uri="{BB962C8B-B14F-4D97-AF65-F5344CB8AC3E}">
        <p14:creationId xmlns:p14="http://schemas.microsoft.com/office/powerpoint/2010/main" val="33392828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3A12E-7B0B-48AD-9343-41CACE6FE8C9}"/>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C4880AA7-1EB6-4C77-9127-8DB7FFEA641D}"/>
              </a:ext>
            </a:extLst>
          </p:cNvPr>
          <p:cNvSpPr>
            <a:spLocks noGrp="1"/>
          </p:cNvSpPr>
          <p:nvPr>
            <p:ph idx="1"/>
          </p:nvPr>
        </p:nvSpPr>
        <p:spPr>
          <a:xfrm>
            <a:off x="457200" y="1600200"/>
            <a:ext cx="8229600" cy="4724400"/>
          </a:xfrm>
        </p:spPr>
        <p:txBody>
          <a:bodyPr>
            <a:normAutofit fontScale="85000" lnSpcReduction="20000"/>
          </a:bodyPr>
          <a:lstStyle/>
          <a:p>
            <a:pPr algn="just"/>
            <a:r>
              <a:rPr lang="en-GB" dirty="0"/>
              <a:t>The “looping” </a:t>
            </a:r>
            <a:r>
              <a:rPr lang="en-GB" dirty="0" err="1"/>
              <a:t>behavior</a:t>
            </a:r>
            <a:r>
              <a:rPr lang="en-GB" dirty="0"/>
              <a:t> of the LCG in the previous figure is inevitable. By the definition (</a:t>
            </a:r>
            <a:r>
              <a:rPr lang="en-US" dirty="0"/>
              <a:t>Z</a:t>
            </a:r>
            <a:r>
              <a:rPr lang="en-US" baseline="-25000" dirty="0"/>
              <a:t>i</a:t>
            </a:r>
            <a:r>
              <a:rPr lang="en-US" dirty="0"/>
              <a:t> = (aZ</a:t>
            </a:r>
            <a:r>
              <a:rPr lang="en-US" baseline="-25000" dirty="0"/>
              <a:t>i-1</a:t>
            </a:r>
            <a:r>
              <a:rPr lang="en-US" dirty="0"/>
              <a:t>+c)(mod m)</a:t>
            </a:r>
            <a:r>
              <a:rPr lang="en-GB" dirty="0"/>
              <a:t>), whenever Z</a:t>
            </a:r>
            <a:r>
              <a:rPr lang="en-GB" baseline="-25000" dirty="0"/>
              <a:t>i</a:t>
            </a:r>
            <a:r>
              <a:rPr lang="en-GB" dirty="0"/>
              <a:t> takes on a value it has had previously, exactly the same sequence of values is generated, and this cycle repeats itself endlessly.</a:t>
            </a:r>
          </a:p>
          <a:p>
            <a:pPr algn="just"/>
            <a:r>
              <a:rPr lang="en-GB" dirty="0"/>
              <a:t>The length of a cycle is called the period of a generator. For LCGs, Z</a:t>
            </a:r>
            <a:r>
              <a:rPr lang="en-GB" baseline="-25000" dirty="0"/>
              <a:t>i</a:t>
            </a:r>
            <a:r>
              <a:rPr lang="en-GB" dirty="0"/>
              <a:t> depends only on the previous integer Z</a:t>
            </a:r>
            <a:r>
              <a:rPr lang="en-GB" baseline="-25000" dirty="0"/>
              <a:t>i-1</a:t>
            </a:r>
            <a:r>
              <a:rPr lang="en-GB" dirty="0"/>
              <a:t>, and since 0 &lt;= Zi &lt;= m - 1, it is clear that the period is at most m; if it is in fact m, the LCG is said to have full period.</a:t>
            </a:r>
          </a:p>
          <a:p>
            <a:pPr algn="just"/>
            <a:r>
              <a:rPr lang="en-GB" dirty="0"/>
              <a:t>Clearly, if a generator is full-period, any choice of the initial seed Z</a:t>
            </a:r>
            <a:r>
              <a:rPr lang="en-GB" baseline="-25000" dirty="0"/>
              <a:t>0</a:t>
            </a:r>
            <a:r>
              <a:rPr lang="en-GB" dirty="0"/>
              <a:t> from {0, 1, . . . , m - 1} will produce the entire cycle in some order</a:t>
            </a:r>
            <a:r>
              <a:rPr lang="en-US" dirty="0"/>
              <a:t>.</a:t>
            </a:r>
            <a:endParaRPr lang="en-GB" dirty="0"/>
          </a:p>
        </p:txBody>
      </p:sp>
    </p:spTree>
    <p:extLst>
      <p:ext uri="{BB962C8B-B14F-4D97-AF65-F5344CB8AC3E}">
        <p14:creationId xmlns:p14="http://schemas.microsoft.com/office/powerpoint/2010/main" val="15230396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1042" y="1417638"/>
            <a:ext cx="8229600" cy="1589117"/>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87" y="3429000"/>
            <a:ext cx="9144000" cy="2459574"/>
          </a:xfrm>
          <a:prstGeom prst="rect">
            <a:avLst/>
          </a:prstGeom>
        </p:spPr>
      </p:pic>
    </p:spTree>
    <p:extLst>
      <p:ext uri="{BB962C8B-B14F-4D97-AF65-F5344CB8AC3E}">
        <p14:creationId xmlns:p14="http://schemas.microsoft.com/office/powerpoint/2010/main" val="21491097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D526C-55A1-4738-BD20-0CA0CE324FF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0C53B62-915A-4EAA-B134-734F996E6F66}"/>
              </a:ext>
            </a:extLst>
          </p:cNvPr>
          <p:cNvSpPr>
            <a:spLocks noGrp="1"/>
          </p:cNvSpPr>
          <p:nvPr>
            <p:ph idx="1"/>
          </p:nvPr>
        </p:nvSpPr>
        <p:spPr>
          <a:xfrm>
            <a:off x="381000" y="1417638"/>
            <a:ext cx="8458200" cy="5165724"/>
          </a:xfrm>
        </p:spPr>
        <p:txBody>
          <a:bodyPr>
            <a:normAutofit fontScale="92500" lnSpcReduction="10000"/>
          </a:bodyPr>
          <a:lstStyle/>
          <a:p>
            <a:pPr algn="just"/>
            <a:r>
              <a:rPr lang="en-GB" dirty="0"/>
              <a:t>Streams are typically set up in a LCG by simply specifying the initial seed for each stream.</a:t>
            </a:r>
          </a:p>
          <a:p>
            <a:pPr algn="just"/>
            <a:r>
              <a:rPr lang="en-GB" dirty="0"/>
              <a:t>For example, if we want streams of length 1,000,000 each, we set Z</a:t>
            </a:r>
            <a:r>
              <a:rPr lang="en-GB" baseline="-25000" dirty="0"/>
              <a:t>0</a:t>
            </a:r>
            <a:r>
              <a:rPr lang="en-GB" dirty="0"/>
              <a:t> for the first stream to some value, then use Z</a:t>
            </a:r>
            <a:r>
              <a:rPr lang="en-GB" baseline="-25000" dirty="0"/>
              <a:t>1,000,000</a:t>
            </a:r>
            <a:r>
              <a:rPr lang="en-GB" dirty="0"/>
              <a:t> as the seed for the second stream, Z</a:t>
            </a:r>
            <a:r>
              <a:rPr lang="en-GB" baseline="-25000" dirty="0"/>
              <a:t>2,000,000</a:t>
            </a:r>
            <a:r>
              <a:rPr lang="en-GB" dirty="0"/>
              <a:t> as the seed for the third stream, and so on.</a:t>
            </a:r>
          </a:p>
          <a:p>
            <a:pPr algn="just"/>
            <a:r>
              <a:rPr lang="en-GB" dirty="0"/>
              <a:t>Because of condition (a) in the previously demonstrated Theorem, LCGs tend to behave differently for c &gt; 0 (called mixed LCGs) than for c = 0 (called multiplicative LCGs).</a:t>
            </a:r>
          </a:p>
        </p:txBody>
      </p:sp>
    </p:spTree>
    <p:extLst>
      <p:ext uri="{BB962C8B-B14F-4D97-AF65-F5344CB8AC3E}">
        <p14:creationId xmlns:p14="http://schemas.microsoft.com/office/powerpoint/2010/main" val="7437245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09391-BBEC-43F0-BECE-880888EB064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692CDC7-7621-4E26-801D-FF3BD016A0BE}"/>
              </a:ext>
            </a:extLst>
          </p:cNvPr>
          <p:cNvSpPr>
            <a:spLocks noGrp="1"/>
          </p:cNvSpPr>
          <p:nvPr>
            <p:ph idx="1"/>
          </p:nvPr>
        </p:nvSpPr>
        <p:spPr/>
        <p:txBody>
          <a:bodyPr>
            <a:normAutofit lnSpcReduction="10000"/>
          </a:bodyPr>
          <a:lstStyle/>
          <a:p>
            <a:pPr algn="just"/>
            <a:r>
              <a:rPr lang="en-GB" dirty="0"/>
              <a:t>The LCG defined previously has full period if and only if the following three conditions hold:</a:t>
            </a:r>
          </a:p>
          <a:p>
            <a:pPr algn="just"/>
            <a:r>
              <a:rPr lang="en-GB" dirty="0"/>
              <a:t>(a) The only positive integer that (exactly) divides both m and c is 1.</a:t>
            </a:r>
          </a:p>
          <a:p>
            <a:pPr algn="just"/>
            <a:r>
              <a:rPr lang="en-GB" dirty="0"/>
              <a:t>(b) If q is a prime number (divisible by only itself and 1) that divides m, then q divides a - 1.</a:t>
            </a:r>
          </a:p>
          <a:p>
            <a:pPr algn="just"/>
            <a:r>
              <a:rPr lang="en-GB" dirty="0"/>
              <a:t>(c) If 4 divides m, then 4 divides a - 1.</a:t>
            </a:r>
            <a:endParaRPr lang="en-US" dirty="0"/>
          </a:p>
        </p:txBody>
      </p:sp>
    </p:spTree>
    <p:extLst>
      <p:ext uri="{BB962C8B-B14F-4D97-AF65-F5344CB8AC3E}">
        <p14:creationId xmlns:p14="http://schemas.microsoft.com/office/powerpoint/2010/main" val="19461391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C5217-75E9-4BA5-979B-06C3A4F17DB6}"/>
              </a:ext>
            </a:extLst>
          </p:cNvPr>
          <p:cNvSpPr>
            <a:spLocks noGrp="1"/>
          </p:cNvSpPr>
          <p:nvPr>
            <p:ph type="title"/>
          </p:nvPr>
        </p:nvSpPr>
        <p:spPr/>
        <p:txBody>
          <a:bodyPr/>
          <a:lstStyle/>
          <a:p>
            <a:r>
              <a:rPr lang="en-US" dirty="0"/>
              <a:t>Mixed Generators</a:t>
            </a:r>
          </a:p>
        </p:txBody>
      </p:sp>
      <p:sp>
        <p:nvSpPr>
          <p:cNvPr id="3" name="Content Placeholder 2">
            <a:extLst>
              <a:ext uri="{FF2B5EF4-FFF2-40B4-BE49-F238E27FC236}">
                <a16:creationId xmlns:a16="http://schemas.microsoft.com/office/drawing/2014/main" id="{7B5E55B3-07E0-4B7D-905F-DE8CBCF057A3}"/>
              </a:ext>
            </a:extLst>
          </p:cNvPr>
          <p:cNvSpPr>
            <a:spLocks noGrp="1"/>
          </p:cNvSpPr>
          <p:nvPr>
            <p:ph idx="1"/>
          </p:nvPr>
        </p:nvSpPr>
        <p:spPr/>
        <p:txBody>
          <a:bodyPr>
            <a:normAutofit fontScale="92500" lnSpcReduction="10000"/>
          </a:bodyPr>
          <a:lstStyle/>
          <a:p>
            <a:pPr algn="just"/>
            <a:r>
              <a:rPr lang="en-GB" dirty="0"/>
              <a:t>For c &gt; 0, condition (a) in the Theorem is possible, so we might be able to obtain full period m.</a:t>
            </a:r>
          </a:p>
          <a:p>
            <a:pPr algn="just"/>
            <a:r>
              <a:rPr lang="en-GB" dirty="0"/>
              <a:t>For a large period and high density of the Ui’s on [0, 1], we want m to be large.</a:t>
            </a:r>
          </a:p>
          <a:p>
            <a:pPr algn="just"/>
            <a:r>
              <a:rPr lang="en-GB" dirty="0"/>
              <a:t>Furthermore, in the early days of computer simulation when computers were relatively slow, dividing by m to obtain the remainder was a relatively slow arithmetic operation, and it was desirable to avoid having to do this division explicitly…</a:t>
            </a:r>
          </a:p>
        </p:txBody>
      </p:sp>
    </p:spTree>
    <p:extLst>
      <p:ext uri="{BB962C8B-B14F-4D97-AF65-F5344CB8AC3E}">
        <p14:creationId xmlns:p14="http://schemas.microsoft.com/office/powerpoint/2010/main" val="16211541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EF330-EEFD-45FF-B305-465DED800153}"/>
              </a:ext>
            </a:extLst>
          </p:cNvPr>
          <p:cNvSpPr>
            <a:spLocks noGrp="1"/>
          </p:cNvSpPr>
          <p:nvPr>
            <p:ph type="title"/>
          </p:nvPr>
        </p:nvSpPr>
        <p:spPr/>
        <p:txBody>
          <a:bodyPr/>
          <a:lstStyle/>
          <a:p>
            <a:r>
              <a:rPr lang="en-US" dirty="0"/>
              <a:t>Multiplicative Generators</a:t>
            </a:r>
          </a:p>
        </p:txBody>
      </p:sp>
      <p:sp>
        <p:nvSpPr>
          <p:cNvPr id="3" name="Content Placeholder 2">
            <a:extLst>
              <a:ext uri="{FF2B5EF4-FFF2-40B4-BE49-F238E27FC236}">
                <a16:creationId xmlns:a16="http://schemas.microsoft.com/office/drawing/2014/main" id="{67200711-C8AF-4E7F-9C4A-5350274CB547}"/>
              </a:ext>
            </a:extLst>
          </p:cNvPr>
          <p:cNvSpPr>
            <a:spLocks noGrp="1"/>
          </p:cNvSpPr>
          <p:nvPr>
            <p:ph idx="1"/>
          </p:nvPr>
        </p:nvSpPr>
        <p:spPr>
          <a:xfrm>
            <a:off x="457200" y="1600200"/>
            <a:ext cx="8229600" cy="4983162"/>
          </a:xfrm>
        </p:spPr>
        <p:txBody>
          <a:bodyPr>
            <a:normAutofit fontScale="92500" lnSpcReduction="20000"/>
          </a:bodyPr>
          <a:lstStyle/>
          <a:p>
            <a:pPr algn="just"/>
            <a:r>
              <a:rPr lang="en-GB" dirty="0"/>
              <a:t>Multiplicative LCGs are advantageous in that the addition of c is not needed, but they cannot have full period since condition (a) of the aforementioned Theorem cannot be satisfied.</a:t>
            </a:r>
          </a:p>
          <a:p>
            <a:pPr algn="just"/>
            <a:r>
              <a:rPr lang="en-GB" dirty="0"/>
              <a:t>As we shall see, however, it is possible to obtain period m - 1 if m and a are chosen carefully.</a:t>
            </a:r>
          </a:p>
          <a:p>
            <a:pPr algn="just"/>
            <a:r>
              <a:rPr lang="en-GB" dirty="0"/>
              <a:t>It’s still computationally efficient to choose m = 2</a:t>
            </a:r>
            <a:r>
              <a:rPr lang="en-GB" baseline="30000" dirty="0"/>
              <a:t>b</a:t>
            </a:r>
            <a:r>
              <a:rPr lang="en-GB" dirty="0"/>
              <a:t> and thus avoid explicit division.</a:t>
            </a:r>
          </a:p>
          <a:p>
            <a:pPr algn="just"/>
            <a:r>
              <a:rPr lang="en-GB" dirty="0"/>
              <a:t>However, it can be shown that in this case the period is at most 2</a:t>
            </a:r>
            <a:r>
              <a:rPr lang="en-GB" baseline="30000" dirty="0"/>
              <a:t>b-2</a:t>
            </a:r>
            <a:r>
              <a:rPr lang="en-GB" dirty="0"/>
              <a:t>, that is, only one-fourth of the integers 0 through m - 1 can be obtained as values for the Zi’s.</a:t>
            </a:r>
            <a:endParaRPr lang="en-US" dirty="0"/>
          </a:p>
        </p:txBody>
      </p:sp>
    </p:spTree>
    <p:extLst>
      <p:ext uri="{BB962C8B-B14F-4D97-AF65-F5344CB8AC3E}">
        <p14:creationId xmlns:p14="http://schemas.microsoft.com/office/powerpoint/2010/main" val="9238928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193E3-8645-4A4C-A2A9-2C80350FABA6}"/>
              </a:ext>
            </a:extLst>
          </p:cNvPr>
          <p:cNvSpPr>
            <a:spLocks noGrp="1"/>
          </p:cNvSpPr>
          <p:nvPr>
            <p:ph type="title"/>
          </p:nvPr>
        </p:nvSpPr>
        <p:spPr/>
        <p:txBody>
          <a:bodyPr/>
          <a:lstStyle/>
          <a:p>
            <a:r>
              <a:rPr lang="en-US" dirty="0"/>
              <a:t>OTHER KINDS OF GENERATORS</a:t>
            </a:r>
          </a:p>
        </p:txBody>
      </p:sp>
      <p:sp>
        <p:nvSpPr>
          <p:cNvPr id="3" name="Content Placeholder 2">
            <a:extLst>
              <a:ext uri="{FF2B5EF4-FFF2-40B4-BE49-F238E27FC236}">
                <a16:creationId xmlns:a16="http://schemas.microsoft.com/office/drawing/2014/main" id="{C5CBBE70-3EBB-4ED8-8C0F-96A2F7481425}"/>
              </a:ext>
            </a:extLst>
          </p:cNvPr>
          <p:cNvSpPr>
            <a:spLocks noGrp="1"/>
          </p:cNvSpPr>
          <p:nvPr>
            <p:ph idx="1"/>
          </p:nvPr>
        </p:nvSpPr>
        <p:spPr/>
        <p:txBody>
          <a:bodyPr/>
          <a:lstStyle/>
          <a:p>
            <a:pPr algn="just"/>
            <a:r>
              <a:rPr lang="en-GB" dirty="0"/>
              <a:t>Although LCGs are probably the most widely used and best understood kind of random-number generator, there are many alternative types.</a:t>
            </a:r>
          </a:p>
          <a:p>
            <a:pPr algn="just"/>
            <a:r>
              <a:rPr lang="en-GB" dirty="0"/>
              <a:t>Most of these other generators have been developed in an attempt to obtain longer periods and better statistical properties.</a:t>
            </a:r>
            <a:endParaRPr lang="en-US" dirty="0"/>
          </a:p>
        </p:txBody>
      </p:sp>
    </p:spTree>
    <p:extLst>
      <p:ext uri="{BB962C8B-B14F-4D97-AF65-F5344CB8AC3E}">
        <p14:creationId xmlns:p14="http://schemas.microsoft.com/office/powerpoint/2010/main" val="31963575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0FE9-5BE4-49AF-986D-3FEF86FA2B30}"/>
              </a:ext>
            </a:extLst>
          </p:cNvPr>
          <p:cNvSpPr>
            <a:spLocks noGrp="1"/>
          </p:cNvSpPr>
          <p:nvPr>
            <p:ph type="title"/>
          </p:nvPr>
        </p:nvSpPr>
        <p:spPr/>
        <p:txBody>
          <a:bodyPr/>
          <a:lstStyle/>
          <a:p>
            <a:r>
              <a:rPr lang="en-US" dirty="0"/>
              <a:t>More General Congruences</a:t>
            </a:r>
          </a:p>
        </p:txBody>
      </p:sp>
      <p:sp>
        <p:nvSpPr>
          <p:cNvPr id="3" name="Content Placeholder 2">
            <a:extLst>
              <a:ext uri="{FF2B5EF4-FFF2-40B4-BE49-F238E27FC236}">
                <a16:creationId xmlns:a16="http://schemas.microsoft.com/office/drawing/2014/main" id="{0C3CC704-F058-4897-84DB-7DFA6B9FD25A}"/>
              </a:ext>
            </a:extLst>
          </p:cNvPr>
          <p:cNvSpPr>
            <a:spLocks noGrp="1"/>
          </p:cNvSpPr>
          <p:nvPr>
            <p:ph idx="1"/>
          </p:nvPr>
        </p:nvSpPr>
        <p:spPr/>
        <p:txBody>
          <a:bodyPr>
            <a:normAutofit/>
          </a:bodyPr>
          <a:lstStyle/>
          <a:p>
            <a:pPr algn="just"/>
            <a:r>
              <a:rPr lang="en-GB" dirty="0"/>
              <a:t>LCGs can be thought of as a special case of generators defined by:</a:t>
            </a:r>
          </a:p>
          <a:p>
            <a:pPr lvl="1" algn="just">
              <a:buFont typeface="Arial" panose="020B0604020202020204" pitchFamily="34" charset="0"/>
              <a:buChar char="•"/>
            </a:pPr>
            <a:r>
              <a:rPr lang="en-GB" dirty="0"/>
              <a:t>Zi = g(Zi-1, Zi-2, . . .)(mod m)</a:t>
            </a:r>
          </a:p>
          <a:p>
            <a:pPr algn="just"/>
            <a:r>
              <a:rPr lang="en-GB" dirty="0"/>
              <a:t>where g is a fixed deterministic function of previous </a:t>
            </a:r>
            <a:r>
              <a:rPr lang="en-GB" dirty="0" err="1"/>
              <a:t>Zj’s</a:t>
            </a:r>
            <a:r>
              <a:rPr lang="en-GB" dirty="0"/>
              <a:t>. As with LCGs, the Zi’s defined by the aforementioned Equation lie between 0 and m - 1, and the U(0, 1) random numbers are given by Ui = Zi/m.</a:t>
            </a:r>
            <a:endParaRPr lang="en-US" dirty="0"/>
          </a:p>
        </p:txBody>
      </p:sp>
    </p:spTree>
    <p:extLst>
      <p:ext uri="{BB962C8B-B14F-4D97-AF65-F5344CB8AC3E}">
        <p14:creationId xmlns:p14="http://schemas.microsoft.com/office/powerpoint/2010/main" val="32158231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E9E37-14AC-42CC-8E9C-9C2B8C508BD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3B6AD85-7D34-4E37-8F74-F317B00E5D9F}"/>
              </a:ext>
            </a:extLst>
          </p:cNvPr>
          <p:cNvSpPr>
            <a:spLocks noGrp="1"/>
          </p:cNvSpPr>
          <p:nvPr>
            <p:ph idx="1"/>
          </p:nvPr>
        </p:nvSpPr>
        <p:spPr/>
        <p:txBody>
          <a:bodyPr>
            <a:normAutofit fontScale="92500" lnSpcReduction="10000"/>
          </a:bodyPr>
          <a:lstStyle/>
          <a:p>
            <a:pPr algn="just"/>
            <a:r>
              <a:rPr lang="en-GB" dirty="0"/>
              <a:t>One obvious generalization of LCGs would be to let g(Zi-1, Zi-2, . . .) = a’Z</a:t>
            </a:r>
            <a:r>
              <a:rPr lang="en-GB" baseline="30000" dirty="0"/>
              <a:t>2</a:t>
            </a:r>
            <a:r>
              <a:rPr lang="en-GB" dirty="0"/>
              <a:t>i-1 + aZi-1 + c, which produces a quadratic congruential generator.</a:t>
            </a:r>
          </a:p>
          <a:p>
            <a:pPr algn="just"/>
            <a:r>
              <a:rPr lang="en-GB" dirty="0"/>
              <a:t>A special case that has received some attention is when a’ = a = 1, c = 0, and m is a power of 2, has better statistical properties.</a:t>
            </a:r>
          </a:p>
          <a:p>
            <a:pPr algn="just"/>
            <a:r>
              <a:rPr lang="en-GB" dirty="0"/>
              <a:t>Since Zi still depends only on Zi-1 (and not on earlier </a:t>
            </a:r>
            <a:r>
              <a:rPr lang="en-GB" dirty="0" err="1"/>
              <a:t>Zj’s</a:t>
            </a:r>
            <a:r>
              <a:rPr lang="en-GB" dirty="0"/>
              <a:t>), and since 0 &lt;= Zi &lt;= m - 1, the period of quadratic congruential generators is at most m, as for LCGs.</a:t>
            </a:r>
            <a:endParaRPr lang="en-US" dirty="0"/>
          </a:p>
        </p:txBody>
      </p:sp>
    </p:spTree>
    <p:extLst>
      <p:ext uri="{BB962C8B-B14F-4D97-AF65-F5344CB8AC3E}">
        <p14:creationId xmlns:p14="http://schemas.microsoft.com/office/powerpoint/2010/main" val="10433532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FE446-A106-43BF-B072-7545BF5B681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26B48D5-63D0-4281-95FF-00B75D54DF65}"/>
              </a:ext>
            </a:extLst>
          </p:cNvPr>
          <p:cNvSpPr>
            <a:spLocks noGrp="1"/>
          </p:cNvSpPr>
          <p:nvPr>
            <p:ph idx="1"/>
          </p:nvPr>
        </p:nvSpPr>
        <p:spPr>
          <a:xfrm>
            <a:off x="381000" y="1600200"/>
            <a:ext cx="8610600" cy="4572000"/>
          </a:xfrm>
        </p:spPr>
        <p:txBody>
          <a:bodyPr>
            <a:normAutofit fontScale="85000" lnSpcReduction="10000"/>
          </a:bodyPr>
          <a:lstStyle/>
          <a:p>
            <a:pPr algn="just"/>
            <a:r>
              <a:rPr lang="en-GB" dirty="0"/>
              <a:t>A different choice of the function g is to maintain linearity but to use earlier </a:t>
            </a:r>
            <a:r>
              <a:rPr lang="en-GB" dirty="0" err="1"/>
              <a:t>Zj’s</a:t>
            </a:r>
            <a:r>
              <a:rPr lang="en-GB" dirty="0"/>
              <a:t>; this gives rise to generators called </a:t>
            </a:r>
            <a:r>
              <a:rPr lang="en-GB" b="1" dirty="0"/>
              <a:t>multiple recursive generators (MRGs)</a:t>
            </a:r>
            <a:r>
              <a:rPr lang="en-GB" dirty="0"/>
              <a:t> and defined by</a:t>
            </a:r>
          </a:p>
          <a:p>
            <a:pPr lvl="1" algn="just"/>
            <a:r>
              <a:rPr lang="en-GB" dirty="0"/>
              <a:t>g(Zi-1, Zi-2, . . .) = a1Zi-1 + a2Zi-2 + . . . + </a:t>
            </a:r>
            <a:r>
              <a:rPr lang="en-GB" dirty="0" err="1"/>
              <a:t>aq</a:t>
            </a:r>
            <a:r>
              <a:rPr lang="en-GB" dirty="0"/>
              <a:t> Zi-q</a:t>
            </a:r>
          </a:p>
          <a:p>
            <a:pPr algn="just"/>
            <a:r>
              <a:rPr lang="en-GB" dirty="0"/>
              <a:t>where a1, a2, . . . , </a:t>
            </a:r>
            <a:r>
              <a:rPr lang="en-GB" dirty="0" err="1"/>
              <a:t>aq</a:t>
            </a:r>
            <a:r>
              <a:rPr lang="en-GB" dirty="0"/>
              <a:t> are constants.</a:t>
            </a:r>
          </a:p>
          <a:p>
            <a:pPr algn="just"/>
            <a:r>
              <a:rPr lang="en-GB" dirty="0"/>
              <a:t>A period as large as </a:t>
            </a:r>
            <a:r>
              <a:rPr lang="en-GB" dirty="0" err="1"/>
              <a:t>m</a:t>
            </a:r>
            <a:r>
              <a:rPr lang="en-GB" baseline="30000" dirty="0" err="1"/>
              <a:t>q</a:t>
            </a:r>
            <a:r>
              <a:rPr lang="en-GB" dirty="0"/>
              <a:t> - 1 then becomes possible if the parameters are chosen properly.</a:t>
            </a:r>
          </a:p>
          <a:p>
            <a:pPr algn="just"/>
            <a:r>
              <a:rPr lang="en-GB" dirty="0" err="1"/>
              <a:t>L’Ecuyer</a:t>
            </a:r>
            <a:r>
              <a:rPr lang="en-GB" dirty="0"/>
              <a:t>, Blouin, and Couture (1993) investigated such generators and identified several specific generators of this type that perform well, and give portable implementations.</a:t>
            </a:r>
            <a:endParaRPr lang="en-US" dirty="0"/>
          </a:p>
        </p:txBody>
      </p:sp>
    </p:spTree>
    <p:extLst>
      <p:ext uri="{BB962C8B-B14F-4D97-AF65-F5344CB8AC3E}">
        <p14:creationId xmlns:p14="http://schemas.microsoft.com/office/powerpoint/2010/main" val="23484217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12017-6AE3-45D9-8C71-5119305585E4}"/>
              </a:ext>
            </a:extLst>
          </p:cNvPr>
          <p:cNvSpPr>
            <a:spLocks noGrp="1"/>
          </p:cNvSpPr>
          <p:nvPr>
            <p:ph type="title"/>
          </p:nvPr>
        </p:nvSpPr>
        <p:spPr/>
        <p:txBody>
          <a:bodyPr/>
          <a:lstStyle/>
          <a:p>
            <a:r>
              <a:rPr lang="en-US" dirty="0"/>
              <a:t>Composite Generators</a:t>
            </a:r>
          </a:p>
        </p:txBody>
      </p:sp>
      <p:sp>
        <p:nvSpPr>
          <p:cNvPr id="3" name="Content Placeholder 2">
            <a:extLst>
              <a:ext uri="{FF2B5EF4-FFF2-40B4-BE49-F238E27FC236}">
                <a16:creationId xmlns:a16="http://schemas.microsoft.com/office/drawing/2014/main" id="{314D5D65-5BE1-4B08-9B89-B9727326FEA3}"/>
              </a:ext>
            </a:extLst>
          </p:cNvPr>
          <p:cNvSpPr>
            <a:spLocks noGrp="1"/>
          </p:cNvSpPr>
          <p:nvPr>
            <p:ph idx="1"/>
          </p:nvPr>
        </p:nvSpPr>
        <p:spPr/>
        <p:txBody>
          <a:bodyPr>
            <a:normAutofit fontScale="85000" lnSpcReduction="10000"/>
          </a:bodyPr>
          <a:lstStyle/>
          <a:p>
            <a:pPr algn="just"/>
            <a:r>
              <a:rPr lang="en-GB" dirty="0"/>
              <a:t>Several researchers have developed methods that take two or more separate generators and combine them in some way to generate the final random numbers.</a:t>
            </a:r>
          </a:p>
          <a:p>
            <a:pPr algn="just"/>
            <a:r>
              <a:rPr lang="en-GB" dirty="0"/>
              <a:t>It is hoped that this composite generator will exhibit a longer period and better statistical </a:t>
            </a:r>
            <a:r>
              <a:rPr lang="en-GB" dirty="0" err="1"/>
              <a:t>behavior</a:t>
            </a:r>
            <a:r>
              <a:rPr lang="en-GB" dirty="0"/>
              <a:t> than any of the simple generators composing it.</a:t>
            </a:r>
          </a:p>
          <a:p>
            <a:pPr algn="just"/>
            <a:r>
              <a:rPr lang="en-GB" dirty="0"/>
              <a:t>The disadvantage in using a composite generator is, of course, that the cost of obtaining each Ui is more than that of using one of the simple generators alone.</a:t>
            </a:r>
          </a:p>
        </p:txBody>
      </p:sp>
    </p:spTree>
    <p:extLst>
      <p:ext uri="{BB962C8B-B14F-4D97-AF65-F5344CB8AC3E}">
        <p14:creationId xmlns:p14="http://schemas.microsoft.com/office/powerpoint/2010/main" val="32805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781E3-E69B-4404-B83A-5637A1FE3CE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9078D6D-7383-4BB5-8872-3234C69F4B77}"/>
              </a:ext>
            </a:extLst>
          </p:cNvPr>
          <p:cNvSpPr>
            <a:spLocks noGrp="1"/>
          </p:cNvSpPr>
          <p:nvPr>
            <p:ph idx="1"/>
          </p:nvPr>
        </p:nvSpPr>
        <p:spPr>
          <a:xfrm>
            <a:off x="457200" y="1600200"/>
            <a:ext cx="8229600" cy="4724400"/>
          </a:xfrm>
        </p:spPr>
        <p:txBody>
          <a:bodyPr>
            <a:normAutofit fontScale="77500" lnSpcReduction="20000"/>
          </a:bodyPr>
          <a:lstStyle/>
          <a:p>
            <a:pPr algn="just"/>
            <a:r>
              <a:rPr lang="en-GB" dirty="0"/>
              <a:t>Perhaps the earliest kind of composite generators used a second LCG to shuffle the output from the first LCG.</a:t>
            </a:r>
          </a:p>
          <a:p>
            <a:pPr algn="just"/>
            <a:r>
              <a:rPr lang="en-GB" dirty="0"/>
              <a:t>Initially, a vector </a:t>
            </a:r>
            <a:r>
              <a:rPr lang="en-GB" b="1" dirty="0"/>
              <a:t>V</a:t>
            </a:r>
            <a:r>
              <a:rPr lang="en-GB" dirty="0"/>
              <a:t> = (V1, V2, . . . , </a:t>
            </a:r>
            <a:r>
              <a:rPr lang="en-GB" dirty="0" err="1"/>
              <a:t>Vk</a:t>
            </a:r>
            <a:r>
              <a:rPr lang="en-GB" dirty="0"/>
              <a:t>) is filled sequentially with the first k Ui’s from the first LCG (k = 128 was originally suggested).</a:t>
            </a:r>
          </a:p>
          <a:p>
            <a:pPr algn="just"/>
            <a:r>
              <a:rPr lang="en-GB" dirty="0"/>
              <a:t>Then the second LCG is used to generate a random integer </a:t>
            </a:r>
            <a:r>
              <a:rPr lang="en-GB" dirty="0" err="1"/>
              <a:t>i</a:t>
            </a:r>
            <a:r>
              <a:rPr lang="en-GB" dirty="0"/>
              <a:t> distributed uniformly on the integers 1, 2, . . . , k, and Vi is returned as the first U(0, 1) variate; the first LCG then replaces this </a:t>
            </a:r>
            <a:r>
              <a:rPr lang="en-GB" dirty="0" err="1"/>
              <a:t>ith</a:t>
            </a:r>
            <a:r>
              <a:rPr lang="en-GB" dirty="0"/>
              <a:t> location in </a:t>
            </a:r>
            <a:r>
              <a:rPr lang="en-GB" b="1" dirty="0"/>
              <a:t>V</a:t>
            </a:r>
            <a:r>
              <a:rPr lang="en-GB" dirty="0"/>
              <a:t> with its next Ui s onward, and the second LCG randomly chooses the next returned random number from this updated </a:t>
            </a:r>
            <a:r>
              <a:rPr lang="en-GB" b="1" dirty="0"/>
              <a:t>V</a:t>
            </a:r>
            <a:r>
              <a:rPr lang="en-GB" dirty="0"/>
              <a:t>…</a:t>
            </a:r>
          </a:p>
          <a:p>
            <a:pPr algn="just"/>
            <a:r>
              <a:rPr lang="en-GB" dirty="0"/>
              <a:t>Shuffling has a natural intuitive appeal, especially since we would expect it to break up any correlation and greatly extend the period.</a:t>
            </a:r>
            <a:endParaRPr lang="en-US" dirty="0"/>
          </a:p>
        </p:txBody>
      </p:sp>
    </p:spTree>
    <p:extLst>
      <p:ext uri="{BB962C8B-B14F-4D97-AF65-F5344CB8AC3E}">
        <p14:creationId xmlns:p14="http://schemas.microsoft.com/office/powerpoint/2010/main" val="36818999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98A9D-6CA2-4B42-97A7-6E25CEF9F8D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7503A2C-8286-4D92-90B1-34F45EE9975B}"/>
              </a:ext>
            </a:extLst>
          </p:cNvPr>
          <p:cNvSpPr>
            <a:spLocks noGrp="1"/>
          </p:cNvSpPr>
          <p:nvPr>
            <p:ph idx="1"/>
          </p:nvPr>
        </p:nvSpPr>
        <p:spPr/>
        <p:txBody>
          <a:bodyPr/>
          <a:lstStyle/>
          <a:p>
            <a:pPr algn="just"/>
            <a:r>
              <a:rPr lang="en-GB" dirty="0"/>
              <a:t>Despite these apparent advantages of rearranging a simple generator’s output in some way, there is not as much known about shuffled generators; for example, one cannot jump into an arbitrary point of a shuffled generator’s output sequence without generating all the intermediate values, whereas this is possible for LCGs.</a:t>
            </a:r>
            <a:endParaRPr lang="en-US" dirty="0"/>
          </a:p>
        </p:txBody>
      </p:sp>
    </p:spTree>
    <p:extLst>
      <p:ext uri="{BB962C8B-B14F-4D97-AF65-F5344CB8AC3E}">
        <p14:creationId xmlns:p14="http://schemas.microsoft.com/office/powerpoint/2010/main" val="14020509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EBA5C-7322-409C-B9E3-B0C948785C78}"/>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F7420263-CE4C-4FE3-92B1-C605942CE355}"/>
              </a:ext>
            </a:extLst>
          </p:cNvPr>
          <p:cNvSpPr>
            <a:spLocks noGrp="1"/>
          </p:cNvSpPr>
          <p:nvPr>
            <p:ph idx="1"/>
          </p:nvPr>
        </p:nvSpPr>
        <p:spPr>
          <a:xfrm>
            <a:off x="457200" y="1600200"/>
            <a:ext cx="8305800" cy="4983162"/>
          </a:xfrm>
        </p:spPr>
        <p:txBody>
          <a:bodyPr>
            <a:normAutofit fontScale="85000" lnSpcReduction="20000"/>
          </a:bodyPr>
          <a:lstStyle/>
          <a:p>
            <a:pPr algn="just"/>
            <a:r>
              <a:rPr lang="en-GB" dirty="0"/>
              <a:t>Another way to combine two generators (in simplified form) is to let {Z</a:t>
            </a:r>
            <a:r>
              <a:rPr lang="en-GB" baseline="-25000" dirty="0"/>
              <a:t>1</a:t>
            </a:r>
            <a:r>
              <a:rPr lang="en-GB" dirty="0"/>
              <a:t>i} and {Z</a:t>
            </a:r>
            <a:r>
              <a:rPr lang="en-GB" baseline="-25000" dirty="0"/>
              <a:t>2</a:t>
            </a:r>
            <a:r>
              <a:rPr lang="en-GB" dirty="0"/>
              <a:t>i} denote the integer sequences generated by two different LCGs with different moduli, then let Zi = (Z</a:t>
            </a:r>
            <a:r>
              <a:rPr lang="en-GB" baseline="-25000" dirty="0"/>
              <a:t>1</a:t>
            </a:r>
            <a:r>
              <a:rPr lang="en-GB" dirty="0"/>
              <a:t>i - Z</a:t>
            </a:r>
            <a:r>
              <a:rPr lang="en-GB" baseline="-25000" dirty="0"/>
              <a:t>2</a:t>
            </a:r>
            <a:r>
              <a:rPr lang="en-GB" dirty="0"/>
              <a:t>i)(mod m) for some integer m, and finally set Ui = Zi/m.</a:t>
            </a:r>
          </a:p>
          <a:p>
            <a:pPr algn="just"/>
            <a:r>
              <a:rPr lang="en-GB" dirty="0"/>
              <a:t>This idea could clearly be extended to more than two generators, and has several advantages; the period is very long (at least 10</a:t>
            </a:r>
            <a:r>
              <a:rPr lang="en-GB" baseline="30000" dirty="0"/>
              <a:t>18</a:t>
            </a:r>
            <a:r>
              <a:rPr lang="en-GB" dirty="0"/>
              <a:t> in one example), the multipliers in each of the component generators can be small (thus promoting portability and usability on virtually any computer), the resulting generator is quite fast, and the statistical properties of these generators also appear to be very good.</a:t>
            </a:r>
            <a:endParaRPr lang="en-US" dirty="0"/>
          </a:p>
        </p:txBody>
      </p:sp>
    </p:spTree>
    <p:extLst>
      <p:ext uri="{BB962C8B-B14F-4D97-AF65-F5344CB8AC3E}">
        <p14:creationId xmlns:p14="http://schemas.microsoft.com/office/powerpoint/2010/main" val="12537031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8F881-0C14-4468-A822-3C8FA241D34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6DFA5B0-E4BD-4368-AD6F-BE2CFA526D5F}"/>
              </a:ext>
            </a:extLst>
          </p:cNvPr>
          <p:cNvSpPr>
            <a:spLocks noGrp="1"/>
          </p:cNvSpPr>
          <p:nvPr>
            <p:ph idx="1"/>
          </p:nvPr>
        </p:nvSpPr>
        <p:spPr/>
        <p:txBody>
          <a:bodyPr>
            <a:normAutofit fontScale="85000" lnSpcReduction="20000"/>
          </a:bodyPr>
          <a:lstStyle/>
          <a:p>
            <a:pPr algn="just"/>
            <a:r>
              <a:rPr lang="en-GB" dirty="0"/>
              <a:t>One very appealing class of generators is obtained by combining multiple recursive generators (MRGs) in a particular way.</a:t>
            </a:r>
          </a:p>
          <a:p>
            <a:pPr algn="just"/>
            <a:r>
              <a:rPr lang="en-GB" dirty="0"/>
              <a:t>Here, J different MRGs are implemented simultaneously to form the sequences {Z</a:t>
            </a:r>
            <a:r>
              <a:rPr lang="en-GB" baseline="-25000" dirty="0"/>
              <a:t>1</a:t>
            </a:r>
            <a:r>
              <a:rPr lang="en-GB" dirty="0"/>
              <a:t>,i}, {Z</a:t>
            </a:r>
            <a:r>
              <a:rPr lang="en-GB" baseline="-25000" dirty="0"/>
              <a:t>2</a:t>
            </a:r>
            <a:r>
              <a:rPr lang="en-GB" dirty="0"/>
              <a:t>,i}, . . . , {</a:t>
            </a:r>
            <a:r>
              <a:rPr lang="en-GB" dirty="0" err="1"/>
              <a:t>Z</a:t>
            </a:r>
            <a:r>
              <a:rPr lang="en-GB" baseline="-25000" dirty="0" err="1"/>
              <a:t>J</a:t>
            </a:r>
            <a:r>
              <a:rPr lang="en-GB" dirty="0" err="1"/>
              <a:t>,i</a:t>
            </a:r>
            <a:r>
              <a:rPr lang="en-GB" dirty="0"/>
              <a:t>}.</a:t>
            </a:r>
          </a:p>
          <a:p>
            <a:pPr algn="just"/>
            <a:r>
              <a:rPr lang="en-GB" dirty="0"/>
              <a:t>Letting m1 be the modulus used in the first of these MRGs, and letting d1, d2, . . . , </a:t>
            </a:r>
            <a:r>
              <a:rPr lang="en-GB" dirty="0" err="1"/>
              <a:t>dJ</a:t>
            </a:r>
            <a:r>
              <a:rPr lang="en-GB" dirty="0"/>
              <a:t> be </a:t>
            </a:r>
            <a:r>
              <a:rPr lang="en-GB" dirty="0" err="1"/>
              <a:t>specifi</a:t>
            </a:r>
            <a:r>
              <a:rPr lang="en-US" dirty="0"/>
              <a:t>ed constants, we define</a:t>
            </a:r>
          </a:p>
          <a:p>
            <a:pPr lvl="1" algn="just"/>
            <a:r>
              <a:rPr lang="pl-PL" dirty="0"/>
              <a:t>Yi </a:t>
            </a:r>
            <a:r>
              <a:rPr lang="en-GB" dirty="0"/>
              <a:t>=</a:t>
            </a:r>
            <a:r>
              <a:rPr lang="pl-PL" dirty="0"/>
              <a:t> (d1Z</a:t>
            </a:r>
            <a:r>
              <a:rPr lang="pl-PL" baseline="-25000" dirty="0"/>
              <a:t>1</a:t>
            </a:r>
            <a:r>
              <a:rPr lang="pl-PL" dirty="0"/>
              <a:t>,i </a:t>
            </a:r>
            <a:r>
              <a:rPr lang="en-GB" dirty="0"/>
              <a:t>+</a:t>
            </a:r>
            <a:r>
              <a:rPr lang="pl-PL" dirty="0"/>
              <a:t> d2Z</a:t>
            </a:r>
            <a:r>
              <a:rPr lang="pl-PL" baseline="-25000" dirty="0"/>
              <a:t>2</a:t>
            </a:r>
            <a:r>
              <a:rPr lang="pl-PL" dirty="0"/>
              <a:t>,i </a:t>
            </a:r>
            <a:r>
              <a:rPr lang="en-GB" dirty="0"/>
              <a:t>+</a:t>
            </a:r>
            <a:r>
              <a:rPr lang="pl-PL" dirty="0"/>
              <a:t> . . . </a:t>
            </a:r>
            <a:r>
              <a:rPr lang="en-GB" dirty="0"/>
              <a:t>+</a:t>
            </a:r>
            <a:r>
              <a:rPr lang="pl-PL" dirty="0"/>
              <a:t> dJZ</a:t>
            </a:r>
            <a:r>
              <a:rPr lang="pl-PL" baseline="-25000" dirty="0"/>
              <a:t>J</a:t>
            </a:r>
            <a:r>
              <a:rPr lang="pl-PL" dirty="0"/>
              <a:t>,i)(mod m1)</a:t>
            </a:r>
            <a:endParaRPr lang="en-US" dirty="0"/>
          </a:p>
          <a:p>
            <a:pPr algn="just"/>
            <a:r>
              <a:rPr lang="en-GB" dirty="0"/>
              <a:t>and finally return Ui = Yi/m1 as the </a:t>
            </a:r>
            <a:r>
              <a:rPr lang="en-GB" dirty="0" err="1"/>
              <a:t>ith</a:t>
            </a:r>
            <a:r>
              <a:rPr lang="en-GB" dirty="0"/>
              <a:t> random number for use in the simulation.</a:t>
            </a:r>
            <a:endParaRPr lang="en-US" dirty="0"/>
          </a:p>
        </p:txBody>
      </p:sp>
    </p:spTree>
    <p:extLst>
      <p:ext uri="{BB962C8B-B14F-4D97-AF65-F5344CB8AC3E}">
        <p14:creationId xmlns:p14="http://schemas.microsoft.com/office/powerpoint/2010/main" val="35269763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4CD6F-36DC-4914-B974-AEBBD3D98E3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BF83843-7E51-4DCD-92E8-28C2A115CCE1}"/>
              </a:ext>
            </a:extLst>
          </p:cNvPr>
          <p:cNvSpPr>
            <a:spLocks noGrp="1"/>
          </p:cNvSpPr>
          <p:nvPr>
            <p:ph idx="1"/>
          </p:nvPr>
        </p:nvSpPr>
        <p:spPr>
          <a:xfrm>
            <a:off x="457200" y="1600200"/>
            <a:ext cx="8229600" cy="2438399"/>
          </a:xfrm>
        </p:spPr>
        <p:txBody>
          <a:bodyPr>
            <a:normAutofit fontScale="77500" lnSpcReduction="20000"/>
          </a:bodyPr>
          <a:lstStyle/>
          <a:p>
            <a:pPr algn="just"/>
            <a:r>
              <a:rPr lang="en-GB" dirty="0"/>
              <a:t>Although the parameters for these kinds of generators must be chosen very carefully, extremely long periods and exceptionally good statistical properties are possible.</a:t>
            </a:r>
          </a:p>
          <a:p>
            <a:pPr algn="just"/>
            <a:r>
              <a:rPr lang="en-GB" dirty="0" err="1"/>
              <a:t>L’Ecuyer</a:t>
            </a:r>
            <a:r>
              <a:rPr lang="en-GB" dirty="0"/>
              <a:t> (1999) carried out an extensive search for good parameter settings and the simplest of them, where J = 2 MRGs are combined, has a period of approximately 2</a:t>
            </a:r>
            <a:r>
              <a:rPr lang="en-GB" baseline="30000" dirty="0"/>
              <a:t>191</a:t>
            </a:r>
            <a:r>
              <a:rPr lang="en-GB" dirty="0"/>
              <a:t> as well as excellent statistical properties.</a:t>
            </a:r>
          </a:p>
          <a:p>
            <a:pPr algn="just"/>
            <a:endParaRPr lang="en-US" dirty="0"/>
          </a:p>
        </p:txBody>
      </p:sp>
      <p:pic>
        <p:nvPicPr>
          <p:cNvPr id="5" name="Picture 4">
            <a:extLst>
              <a:ext uri="{FF2B5EF4-FFF2-40B4-BE49-F238E27FC236}">
                <a16:creationId xmlns:a16="http://schemas.microsoft.com/office/drawing/2014/main" id="{5007AA2B-92D1-45E1-884E-8370D23967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4038599"/>
            <a:ext cx="7848600" cy="2387600"/>
          </a:xfrm>
          <a:prstGeom prst="rect">
            <a:avLst/>
          </a:prstGeom>
        </p:spPr>
      </p:pic>
    </p:spTree>
    <p:extLst>
      <p:ext uri="{BB962C8B-B14F-4D97-AF65-F5344CB8AC3E}">
        <p14:creationId xmlns:p14="http://schemas.microsoft.com/office/powerpoint/2010/main" val="11806743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6B643-9FCB-4966-BC15-AC05D456B266}"/>
              </a:ext>
            </a:extLst>
          </p:cNvPr>
          <p:cNvSpPr>
            <a:spLocks noGrp="1"/>
          </p:cNvSpPr>
          <p:nvPr>
            <p:ph type="title"/>
          </p:nvPr>
        </p:nvSpPr>
        <p:spPr/>
        <p:txBody>
          <a:bodyPr/>
          <a:lstStyle/>
          <a:p>
            <a:r>
              <a:rPr lang="en-US" dirty="0"/>
              <a:t>Feedback Shift Register Generators</a:t>
            </a:r>
          </a:p>
        </p:txBody>
      </p:sp>
      <p:sp>
        <p:nvSpPr>
          <p:cNvPr id="3" name="Content Placeholder 2">
            <a:extLst>
              <a:ext uri="{FF2B5EF4-FFF2-40B4-BE49-F238E27FC236}">
                <a16:creationId xmlns:a16="http://schemas.microsoft.com/office/drawing/2014/main" id="{A4C11255-46AE-4991-A192-B1EBF56E24E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6248771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10787</TotalTime>
  <Words>3257</Words>
  <Application>Microsoft Office PowerPoint</Application>
  <PresentationFormat>On-screen Show (4:3)</PresentationFormat>
  <Paragraphs>121</Paragraphs>
  <Slides>50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Simulation Modeling and Analysis</vt:lpstr>
      <vt:lpstr>Random Variables and their Properties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Random-Number Generators</vt:lpstr>
      <vt:lpstr>PowerPoint Presentation</vt:lpstr>
      <vt:lpstr>PowerPoint Presentation</vt:lpstr>
      <vt:lpstr>LINEAR CONGRUENTIAL GENERATORS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LINEAR CONGRUENTIAL GENERATORS</vt:lpstr>
      <vt:lpstr>PowerPoint Presentation</vt:lpstr>
      <vt:lpstr>PowerPoint Presentation</vt:lpstr>
      <vt:lpstr>PowerPoint Presentation</vt:lpstr>
      <vt:lpstr>PowerPoint Presentation</vt:lpstr>
      <vt:lpstr>PowerPoint Presentation</vt:lpstr>
      <vt:lpstr>Mixed Generators</vt:lpstr>
      <vt:lpstr>Multiplicative Generators</vt:lpstr>
      <vt:lpstr>OTHER KINDS OF GENERATORS</vt:lpstr>
      <vt:lpstr>More General Congruences</vt:lpstr>
      <vt:lpstr>PowerPoint Presentation</vt:lpstr>
      <vt:lpstr>PowerPoint Presentation</vt:lpstr>
      <vt:lpstr>Composite Generators</vt:lpstr>
      <vt:lpstr>PowerPoint Presentation</vt:lpstr>
      <vt:lpstr>PowerPoint Presentation</vt:lpstr>
      <vt:lpstr>PowerPoint Presentation</vt:lpstr>
      <vt:lpstr>PowerPoint Presentation</vt:lpstr>
      <vt:lpstr>PowerPoint Presentation</vt:lpstr>
      <vt:lpstr>Feedback Shift Register Generators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Simulation Modeling and Analysis</dc:title>
  <dc:creator>Nasim</dc:creator>
  <cp:lastModifiedBy>Md. Nasim Adnan</cp:lastModifiedBy>
  <cp:revision>100</cp:revision>
  <dcterms:created xsi:type="dcterms:W3CDTF">2006-08-16T00:00:00Z</dcterms:created>
  <dcterms:modified xsi:type="dcterms:W3CDTF">2025-11-22T08:45:40Z</dcterms:modified>
</cp:coreProperties>
</file>