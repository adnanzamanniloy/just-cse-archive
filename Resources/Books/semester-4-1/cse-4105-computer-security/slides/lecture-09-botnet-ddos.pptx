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0" d="100"/>
          <a:sy n="150" d="100"/>
        </p:scale>
        <p:origin x="654" y="1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9B37AA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9B37AA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9B37AA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9B37AA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08353" y="171653"/>
            <a:ext cx="9575292" cy="8343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9B37AA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31790" y="2340736"/>
            <a:ext cx="4973955" cy="2451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500" y="0"/>
            <a:ext cx="12128500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14958" y="1395425"/>
            <a:ext cx="9565005" cy="2192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solidFill>
                  <a:srgbClr val="001F5F"/>
                </a:solidFill>
                <a:latin typeface="Calibri"/>
                <a:cs typeface="Calibri"/>
              </a:rPr>
              <a:t>Cyber</a:t>
            </a:r>
            <a:r>
              <a:rPr sz="5400" b="1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5400" b="1" dirty="0">
                <a:solidFill>
                  <a:srgbClr val="001F5F"/>
                </a:solidFill>
                <a:latin typeface="Calibri"/>
                <a:cs typeface="Calibri"/>
              </a:rPr>
              <a:t>Security</a:t>
            </a:r>
            <a:r>
              <a:rPr sz="5400" b="1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5400" b="1" dirty="0">
                <a:solidFill>
                  <a:srgbClr val="001F5F"/>
                </a:solidFill>
                <a:latin typeface="Calibri"/>
                <a:cs typeface="Calibri"/>
              </a:rPr>
              <a:t>&amp;</a:t>
            </a:r>
            <a:r>
              <a:rPr sz="5400" b="1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5400" b="1" dirty="0">
                <a:solidFill>
                  <a:srgbClr val="001F5F"/>
                </a:solidFill>
                <a:latin typeface="Calibri"/>
                <a:cs typeface="Calibri"/>
              </a:rPr>
              <a:t>Digital</a:t>
            </a:r>
            <a:r>
              <a:rPr sz="5400" b="1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5400" b="1" spc="-10" dirty="0">
                <a:solidFill>
                  <a:srgbClr val="001F5F"/>
                </a:solidFill>
                <a:latin typeface="Calibri"/>
                <a:cs typeface="Calibri"/>
              </a:rPr>
              <a:t>Forensics </a:t>
            </a:r>
            <a:r>
              <a:rPr sz="5400" b="1" dirty="0">
                <a:solidFill>
                  <a:srgbClr val="001F5F"/>
                </a:solidFill>
                <a:latin typeface="Calibri"/>
                <a:cs typeface="Calibri"/>
              </a:rPr>
              <a:t>CSE</a:t>
            </a:r>
            <a:r>
              <a:rPr sz="5400" b="1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5400" b="1" dirty="0">
                <a:solidFill>
                  <a:srgbClr val="001F5F"/>
                </a:solidFill>
                <a:latin typeface="Calibri"/>
                <a:cs typeface="Calibri"/>
              </a:rPr>
              <a:t>-</a:t>
            </a:r>
            <a:r>
              <a:rPr sz="5400" b="1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5400" b="1" spc="-20" dirty="0">
                <a:solidFill>
                  <a:srgbClr val="001F5F"/>
                </a:solidFill>
                <a:latin typeface="Calibri"/>
                <a:cs typeface="Calibri"/>
              </a:rPr>
              <a:t>4207</a:t>
            </a:r>
            <a:endParaRPr sz="5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3300" b="1" dirty="0">
                <a:solidFill>
                  <a:srgbClr val="000000"/>
                </a:solidFill>
                <a:latin typeface="Calibri"/>
                <a:cs typeface="Calibri"/>
              </a:rPr>
              <a:t>Lecture</a:t>
            </a:r>
            <a:r>
              <a:rPr sz="3300" b="1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300" b="1" dirty="0">
                <a:solidFill>
                  <a:srgbClr val="000000"/>
                </a:solidFill>
                <a:latin typeface="Calibri"/>
                <a:cs typeface="Calibri"/>
              </a:rPr>
              <a:t>-</a:t>
            </a:r>
            <a:r>
              <a:rPr sz="3300" b="1" spc="-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300" b="1" spc="-25" dirty="0">
                <a:solidFill>
                  <a:srgbClr val="000000"/>
                </a:solidFill>
                <a:latin typeface="Calibri"/>
                <a:cs typeface="Calibri"/>
              </a:rPr>
              <a:t>09</a:t>
            </a:r>
            <a:endParaRPr sz="33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95701" y="4218813"/>
            <a:ext cx="6804025" cy="1593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4400" dirty="0">
                <a:latin typeface="Calibri"/>
                <a:cs typeface="Calibri"/>
              </a:rPr>
              <a:t>Dr. Md. Alam Hossain</a:t>
            </a:r>
            <a:endParaRPr sz="44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2900" spc="-10" dirty="0">
                <a:latin typeface="Calibri"/>
                <a:cs typeface="Calibri"/>
              </a:rPr>
              <a:t>Professor</a:t>
            </a:r>
            <a:endParaRPr sz="29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2900" dirty="0">
                <a:latin typeface="Calibri"/>
                <a:cs typeface="Calibri"/>
              </a:rPr>
              <a:t>Jashore</a:t>
            </a:r>
            <a:r>
              <a:rPr sz="2900" spc="-5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University</a:t>
            </a:r>
            <a:r>
              <a:rPr sz="2900" spc="-2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of</a:t>
            </a:r>
            <a:r>
              <a:rPr sz="2900" spc="-2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Science</a:t>
            </a:r>
            <a:r>
              <a:rPr sz="2900" spc="-3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and</a:t>
            </a:r>
            <a:r>
              <a:rPr sz="2900" spc="-25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Technology</a:t>
            </a:r>
            <a:endParaRPr sz="2900" dirty="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04800" y="1143000"/>
            <a:ext cx="596900" cy="659130"/>
            <a:chOff x="304800" y="1143000"/>
            <a:chExt cx="596900" cy="659130"/>
          </a:xfrm>
        </p:grpSpPr>
        <p:sp>
          <p:nvSpPr>
            <p:cNvPr id="6" name="object 6"/>
            <p:cNvSpPr/>
            <p:nvPr/>
          </p:nvSpPr>
          <p:spPr>
            <a:xfrm>
              <a:off x="410375" y="1371600"/>
              <a:ext cx="257810" cy="107950"/>
            </a:xfrm>
            <a:custGeom>
              <a:avLst/>
              <a:gdLst/>
              <a:ahLst/>
              <a:cxnLst/>
              <a:rect l="l" t="t" r="r" b="b"/>
              <a:pathLst>
                <a:path w="257809" h="107950">
                  <a:moveTo>
                    <a:pt x="187388" y="0"/>
                  </a:moveTo>
                  <a:lnTo>
                    <a:pt x="154914" y="0"/>
                  </a:lnTo>
                  <a:lnTo>
                    <a:pt x="119938" y="3810"/>
                  </a:lnTo>
                  <a:lnTo>
                    <a:pt x="87452" y="11302"/>
                  </a:lnTo>
                  <a:lnTo>
                    <a:pt x="57467" y="20700"/>
                  </a:lnTo>
                  <a:lnTo>
                    <a:pt x="27482" y="33909"/>
                  </a:lnTo>
                  <a:lnTo>
                    <a:pt x="0" y="47116"/>
                  </a:lnTo>
                  <a:lnTo>
                    <a:pt x="72466" y="107569"/>
                  </a:lnTo>
                  <a:lnTo>
                    <a:pt x="107442" y="92455"/>
                  </a:lnTo>
                  <a:lnTo>
                    <a:pt x="124929" y="86740"/>
                  </a:lnTo>
                  <a:lnTo>
                    <a:pt x="144919" y="83058"/>
                  </a:lnTo>
                  <a:lnTo>
                    <a:pt x="162407" y="81152"/>
                  </a:lnTo>
                  <a:lnTo>
                    <a:pt x="182397" y="79248"/>
                  </a:lnTo>
                  <a:lnTo>
                    <a:pt x="226504" y="79248"/>
                  </a:lnTo>
                  <a:lnTo>
                    <a:pt x="257352" y="7492"/>
                  </a:lnTo>
                  <a:lnTo>
                    <a:pt x="222376" y="1904"/>
                  </a:lnTo>
                  <a:lnTo>
                    <a:pt x="187388" y="0"/>
                  </a:lnTo>
                  <a:close/>
                </a:path>
                <a:path w="257809" h="107950">
                  <a:moveTo>
                    <a:pt x="226504" y="79248"/>
                  </a:moveTo>
                  <a:lnTo>
                    <a:pt x="182397" y="79248"/>
                  </a:lnTo>
                  <a:lnTo>
                    <a:pt x="204889" y="81152"/>
                  </a:lnTo>
                  <a:lnTo>
                    <a:pt x="224866" y="83058"/>
                  </a:lnTo>
                  <a:lnTo>
                    <a:pt x="226504" y="792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23811" y="1552066"/>
              <a:ext cx="156845" cy="187960"/>
            </a:xfrm>
            <a:custGeom>
              <a:avLst/>
              <a:gdLst/>
              <a:ahLst/>
              <a:cxnLst/>
              <a:rect l="l" t="t" r="r" b="b"/>
              <a:pathLst>
                <a:path w="156844" h="187960">
                  <a:moveTo>
                    <a:pt x="151752" y="0"/>
                  </a:moveTo>
                  <a:lnTo>
                    <a:pt x="47269" y="16891"/>
                  </a:lnTo>
                  <a:lnTo>
                    <a:pt x="49758" y="32004"/>
                  </a:lnTo>
                  <a:lnTo>
                    <a:pt x="49758" y="46990"/>
                  </a:lnTo>
                  <a:lnTo>
                    <a:pt x="47269" y="61975"/>
                  </a:lnTo>
                  <a:lnTo>
                    <a:pt x="39801" y="77088"/>
                  </a:lnTo>
                  <a:lnTo>
                    <a:pt x="32346" y="90170"/>
                  </a:lnTo>
                  <a:lnTo>
                    <a:pt x="24879" y="103378"/>
                  </a:lnTo>
                  <a:lnTo>
                    <a:pt x="12445" y="116586"/>
                  </a:lnTo>
                  <a:lnTo>
                    <a:pt x="0" y="127762"/>
                  </a:lnTo>
                  <a:lnTo>
                    <a:pt x="72148" y="187960"/>
                  </a:lnTo>
                  <a:lnTo>
                    <a:pt x="114426" y="148462"/>
                  </a:lnTo>
                  <a:lnTo>
                    <a:pt x="141795" y="101473"/>
                  </a:lnTo>
                  <a:lnTo>
                    <a:pt x="156717" y="50800"/>
                  </a:lnTo>
                  <a:lnTo>
                    <a:pt x="156717" y="24511"/>
                  </a:lnTo>
                  <a:lnTo>
                    <a:pt x="151752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800" y="1433449"/>
              <a:ext cx="217754" cy="35471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61123" y="1385188"/>
              <a:ext cx="209550" cy="163195"/>
            </a:xfrm>
            <a:custGeom>
              <a:avLst/>
              <a:gdLst/>
              <a:ahLst/>
              <a:cxnLst/>
              <a:rect l="l" t="t" r="r" b="b"/>
              <a:pathLst>
                <a:path w="209550" h="163194">
                  <a:moveTo>
                    <a:pt x="34925" y="0"/>
                  </a:moveTo>
                  <a:lnTo>
                    <a:pt x="0" y="76962"/>
                  </a:lnTo>
                  <a:lnTo>
                    <a:pt x="19951" y="84455"/>
                  </a:lnTo>
                  <a:lnTo>
                    <a:pt x="37414" y="91948"/>
                  </a:lnTo>
                  <a:lnTo>
                    <a:pt x="79819" y="123825"/>
                  </a:lnTo>
                  <a:lnTo>
                    <a:pt x="97269" y="150113"/>
                  </a:lnTo>
                  <a:lnTo>
                    <a:pt x="104762" y="163195"/>
                  </a:lnTo>
                  <a:lnTo>
                    <a:pt x="209511" y="146303"/>
                  </a:lnTo>
                  <a:lnTo>
                    <a:pt x="199529" y="121920"/>
                  </a:lnTo>
                  <a:lnTo>
                    <a:pt x="184569" y="99440"/>
                  </a:lnTo>
                  <a:lnTo>
                    <a:pt x="147154" y="58165"/>
                  </a:lnTo>
                  <a:lnTo>
                    <a:pt x="94780" y="24384"/>
                  </a:lnTo>
                  <a:lnTo>
                    <a:pt x="67348" y="11302"/>
                  </a:lnTo>
                  <a:lnTo>
                    <a:pt x="34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17601" y="1693037"/>
              <a:ext cx="257810" cy="109220"/>
            </a:xfrm>
            <a:custGeom>
              <a:avLst/>
              <a:gdLst/>
              <a:ahLst/>
              <a:cxnLst/>
              <a:rect l="l" t="t" r="r" b="b"/>
              <a:pathLst>
                <a:path w="257809" h="109219">
                  <a:moveTo>
                    <a:pt x="32486" y="24384"/>
                  </a:moveTo>
                  <a:lnTo>
                    <a:pt x="0" y="101218"/>
                  </a:lnTo>
                  <a:lnTo>
                    <a:pt x="34988" y="106934"/>
                  </a:lnTo>
                  <a:lnTo>
                    <a:pt x="69964" y="108838"/>
                  </a:lnTo>
                  <a:lnTo>
                    <a:pt x="102450" y="108838"/>
                  </a:lnTo>
                  <a:lnTo>
                    <a:pt x="169900" y="97536"/>
                  </a:lnTo>
                  <a:lnTo>
                    <a:pt x="229870" y="75057"/>
                  </a:lnTo>
                  <a:lnTo>
                    <a:pt x="257352" y="60071"/>
                  </a:lnTo>
                  <a:lnTo>
                    <a:pt x="218751" y="28066"/>
                  </a:lnTo>
                  <a:lnTo>
                    <a:pt x="52476" y="28066"/>
                  </a:lnTo>
                  <a:lnTo>
                    <a:pt x="32486" y="24384"/>
                  </a:lnTo>
                  <a:close/>
                </a:path>
                <a:path w="257809" h="109219">
                  <a:moveTo>
                    <a:pt x="184899" y="0"/>
                  </a:moveTo>
                  <a:lnTo>
                    <a:pt x="149923" y="16890"/>
                  </a:lnTo>
                  <a:lnTo>
                    <a:pt x="112433" y="26288"/>
                  </a:lnTo>
                  <a:lnTo>
                    <a:pt x="92456" y="28066"/>
                  </a:lnTo>
                  <a:lnTo>
                    <a:pt x="218751" y="28066"/>
                  </a:lnTo>
                  <a:lnTo>
                    <a:pt x="184899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9600" y="1143000"/>
              <a:ext cx="292100" cy="2190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300" spc="-10" dirty="0">
                <a:solidFill>
                  <a:srgbClr val="F79546"/>
                </a:solidFill>
                <a:latin typeface="Calibri"/>
                <a:cs typeface="Calibri"/>
              </a:rPr>
              <a:t>Outline</a:t>
            </a:r>
            <a:endParaRPr sz="53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8800" y="1195583"/>
            <a:ext cx="4538345" cy="3866515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35255" indent="-133350">
              <a:lnSpc>
                <a:spcPct val="100000"/>
              </a:lnSpc>
              <a:spcBef>
                <a:spcPts val="1780"/>
              </a:spcBef>
              <a:buSzPct val="96428"/>
              <a:buChar char="•"/>
              <a:tabLst>
                <a:tab pos="135255" algn="l"/>
              </a:tabLst>
            </a:pPr>
            <a:r>
              <a:rPr sz="2800" spc="-10" dirty="0">
                <a:latin typeface="Arial MT"/>
                <a:cs typeface="Arial MT"/>
              </a:rPr>
              <a:t>Botnet</a:t>
            </a:r>
            <a:endParaRPr sz="2800">
              <a:latin typeface="Arial MT"/>
              <a:cs typeface="Arial MT"/>
            </a:endParaRPr>
          </a:p>
          <a:p>
            <a:pPr marL="135255" indent="-133350">
              <a:lnSpc>
                <a:spcPct val="100000"/>
              </a:lnSpc>
              <a:spcBef>
                <a:spcPts val="1680"/>
              </a:spcBef>
              <a:buSzPct val="96428"/>
              <a:buChar char="•"/>
              <a:tabLst>
                <a:tab pos="135255" algn="l"/>
              </a:tabLst>
            </a:pPr>
            <a:r>
              <a:rPr sz="2800" dirty="0">
                <a:latin typeface="Arial MT"/>
                <a:cs typeface="Arial MT"/>
              </a:rPr>
              <a:t>DDoS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using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Botnet</a:t>
            </a:r>
            <a:endParaRPr sz="2800">
              <a:latin typeface="Arial MT"/>
              <a:cs typeface="Arial MT"/>
            </a:endParaRPr>
          </a:p>
          <a:p>
            <a:pPr marL="135255" indent="-133350">
              <a:lnSpc>
                <a:spcPct val="100000"/>
              </a:lnSpc>
              <a:spcBef>
                <a:spcPts val="1680"/>
              </a:spcBef>
              <a:buSzPct val="96428"/>
              <a:buChar char="•"/>
              <a:tabLst>
                <a:tab pos="135255" algn="l"/>
              </a:tabLst>
            </a:pPr>
            <a:r>
              <a:rPr sz="2800" dirty="0">
                <a:latin typeface="Arial MT"/>
                <a:cs typeface="Arial MT"/>
              </a:rPr>
              <a:t>Botnet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C&amp;C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problem</a:t>
            </a:r>
            <a:endParaRPr sz="2800">
              <a:latin typeface="Arial MT"/>
              <a:cs typeface="Arial MT"/>
            </a:endParaRPr>
          </a:p>
          <a:p>
            <a:pPr marL="135255" indent="-133350">
              <a:lnSpc>
                <a:spcPct val="100000"/>
              </a:lnSpc>
              <a:spcBef>
                <a:spcPts val="1685"/>
              </a:spcBef>
              <a:buSzPct val="96428"/>
              <a:buChar char="•"/>
              <a:tabLst>
                <a:tab pos="135255" algn="l"/>
              </a:tabLst>
            </a:pPr>
            <a:r>
              <a:rPr sz="2800" dirty="0">
                <a:latin typeface="Arial MT"/>
                <a:cs typeface="Arial MT"/>
              </a:rPr>
              <a:t>Advanced</a:t>
            </a:r>
            <a:r>
              <a:rPr sz="2800" spc="-114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Persistent</a:t>
            </a:r>
            <a:r>
              <a:rPr sz="2800" spc="-12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Threat</a:t>
            </a:r>
            <a:endParaRPr sz="2800">
              <a:latin typeface="Arial MT"/>
              <a:cs typeface="Arial MT"/>
            </a:endParaRPr>
          </a:p>
          <a:p>
            <a:pPr marL="135255" indent="-133350">
              <a:lnSpc>
                <a:spcPct val="100000"/>
              </a:lnSpc>
              <a:spcBef>
                <a:spcPts val="1680"/>
              </a:spcBef>
              <a:buSzPct val="96428"/>
              <a:buChar char="•"/>
              <a:tabLst>
                <a:tab pos="135255" algn="l"/>
              </a:tabLst>
            </a:pPr>
            <a:r>
              <a:rPr sz="2800" dirty="0">
                <a:latin typeface="Arial MT"/>
                <a:cs typeface="Arial MT"/>
              </a:rPr>
              <a:t>Malware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Obfuscation</a:t>
            </a:r>
            <a:endParaRPr sz="2800">
              <a:latin typeface="Arial MT"/>
              <a:cs typeface="Arial MT"/>
            </a:endParaRPr>
          </a:p>
          <a:p>
            <a:pPr marL="135255" indent="-133350">
              <a:lnSpc>
                <a:spcPct val="100000"/>
              </a:lnSpc>
              <a:spcBef>
                <a:spcPts val="1680"/>
              </a:spcBef>
              <a:buSzPct val="96428"/>
              <a:buChar char="•"/>
              <a:tabLst>
                <a:tab pos="135255" algn="l"/>
              </a:tabLst>
            </a:pPr>
            <a:r>
              <a:rPr sz="2800" spc="-10" dirty="0">
                <a:latin typeface="Arial MT"/>
                <a:cs typeface="Arial MT"/>
              </a:rPr>
              <a:t>Unpacking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2800" y="533400"/>
            <a:ext cx="404279" cy="30327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0786491" y="5792787"/>
            <a:ext cx="1278890" cy="981075"/>
            <a:chOff x="10786491" y="5792787"/>
            <a:chExt cx="1278890" cy="981075"/>
          </a:xfrm>
        </p:grpSpPr>
        <p:sp>
          <p:nvSpPr>
            <p:cNvPr id="6" name="object 6"/>
            <p:cNvSpPr/>
            <p:nvPr/>
          </p:nvSpPr>
          <p:spPr>
            <a:xfrm>
              <a:off x="11383391" y="5792787"/>
              <a:ext cx="292100" cy="177800"/>
            </a:xfrm>
            <a:custGeom>
              <a:avLst/>
              <a:gdLst/>
              <a:ahLst/>
              <a:cxnLst/>
              <a:rect l="l" t="t" r="r" b="b"/>
              <a:pathLst>
                <a:path w="292100" h="177800">
                  <a:moveTo>
                    <a:pt x="292100" y="0"/>
                  </a:moveTo>
                  <a:lnTo>
                    <a:pt x="247141" y="2400"/>
                  </a:lnTo>
                  <a:lnTo>
                    <a:pt x="163702" y="21628"/>
                  </a:lnTo>
                  <a:lnTo>
                    <a:pt x="125222" y="36042"/>
                  </a:lnTo>
                  <a:lnTo>
                    <a:pt x="89915" y="55257"/>
                  </a:lnTo>
                  <a:lnTo>
                    <a:pt x="25780" y="98513"/>
                  </a:lnTo>
                  <a:lnTo>
                    <a:pt x="0" y="124942"/>
                  </a:lnTo>
                  <a:lnTo>
                    <a:pt x="122047" y="177800"/>
                  </a:lnTo>
                  <a:lnTo>
                    <a:pt x="154177" y="148971"/>
                  </a:lnTo>
                  <a:lnTo>
                    <a:pt x="173354" y="136956"/>
                  </a:lnTo>
                  <a:lnTo>
                    <a:pt x="195833" y="124942"/>
                  </a:lnTo>
                  <a:lnTo>
                    <a:pt x="240791" y="110528"/>
                  </a:lnTo>
                  <a:lnTo>
                    <a:pt x="266445" y="105714"/>
                  </a:lnTo>
                  <a:lnTo>
                    <a:pt x="292100" y="103314"/>
                  </a:lnTo>
                  <a:lnTo>
                    <a:pt x="292100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04091" y="5942012"/>
              <a:ext cx="160908" cy="254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326241" y="5942012"/>
              <a:ext cx="160908" cy="2540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1383391" y="6165850"/>
              <a:ext cx="292100" cy="179705"/>
            </a:xfrm>
            <a:custGeom>
              <a:avLst/>
              <a:gdLst/>
              <a:ahLst/>
              <a:cxnLst/>
              <a:rect l="l" t="t" r="r" b="b"/>
              <a:pathLst>
                <a:path w="292100" h="179704">
                  <a:moveTo>
                    <a:pt x="122047" y="0"/>
                  </a:moveTo>
                  <a:lnTo>
                    <a:pt x="0" y="53327"/>
                  </a:lnTo>
                  <a:lnTo>
                    <a:pt x="25780" y="79997"/>
                  </a:lnTo>
                  <a:lnTo>
                    <a:pt x="89915" y="123634"/>
                  </a:lnTo>
                  <a:lnTo>
                    <a:pt x="125222" y="143027"/>
                  </a:lnTo>
                  <a:lnTo>
                    <a:pt x="163702" y="157568"/>
                  </a:lnTo>
                  <a:lnTo>
                    <a:pt x="247141" y="176961"/>
                  </a:lnTo>
                  <a:lnTo>
                    <a:pt x="292100" y="179387"/>
                  </a:lnTo>
                  <a:lnTo>
                    <a:pt x="292100" y="75145"/>
                  </a:lnTo>
                  <a:lnTo>
                    <a:pt x="266445" y="72720"/>
                  </a:lnTo>
                  <a:lnTo>
                    <a:pt x="240791" y="67881"/>
                  </a:lnTo>
                  <a:lnTo>
                    <a:pt x="195833" y="53327"/>
                  </a:lnTo>
                  <a:lnTo>
                    <a:pt x="173354" y="41211"/>
                  </a:lnTo>
                  <a:lnTo>
                    <a:pt x="154177" y="29095"/>
                  </a:lnTo>
                  <a:lnTo>
                    <a:pt x="138049" y="16967"/>
                  </a:lnTo>
                  <a:lnTo>
                    <a:pt x="122047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715750" y="5792787"/>
              <a:ext cx="292100" cy="552450"/>
            </a:xfrm>
            <a:custGeom>
              <a:avLst/>
              <a:gdLst/>
              <a:ahLst/>
              <a:cxnLst/>
              <a:rect l="l" t="t" r="r" b="b"/>
              <a:pathLst>
                <a:path w="292100" h="552450">
                  <a:moveTo>
                    <a:pt x="292100" y="426389"/>
                  </a:moveTo>
                  <a:lnTo>
                    <a:pt x="170180" y="373062"/>
                  </a:lnTo>
                  <a:lnTo>
                    <a:pt x="157226" y="390029"/>
                  </a:lnTo>
                  <a:lnTo>
                    <a:pt x="118745" y="414274"/>
                  </a:lnTo>
                  <a:lnTo>
                    <a:pt x="96266" y="426389"/>
                  </a:lnTo>
                  <a:lnTo>
                    <a:pt x="51308" y="440944"/>
                  </a:lnTo>
                  <a:lnTo>
                    <a:pt x="25654" y="445782"/>
                  </a:lnTo>
                  <a:lnTo>
                    <a:pt x="0" y="448208"/>
                  </a:lnTo>
                  <a:lnTo>
                    <a:pt x="0" y="552450"/>
                  </a:lnTo>
                  <a:lnTo>
                    <a:pt x="44958" y="550024"/>
                  </a:lnTo>
                  <a:lnTo>
                    <a:pt x="128397" y="530631"/>
                  </a:lnTo>
                  <a:lnTo>
                    <a:pt x="166878" y="516089"/>
                  </a:lnTo>
                  <a:lnTo>
                    <a:pt x="202184" y="496697"/>
                  </a:lnTo>
                  <a:lnTo>
                    <a:pt x="237490" y="474878"/>
                  </a:lnTo>
                  <a:lnTo>
                    <a:pt x="266446" y="453059"/>
                  </a:lnTo>
                  <a:lnTo>
                    <a:pt x="292100" y="426389"/>
                  </a:lnTo>
                  <a:close/>
                </a:path>
                <a:path w="292100" h="552450">
                  <a:moveTo>
                    <a:pt x="292100" y="124942"/>
                  </a:moveTo>
                  <a:lnTo>
                    <a:pt x="237490" y="76885"/>
                  </a:lnTo>
                  <a:lnTo>
                    <a:pt x="202184" y="55257"/>
                  </a:lnTo>
                  <a:lnTo>
                    <a:pt x="166878" y="36042"/>
                  </a:lnTo>
                  <a:lnTo>
                    <a:pt x="128397" y="21628"/>
                  </a:lnTo>
                  <a:lnTo>
                    <a:pt x="44958" y="2400"/>
                  </a:lnTo>
                  <a:lnTo>
                    <a:pt x="0" y="0"/>
                  </a:lnTo>
                  <a:lnTo>
                    <a:pt x="0" y="103314"/>
                  </a:lnTo>
                  <a:lnTo>
                    <a:pt x="25654" y="105714"/>
                  </a:lnTo>
                  <a:lnTo>
                    <a:pt x="51308" y="110528"/>
                  </a:lnTo>
                  <a:lnTo>
                    <a:pt x="96266" y="124942"/>
                  </a:lnTo>
                  <a:lnTo>
                    <a:pt x="138049" y="148971"/>
                  </a:lnTo>
                  <a:lnTo>
                    <a:pt x="170180" y="177800"/>
                  </a:lnTo>
                  <a:lnTo>
                    <a:pt x="292100" y="124942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53750" y="6221412"/>
              <a:ext cx="330200" cy="138430"/>
            </a:xfrm>
            <a:custGeom>
              <a:avLst/>
              <a:gdLst/>
              <a:ahLst/>
              <a:cxnLst/>
              <a:rect l="l" t="t" r="r" b="b"/>
              <a:pathLst>
                <a:path w="330200" h="138429">
                  <a:moveTo>
                    <a:pt x="240410" y="0"/>
                  </a:moveTo>
                  <a:lnTo>
                    <a:pt x="198754" y="0"/>
                  </a:lnTo>
                  <a:lnTo>
                    <a:pt x="153924" y="4851"/>
                  </a:lnTo>
                  <a:lnTo>
                    <a:pt x="112268" y="14541"/>
                  </a:lnTo>
                  <a:lnTo>
                    <a:pt x="73786" y="26657"/>
                  </a:lnTo>
                  <a:lnTo>
                    <a:pt x="35305" y="43611"/>
                  </a:lnTo>
                  <a:lnTo>
                    <a:pt x="0" y="60579"/>
                  </a:lnTo>
                  <a:lnTo>
                    <a:pt x="92964" y="138112"/>
                  </a:lnTo>
                  <a:lnTo>
                    <a:pt x="137795" y="118732"/>
                  </a:lnTo>
                  <a:lnTo>
                    <a:pt x="160274" y="111455"/>
                  </a:lnTo>
                  <a:lnTo>
                    <a:pt x="185927" y="106616"/>
                  </a:lnTo>
                  <a:lnTo>
                    <a:pt x="208406" y="104190"/>
                  </a:lnTo>
                  <a:lnTo>
                    <a:pt x="234060" y="101765"/>
                  </a:lnTo>
                  <a:lnTo>
                    <a:pt x="290628" y="101765"/>
                  </a:lnTo>
                  <a:lnTo>
                    <a:pt x="330200" y="9690"/>
                  </a:lnTo>
                  <a:lnTo>
                    <a:pt x="285369" y="2425"/>
                  </a:lnTo>
                  <a:lnTo>
                    <a:pt x="240410" y="0"/>
                  </a:lnTo>
                  <a:close/>
                </a:path>
                <a:path w="330200" h="138429">
                  <a:moveTo>
                    <a:pt x="290628" y="101765"/>
                  </a:moveTo>
                  <a:lnTo>
                    <a:pt x="234060" y="101765"/>
                  </a:lnTo>
                  <a:lnTo>
                    <a:pt x="262890" y="104190"/>
                  </a:lnTo>
                  <a:lnTo>
                    <a:pt x="288544" y="106616"/>
                  </a:lnTo>
                  <a:lnTo>
                    <a:pt x="290628" y="10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818241" y="6300787"/>
              <a:ext cx="203200" cy="2413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355959" y="6453187"/>
              <a:ext cx="201041" cy="2413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0830941" y="6546850"/>
              <a:ext cx="266700" cy="209550"/>
            </a:xfrm>
            <a:custGeom>
              <a:avLst/>
              <a:gdLst/>
              <a:ahLst/>
              <a:cxnLst/>
              <a:rect l="l" t="t" r="r" b="b"/>
              <a:pathLst>
                <a:path w="266700" h="209550">
                  <a:moveTo>
                    <a:pt x="135000" y="0"/>
                  </a:moveTo>
                  <a:lnTo>
                    <a:pt x="0" y="21678"/>
                  </a:lnTo>
                  <a:lnTo>
                    <a:pt x="12953" y="52997"/>
                  </a:lnTo>
                  <a:lnTo>
                    <a:pt x="32130" y="81889"/>
                  </a:lnTo>
                  <a:lnTo>
                    <a:pt x="80390" y="134886"/>
                  </a:lnTo>
                  <a:lnTo>
                    <a:pt x="144652" y="178244"/>
                  </a:lnTo>
                  <a:lnTo>
                    <a:pt x="183260" y="195099"/>
                  </a:lnTo>
                  <a:lnTo>
                    <a:pt x="224916" y="209551"/>
                  </a:lnTo>
                  <a:lnTo>
                    <a:pt x="266700" y="110794"/>
                  </a:lnTo>
                  <a:lnTo>
                    <a:pt x="221741" y="91528"/>
                  </a:lnTo>
                  <a:lnTo>
                    <a:pt x="202437" y="79489"/>
                  </a:lnTo>
                  <a:lnTo>
                    <a:pt x="183260" y="65036"/>
                  </a:lnTo>
                  <a:lnTo>
                    <a:pt x="167131" y="50584"/>
                  </a:lnTo>
                  <a:lnTo>
                    <a:pt x="154304" y="33718"/>
                  </a:lnTo>
                  <a:lnTo>
                    <a:pt x="135000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275441" y="6238875"/>
              <a:ext cx="269240" cy="209550"/>
            </a:xfrm>
            <a:custGeom>
              <a:avLst/>
              <a:gdLst/>
              <a:ahLst/>
              <a:cxnLst/>
              <a:rect l="l" t="t" r="r" b="b"/>
              <a:pathLst>
                <a:path w="269240" h="209550">
                  <a:moveTo>
                    <a:pt x="44830" y="0"/>
                  </a:moveTo>
                  <a:lnTo>
                    <a:pt x="0" y="98755"/>
                  </a:lnTo>
                  <a:lnTo>
                    <a:pt x="25653" y="108394"/>
                  </a:lnTo>
                  <a:lnTo>
                    <a:pt x="48005" y="118021"/>
                  </a:lnTo>
                  <a:lnTo>
                    <a:pt x="86486" y="144513"/>
                  </a:lnTo>
                  <a:lnTo>
                    <a:pt x="115188" y="173418"/>
                  </a:lnTo>
                  <a:lnTo>
                    <a:pt x="124840" y="192697"/>
                  </a:lnTo>
                  <a:lnTo>
                    <a:pt x="134492" y="209550"/>
                  </a:lnTo>
                  <a:lnTo>
                    <a:pt x="268858" y="187871"/>
                  </a:lnTo>
                  <a:lnTo>
                    <a:pt x="256031" y="156565"/>
                  </a:lnTo>
                  <a:lnTo>
                    <a:pt x="236854" y="127660"/>
                  </a:lnTo>
                  <a:lnTo>
                    <a:pt x="188849" y="74663"/>
                  </a:lnTo>
                  <a:lnTo>
                    <a:pt x="156844" y="52997"/>
                  </a:lnTo>
                  <a:lnTo>
                    <a:pt x="121665" y="31318"/>
                  </a:lnTo>
                  <a:lnTo>
                    <a:pt x="86486" y="14452"/>
                  </a:lnTo>
                  <a:lnTo>
                    <a:pt x="448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091291" y="6634162"/>
              <a:ext cx="330200" cy="139700"/>
            </a:xfrm>
            <a:custGeom>
              <a:avLst/>
              <a:gdLst/>
              <a:ahLst/>
              <a:cxnLst/>
              <a:rect l="l" t="t" r="r" b="b"/>
              <a:pathLst>
                <a:path w="330200" h="139700">
                  <a:moveTo>
                    <a:pt x="41655" y="31318"/>
                  </a:moveTo>
                  <a:lnTo>
                    <a:pt x="0" y="130067"/>
                  </a:lnTo>
                  <a:lnTo>
                    <a:pt x="44957" y="137292"/>
                  </a:lnTo>
                  <a:lnTo>
                    <a:pt x="89788" y="139701"/>
                  </a:lnTo>
                  <a:lnTo>
                    <a:pt x="131444" y="139701"/>
                  </a:lnTo>
                  <a:lnTo>
                    <a:pt x="176402" y="134882"/>
                  </a:lnTo>
                  <a:lnTo>
                    <a:pt x="218058" y="125248"/>
                  </a:lnTo>
                  <a:lnTo>
                    <a:pt x="256539" y="113206"/>
                  </a:lnTo>
                  <a:lnTo>
                    <a:pt x="295020" y="96342"/>
                  </a:lnTo>
                  <a:lnTo>
                    <a:pt x="330200" y="77076"/>
                  </a:lnTo>
                  <a:lnTo>
                    <a:pt x="280815" y="36131"/>
                  </a:lnTo>
                  <a:lnTo>
                    <a:pt x="67309" y="36131"/>
                  </a:lnTo>
                  <a:lnTo>
                    <a:pt x="41655" y="31318"/>
                  </a:lnTo>
                  <a:close/>
                </a:path>
                <a:path w="330200" h="139700">
                  <a:moveTo>
                    <a:pt x="237235" y="0"/>
                  </a:moveTo>
                  <a:lnTo>
                    <a:pt x="192404" y="21678"/>
                  </a:lnTo>
                  <a:lnTo>
                    <a:pt x="144272" y="33718"/>
                  </a:lnTo>
                  <a:lnTo>
                    <a:pt x="118617" y="36131"/>
                  </a:lnTo>
                  <a:lnTo>
                    <a:pt x="280815" y="36131"/>
                  </a:lnTo>
                  <a:lnTo>
                    <a:pt x="237235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786491" y="5821362"/>
              <a:ext cx="243458" cy="39052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063859" y="5821362"/>
              <a:ext cx="243332" cy="3905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75600" y="1625599"/>
            <a:ext cx="3708400" cy="4165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9788" rIns="0" bIns="0" rtlCol="0">
            <a:spAutoFit/>
          </a:bodyPr>
          <a:lstStyle/>
          <a:p>
            <a:pPr marL="3808729">
              <a:lnSpc>
                <a:spcPct val="100000"/>
              </a:lnSpc>
              <a:spcBef>
                <a:spcPts val="95"/>
              </a:spcBef>
            </a:pPr>
            <a:r>
              <a:rPr spc="190" dirty="0"/>
              <a:t>Botnet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7834" y="1208913"/>
            <a:ext cx="325310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8925" indent="-28130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SzPct val="97222"/>
              <a:buFont typeface="Microsoft Sans Serif"/>
              <a:buChar char="●"/>
              <a:tabLst>
                <a:tab pos="288925" algn="l"/>
              </a:tabLst>
            </a:pPr>
            <a:r>
              <a:rPr sz="3600" spc="165" dirty="0">
                <a:solidFill>
                  <a:srgbClr val="6699FF"/>
                </a:solidFill>
                <a:latin typeface="Lucida Sans Unicode"/>
                <a:cs typeface="Lucida Sans Unicode"/>
              </a:rPr>
              <a:t>Bot</a:t>
            </a:r>
            <a:r>
              <a:rPr sz="3600" spc="500" dirty="0">
                <a:solidFill>
                  <a:srgbClr val="6699FF"/>
                </a:solidFill>
                <a:latin typeface="Lucida Sans Unicode"/>
                <a:cs typeface="Lucida Sans Unicode"/>
              </a:rPr>
              <a:t> </a:t>
            </a:r>
            <a:r>
              <a:rPr sz="3600" spc="-10" dirty="0">
                <a:solidFill>
                  <a:srgbClr val="6699FF"/>
                </a:solidFill>
                <a:latin typeface="Lucida Sans Unicode"/>
                <a:cs typeface="Lucida Sans Unicode"/>
              </a:rPr>
              <a:t>(Zombie)</a:t>
            </a:r>
            <a:endParaRPr sz="36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0859" y="2338196"/>
            <a:ext cx="7225030" cy="41357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2270" indent="-344170" algn="just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382270" algn="l"/>
              </a:tabLst>
            </a:pP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1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compromised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computer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under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control</a:t>
            </a:r>
            <a:endParaRPr sz="3000">
              <a:latin typeface="Times New Roman"/>
              <a:cs typeface="Times New Roman"/>
            </a:endParaRPr>
          </a:p>
          <a:p>
            <a:pPr marL="382270" algn="just">
              <a:lnSpc>
                <a:spcPct val="100000"/>
              </a:lnSpc>
              <a:spcBef>
                <a:spcPts val="2295"/>
              </a:spcBef>
            </a:pP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attacker</a:t>
            </a:r>
            <a:endParaRPr sz="3000">
              <a:latin typeface="Times New Roman"/>
              <a:cs typeface="Times New Roman"/>
            </a:endParaRPr>
          </a:p>
          <a:p>
            <a:pPr marL="382905" indent="-330200" algn="just">
              <a:lnSpc>
                <a:spcPct val="100000"/>
              </a:lnSpc>
              <a:spcBef>
                <a:spcPts val="1560"/>
              </a:spcBef>
              <a:buFont typeface="Microsoft Sans Serif"/>
              <a:buChar char="●"/>
              <a:tabLst>
                <a:tab pos="382905" algn="l"/>
              </a:tabLst>
            </a:pPr>
            <a:r>
              <a:rPr sz="3000" dirty="0">
                <a:latin typeface="Times New Roman"/>
                <a:cs typeface="Times New Roman"/>
              </a:rPr>
              <a:t>Bot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code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(malware)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on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computer</a:t>
            </a:r>
            <a:endParaRPr sz="3000">
              <a:latin typeface="Times New Roman"/>
              <a:cs typeface="Times New Roman"/>
            </a:endParaRPr>
          </a:p>
          <a:p>
            <a:pPr marL="382270" marR="30480" algn="just">
              <a:lnSpc>
                <a:spcPts val="5910"/>
              </a:lnSpc>
              <a:spcBef>
                <a:spcPts val="365"/>
              </a:spcBef>
            </a:pPr>
            <a:r>
              <a:rPr sz="3000" dirty="0">
                <a:latin typeface="Times New Roman"/>
                <a:cs typeface="Times New Roman"/>
              </a:rPr>
              <a:t>communicates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with</a:t>
            </a:r>
            <a:r>
              <a:rPr sz="3000" spc="-10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attacker’s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server</a:t>
            </a:r>
            <a:r>
              <a:rPr sz="3000" spc="-10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and </a:t>
            </a:r>
            <a:r>
              <a:rPr sz="3000" dirty="0">
                <a:latin typeface="Times New Roman"/>
                <a:cs typeface="Times New Roman"/>
              </a:rPr>
              <a:t>carries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out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malicious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activities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per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attacker’s instructions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9788" rIns="0" bIns="0" rtlCol="0">
            <a:spAutoFit/>
          </a:bodyPr>
          <a:lstStyle/>
          <a:p>
            <a:pPr marL="3808729">
              <a:lnSpc>
                <a:spcPct val="100000"/>
              </a:lnSpc>
              <a:spcBef>
                <a:spcPts val="95"/>
              </a:spcBef>
            </a:pPr>
            <a:r>
              <a:rPr spc="190" dirty="0"/>
              <a:t>Botnet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5276" y="1318005"/>
            <a:ext cx="9165590" cy="2891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9590" indent="-504190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529590" algn="l"/>
              </a:tabLst>
            </a:pPr>
            <a:r>
              <a:rPr sz="3600" spc="175" dirty="0">
                <a:solidFill>
                  <a:srgbClr val="6699FF"/>
                </a:solidFill>
                <a:latin typeface="Lucida Sans Unicode"/>
                <a:cs typeface="Lucida Sans Unicode"/>
              </a:rPr>
              <a:t>Botnet</a:t>
            </a:r>
            <a:endParaRPr sz="3600">
              <a:latin typeface="Lucida Sans Unicode"/>
              <a:cs typeface="Lucida Sans Unicode"/>
            </a:endParaRPr>
          </a:p>
          <a:p>
            <a:pPr marL="567690" marR="255904" lvl="1" indent="-344805">
              <a:lnSpc>
                <a:spcPct val="163800"/>
              </a:lnSpc>
              <a:spcBef>
                <a:spcPts val="550"/>
              </a:spcBef>
              <a:buFont typeface="Microsoft Sans Serif"/>
              <a:buChar char="●"/>
              <a:tabLst>
                <a:tab pos="567690" algn="l"/>
              </a:tabLst>
            </a:pP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1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network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bots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controlled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by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attacker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perform </a:t>
            </a:r>
            <a:r>
              <a:rPr sz="3000" dirty="0">
                <a:latin typeface="Times New Roman"/>
                <a:cs typeface="Times New Roman"/>
              </a:rPr>
              <a:t>coordinated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malicious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activities</a:t>
            </a:r>
            <a:endParaRPr sz="3000">
              <a:latin typeface="Times New Roman"/>
              <a:cs typeface="Times New Roman"/>
            </a:endParaRPr>
          </a:p>
          <a:p>
            <a:pPr marL="567690" lvl="1" indent="-344170">
              <a:lnSpc>
                <a:spcPct val="100000"/>
              </a:lnSpc>
              <a:spcBef>
                <a:spcPts val="2305"/>
              </a:spcBef>
              <a:buFont typeface="Microsoft Sans Serif"/>
              <a:buChar char="●"/>
              <a:tabLst>
                <a:tab pos="567690" algn="l"/>
              </a:tabLst>
            </a:pPr>
            <a:r>
              <a:rPr sz="3000" dirty="0">
                <a:latin typeface="Times New Roman"/>
                <a:cs typeface="Times New Roman"/>
              </a:rPr>
              <a:t>Key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platform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most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Internet-</a:t>
            </a:r>
            <a:r>
              <a:rPr sz="3000" dirty="0">
                <a:latin typeface="Times New Roman"/>
                <a:cs typeface="Times New Roman"/>
              </a:rPr>
              <a:t>based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attacks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frauds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8800" y="1009649"/>
            <a:ext cx="10871200" cy="40766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89835" y="578358"/>
            <a:ext cx="80035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240" dirty="0"/>
              <a:t>Attacks</a:t>
            </a:r>
            <a:r>
              <a:rPr spc="254" dirty="0"/>
              <a:t> </a:t>
            </a:r>
            <a:r>
              <a:rPr dirty="0"/>
              <a:t>and</a:t>
            </a:r>
            <a:r>
              <a:rPr spc="240" dirty="0"/>
              <a:t> </a:t>
            </a:r>
            <a:r>
              <a:rPr dirty="0"/>
              <a:t>Frauds</a:t>
            </a:r>
            <a:r>
              <a:rPr spc="265" dirty="0"/>
              <a:t> </a:t>
            </a:r>
            <a:r>
              <a:rPr dirty="0"/>
              <a:t>by</a:t>
            </a:r>
            <a:r>
              <a:rPr spc="235" dirty="0"/>
              <a:t> </a:t>
            </a:r>
            <a:r>
              <a:rPr spc="145" dirty="0"/>
              <a:t>Botnets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54469" y="2111451"/>
            <a:ext cx="26003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1980" dirty="0">
                <a:latin typeface="Lucida Sans Unicode"/>
                <a:cs typeface="Lucida Sans Unicode"/>
              </a:rPr>
              <a:t>D</a:t>
            </a:r>
            <a:r>
              <a:rPr sz="4200" spc="-765" baseline="-69444" dirty="0">
                <a:latin typeface="Lucida Sans Unicode"/>
                <a:cs typeface="Lucida Sans Unicode"/>
              </a:rPr>
              <a:t>T</a:t>
            </a:r>
            <a:r>
              <a:rPr sz="2800" spc="-660" dirty="0">
                <a:latin typeface="Lucida Sans Unicode"/>
                <a:cs typeface="Lucida Sans Unicode"/>
              </a:rPr>
              <a:t>a</a:t>
            </a:r>
            <a:r>
              <a:rPr sz="4200" spc="-847" baseline="-69444" dirty="0">
                <a:latin typeface="Lucida Sans Unicode"/>
                <a:cs typeface="Lucida Sans Unicode"/>
              </a:rPr>
              <a:t>ft</a:t>
            </a:r>
            <a:r>
              <a:rPr sz="2800" spc="-635" dirty="0">
                <a:latin typeface="Lucida Sans Unicode"/>
                <a:cs typeface="Lucida Sans Unicode"/>
              </a:rPr>
              <a:t>t</a:t>
            </a:r>
            <a:r>
              <a:rPr sz="4200" spc="-142" baseline="-69444" dirty="0">
                <a:latin typeface="Lucida Sans Unicode"/>
                <a:cs typeface="Lucida Sans Unicode"/>
              </a:rPr>
              <a:t>e</a:t>
            </a:r>
            <a:r>
              <a:rPr sz="2800" spc="-1200" dirty="0">
                <a:latin typeface="Lucida Sans Unicode"/>
                <a:cs typeface="Lucida Sans Unicode"/>
              </a:rPr>
              <a:t>a</a:t>
            </a:r>
            <a:r>
              <a:rPr sz="4200" spc="-150" baseline="-69444" dirty="0">
                <a:latin typeface="Lucida Sans Unicode"/>
                <a:cs typeface="Lucida Sans Unicode"/>
              </a:rPr>
              <a:t>f</a:t>
            </a:r>
            <a:r>
              <a:rPr sz="2800" spc="-710" dirty="0">
                <a:latin typeface="Lucida Sans Unicode"/>
                <a:cs typeface="Lucida Sans Unicode"/>
              </a:rPr>
              <a:t>/</a:t>
            </a:r>
            <a:r>
              <a:rPr sz="4200" spc="-787" baseline="-69444" dirty="0">
                <a:latin typeface="Lucida Sans Unicode"/>
                <a:cs typeface="Lucida Sans Unicode"/>
              </a:rPr>
              <a:t>t</a:t>
            </a:r>
            <a:r>
              <a:rPr sz="2800" spc="140" dirty="0">
                <a:latin typeface="Lucida Sans Unicode"/>
                <a:cs typeface="Lucida Sans Unicode"/>
              </a:rPr>
              <a:t>I</a:t>
            </a:r>
            <a:r>
              <a:rPr sz="2800" spc="145" dirty="0">
                <a:latin typeface="Lucida Sans Unicode"/>
                <a:cs typeface="Lucida Sans Unicode"/>
              </a:rPr>
              <a:t>dent</a:t>
            </a:r>
            <a:r>
              <a:rPr sz="2800" spc="155" dirty="0">
                <a:latin typeface="Lucida Sans Unicode"/>
                <a:cs typeface="Lucida Sans Unicode"/>
              </a:rPr>
              <a:t>i</a:t>
            </a:r>
            <a:r>
              <a:rPr sz="2800" spc="145" dirty="0">
                <a:latin typeface="Lucida Sans Unicode"/>
                <a:cs typeface="Lucida Sans Unicode"/>
              </a:rPr>
              <a:t>ty</a:t>
            </a:r>
            <a:endParaRPr sz="2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72639" y="1493342"/>
            <a:ext cx="11601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8765" indent="-266065">
              <a:lnSpc>
                <a:spcPct val="100000"/>
              </a:lnSpc>
              <a:spcBef>
                <a:spcPts val="95"/>
              </a:spcBef>
              <a:buFont typeface="Microsoft Sans Serif"/>
              <a:buChar char="●"/>
              <a:tabLst>
                <a:tab pos="278765" algn="l"/>
              </a:tabLst>
            </a:pPr>
            <a:r>
              <a:rPr sz="2800" spc="-145" dirty="0">
                <a:latin typeface="Lucida Sans Unicode"/>
                <a:cs typeface="Lucida Sans Unicode"/>
              </a:rPr>
              <a:t>Spam</a:t>
            </a:r>
            <a:endParaRPr sz="28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36385" y="1600961"/>
            <a:ext cx="29406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5930" indent="-443230">
              <a:lnSpc>
                <a:spcPct val="100000"/>
              </a:lnSpc>
              <a:spcBef>
                <a:spcPts val="95"/>
              </a:spcBef>
              <a:buFont typeface="Microsoft Sans Serif"/>
              <a:buChar char="●"/>
              <a:tabLst>
                <a:tab pos="455930" algn="l"/>
              </a:tabLst>
            </a:pPr>
            <a:r>
              <a:rPr sz="2800" dirty="0">
                <a:latin typeface="Lucida Sans Unicode"/>
                <a:cs typeface="Lucida Sans Unicode"/>
              </a:rPr>
              <a:t>Key</a:t>
            </a:r>
            <a:r>
              <a:rPr sz="2800" spc="120" dirty="0">
                <a:latin typeface="Lucida Sans Unicode"/>
                <a:cs typeface="Lucida Sans Unicode"/>
              </a:rPr>
              <a:t> </a:t>
            </a:r>
            <a:r>
              <a:rPr sz="2800" spc="-90" dirty="0">
                <a:latin typeface="Lucida Sans Unicode"/>
                <a:cs typeface="Lucida Sans Unicode"/>
              </a:rPr>
              <a:t>Logging</a:t>
            </a:r>
            <a:r>
              <a:rPr sz="2800" spc="140" dirty="0">
                <a:latin typeface="Lucida Sans Unicode"/>
                <a:cs typeface="Lucida Sans Unicode"/>
              </a:rPr>
              <a:t> </a:t>
            </a:r>
            <a:r>
              <a:rPr sz="2800" spc="45" dirty="0">
                <a:latin typeface="Lucida Sans Unicode"/>
                <a:cs typeface="Lucida Sans Unicode"/>
              </a:rPr>
              <a:t>&amp;</a:t>
            </a:r>
            <a:endParaRPr sz="28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94177" y="2382723"/>
            <a:ext cx="33267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8765" indent="-266065">
              <a:lnSpc>
                <a:spcPct val="100000"/>
              </a:lnSpc>
              <a:spcBef>
                <a:spcPts val="95"/>
              </a:spcBef>
              <a:buFont typeface="Microsoft Sans Serif"/>
              <a:buChar char="●"/>
              <a:tabLst>
                <a:tab pos="278765" algn="l"/>
              </a:tabLst>
            </a:pPr>
            <a:r>
              <a:rPr sz="2800" dirty="0">
                <a:solidFill>
                  <a:srgbClr val="6B9361"/>
                </a:solidFill>
                <a:latin typeface="Lucida Sans Unicode"/>
                <a:cs typeface="Lucida Sans Unicode"/>
              </a:rPr>
              <a:t>Distributed</a:t>
            </a:r>
            <a:r>
              <a:rPr sz="2800" spc="140" dirty="0">
                <a:solidFill>
                  <a:srgbClr val="6B9361"/>
                </a:solidFill>
                <a:latin typeface="Lucida Sans Unicode"/>
                <a:cs typeface="Lucida Sans Unicode"/>
              </a:rPr>
              <a:t> </a:t>
            </a:r>
            <a:r>
              <a:rPr sz="2800" spc="-155" dirty="0">
                <a:solidFill>
                  <a:srgbClr val="6B9361"/>
                </a:solidFill>
                <a:latin typeface="Lucida Sans Unicode"/>
                <a:cs typeface="Lucida Sans Unicode"/>
              </a:rPr>
              <a:t>Denial</a:t>
            </a:r>
            <a:endParaRPr sz="28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59989" y="2893567"/>
            <a:ext cx="29610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280" dirty="0">
                <a:solidFill>
                  <a:srgbClr val="6B9361"/>
                </a:solidFill>
                <a:latin typeface="Lucida Sans Unicode"/>
                <a:cs typeface="Lucida Sans Unicode"/>
              </a:rPr>
              <a:t>of</a:t>
            </a:r>
            <a:r>
              <a:rPr sz="2800" spc="254" dirty="0">
                <a:solidFill>
                  <a:srgbClr val="6B9361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6B9361"/>
                </a:solidFill>
                <a:latin typeface="Lucida Sans Unicode"/>
                <a:cs typeface="Lucida Sans Unicode"/>
              </a:rPr>
              <a:t>Service</a:t>
            </a:r>
            <a:r>
              <a:rPr sz="2800" spc="275" dirty="0">
                <a:solidFill>
                  <a:srgbClr val="6B9361"/>
                </a:solidFill>
                <a:latin typeface="Lucida Sans Unicode"/>
                <a:cs typeface="Lucida Sans Unicode"/>
              </a:rPr>
              <a:t> </a:t>
            </a:r>
            <a:r>
              <a:rPr sz="2800" spc="-325" dirty="0">
                <a:solidFill>
                  <a:srgbClr val="6B9361"/>
                </a:solidFill>
                <a:latin typeface="Lucida Sans Unicode"/>
                <a:cs typeface="Lucida Sans Unicode"/>
              </a:rPr>
              <a:t>(DDOS)</a:t>
            </a:r>
            <a:endParaRPr sz="28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87081" y="2905505"/>
            <a:ext cx="27559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5295" indent="-442595">
              <a:lnSpc>
                <a:spcPct val="100000"/>
              </a:lnSpc>
              <a:spcBef>
                <a:spcPts val="95"/>
              </a:spcBef>
              <a:buFont typeface="Microsoft Sans Serif"/>
              <a:buChar char="●"/>
              <a:tabLst>
                <a:tab pos="455295" algn="l"/>
              </a:tabLst>
            </a:pPr>
            <a:r>
              <a:rPr sz="2800" spc="-90" dirty="0">
                <a:latin typeface="Lucida Sans Unicode"/>
                <a:cs typeface="Lucida Sans Unicode"/>
              </a:rPr>
              <a:t>Key/Password</a:t>
            </a:r>
            <a:endParaRPr sz="28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04910" y="3390392"/>
            <a:ext cx="15398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00" spc="-2105" dirty="0">
                <a:latin typeface="Lucida Sans Unicode"/>
                <a:cs typeface="Lucida Sans Unicode"/>
              </a:rPr>
              <a:t>C</a:t>
            </a:r>
            <a:r>
              <a:rPr sz="4500" spc="-757" baseline="-34259" dirty="0">
                <a:latin typeface="Lucida Sans Unicode"/>
                <a:cs typeface="Lucida Sans Unicode"/>
              </a:rPr>
              <a:t>…</a:t>
            </a:r>
            <a:r>
              <a:rPr sz="2800" spc="-145" dirty="0">
                <a:latin typeface="Lucida Sans Unicode"/>
                <a:cs typeface="Lucida Sans Unicode"/>
              </a:rPr>
              <a:t>ra</a:t>
            </a:r>
            <a:r>
              <a:rPr sz="2800" spc="-165" dirty="0">
                <a:latin typeface="Lucida Sans Unicode"/>
                <a:cs typeface="Lucida Sans Unicode"/>
              </a:rPr>
              <a:t>c</a:t>
            </a:r>
            <a:r>
              <a:rPr sz="2800" spc="-155" dirty="0">
                <a:latin typeface="Lucida Sans Unicode"/>
                <a:cs typeface="Lucida Sans Unicode"/>
              </a:rPr>
              <a:t>k</a:t>
            </a:r>
            <a:r>
              <a:rPr sz="2800" spc="-145" dirty="0">
                <a:latin typeface="Lucida Sans Unicode"/>
                <a:cs typeface="Lucida Sans Unicode"/>
              </a:rPr>
              <a:t>i</a:t>
            </a:r>
            <a:r>
              <a:rPr sz="2800" spc="-155" dirty="0">
                <a:latin typeface="Lucida Sans Unicode"/>
                <a:cs typeface="Lucida Sans Unicode"/>
              </a:rPr>
              <a:t>ng</a:t>
            </a:r>
            <a:endParaRPr sz="28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43989" y="3338576"/>
            <a:ext cx="2487295" cy="1360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28700">
              <a:lnSpc>
                <a:spcPct val="100000"/>
              </a:lnSpc>
              <a:spcBef>
                <a:spcPts val="95"/>
              </a:spcBef>
            </a:pPr>
            <a:r>
              <a:rPr sz="2800" spc="125" dirty="0">
                <a:solidFill>
                  <a:srgbClr val="6B9361"/>
                </a:solidFill>
                <a:latin typeface="Lucida Sans Unicode"/>
                <a:cs typeface="Lucida Sans Unicode"/>
              </a:rPr>
              <a:t>At</a:t>
            </a:r>
            <a:r>
              <a:rPr sz="2800" spc="114" dirty="0">
                <a:solidFill>
                  <a:srgbClr val="6B9361"/>
                </a:solidFill>
                <a:latin typeface="Lucida Sans Unicode"/>
                <a:cs typeface="Lucida Sans Unicode"/>
              </a:rPr>
              <a:t>t</a:t>
            </a:r>
            <a:r>
              <a:rPr sz="2800" spc="120" dirty="0">
                <a:solidFill>
                  <a:srgbClr val="6B9361"/>
                </a:solidFill>
                <a:latin typeface="Lucida Sans Unicode"/>
                <a:cs typeface="Lucida Sans Unicode"/>
              </a:rPr>
              <a:t>a</a:t>
            </a:r>
            <a:r>
              <a:rPr sz="2800" spc="114" dirty="0">
                <a:solidFill>
                  <a:srgbClr val="6B9361"/>
                </a:solidFill>
                <a:latin typeface="Lucida Sans Unicode"/>
                <a:cs typeface="Lucida Sans Unicode"/>
              </a:rPr>
              <a:t>ck</a:t>
            </a:r>
            <a:r>
              <a:rPr sz="2800" spc="-790" dirty="0">
                <a:solidFill>
                  <a:srgbClr val="6B9361"/>
                </a:solidFill>
                <a:latin typeface="Lucida Sans Unicode"/>
                <a:cs typeface="Lucida Sans Unicode"/>
              </a:rPr>
              <a:t>s</a:t>
            </a:r>
            <a:endParaRPr sz="2800">
              <a:latin typeface="Lucida Sans Unicode"/>
              <a:cs typeface="Lucida Sans Unicode"/>
            </a:endParaRPr>
          </a:p>
          <a:p>
            <a:pPr marL="496570" indent="-458470">
              <a:lnSpc>
                <a:spcPct val="100000"/>
              </a:lnSpc>
              <a:spcBef>
                <a:spcPts val="3554"/>
              </a:spcBef>
              <a:buFont typeface="Microsoft Sans Serif"/>
              <a:buChar char="●"/>
              <a:tabLst>
                <a:tab pos="496570" algn="l"/>
              </a:tabLst>
            </a:pPr>
            <a:r>
              <a:rPr sz="3000" spc="-10" dirty="0">
                <a:latin typeface="Lucida Sans Unicode"/>
                <a:cs typeface="Lucida Sans Unicode"/>
              </a:rPr>
              <a:t>Clickfraud</a:t>
            </a:r>
            <a:endParaRPr sz="30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405748" y="4243578"/>
            <a:ext cx="24282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3530" indent="-265430">
              <a:lnSpc>
                <a:spcPct val="100000"/>
              </a:lnSpc>
              <a:spcBef>
                <a:spcPts val="95"/>
              </a:spcBef>
              <a:buFont typeface="Microsoft Sans Serif"/>
              <a:buChar char="●"/>
              <a:tabLst>
                <a:tab pos="303530" algn="l"/>
              </a:tabLst>
            </a:pPr>
            <a:r>
              <a:rPr sz="2800" spc="-1935" dirty="0">
                <a:latin typeface="Lucida Sans Unicode"/>
                <a:cs typeface="Lucida Sans Unicode"/>
              </a:rPr>
              <a:t>A</a:t>
            </a:r>
            <a:r>
              <a:rPr sz="4200" spc="-397" baseline="-66468" dirty="0">
                <a:latin typeface="Lucida Sans Unicode"/>
                <a:cs typeface="Lucida Sans Unicode"/>
              </a:rPr>
              <a:t>T</a:t>
            </a:r>
            <a:r>
              <a:rPr sz="2800" spc="-1355" dirty="0">
                <a:latin typeface="Lucida Sans Unicode"/>
                <a:cs typeface="Lucida Sans Unicode"/>
              </a:rPr>
              <a:t>n</a:t>
            </a:r>
            <a:r>
              <a:rPr sz="4200" spc="-427" baseline="-66468" dirty="0">
                <a:latin typeface="Lucida Sans Unicode"/>
                <a:cs typeface="Lucida Sans Unicode"/>
              </a:rPr>
              <a:t>e</a:t>
            </a:r>
            <a:r>
              <a:rPr sz="2800" spc="-1355" dirty="0">
                <a:latin typeface="Lucida Sans Unicode"/>
                <a:cs typeface="Lucida Sans Unicode"/>
              </a:rPr>
              <a:t>o</a:t>
            </a:r>
            <a:r>
              <a:rPr sz="4200" spc="-330" baseline="-66468" dirty="0">
                <a:latin typeface="Lucida Sans Unicode"/>
                <a:cs typeface="Lucida Sans Unicode"/>
              </a:rPr>
              <a:t>r</a:t>
            </a:r>
            <a:r>
              <a:rPr sz="2800" spc="-1420" dirty="0">
                <a:latin typeface="Lucida Sans Unicode"/>
                <a:cs typeface="Lucida Sans Unicode"/>
              </a:rPr>
              <a:t>n</a:t>
            </a:r>
            <a:r>
              <a:rPr sz="4200" spc="-104" baseline="-66468" dirty="0">
                <a:latin typeface="Lucida Sans Unicode"/>
                <a:cs typeface="Lucida Sans Unicode"/>
              </a:rPr>
              <a:t>r</a:t>
            </a:r>
            <a:r>
              <a:rPr sz="2800" spc="-1345" dirty="0">
                <a:latin typeface="Lucida Sans Unicode"/>
                <a:cs typeface="Lucida Sans Unicode"/>
              </a:rPr>
              <a:t>y</a:t>
            </a:r>
            <a:r>
              <a:rPr sz="4200" spc="-262" baseline="-66468" dirty="0">
                <a:latin typeface="Lucida Sans Unicode"/>
                <a:cs typeface="Lucida Sans Unicode"/>
              </a:rPr>
              <a:t>o</a:t>
            </a:r>
            <a:r>
              <a:rPr sz="2800" spc="-2450" dirty="0">
                <a:latin typeface="Lucida Sans Unicode"/>
                <a:cs typeface="Lucida Sans Unicode"/>
              </a:rPr>
              <a:t>m</a:t>
            </a:r>
            <a:r>
              <a:rPr sz="4200" spc="30" baseline="-66468" dirty="0">
                <a:latin typeface="Lucida Sans Unicode"/>
                <a:cs typeface="Lucida Sans Unicode"/>
              </a:rPr>
              <a:t>ri</a:t>
            </a:r>
            <a:r>
              <a:rPr sz="4200" spc="-1785" baseline="-66468" dirty="0">
                <a:latin typeface="Lucida Sans Unicode"/>
                <a:cs typeface="Lucida Sans Unicode"/>
              </a:rPr>
              <a:t>s</a:t>
            </a:r>
            <a:r>
              <a:rPr sz="2800" spc="10" dirty="0">
                <a:latin typeface="Lucida Sans Unicode"/>
                <a:cs typeface="Lucida Sans Unicode"/>
              </a:rPr>
              <a:t>i</a:t>
            </a:r>
            <a:r>
              <a:rPr sz="2800" spc="-1100" dirty="0">
                <a:latin typeface="Lucida Sans Unicode"/>
                <a:cs typeface="Lucida Sans Unicode"/>
              </a:rPr>
              <a:t>z</a:t>
            </a:r>
            <a:r>
              <a:rPr sz="4200" spc="-569" baseline="-66468" dirty="0">
                <a:latin typeface="Lucida Sans Unicode"/>
                <a:cs typeface="Lucida Sans Unicode"/>
              </a:rPr>
              <a:t>t</a:t>
            </a:r>
            <a:r>
              <a:rPr sz="2800" spc="20" dirty="0">
                <a:latin typeface="Lucida Sans Unicode"/>
                <a:cs typeface="Lucida Sans Unicode"/>
              </a:rPr>
              <a:t>e</a:t>
            </a:r>
            <a:r>
              <a:rPr sz="2800" spc="-1245" dirty="0">
                <a:latin typeface="Lucida Sans Unicode"/>
                <a:cs typeface="Lucida Sans Unicode"/>
              </a:rPr>
              <a:t>d</a:t>
            </a:r>
            <a:r>
              <a:rPr sz="4200" spc="30" baseline="-66468" dirty="0">
                <a:latin typeface="Lucida Sans Unicode"/>
                <a:cs typeface="Lucida Sans Unicode"/>
              </a:rPr>
              <a:t>&amp;</a:t>
            </a:r>
            <a:endParaRPr sz="4200" baseline="-66468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58334" y="5168595"/>
            <a:ext cx="660780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97840" indent="-459740">
              <a:lnSpc>
                <a:spcPct val="100000"/>
              </a:lnSpc>
              <a:spcBef>
                <a:spcPts val="95"/>
              </a:spcBef>
              <a:buFont typeface="Microsoft Sans Serif"/>
              <a:buChar char="●"/>
              <a:tabLst>
                <a:tab pos="497840" algn="l"/>
                <a:tab pos="4022090" algn="l"/>
              </a:tabLst>
            </a:pPr>
            <a:r>
              <a:rPr sz="2800" spc="-35" dirty="0">
                <a:latin typeface="Lucida Sans Unicode"/>
                <a:cs typeface="Lucida Sans Unicode"/>
              </a:rPr>
              <a:t>Cfteating</a:t>
            </a:r>
            <a:r>
              <a:rPr sz="2800" spc="5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in</a:t>
            </a:r>
            <a:r>
              <a:rPr sz="2800" spc="30" dirty="0">
                <a:latin typeface="Lucida Sans Unicode"/>
                <a:cs typeface="Lucida Sans Unicode"/>
              </a:rPr>
              <a:t> </a:t>
            </a:r>
            <a:r>
              <a:rPr sz="2800" spc="-10" dirty="0">
                <a:latin typeface="Lucida Sans Unicode"/>
                <a:cs typeface="Lucida Sans Unicode"/>
              </a:rPr>
              <a:t>online</a:t>
            </a:r>
            <a:r>
              <a:rPr sz="2800" dirty="0">
                <a:latin typeface="Lucida Sans Unicode"/>
                <a:cs typeface="Lucida Sans Unicode"/>
              </a:rPr>
              <a:t>	</a:t>
            </a:r>
            <a:r>
              <a:rPr sz="4200" spc="-179" baseline="-63492" dirty="0">
                <a:latin typeface="Lucida Sans Unicode"/>
                <a:cs typeface="Lucida Sans Unicode"/>
              </a:rPr>
              <a:t>Co</a:t>
            </a:r>
            <a:r>
              <a:rPr sz="4200" spc="-3412" baseline="-63492" dirty="0">
                <a:latin typeface="Lucida Sans Unicode"/>
                <a:cs typeface="Lucida Sans Unicode"/>
              </a:rPr>
              <a:t>m</a:t>
            </a:r>
            <a:r>
              <a:rPr sz="4200" spc="-195" baseline="2976" dirty="0">
                <a:latin typeface="Lucida Sans Unicode"/>
                <a:cs typeface="Lucida Sans Unicode"/>
              </a:rPr>
              <a:t>C</a:t>
            </a:r>
            <a:r>
              <a:rPr sz="4200" spc="-1664" baseline="2976" dirty="0">
                <a:latin typeface="Lucida Sans Unicode"/>
                <a:cs typeface="Lucida Sans Unicode"/>
              </a:rPr>
              <a:t>r</a:t>
            </a:r>
            <a:r>
              <a:rPr sz="4200" spc="-2197" baseline="-63492" dirty="0">
                <a:latin typeface="Lucida Sans Unicode"/>
                <a:cs typeface="Lucida Sans Unicode"/>
              </a:rPr>
              <a:t>m</a:t>
            </a:r>
            <a:r>
              <a:rPr sz="4200" spc="-195" baseline="2976" dirty="0">
                <a:latin typeface="Lucida Sans Unicode"/>
                <a:cs typeface="Lucida Sans Unicode"/>
              </a:rPr>
              <a:t>i</a:t>
            </a:r>
            <a:r>
              <a:rPr sz="4200" spc="-3202" baseline="2976" dirty="0">
                <a:latin typeface="Lucida Sans Unicode"/>
                <a:cs typeface="Lucida Sans Unicode"/>
              </a:rPr>
              <a:t>m</a:t>
            </a:r>
            <a:r>
              <a:rPr sz="4200" spc="-179" baseline="-63492" dirty="0">
                <a:latin typeface="Lucida Sans Unicode"/>
                <a:cs typeface="Lucida Sans Unicode"/>
              </a:rPr>
              <a:t>u</a:t>
            </a:r>
            <a:r>
              <a:rPr sz="4200" spc="-2107" baseline="-63492" dirty="0">
                <a:latin typeface="Lucida Sans Unicode"/>
                <a:cs typeface="Lucida Sans Unicode"/>
              </a:rPr>
              <a:t>n</a:t>
            </a:r>
            <a:r>
              <a:rPr sz="4200" spc="-172" baseline="2976" dirty="0">
                <a:latin typeface="Lucida Sans Unicode"/>
                <a:cs typeface="Lucida Sans Unicode"/>
              </a:rPr>
              <a:t>i</a:t>
            </a:r>
            <a:r>
              <a:rPr sz="4200" spc="-1957" baseline="2976" dirty="0">
                <a:latin typeface="Lucida Sans Unicode"/>
                <a:cs typeface="Lucida Sans Unicode"/>
              </a:rPr>
              <a:t>n</a:t>
            </a:r>
            <a:r>
              <a:rPr sz="4200" spc="-179" baseline="-63492" dirty="0">
                <a:latin typeface="Lucida Sans Unicode"/>
                <a:cs typeface="Lucida Sans Unicode"/>
              </a:rPr>
              <a:t>i</a:t>
            </a:r>
            <a:r>
              <a:rPr sz="4200" spc="-1642" baseline="-63492" dirty="0">
                <a:latin typeface="Lucida Sans Unicode"/>
                <a:cs typeface="Lucida Sans Unicode"/>
              </a:rPr>
              <a:t>c</a:t>
            </a:r>
            <a:r>
              <a:rPr sz="4200" spc="-1335" baseline="2976" dirty="0">
                <a:latin typeface="Lucida Sans Unicode"/>
                <a:cs typeface="Lucida Sans Unicode"/>
              </a:rPr>
              <a:t>a</a:t>
            </a:r>
            <a:r>
              <a:rPr sz="4200" spc="-1372" baseline="-63492" dirty="0">
                <a:latin typeface="Lucida Sans Unicode"/>
                <a:cs typeface="Lucida Sans Unicode"/>
              </a:rPr>
              <a:t>a</a:t>
            </a:r>
            <a:r>
              <a:rPr sz="4200" spc="-179" baseline="2976" dirty="0">
                <a:latin typeface="Lucida Sans Unicode"/>
                <a:cs typeface="Lucida Sans Unicode"/>
              </a:rPr>
              <a:t>l</a:t>
            </a:r>
            <a:r>
              <a:rPr sz="4200" spc="-772" baseline="2976" dirty="0">
                <a:latin typeface="Lucida Sans Unicode"/>
                <a:cs typeface="Lucida Sans Unicode"/>
              </a:rPr>
              <a:t> </a:t>
            </a:r>
            <a:r>
              <a:rPr sz="4200" spc="-30" baseline="-63492" dirty="0">
                <a:latin typeface="Lucida Sans Unicode"/>
                <a:cs typeface="Lucida Sans Unicode"/>
              </a:rPr>
              <a:t>tion</a:t>
            </a:r>
            <a:endParaRPr sz="4200" baseline="-63492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1108" y="5168900"/>
            <a:ext cx="21393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5295" indent="-442595">
              <a:lnSpc>
                <a:spcPct val="100000"/>
              </a:lnSpc>
              <a:spcBef>
                <a:spcPts val="95"/>
              </a:spcBef>
              <a:buFont typeface="Microsoft Sans Serif"/>
              <a:buChar char="●"/>
              <a:tabLst>
                <a:tab pos="455295" algn="l"/>
              </a:tabLst>
            </a:pPr>
            <a:r>
              <a:rPr sz="2800" spc="-254" dirty="0">
                <a:latin typeface="Lucida Sans Unicode"/>
                <a:cs typeface="Lucida Sans Unicode"/>
              </a:rPr>
              <a:t>Pftisfting</a:t>
            </a:r>
            <a:r>
              <a:rPr sz="2800" spc="430" dirty="0">
                <a:latin typeface="Lucida Sans Unicode"/>
                <a:cs typeface="Lucida Sans Unicode"/>
              </a:rPr>
              <a:t> </a:t>
            </a:r>
            <a:r>
              <a:rPr sz="2800" spc="45" dirty="0">
                <a:latin typeface="Lucida Sans Unicode"/>
                <a:cs typeface="Lucida Sans Unicode"/>
              </a:rPr>
              <a:t>&amp;</a:t>
            </a:r>
            <a:endParaRPr sz="28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34288" y="5679440"/>
            <a:ext cx="15449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45" dirty="0">
                <a:latin typeface="Lucida Sans Unicode"/>
                <a:cs typeface="Lucida Sans Unicode"/>
              </a:rPr>
              <a:t>Pftarming</a:t>
            </a:r>
            <a:endParaRPr sz="28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27219" y="5597448"/>
            <a:ext cx="19126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85" dirty="0">
                <a:latin typeface="Lucida Sans Unicode"/>
                <a:cs typeface="Lucida Sans Unicode"/>
              </a:rPr>
              <a:t>games/pol</a:t>
            </a:r>
            <a:r>
              <a:rPr sz="2800" spc="-200" dirty="0">
                <a:latin typeface="Lucida Sans Unicode"/>
                <a:cs typeface="Lucida Sans Unicode"/>
              </a:rPr>
              <a:t>l</a:t>
            </a:r>
            <a:r>
              <a:rPr sz="2800" spc="-1265" dirty="0">
                <a:latin typeface="Lucida Sans Unicode"/>
                <a:cs typeface="Lucida Sans Unicode"/>
              </a:rPr>
              <a:t>s</a:t>
            </a:r>
            <a:endParaRPr sz="28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9250" y="1517649"/>
            <a:ext cx="8743950" cy="43751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9788" rIns="0" bIns="0" rtlCol="0">
            <a:spAutoFit/>
          </a:bodyPr>
          <a:lstStyle/>
          <a:p>
            <a:pPr marL="2330450">
              <a:lnSpc>
                <a:spcPct val="100000"/>
              </a:lnSpc>
              <a:spcBef>
                <a:spcPts val="95"/>
              </a:spcBef>
            </a:pPr>
            <a:r>
              <a:rPr spc="-660" dirty="0"/>
              <a:t>DDos</a:t>
            </a:r>
            <a:r>
              <a:rPr spc="340" dirty="0"/>
              <a:t> </a:t>
            </a:r>
            <a:r>
              <a:rPr spc="-125" dirty="0"/>
              <a:t>Using</a:t>
            </a:r>
            <a:r>
              <a:rPr spc="145" dirty="0"/>
              <a:t> </a:t>
            </a:r>
            <a:r>
              <a:rPr spc="140" dirty="0"/>
              <a:t>Botnets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8800" y="1416049"/>
            <a:ext cx="10871200" cy="48894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76960" y="513969"/>
            <a:ext cx="9845040" cy="605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800" spc="-40" dirty="0"/>
              <a:t>Amplified</a:t>
            </a:r>
            <a:r>
              <a:rPr sz="3800" spc="270" dirty="0"/>
              <a:t> </a:t>
            </a:r>
            <a:r>
              <a:rPr sz="3800" dirty="0"/>
              <a:t>Distributed</a:t>
            </a:r>
            <a:r>
              <a:rPr sz="3800" spc="275" dirty="0"/>
              <a:t> </a:t>
            </a:r>
            <a:r>
              <a:rPr sz="3800" spc="155" dirty="0"/>
              <a:t>Reflective</a:t>
            </a:r>
            <a:r>
              <a:rPr sz="3800" spc="275" dirty="0"/>
              <a:t> </a:t>
            </a:r>
            <a:r>
              <a:rPr sz="3800" spc="210" dirty="0"/>
              <a:t>Attacks</a:t>
            </a:r>
            <a:endParaRPr sz="3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2539999"/>
            <a:ext cx="3098800" cy="2387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9788" rIns="0" bIns="0" rtlCol="0">
            <a:spAutoFit/>
          </a:bodyPr>
          <a:lstStyle/>
          <a:p>
            <a:pPr marL="968375">
              <a:lnSpc>
                <a:spcPct val="100000"/>
              </a:lnSpc>
              <a:spcBef>
                <a:spcPts val="95"/>
              </a:spcBef>
            </a:pPr>
            <a:r>
              <a:rPr spc="200" dirty="0"/>
              <a:t>Botnet</a:t>
            </a:r>
            <a:r>
              <a:rPr spc="445" dirty="0"/>
              <a:t> </a:t>
            </a:r>
            <a:r>
              <a:rPr spc="-260" dirty="0"/>
              <a:t>Command</a:t>
            </a:r>
            <a:r>
              <a:rPr spc="415" dirty="0"/>
              <a:t> </a:t>
            </a:r>
            <a:r>
              <a:rPr dirty="0"/>
              <a:t>and</a:t>
            </a:r>
            <a:r>
              <a:rPr spc="430" dirty="0"/>
              <a:t> </a:t>
            </a:r>
            <a:r>
              <a:rPr spc="-10" dirty="0"/>
              <a:t>Control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14019" y="1153159"/>
            <a:ext cx="11151870" cy="4726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2895" marR="429895" indent="-278130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302895" algn="l"/>
              </a:tabLst>
            </a:pPr>
            <a:r>
              <a:rPr sz="3000" dirty="0">
                <a:latin typeface="Times New Roman"/>
                <a:cs typeface="Times New Roman"/>
              </a:rPr>
              <a:t>Botnet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network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compromised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computers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that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“botmaster” </a:t>
            </a:r>
            <a:r>
              <a:rPr sz="3000" dirty="0">
                <a:latin typeface="Times New Roman"/>
                <a:cs typeface="Times New Roman"/>
              </a:rPr>
              <a:t>uses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malicious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purposes</a:t>
            </a: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60"/>
              </a:spcBef>
              <a:buFont typeface="Microsoft Sans Serif"/>
              <a:buChar char="●"/>
            </a:pPr>
            <a:endParaRPr sz="3000">
              <a:latin typeface="Times New Roman"/>
              <a:cs typeface="Times New Roman"/>
            </a:endParaRPr>
          </a:p>
          <a:p>
            <a:pPr marL="3442335" marR="2236470" lvl="1" indent="-219710">
              <a:lnSpc>
                <a:spcPct val="119000"/>
              </a:lnSpc>
              <a:buSzPct val="96428"/>
              <a:buFont typeface="Microsoft Sans Serif"/>
              <a:buChar char="●"/>
              <a:tabLst>
                <a:tab pos="3442335" algn="l"/>
              </a:tabLst>
            </a:pPr>
            <a:r>
              <a:rPr sz="2800" dirty="0">
                <a:latin typeface="Times New Roman"/>
                <a:cs typeface="Times New Roman"/>
              </a:rPr>
              <a:t>There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needs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command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&amp;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control </a:t>
            </a:r>
            <a:r>
              <a:rPr sz="2800" dirty="0">
                <a:solidFill>
                  <a:srgbClr val="6B9361"/>
                </a:solidFill>
                <a:latin typeface="Times New Roman"/>
                <a:cs typeface="Times New Roman"/>
              </a:rPr>
              <a:t>(C&amp;C)</a:t>
            </a:r>
            <a:r>
              <a:rPr sz="2800" spc="-35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6B9361"/>
                </a:solidFill>
                <a:latin typeface="Times New Roman"/>
                <a:cs typeface="Times New Roman"/>
              </a:rPr>
              <a:t>from</a:t>
            </a:r>
            <a:r>
              <a:rPr sz="2800" spc="-40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6B9361"/>
                </a:solidFill>
                <a:latin typeface="Times New Roman"/>
                <a:cs typeface="Times New Roman"/>
              </a:rPr>
              <a:t>the</a:t>
            </a:r>
            <a:r>
              <a:rPr sz="2800" spc="-50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6B9361"/>
                </a:solidFill>
                <a:latin typeface="Times New Roman"/>
                <a:cs typeface="Times New Roman"/>
              </a:rPr>
              <a:t>botmaster</a:t>
            </a:r>
            <a:r>
              <a:rPr sz="2800" spc="-25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6B9361"/>
                </a:solidFill>
                <a:latin typeface="Times New Roman"/>
                <a:cs typeface="Times New Roman"/>
              </a:rPr>
              <a:t>to</a:t>
            </a:r>
            <a:r>
              <a:rPr sz="2800" spc="-40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6B9361"/>
                </a:solidFill>
                <a:latin typeface="Times New Roman"/>
                <a:cs typeface="Times New Roman"/>
              </a:rPr>
              <a:t>the</a:t>
            </a:r>
            <a:r>
              <a:rPr sz="2800" spc="-35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6B9361"/>
                </a:solidFill>
                <a:latin typeface="Times New Roman"/>
                <a:cs typeface="Times New Roman"/>
              </a:rPr>
              <a:t>bots</a:t>
            </a:r>
            <a:endParaRPr sz="28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200"/>
              </a:spcBef>
              <a:buFont typeface="Microsoft Sans Serif"/>
              <a:buChar char="●"/>
            </a:pPr>
            <a:endParaRPr sz="2800">
              <a:latin typeface="Times New Roman"/>
              <a:cs typeface="Times New Roman"/>
            </a:endParaRPr>
          </a:p>
          <a:p>
            <a:pPr marL="3709035" lvl="2" indent="-303530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Font typeface="Microsoft Sans Serif"/>
              <a:buChar char="●"/>
              <a:tabLst>
                <a:tab pos="3709035" algn="l"/>
              </a:tabLst>
            </a:pPr>
            <a:r>
              <a:rPr sz="2800" dirty="0">
                <a:solidFill>
                  <a:srgbClr val="6699FF"/>
                </a:solidFill>
                <a:latin typeface="Times New Roman"/>
                <a:cs typeface="Times New Roman"/>
              </a:rPr>
              <a:t>Example:</a:t>
            </a:r>
            <a:r>
              <a:rPr sz="2800" spc="-45" dirty="0">
                <a:solidFill>
                  <a:srgbClr val="6699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6699FF"/>
                </a:solidFill>
                <a:latin typeface="Times New Roman"/>
                <a:cs typeface="Times New Roman"/>
              </a:rPr>
              <a:t>a</a:t>
            </a:r>
            <a:r>
              <a:rPr sz="2800" spc="-35" dirty="0">
                <a:solidFill>
                  <a:srgbClr val="6699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6699FF"/>
                </a:solidFill>
                <a:latin typeface="Times New Roman"/>
                <a:cs typeface="Times New Roman"/>
              </a:rPr>
              <a:t>bot</a:t>
            </a:r>
            <a:r>
              <a:rPr sz="2800" spc="-55" dirty="0">
                <a:solidFill>
                  <a:srgbClr val="6699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6699FF"/>
                </a:solidFill>
                <a:latin typeface="Times New Roman"/>
                <a:cs typeface="Times New Roman"/>
              </a:rPr>
              <a:t>reports</a:t>
            </a:r>
            <a:r>
              <a:rPr sz="2800" spc="-50" dirty="0">
                <a:solidFill>
                  <a:srgbClr val="6699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6699FF"/>
                </a:solidFill>
                <a:latin typeface="Times New Roman"/>
                <a:cs typeface="Times New Roman"/>
              </a:rPr>
              <a:t>to</a:t>
            </a:r>
            <a:r>
              <a:rPr sz="2800" spc="-40" dirty="0">
                <a:solidFill>
                  <a:srgbClr val="6699FF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6699FF"/>
                </a:solidFill>
                <a:latin typeface="Times New Roman"/>
                <a:cs typeface="Times New Roman"/>
              </a:rPr>
              <a:t>the</a:t>
            </a:r>
            <a:endParaRPr sz="2800">
              <a:latin typeface="Times New Roman"/>
              <a:cs typeface="Times New Roman"/>
            </a:endParaRPr>
          </a:p>
          <a:p>
            <a:pPr marL="3709035" marR="17780">
              <a:lnSpc>
                <a:spcPct val="104299"/>
              </a:lnSpc>
              <a:spcBef>
                <a:spcPts val="515"/>
              </a:spcBef>
              <a:tabLst>
                <a:tab pos="5354955" algn="l"/>
              </a:tabLst>
            </a:pPr>
            <a:r>
              <a:rPr sz="2800" dirty="0">
                <a:latin typeface="Times New Roman"/>
                <a:cs typeface="Times New Roman"/>
              </a:rPr>
              <a:t>botmaster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status,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directed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 site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download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Times New Roman"/>
                <a:cs typeface="Times New Roman"/>
              </a:rPr>
              <a:t> malware</a:t>
            </a:r>
            <a:r>
              <a:rPr sz="2800" dirty="0">
                <a:latin typeface="Times New Roman"/>
                <a:cs typeface="Times New Roman"/>
              </a:rPr>
              <a:t>	(botcode)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update,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and/or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receives </a:t>
            </a:r>
            <a:r>
              <a:rPr sz="2800" dirty="0">
                <a:latin typeface="Times New Roman"/>
                <a:cs typeface="Times New Roman"/>
              </a:rPr>
              <a:t>instructions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spam/phish/DDoS,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etc.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1200" y="3752849"/>
            <a:ext cx="6407150" cy="28003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25697" y="349377"/>
            <a:ext cx="51365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200" dirty="0"/>
              <a:t>Botnet</a:t>
            </a:r>
            <a:r>
              <a:rPr spc="355" dirty="0"/>
              <a:t> </a:t>
            </a:r>
            <a:r>
              <a:rPr dirty="0"/>
              <a:t>C&amp;C</a:t>
            </a:r>
            <a:r>
              <a:rPr spc="340" dirty="0"/>
              <a:t> </a:t>
            </a:r>
            <a:r>
              <a:rPr spc="-130" dirty="0"/>
              <a:t>Problem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2875" y="1090421"/>
            <a:ext cx="10671175" cy="5076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4170" indent="-267970">
              <a:lnSpc>
                <a:spcPts val="3415"/>
              </a:lnSpc>
              <a:spcBef>
                <a:spcPts val="100"/>
              </a:spcBef>
              <a:buClr>
                <a:srgbClr val="000000"/>
              </a:buClr>
              <a:buFont typeface="Microsoft Sans Serif"/>
              <a:buChar char="●"/>
              <a:tabLst>
                <a:tab pos="344170" algn="l"/>
              </a:tabLst>
            </a:pPr>
            <a:r>
              <a:rPr sz="3000" spc="-20" dirty="0">
                <a:solidFill>
                  <a:srgbClr val="6B9361"/>
                </a:solidFill>
                <a:latin typeface="Times New Roman"/>
                <a:cs typeface="Times New Roman"/>
              </a:rPr>
              <a:t>Naively,</a:t>
            </a:r>
            <a:r>
              <a:rPr sz="3000" spc="-75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B9361"/>
                </a:solidFill>
                <a:latin typeface="Times New Roman"/>
                <a:cs typeface="Times New Roman"/>
              </a:rPr>
              <a:t>we</a:t>
            </a:r>
            <a:r>
              <a:rPr sz="3000" spc="-75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B9361"/>
                </a:solidFill>
                <a:latin typeface="Times New Roman"/>
                <a:cs typeface="Times New Roman"/>
              </a:rPr>
              <a:t>could</a:t>
            </a:r>
            <a:r>
              <a:rPr sz="3000" spc="-75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B9361"/>
                </a:solidFill>
                <a:latin typeface="Times New Roman"/>
                <a:cs typeface="Times New Roman"/>
              </a:rPr>
              <a:t>have</a:t>
            </a:r>
            <a:r>
              <a:rPr sz="3000" spc="-65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B9361"/>
                </a:solidFill>
                <a:latin typeface="Times New Roman"/>
                <a:cs typeface="Times New Roman"/>
              </a:rPr>
              <a:t>victims</a:t>
            </a:r>
            <a:r>
              <a:rPr sz="3000" spc="-45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B9361"/>
                </a:solidFill>
                <a:latin typeface="Times New Roman"/>
                <a:cs typeface="Times New Roman"/>
              </a:rPr>
              <a:t>contact</a:t>
            </a:r>
            <a:r>
              <a:rPr sz="3000" spc="-65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6B9361"/>
                </a:solidFill>
                <a:latin typeface="Times New Roman"/>
                <a:cs typeface="Times New Roman"/>
              </a:rPr>
              <a:t>us…</a:t>
            </a:r>
            <a:endParaRPr sz="3000">
              <a:latin typeface="Times New Roman"/>
              <a:cs typeface="Times New Roman"/>
            </a:endParaRPr>
          </a:p>
          <a:p>
            <a:pPr marL="877569" lvl="1" indent="-318770">
              <a:lnSpc>
                <a:spcPts val="3415"/>
              </a:lnSpc>
              <a:buFont typeface="Microsoft Sans Serif"/>
              <a:buChar char="●"/>
              <a:tabLst>
                <a:tab pos="877569" algn="l"/>
              </a:tabLst>
            </a:pPr>
            <a:r>
              <a:rPr sz="3000" dirty="0">
                <a:latin typeface="Times New Roman"/>
                <a:cs typeface="Times New Roman"/>
              </a:rPr>
              <a:t>Suppose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we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create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malware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(vx)</a:t>
            </a:r>
            <a:endParaRPr sz="3000">
              <a:latin typeface="Times New Roman"/>
              <a:cs typeface="Times New Roman"/>
            </a:endParaRPr>
          </a:p>
          <a:p>
            <a:pPr marL="1487170" lvl="2" indent="-219710">
              <a:lnSpc>
                <a:spcPct val="100000"/>
              </a:lnSpc>
              <a:spcBef>
                <a:spcPts val="200"/>
              </a:spcBef>
              <a:buFont typeface="Lucida Sans Unicode"/>
              <a:buChar char="–"/>
              <a:tabLst>
                <a:tab pos="1487170" algn="l"/>
                <a:tab pos="4799330" algn="l"/>
                <a:tab pos="5659755" algn="l"/>
              </a:tabLst>
            </a:pPr>
            <a:r>
              <a:rPr sz="3000" spc="-10" dirty="0">
                <a:latin typeface="Times New Roman"/>
                <a:cs typeface="Times New Roman"/>
              </a:rPr>
              <a:t>Download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vx </a:t>
            </a:r>
            <a:r>
              <a:rPr sz="3000" spc="-15" dirty="0">
                <a:latin typeface="Times New Roman"/>
                <a:cs typeface="Times New Roman"/>
              </a:rPr>
              <a:t>code;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155" dirty="0">
                <a:latin typeface="Times New Roman"/>
                <a:cs typeface="Times New Roman"/>
              </a:rPr>
              <a:t>ddle</a:t>
            </a:r>
            <a:r>
              <a:rPr sz="3000" spc="-7750" dirty="0">
                <a:latin typeface="Times New Roman"/>
                <a:cs typeface="Times New Roman"/>
              </a:rPr>
              <a:t>;</a:t>
            </a:r>
            <a:r>
              <a:rPr sz="3000" spc="155" dirty="0">
                <a:latin typeface="Times New Roman"/>
                <a:cs typeface="Times New Roman"/>
              </a:rPr>
              <a:t>fi</a:t>
            </a:r>
            <a:r>
              <a:rPr sz="3000" dirty="0">
                <a:latin typeface="Times New Roman"/>
                <a:cs typeface="Times New Roman"/>
              </a:rPr>
              <a:t>		</a:t>
            </a:r>
            <a:r>
              <a:rPr sz="3000" spc="-20" dirty="0">
                <a:latin typeface="Times New Roman"/>
                <a:cs typeface="Times New Roman"/>
              </a:rPr>
              <a:t>compile</a:t>
            </a:r>
            <a:endParaRPr sz="3000">
              <a:latin typeface="Times New Roman"/>
              <a:cs typeface="Times New Roman"/>
            </a:endParaRPr>
          </a:p>
          <a:p>
            <a:pPr marL="1486535" lvl="2" indent="-219075">
              <a:lnSpc>
                <a:spcPct val="100000"/>
              </a:lnSpc>
              <a:spcBef>
                <a:spcPts val="225"/>
              </a:spcBef>
              <a:buFont typeface="Lucida Sans Unicode"/>
              <a:buChar char="–"/>
              <a:tabLst>
                <a:tab pos="1486535" algn="l"/>
              </a:tabLst>
            </a:pPr>
            <a:r>
              <a:rPr sz="3000" dirty="0">
                <a:latin typeface="Times New Roman"/>
                <a:cs typeface="Times New Roman"/>
              </a:rPr>
              <a:t>Uses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email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propagation/social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engineering</a:t>
            </a:r>
            <a:endParaRPr sz="3000">
              <a:latin typeface="Times New Roman"/>
              <a:cs typeface="Times New Roman"/>
            </a:endParaRPr>
          </a:p>
          <a:p>
            <a:pPr marL="877569" lvl="1" indent="-318770">
              <a:lnSpc>
                <a:spcPct val="100000"/>
              </a:lnSpc>
              <a:spcBef>
                <a:spcPts val="325"/>
              </a:spcBef>
              <a:buFont typeface="Microsoft Sans Serif"/>
              <a:buChar char="●"/>
              <a:tabLst>
                <a:tab pos="877569" algn="l"/>
              </a:tabLst>
            </a:pPr>
            <a:r>
              <a:rPr sz="3000" spc="-95" dirty="0">
                <a:solidFill>
                  <a:srgbClr val="6B9361"/>
                </a:solidFill>
                <a:latin typeface="Times New Roman"/>
                <a:cs typeface="Times New Roman"/>
              </a:rPr>
              <a:t>We</a:t>
            </a:r>
            <a:r>
              <a:rPr sz="3000" spc="-75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B9361"/>
                </a:solidFill>
                <a:latin typeface="Times New Roman"/>
                <a:cs typeface="Times New Roman"/>
              </a:rPr>
              <a:t>mail</a:t>
            </a:r>
            <a:r>
              <a:rPr sz="3000" spc="-50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6B9361"/>
                </a:solidFill>
                <a:latin typeface="Times New Roman"/>
                <a:cs typeface="Times New Roman"/>
              </a:rPr>
              <a:t>it...</a:t>
            </a:r>
            <a:endParaRPr sz="3000">
              <a:latin typeface="Times New Roman"/>
              <a:cs typeface="Times New Roman"/>
            </a:endParaRPr>
          </a:p>
          <a:p>
            <a:pPr marL="6887845">
              <a:lnSpc>
                <a:spcPct val="100000"/>
              </a:lnSpc>
              <a:spcBef>
                <a:spcPts val="2620"/>
              </a:spcBef>
            </a:pPr>
            <a:r>
              <a:rPr sz="3000" dirty="0">
                <a:solidFill>
                  <a:srgbClr val="6B9361"/>
                </a:solidFill>
                <a:latin typeface="Times New Roman"/>
                <a:cs typeface="Times New Roman"/>
              </a:rPr>
              <a:t>Spreading</a:t>
            </a:r>
            <a:r>
              <a:rPr sz="3000" spc="-60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B9361"/>
                </a:solidFill>
                <a:latin typeface="Times New Roman"/>
                <a:cs typeface="Times New Roman"/>
              </a:rPr>
              <a:t>is</a:t>
            </a:r>
            <a:r>
              <a:rPr sz="3000" spc="-60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6B9361"/>
                </a:solidFill>
                <a:latin typeface="Times New Roman"/>
                <a:cs typeface="Times New Roman"/>
              </a:rPr>
              <a:t>easy,</a:t>
            </a:r>
            <a:endParaRPr sz="3000">
              <a:latin typeface="Times New Roman"/>
              <a:cs typeface="Times New Roman"/>
            </a:endParaRPr>
          </a:p>
          <a:p>
            <a:pPr marL="6887845" marR="1478280">
              <a:lnSpc>
                <a:spcPct val="100000"/>
              </a:lnSpc>
              <a:spcBef>
                <a:spcPts val="765"/>
              </a:spcBef>
            </a:pPr>
            <a:r>
              <a:rPr sz="3000" dirty="0">
                <a:latin typeface="Times New Roman"/>
                <a:cs typeface="Times New Roman"/>
              </a:rPr>
              <a:t>but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what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if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we </a:t>
            </a:r>
            <a:r>
              <a:rPr sz="3000" dirty="0">
                <a:latin typeface="Times New Roman"/>
                <a:cs typeface="Times New Roman"/>
              </a:rPr>
              <a:t>want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use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the</a:t>
            </a:r>
            <a:endParaRPr sz="3000">
              <a:latin typeface="Times New Roman"/>
              <a:cs typeface="Times New Roman"/>
            </a:endParaRPr>
          </a:p>
          <a:p>
            <a:pPr marL="6887845" marR="17780">
              <a:lnSpc>
                <a:spcPct val="100000"/>
              </a:lnSpc>
              <a:spcBef>
                <a:spcPts val="5"/>
              </a:spcBef>
            </a:pPr>
            <a:r>
              <a:rPr sz="3000" dirty="0">
                <a:latin typeface="Times New Roman"/>
                <a:cs typeface="Times New Roman"/>
              </a:rPr>
              <a:t>compromised</a:t>
            </a:r>
            <a:r>
              <a:rPr sz="3000" spc="-1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computers (victims)?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2330449"/>
            <a:ext cx="6400800" cy="35686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9788" rIns="0" bIns="0" rtlCol="0">
            <a:spAutoFit/>
          </a:bodyPr>
          <a:lstStyle/>
          <a:p>
            <a:pPr marL="1128395">
              <a:lnSpc>
                <a:spcPct val="100000"/>
              </a:lnSpc>
              <a:spcBef>
                <a:spcPts val="95"/>
              </a:spcBef>
            </a:pPr>
            <a:r>
              <a:rPr spc="200" dirty="0"/>
              <a:t>Botnet</a:t>
            </a:r>
            <a:r>
              <a:rPr spc="215" dirty="0"/>
              <a:t> </a:t>
            </a:r>
            <a:r>
              <a:rPr spc="-35" dirty="0"/>
              <a:t>C&amp;C-</a:t>
            </a:r>
            <a:r>
              <a:rPr spc="215" dirty="0"/>
              <a:t> </a:t>
            </a:r>
            <a:r>
              <a:rPr dirty="0"/>
              <a:t>Naive</a:t>
            </a:r>
            <a:r>
              <a:rPr spc="204" dirty="0"/>
              <a:t> </a:t>
            </a:r>
            <a:r>
              <a:rPr spc="-315" dirty="0"/>
              <a:t>Approacft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93291" y="1175765"/>
            <a:ext cx="10593070" cy="5029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 indent="-267970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Microsoft Sans Serif"/>
              <a:buChar char="●"/>
              <a:tabLst>
                <a:tab pos="306070" algn="l"/>
              </a:tabLst>
            </a:pPr>
            <a:r>
              <a:rPr sz="3000" spc="-20" dirty="0">
                <a:solidFill>
                  <a:srgbClr val="6B9361"/>
                </a:solidFill>
                <a:latin typeface="Times New Roman"/>
                <a:cs typeface="Times New Roman"/>
              </a:rPr>
              <a:t>Naively,</a:t>
            </a:r>
            <a:r>
              <a:rPr sz="3000" spc="-75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B9361"/>
                </a:solidFill>
                <a:latin typeface="Times New Roman"/>
                <a:cs typeface="Times New Roman"/>
              </a:rPr>
              <a:t>we</a:t>
            </a:r>
            <a:r>
              <a:rPr sz="3000" spc="-75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B9361"/>
                </a:solidFill>
                <a:latin typeface="Times New Roman"/>
                <a:cs typeface="Times New Roman"/>
              </a:rPr>
              <a:t>could</a:t>
            </a:r>
            <a:r>
              <a:rPr sz="3000" spc="-75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B9361"/>
                </a:solidFill>
                <a:latin typeface="Times New Roman"/>
                <a:cs typeface="Times New Roman"/>
              </a:rPr>
              <a:t>have</a:t>
            </a:r>
            <a:r>
              <a:rPr sz="3000" spc="-65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B9361"/>
                </a:solidFill>
                <a:latin typeface="Times New Roman"/>
                <a:cs typeface="Times New Roman"/>
              </a:rPr>
              <a:t>victims</a:t>
            </a:r>
            <a:r>
              <a:rPr sz="3000" spc="-45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B9361"/>
                </a:solidFill>
                <a:latin typeface="Times New Roman"/>
                <a:cs typeface="Times New Roman"/>
              </a:rPr>
              <a:t>contact</a:t>
            </a:r>
            <a:r>
              <a:rPr sz="3000" spc="-65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6B9361"/>
                </a:solidFill>
                <a:latin typeface="Times New Roman"/>
                <a:cs typeface="Times New Roman"/>
              </a:rPr>
              <a:t>us…</a:t>
            </a: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35"/>
              </a:spcBef>
              <a:buFont typeface="Microsoft Sans Serif"/>
              <a:buChar char="●"/>
            </a:pPr>
            <a:endParaRPr sz="3000">
              <a:latin typeface="Times New Roman"/>
              <a:cs typeface="Times New Roman"/>
            </a:endParaRPr>
          </a:p>
          <a:p>
            <a:pPr marL="6381115" lvl="1" indent="-267970">
              <a:lnSpc>
                <a:spcPct val="100000"/>
              </a:lnSpc>
              <a:buFont typeface="Microsoft Sans Serif"/>
              <a:buChar char="●"/>
              <a:tabLst>
                <a:tab pos="6381115" algn="l"/>
              </a:tabLst>
            </a:pPr>
            <a:r>
              <a:rPr sz="3000" spc="-20" dirty="0">
                <a:solidFill>
                  <a:srgbClr val="A61C00"/>
                </a:solidFill>
                <a:latin typeface="Lucida Sans Unicode"/>
                <a:cs typeface="Lucida Sans Unicode"/>
              </a:rPr>
              <a:t>Problems:</a:t>
            </a:r>
            <a:endParaRPr sz="3000">
              <a:latin typeface="Lucida Sans Unicode"/>
              <a:cs typeface="Lucida Sans Unicode"/>
            </a:endParaRPr>
          </a:p>
          <a:p>
            <a:pPr marL="6915150" marR="43180" lvl="2" indent="-319405">
              <a:lnSpc>
                <a:spcPct val="100000"/>
              </a:lnSpc>
              <a:spcBef>
                <a:spcPts val="430"/>
              </a:spcBef>
              <a:buSzPct val="107142"/>
              <a:buFont typeface="Microsoft Sans Serif"/>
              <a:buChar char="●"/>
              <a:tabLst>
                <a:tab pos="6915150" algn="l"/>
              </a:tabLst>
            </a:pPr>
            <a:r>
              <a:rPr sz="2800" dirty="0">
                <a:latin typeface="Times New Roman"/>
                <a:cs typeface="Times New Roman"/>
              </a:rPr>
              <a:t>VX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must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include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author's address</a:t>
            </a:r>
            <a:endParaRPr sz="2800">
              <a:latin typeface="Times New Roman"/>
              <a:cs typeface="Times New Roman"/>
            </a:endParaRPr>
          </a:p>
          <a:p>
            <a:pPr marL="6915150">
              <a:lnSpc>
                <a:spcPct val="100000"/>
              </a:lnSpc>
              <a:spcBef>
                <a:spcPts val="5"/>
              </a:spcBef>
            </a:pPr>
            <a:r>
              <a:rPr sz="2800" dirty="0">
                <a:latin typeface="Times New Roman"/>
                <a:cs typeface="Times New Roman"/>
              </a:rPr>
              <a:t>(not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stealthy)</a:t>
            </a:r>
            <a:endParaRPr sz="2800">
              <a:latin typeface="Times New Roman"/>
              <a:cs typeface="Times New Roman"/>
            </a:endParaRPr>
          </a:p>
          <a:p>
            <a:pPr marL="6915150" marR="85725" lvl="2" indent="-283845">
              <a:lnSpc>
                <a:spcPct val="100000"/>
              </a:lnSpc>
              <a:buSzPct val="107142"/>
              <a:buFont typeface="Microsoft Sans Serif"/>
              <a:buChar char="●"/>
              <a:tabLst>
                <a:tab pos="6915150" algn="l"/>
              </a:tabLst>
            </a:pPr>
            <a:r>
              <a:rPr sz="2800" dirty="0">
                <a:latin typeface="Times New Roman"/>
                <a:cs typeface="Times New Roman"/>
              </a:rPr>
              <a:t>Single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rallying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point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(not </a:t>
            </a:r>
            <a:r>
              <a:rPr sz="2800" spc="-10" dirty="0">
                <a:latin typeface="Times New Roman"/>
                <a:cs typeface="Times New Roman"/>
              </a:rPr>
              <a:t>robust)</a:t>
            </a:r>
            <a:endParaRPr sz="2800">
              <a:latin typeface="Times New Roman"/>
              <a:cs typeface="Times New Roman"/>
            </a:endParaRPr>
          </a:p>
          <a:p>
            <a:pPr marL="6915150" marR="902969" lvl="2" indent="-283845">
              <a:lnSpc>
                <a:spcPct val="100000"/>
              </a:lnSpc>
              <a:buSzPct val="107142"/>
              <a:buFont typeface="Microsoft Sans Serif"/>
              <a:buChar char="●"/>
              <a:tabLst>
                <a:tab pos="6915150" algn="l"/>
              </a:tabLst>
            </a:pPr>
            <a:r>
              <a:rPr sz="2800" dirty="0">
                <a:latin typeface="Times New Roman"/>
                <a:cs typeface="Times New Roman"/>
              </a:rPr>
              <a:t>VX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has </a:t>
            </a:r>
            <a:r>
              <a:rPr sz="2800" spc="-20" dirty="0">
                <a:latin typeface="Times New Roman"/>
                <a:cs typeface="Times New Roman"/>
              </a:rPr>
              <a:t>hard-</a:t>
            </a:r>
            <a:r>
              <a:rPr sz="2800" spc="-10" dirty="0">
                <a:latin typeface="Times New Roman"/>
                <a:cs typeface="Times New Roman"/>
              </a:rPr>
              <a:t>coded </a:t>
            </a:r>
            <a:r>
              <a:rPr sz="2800" dirty="0">
                <a:latin typeface="Times New Roman"/>
                <a:cs typeface="Times New Roman"/>
              </a:rPr>
              <a:t>address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(not </a:t>
            </a:r>
            <a:r>
              <a:rPr sz="2800" spc="-10" dirty="0">
                <a:latin typeface="Times New Roman"/>
                <a:cs typeface="Times New Roman"/>
              </a:rPr>
              <a:t>mobile)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0" y="914399"/>
            <a:ext cx="3251200" cy="3809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9788" rIns="0" bIns="0" rtlCol="0">
            <a:spAutoFit/>
          </a:bodyPr>
          <a:lstStyle/>
          <a:p>
            <a:pPr marL="2340610">
              <a:lnSpc>
                <a:spcPct val="100000"/>
              </a:lnSpc>
              <a:spcBef>
                <a:spcPts val="95"/>
              </a:spcBef>
            </a:pPr>
            <a:r>
              <a:rPr spc="200" dirty="0"/>
              <a:t>Botnet</a:t>
            </a:r>
            <a:r>
              <a:rPr spc="355" dirty="0"/>
              <a:t> </a:t>
            </a:r>
            <a:r>
              <a:rPr dirty="0"/>
              <a:t>C&amp;C</a:t>
            </a:r>
            <a:r>
              <a:rPr spc="340" dirty="0"/>
              <a:t> </a:t>
            </a:r>
            <a:r>
              <a:rPr spc="-330" dirty="0"/>
              <a:t>Design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1763" y="1485391"/>
            <a:ext cx="70910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0670" indent="-267970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280670" algn="l"/>
              </a:tabLst>
            </a:pPr>
            <a:r>
              <a:rPr sz="3000" spc="-260" dirty="0">
                <a:solidFill>
                  <a:srgbClr val="6B9361"/>
                </a:solidFill>
                <a:latin typeface="Lucida Sans Unicode"/>
                <a:cs typeface="Lucida Sans Unicode"/>
              </a:rPr>
              <a:t>How</a:t>
            </a:r>
            <a:r>
              <a:rPr sz="3000" spc="355" dirty="0">
                <a:solidFill>
                  <a:srgbClr val="6B9361"/>
                </a:solidFill>
                <a:latin typeface="Lucida Sans Unicode"/>
                <a:cs typeface="Lucida Sans Unicode"/>
              </a:rPr>
              <a:t> </a:t>
            </a:r>
            <a:r>
              <a:rPr sz="3000" dirty="0">
                <a:solidFill>
                  <a:srgbClr val="6B9361"/>
                </a:solidFill>
                <a:latin typeface="Lucida Sans Unicode"/>
                <a:cs typeface="Lucida Sans Unicode"/>
              </a:rPr>
              <a:t>can</a:t>
            </a:r>
            <a:r>
              <a:rPr sz="3000" spc="370" dirty="0">
                <a:solidFill>
                  <a:srgbClr val="6B9361"/>
                </a:solidFill>
                <a:latin typeface="Lucida Sans Unicode"/>
                <a:cs typeface="Lucida Sans Unicode"/>
              </a:rPr>
              <a:t> </a:t>
            </a:r>
            <a:r>
              <a:rPr sz="3000" spc="60" dirty="0">
                <a:solidFill>
                  <a:srgbClr val="6B9361"/>
                </a:solidFill>
                <a:latin typeface="Lucida Sans Unicode"/>
                <a:cs typeface="Lucida Sans Unicode"/>
              </a:rPr>
              <a:t>bots</a:t>
            </a:r>
            <a:r>
              <a:rPr sz="3000" spc="370" dirty="0">
                <a:solidFill>
                  <a:srgbClr val="6B9361"/>
                </a:solidFill>
                <a:latin typeface="Lucida Sans Unicode"/>
                <a:cs typeface="Lucida Sans Unicode"/>
              </a:rPr>
              <a:t> </a:t>
            </a:r>
            <a:r>
              <a:rPr sz="3000" spc="105" dirty="0">
                <a:solidFill>
                  <a:srgbClr val="6B9361"/>
                </a:solidFill>
                <a:latin typeface="Lucida Sans Unicode"/>
                <a:cs typeface="Lucida Sans Unicode"/>
              </a:rPr>
              <a:t>contact</a:t>
            </a:r>
            <a:r>
              <a:rPr sz="3000" spc="390" dirty="0">
                <a:solidFill>
                  <a:srgbClr val="6B9361"/>
                </a:solidFill>
                <a:latin typeface="Lucida Sans Unicode"/>
                <a:cs typeface="Lucida Sans Unicode"/>
              </a:rPr>
              <a:t> </a:t>
            </a:r>
            <a:r>
              <a:rPr sz="3000" dirty="0">
                <a:solidFill>
                  <a:srgbClr val="6B9361"/>
                </a:solidFill>
                <a:latin typeface="Lucida Sans Unicode"/>
                <a:cs typeface="Lucida Sans Unicode"/>
              </a:rPr>
              <a:t>tfteir</a:t>
            </a:r>
            <a:r>
              <a:rPr sz="3000" spc="360" dirty="0">
                <a:solidFill>
                  <a:srgbClr val="6B9361"/>
                </a:solidFill>
                <a:latin typeface="Lucida Sans Unicode"/>
                <a:cs typeface="Lucida Sans Unicode"/>
              </a:rPr>
              <a:t> </a:t>
            </a:r>
            <a:r>
              <a:rPr sz="3000" spc="114" dirty="0">
                <a:solidFill>
                  <a:srgbClr val="6B9361"/>
                </a:solidFill>
                <a:latin typeface="Lucida Sans Unicode"/>
                <a:cs typeface="Lucida Sans Unicode"/>
              </a:rPr>
              <a:t>master</a:t>
            </a:r>
            <a:endParaRPr sz="30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9988" y="2062988"/>
            <a:ext cx="13144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50" dirty="0">
                <a:solidFill>
                  <a:srgbClr val="6B9361"/>
                </a:solidFill>
                <a:latin typeface="Lucida Sans Unicode"/>
                <a:cs typeface="Lucida Sans Unicode"/>
              </a:rPr>
              <a:t>safely?</a:t>
            </a:r>
            <a:endParaRPr sz="30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1763" y="2370962"/>
            <a:ext cx="7430134" cy="3652520"/>
          </a:xfrm>
          <a:prstGeom prst="rect">
            <a:avLst/>
          </a:prstGeom>
        </p:spPr>
        <p:txBody>
          <a:bodyPr vert="horz" wrap="square" lIns="0" tIns="225425" rIns="0" bIns="0" rtlCol="0">
            <a:spAutoFit/>
          </a:bodyPr>
          <a:lstStyle/>
          <a:p>
            <a:pPr marL="280670" indent="-267970">
              <a:lnSpc>
                <a:spcPct val="100000"/>
              </a:lnSpc>
              <a:spcBef>
                <a:spcPts val="1775"/>
              </a:spcBef>
              <a:buFont typeface="Microsoft Sans Serif"/>
              <a:buChar char="●"/>
              <a:tabLst>
                <a:tab pos="280670" algn="l"/>
              </a:tabLst>
            </a:pPr>
            <a:r>
              <a:rPr sz="3000" spc="-160" dirty="0">
                <a:solidFill>
                  <a:srgbClr val="6699FF"/>
                </a:solidFill>
                <a:latin typeface="Lucida Sans Unicode"/>
                <a:cs typeface="Lucida Sans Unicode"/>
              </a:rPr>
              <a:t>Simple,</a:t>
            </a:r>
            <a:r>
              <a:rPr sz="3000" spc="75" dirty="0">
                <a:solidFill>
                  <a:srgbClr val="6699FF"/>
                </a:solidFill>
                <a:latin typeface="Lucida Sans Unicode"/>
                <a:cs typeface="Lucida Sans Unicode"/>
              </a:rPr>
              <a:t> </a:t>
            </a:r>
            <a:r>
              <a:rPr sz="3000" dirty="0">
                <a:solidFill>
                  <a:srgbClr val="6699FF"/>
                </a:solidFill>
                <a:latin typeface="Lucida Sans Unicode"/>
                <a:cs typeface="Lucida Sans Unicode"/>
              </a:rPr>
              <a:t>naïve</a:t>
            </a:r>
            <a:r>
              <a:rPr sz="3000" spc="70" dirty="0">
                <a:solidFill>
                  <a:srgbClr val="6699FF"/>
                </a:solidFill>
                <a:latin typeface="Lucida Sans Unicode"/>
                <a:cs typeface="Lucida Sans Unicode"/>
              </a:rPr>
              <a:t> </a:t>
            </a:r>
            <a:r>
              <a:rPr sz="3000" spc="-90" dirty="0">
                <a:solidFill>
                  <a:srgbClr val="6699FF"/>
                </a:solidFill>
                <a:latin typeface="Lucida Sans Unicode"/>
                <a:cs typeface="Lucida Sans Unicode"/>
              </a:rPr>
              <a:t>approacft:</a:t>
            </a:r>
            <a:endParaRPr sz="3000">
              <a:latin typeface="Lucida Sans Unicode"/>
              <a:cs typeface="Lucida Sans Unicode"/>
            </a:endParaRPr>
          </a:p>
          <a:p>
            <a:pPr marL="187325" marR="829310" lvl="1" indent="-7620">
              <a:lnSpc>
                <a:spcPct val="100000"/>
              </a:lnSpc>
              <a:spcBef>
                <a:spcPts val="1680"/>
              </a:spcBef>
              <a:buSzPct val="96666"/>
              <a:buFont typeface="Arial MT"/>
              <a:buChar char="•"/>
              <a:tabLst>
                <a:tab pos="321310" algn="l"/>
              </a:tabLst>
            </a:pPr>
            <a:r>
              <a:rPr sz="3000" spc="-10" dirty="0">
                <a:latin typeface="Times New Roman"/>
                <a:cs typeface="Times New Roman"/>
              </a:rPr>
              <a:t>	Victims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contact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single</a:t>
            </a:r>
            <a:r>
              <a:rPr sz="3000" spc="-90" dirty="0">
                <a:latin typeface="Times New Roman"/>
                <a:cs typeface="Times New Roman"/>
              </a:rPr>
              <a:t> IP,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website,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ping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spc="-50" dirty="0">
                <a:latin typeface="Times New Roman"/>
                <a:cs typeface="Times New Roman"/>
              </a:rPr>
              <a:t>a </a:t>
            </a:r>
            <a:r>
              <a:rPr sz="3000" spc="-10" dirty="0">
                <a:latin typeface="Times New Roman"/>
                <a:cs typeface="Times New Roman"/>
              </a:rPr>
              <a:t>server,</a:t>
            </a:r>
            <a:r>
              <a:rPr sz="3000" spc="-130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etc.</a:t>
            </a:r>
            <a:endParaRPr sz="3000">
              <a:latin typeface="Times New Roman"/>
              <a:cs typeface="Times New Roman"/>
            </a:endParaRPr>
          </a:p>
          <a:p>
            <a:pPr marL="187325" marR="389255" lvl="1" indent="-8255">
              <a:lnSpc>
                <a:spcPct val="100000"/>
              </a:lnSpc>
              <a:buSzPct val="96666"/>
              <a:buFont typeface="Arial MT"/>
              <a:buChar char="•"/>
              <a:tabLst>
                <a:tab pos="320675" algn="l"/>
              </a:tabLst>
            </a:pPr>
            <a:r>
              <a:rPr sz="3000" dirty="0">
                <a:latin typeface="Times New Roman"/>
                <a:cs typeface="Times New Roman"/>
              </a:rPr>
              <a:t>	Easily</a:t>
            </a:r>
            <a:r>
              <a:rPr sz="3000" spc="-10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defeated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(ISP</a:t>
            </a:r>
            <a:r>
              <a:rPr sz="3000" spc="-1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intervention,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blackhole </a:t>
            </a:r>
            <a:r>
              <a:rPr sz="3000" dirty="0">
                <a:latin typeface="Times New Roman"/>
                <a:cs typeface="Times New Roman"/>
              </a:rPr>
              <a:t>routing,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etc.)</a:t>
            </a:r>
            <a:endParaRPr sz="3000">
              <a:latin typeface="Times New Roman"/>
              <a:cs typeface="Times New Roman"/>
            </a:endParaRPr>
          </a:p>
          <a:p>
            <a:pPr marL="187325" marR="5080" lvl="1" indent="-7620">
              <a:lnSpc>
                <a:spcPct val="100000"/>
              </a:lnSpc>
              <a:buSzPct val="96666"/>
              <a:buFont typeface="Arial MT"/>
              <a:buChar char="•"/>
              <a:tabLst>
                <a:tab pos="321310" algn="l"/>
              </a:tabLst>
            </a:pPr>
            <a:r>
              <a:rPr sz="3000" dirty="0">
                <a:latin typeface="Times New Roman"/>
                <a:cs typeface="Times New Roman"/>
              </a:rPr>
              <a:t>	Still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used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by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script-</a:t>
            </a:r>
            <a:r>
              <a:rPr sz="3000" dirty="0">
                <a:latin typeface="Times New Roman"/>
                <a:cs typeface="Times New Roman"/>
              </a:rPr>
              <a:t>kiddies,</a:t>
            </a:r>
            <a:r>
              <a:rPr sz="3000" spc="-10" dirty="0">
                <a:latin typeface="Times New Roman"/>
                <a:cs typeface="Times New Roman"/>
              </a:rPr>
              <a:t> first-</a:t>
            </a:r>
            <a:r>
              <a:rPr sz="3000" dirty="0">
                <a:latin typeface="Times New Roman"/>
                <a:cs typeface="Times New Roman"/>
              </a:rPr>
              <a:t>time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malware authors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0" y="914399"/>
            <a:ext cx="3251200" cy="3809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9788" rIns="0" bIns="0" rtlCol="0">
            <a:spAutoFit/>
          </a:bodyPr>
          <a:lstStyle/>
          <a:p>
            <a:pPr marL="2340610">
              <a:lnSpc>
                <a:spcPct val="100000"/>
              </a:lnSpc>
              <a:spcBef>
                <a:spcPts val="95"/>
              </a:spcBef>
            </a:pPr>
            <a:r>
              <a:rPr spc="200" dirty="0"/>
              <a:t>Botnet</a:t>
            </a:r>
            <a:r>
              <a:rPr spc="355" dirty="0"/>
              <a:t> </a:t>
            </a:r>
            <a:r>
              <a:rPr dirty="0"/>
              <a:t>C&amp;C</a:t>
            </a:r>
            <a:r>
              <a:rPr spc="340" dirty="0"/>
              <a:t> </a:t>
            </a:r>
            <a:r>
              <a:rPr spc="-330" dirty="0"/>
              <a:t>Design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26719" y="1384691"/>
            <a:ext cx="7479030" cy="4091304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99695">
              <a:lnSpc>
                <a:spcPct val="100000"/>
              </a:lnSpc>
              <a:spcBef>
                <a:spcPts val="890"/>
              </a:spcBef>
            </a:pPr>
            <a:r>
              <a:rPr sz="3000" spc="-170" dirty="0">
                <a:solidFill>
                  <a:srgbClr val="6B9361"/>
                </a:solidFill>
                <a:latin typeface="Lucida Sans Unicode"/>
                <a:cs typeface="Lucida Sans Unicode"/>
              </a:rPr>
              <a:t>Design</a:t>
            </a:r>
            <a:r>
              <a:rPr sz="3000" spc="-30" dirty="0">
                <a:solidFill>
                  <a:srgbClr val="6B9361"/>
                </a:solidFill>
                <a:latin typeface="Lucida Sans Unicode"/>
                <a:cs typeface="Lucida Sans Unicode"/>
              </a:rPr>
              <a:t> </a:t>
            </a:r>
            <a:r>
              <a:rPr sz="3000" spc="-10" dirty="0">
                <a:solidFill>
                  <a:srgbClr val="6B9361"/>
                </a:solidFill>
                <a:latin typeface="Lucida Sans Unicode"/>
                <a:cs typeface="Lucida Sans Unicode"/>
              </a:rPr>
              <a:t>considerations:</a:t>
            </a:r>
            <a:endParaRPr sz="3000">
              <a:latin typeface="Lucida Sans Unicode"/>
              <a:cs typeface="Lucida Sans Unicode"/>
            </a:endParaRPr>
          </a:p>
          <a:p>
            <a:pPr marL="135255" indent="-133350">
              <a:lnSpc>
                <a:spcPct val="100000"/>
              </a:lnSpc>
              <a:spcBef>
                <a:spcPts val="735"/>
              </a:spcBef>
              <a:buSzPct val="96428"/>
              <a:buFont typeface="Arial MT"/>
              <a:buChar char="•"/>
              <a:tabLst>
                <a:tab pos="135255" algn="l"/>
              </a:tabLst>
            </a:pPr>
            <a:r>
              <a:rPr sz="2800" dirty="0">
                <a:solidFill>
                  <a:srgbClr val="6699FF"/>
                </a:solidFill>
                <a:latin typeface="Times New Roman"/>
                <a:cs typeface="Times New Roman"/>
              </a:rPr>
              <a:t>Efficient</a:t>
            </a:r>
            <a:r>
              <a:rPr sz="2800" spc="-65" dirty="0">
                <a:solidFill>
                  <a:srgbClr val="6699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6699FF"/>
                </a:solidFill>
                <a:latin typeface="Times New Roman"/>
                <a:cs typeface="Times New Roman"/>
              </a:rPr>
              <a:t>and</a:t>
            </a:r>
            <a:r>
              <a:rPr sz="2800" spc="-55" dirty="0">
                <a:solidFill>
                  <a:srgbClr val="6699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6699FF"/>
                </a:solidFill>
                <a:latin typeface="Times New Roman"/>
                <a:cs typeface="Times New Roman"/>
              </a:rPr>
              <a:t>reliable</a:t>
            </a:r>
            <a:endParaRPr sz="2800">
              <a:latin typeface="Times New Roman"/>
              <a:cs typeface="Times New Roman"/>
            </a:endParaRPr>
          </a:p>
          <a:p>
            <a:pPr marL="469900" marR="486409" lvl="1" indent="-10795">
              <a:lnSpc>
                <a:spcPct val="100000"/>
              </a:lnSpc>
              <a:buSzPct val="96428"/>
              <a:buFont typeface="Arial MT"/>
              <a:buChar char="•"/>
              <a:tabLst>
                <a:tab pos="592455" algn="l"/>
              </a:tabLst>
            </a:pPr>
            <a:r>
              <a:rPr sz="2800" dirty="0">
                <a:latin typeface="Times New Roman"/>
                <a:cs typeface="Times New Roman"/>
              </a:rPr>
              <a:t>	Able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reach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sizable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bots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within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a </a:t>
            </a:r>
            <a:r>
              <a:rPr sz="2800" dirty="0">
                <a:latin typeface="Times New Roman"/>
                <a:cs typeface="Times New Roman"/>
              </a:rPr>
              <a:t>time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limit</a:t>
            </a:r>
            <a:endParaRPr sz="2800">
              <a:latin typeface="Times New Roman"/>
              <a:cs typeface="Times New Roman"/>
            </a:endParaRPr>
          </a:p>
          <a:p>
            <a:pPr marL="135255" indent="-133350">
              <a:lnSpc>
                <a:spcPct val="100000"/>
              </a:lnSpc>
              <a:spcBef>
                <a:spcPts val="5"/>
              </a:spcBef>
              <a:buSzPct val="96428"/>
              <a:buFont typeface="Arial MT"/>
              <a:buChar char="•"/>
              <a:tabLst>
                <a:tab pos="135255" algn="l"/>
              </a:tabLst>
            </a:pPr>
            <a:r>
              <a:rPr sz="2800" spc="-10" dirty="0">
                <a:solidFill>
                  <a:srgbClr val="6699FF"/>
                </a:solidFill>
                <a:latin typeface="Times New Roman"/>
                <a:cs typeface="Times New Roman"/>
              </a:rPr>
              <a:t>Stealthy</a:t>
            </a:r>
            <a:endParaRPr sz="2800">
              <a:latin typeface="Times New Roman"/>
              <a:cs typeface="Times New Roman"/>
            </a:endParaRPr>
          </a:p>
          <a:p>
            <a:pPr marL="469900" marR="5080" lvl="1" indent="-10795">
              <a:lnSpc>
                <a:spcPct val="100000"/>
              </a:lnSpc>
              <a:buSzPct val="96428"/>
              <a:buFont typeface="Arial MT"/>
              <a:buChar char="•"/>
              <a:tabLst>
                <a:tab pos="592455" algn="l"/>
              </a:tabLst>
            </a:pPr>
            <a:r>
              <a:rPr sz="2800" dirty="0">
                <a:latin typeface="Times New Roman"/>
                <a:cs typeface="Times New Roman"/>
              </a:rPr>
              <a:t>	Hard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detect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(i.e.,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blended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normal/regular traffic)</a:t>
            </a:r>
            <a:endParaRPr sz="2800">
              <a:latin typeface="Times New Roman"/>
              <a:cs typeface="Times New Roman"/>
            </a:endParaRPr>
          </a:p>
          <a:p>
            <a:pPr marL="135255" indent="-133350">
              <a:lnSpc>
                <a:spcPct val="100000"/>
              </a:lnSpc>
              <a:buSzPct val="96428"/>
              <a:buFont typeface="Arial MT"/>
              <a:buChar char="•"/>
              <a:tabLst>
                <a:tab pos="135255" algn="l"/>
              </a:tabLst>
            </a:pPr>
            <a:r>
              <a:rPr sz="2800" spc="-10" dirty="0">
                <a:solidFill>
                  <a:srgbClr val="6699FF"/>
                </a:solidFill>
                <a:latin typeface="Times New Roman"/>
                <a:cs typeface="Times New Roman"/>
              </a:rPr>
              <a:t>Resilient</a:t>
            </a:r>
            <a:endParaRPr sz="2800">
              <a:latin typeface="Times New Roman"/>
              <a:cs typeface="Times New Roman"/>
            </a:endParaRPr>
          </a:p>
          <a:p>
            <a:pPr marL="592455" lvl="1" indent="-133350">
              <a:lnSpc>
                <a:spcPct val="100000"/>
              </a:lnSpc>
              <a:buSzPct val="96428"/>
              <a:buFont typeface="Arial MT"/>
              <a:buChar char="•"/>
              <a:tabLst>
                <a:tab pos="592455" algn="l"/>
              </a:tabLst>
            </a:pPr>
            <a:r>
              <a:rPr sz="2800" dirty="0">
                <a:latin typeface="Times New Roman"/>
                <a:cs typeface="Times New Roman"/>
              </a:rPr>
              <a:t>Hard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disable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10" dirty="0">
                <a:latin typeface="Times New Roman"/>
                <a:cs typeface="Times New Roman"/>
              </a:rPr>
              <a:t> block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04000" y="1517649"/>
            <a:ext cx="4883150" cy="43814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9788" rIns="0" bIns="0" rtlCol="0">
            <a:spAutoFit/>
          </a:bodyPr>
          <a:lstStyle/>
          <a:p>
            <a:pPr marL="346710">
              <a:lnSpc>
                <a:spcPct val="100000"/>
              </a:lnSpc>
              <a:spcBef>
                <a:spcPts val="95"/>
              </a:spcBef>
            </a:pPr>
            <a:r>
              <a:rPr spc="-75" dirty="0"/>
              <a:t>Advanced</a:t>
            </a:r>
            <a:r>
              <a:rPr spc="370" dirty="0"/>
              <a:t> </a:t>
            </a:r>
            <a:r>
              <a:rPr spc="114" dirty="0"/>
              <a:t>Persistent</a:t>
            </a:r>
            <a:r>
              <a:rPr spc="400" dirty="0"/>
              <a:t> </a:t>
            </a:r>
            <a:r>
              <a:rPr spc="145" dirty="0"/>
              <a:t>Tftreat</a:t>
            </a:r>
            <a:r>
              <a:rPr spc="380" dirty="0"/>
              <a:t> </a:t>
            </a:r>
            <a:r>
              <a:rPr spc="65" dirty="0"/>
              <a:t>(APT)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0123" y="1289761"/>
            <a:ext cx="5650230" cy="3866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5255" indent="-133350">
              <a:lnSpc>
                <a:spcPct val="100000"/>
              </a:lnSpc>
              <a:spcBef>
                <a:spcPts val="95"/>
              </a:spcBef>
              <a:buSzPct val="96428"/>
              <a:buFont typeface="Arial MT"/>
              <a:buChar char="•"/>
              <a:tabLst>
                <a:tab pos="135255" algn="l"/>
              </a:tabLst>
            </a:pPr>
            <a:r>
              <a:rPr sz="2800" spc="-10" dirty="0">
                <a:solidFill>
                  <a:srgbClr val="A61C00"/>
                </a:solidFill>
                <a:latin typeface="Times New Roman"/>
                <a:cs typeface="Times New Roman"/>
              </a:rPr>
              <a:t>Advanced:</a:t>
            </a:r>
            <a:endParaRPr sz="2800">
              <a:latin typeface="Times New Roman"/>
              <a:cs typeface="Times New Roman"/>
            </a:endParaRPr>
          </a:p>
          <a:p>
            <a:pPr marL="592455" lvl="1" indent="-136525">
              <a:lnSpc>
                <a:spcPct val="100000"/>
              </a:lnSpc>
              <a:buSzPct val="96428"/>
              <a:buFont typeface="Arial MT"/>
              <a:buChar char="•"/>
              <a:tabLst>
                <a:tab pos="592455" algn="l"/>
              </a:tabLst>
            </a:pPr>
            <a:r>
              <a:rPr sz="2800" dirty="0">
                <a:solidFill>
                  <a:srgbClr val="6B9361"/>
                </a:solidFill>
                <a:latin typeface="Times New Roman"/>
                <a:cs typeface="Times New Roman"/>
              </a:rPr>
              <a:t>(Special)</a:t>
            </a:r>
            <a:r>
              <a:rPr sz="2800" spc="-25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6B9361"/>
                </a:solidFill>
                <a:latin typeface="Times New Roman"/>
                <a:cs typeface="Times New Roman"/>
              </a:rPr>
              <a:t>malware</a:t>
            </a:r>
            <a:endParaRPr sz="2800">
              <a:latin typeface="Times New Roman"/>
              <a:cs typeface="Times New Roman"/>
            </a:endParaRPr>
          </a:p>
          <a:p>
            <a:pPr marL="592455" lvl="1" indent="-136525">
              <a:lnSpc>
                <a:spcPct val="100000"/>
              </a:lnSpc>
              <a:buSzPct val="96428"/>
              <a:buFont typeface="Arial MT"/>
              <a:buChar char="•"/>
              <a:tabLst>
                <a:tab pos="592455" algn="l"/>
              </a:tabLst>
            </a:pPr>
            <a:r>
              <a:rPr sz="2800" dirty="0">
                <a:latin typeface="Times New Roman"/>
                <a:cs typeface="Times New Roman"/>
              </a:rPr>
              <a:t>Special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operation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operators</a:t>
            </a:r>
            <a:endParaRPr sz="2800">
              <a:latin typeface="Times New Roman"/>
              <a:cs typeface="Times New Roman"/>
            </a:endParaRPr>
          </a:p>
          <a:p>
            <a:pPr marL="135255" indent="-133350">
              <a:lnSpc>
                <a:spcPct val="100000"/>
              </a:lnSpc>
              <a:buSzPct val="96428"/>
              <a:buFont typeface="Arial MT"/>
              <a:buChar char="•"/>
              <a:tabLst>
                <a:tab pos="135255" algn="l"/>
              </a:tabLst>
            </a:pPr>
            <a:r>
              <a:rPr sz="2800" spc="-10" dirty="0">
                <a:solidFill>
                  <a:srgbClr val="A61C00"/>
                </a:solidFill>
                <a:latin typeface="Times New Roman"/>
                <a:cs typeface="Times New Roman"/>
              </a:rPr>
              <a:t>Persistent:</a:t>
            </a:r>
            <a:endParaRPr sz="2800">
              <a:latin typeface="Times New Roman"/>
              <a:cs typeface="Times New Roman"/>
            </a:endParaRPr>
          </a:p>
          <a:p>
            <a:pPr marL="469900" marR="488315" lvl="1" indent="-13970">
              <a:lnSpc>
                <a:spcPct val="100000"/>
              </a:lnSpc>
              <a:spcBef>
                <a:spcPts val="5"/>
              </a:spcBef>
              <a:buSzPct val="96428"/>
              <a:buFont typeface="Arial MT"/>
              <a:buChar char="•"/>
              <a:tabLst>
                <a:tab pos="592455" algn="l"/>
              </a:tabLst>
            </a:pPr>
            <a:r>
              <a:rPr sz="2800" spc="-20" dirty="0">
                <a:solidFill>
                  <a:srgbClr val="6B9361"/>
                </a:solidFill>
                <a:latin typeface="Times New Roman"/>
                <a:cs typeface="Times New Roman"/>
              </a:rPr>
              <a:t>	Long-</a:t>
            </a:r>
            <a:r>
              <a:rPr sz="2800" dirty="0">
                <a:solidFill>
                  <a:srgbClr val="6B9361"/>
                </a:solidFill>
                <a:latin typeface="Times New Roman"/>
                <a:cs typeface="Times New Roman"/>
              </a:rPr>
              <a:t>term</a:t>
            </a:r>
            <a:r>
              <a:rPr sz="2800" spc="-10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6B9361"/>
                </a:solidFill>
                <a:latin typeface="Times New Roman"/>
                <a:cs typeface="Times New Roman"/>
              </a:rPr>
              <a:t>presence,</a:t>
            </a:r>
            <a:r>
              <a:rPr sz="2800" spc="15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multi-step, “low-</a:t>
            </a:r>
            <a:r>
              <a:rPr sz="2800" spc="-20" dirty="0">
                <a:latin typeface="Times New Roman"/>
                <a:cs typeface="Times New Roman"/>
              </a:rPr>
              <a:t>and-</a:t>
            </a:r>
            <a:r>
              <a:rPr sz="2800" spc="-10" dirty="0">
                <a:latin typeface="Times New Roman"/>
                <a:cs typeface="Times New Roman"/>
              </a:rPr>
              <a:t>slow”</a:t>
            </a:r>
            <a:endParaRPr sz="2800">
              <a:latin typeface="Times New Roman"/>
              <a:cs typeface="Times New Roman"/>
            </a:endParaRPr>
          </a:p>
          <a:p>
            <a:pPr marL="135255" indent="-133350">
              <a:lnSpc>
                <a:spcPct val="100000"/>
              </a:lnSpc>
              <a:buSzPct val="96428"/>
              <a:buFont typeface="Arial MT"/>
              <a:buChar char="•"/>
              <a:tabLst>
                <a:tab pos="135255" algn="l"/>
              </a:tabLst>
            </a:pPr>
            <a:r>
              <a:rPr sz="2800" spc="-10" dirty="0">
                <a:solidFill>
                  <a:srgbClr val="A61C00"/>
                </a:solidFill>
                <a:latin typeface="Times New Roman"/>
                <a:cs typeface="Times New Roman"/>
              </a:rPr>
              <a:t>Threat:</a:t>
            </a:r>
            <a:endParaRPr sz="2800">
              <a:latin typeface="Times New Roman"/>
              <a:cs typeface="Times New Roman"/>
            </a:endParaRPr>
          </a:p>
          <a:p>
            <a:pPr marL="469900" marR="5080" lvl="1" indent="-13970">
              <a:lnSpc>
                <a:spcPct val="100000"/>
              </a:lnSpc>
              <a:buSzPct val="96428"/>
              <a:buFont typeface="Arial MT"/>
              <a:buChar char="•"/>
              <a:tabLst>
                <a:tab pos="592455" algn="l"/>
              </a:tabLst>
            </a:pPr>
            <a:r>
              <a:rPr sz="2800" spc="-20" dirty="0">
                <a:latin typeface="Times New Roman"/>
                <a:cs typeface="Times New Roman"/>
              </a:rPr>
              <a:t>	Targeted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high-</a:t>
            </a:r>
            <a:r>
              <a:rPr sz="2800" dirty="0">
                <a:latin typeface="Times New Roman"/>
                <a:cs typeface="Times New Roman"/>
              </a:rPr>
              <a:t>value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organization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information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8800" y="196849"/>
            <a:ext cx="10922000" cy="64134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46200" y="2958845"/>
            <a:ext cx="33997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75" dirty="0"/>
              <a:t>APT</a:t>
            </a:r>
            <a:r>
              <a:rPr spc="530" dirty="0"/>
              <a:t> </a:t>
            </a:r>
            <a:r>
              <a:rPr spc="-10" dirty="0"/>
              <a:t>Lifecycle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196849"/>
            <a:ext cx="10826750" cy="584834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9788" rIns="0" bIns="0" rtlCol="0">
            <a:spAutoFit/>
          </a:bodyPr>
          <a:lstStyle/>
          <a:p>
            <a:pPr marL="2181860">
              <a:lnSpc>
                <a:spcPct val="100000"/>
              </a:lnSpc>
              <a:spcBef>
                <a:spcPts val="95"/>
              </a:spcBef>
            </a:pPr>
            <a:r>
              <a:rPr spc="75" dirty="0"/>
              <a:t>APT</a:t>
            </a:r>
            <a:r>
              <a:rPr spc="520" dirty="0"/>
              <a:t> </a:t>
            </a:r>
            <a:r>
              <a:rPr spc="-10" dirty="0"/>
              <a:t>Cftaracteristics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1940" marR="5080" indent="-268605">
              <a:lnSpc>
                <a:spcPct val="126400"/>
              </a:lnSpc>
              <a:spcBef>
                <a:spcPts val="100"/>
              </a:spcBef>
              <a:buClr>
                <a:srgbClr val="000000"/>
              </a:buClr>
              <a:buFont typeface="Microsoft Sans Serif"/>
              <a:buChar char="●"/>
              <a:tabLst>
                <a:tab pos="281940" algn="l"/>
              </a:tabLst>
            </a:pPr>
            <a:r>
              <a:rPr sz="3000" spc="-20" dirty="0">
                <a:solidFill>
                  <a:srgbClr val="A61C00"/>
                </a:solidFill>
              </a:rPr>
              <a:t>Zero-</a:t>
            </a:r>
            <a:r>
              <a:rPr sz="3000" dirty="0">
                <a:solidFill>
                  <a:srgbClr val="A61C00"/>
                </a:solidFill>
              </a:rPr>
              <a:t>day</a:t>
            </a:r>
            <a:r>
              <a:rPr sz="3000" spc="-25" dirty="0">
                <a:solidFill>
                  <a:srgbClr val="A61C00"/>
                </a:solidFill>
              </a:rPr>
              <a:t> </a:t>
            </a:r>
            <a:r>
              <a:rPr sz="3000" dirty="0">
                <a:solidFill>
                  <a:srgbClr val="A61C00"/>
                </a:solidFill>
              </a:rPr>
              <a:t>exploit </a:t>
            </a:r>
            <a:r>
              <a:rPr sz="3000" dirty="0"/>
              <a:t>or</a:t>
            </a:r>
            <a:r>
              <a:rPr sz="3000" spc="-35" dirty="0"/>
              <a:t> </a:t>
            </a:r>
            <a:r>
              <a:rPr sz="3000" dirty="0"/>
              <a:t>a</a:t>
            </a:r>
            <a:r>
              <a:rPr sz="3000" spc="-40" dirty="0"/>
              <a:t> </a:t>
            </a:r>
            <a:r>
              <a:rPr sz="3000" spc="-10" dirty="0"/>
              <a:t>specially </a:t>
            </a:r>
            <a:r>
              <a:rPr sz="3000" dirty="0"/>
              <a:t>crafted</a:t>
            </a:r>
            <a:r>
              <a:rPr sz="3000" spc="-70" dirty="0"/>
              <a:t> </a:t>
            </a:r>
            <a:r>
              <a:rPr sz="3000" spc="-10" dirty="0"/>
              <a:t>malware</a:t>
            </a:r>
            <a:endParaRPr sz="3000"/>
          </a:p>
          <a:p>
            <a:pPr marL="281940" marR="99060" indent="-269875">
              <a:lnSpc>
                <a:spcPct val="124300"/>
              </a:lnSpc>
              <a:spcBef>
                <a:spcPts val="1045"/>
              </a:spcBef>
              <a:buFont typeface="Microsoft Sans Serif"/>
              <a:buChar char="●"/>
              <a:tabLst>
                <a:tab pos="281940" algn="l"/>
              </a:tabLst>
            </a:pPr>
            <a:r>
              <a:rPr sz="3000" dirty="0"/>
              <a:t>No</a:t>
            </a:r>
            <a:r>
              <a:rPr sz="3000" spc="-75" dirty="0"/>
              <a:t> </a:t>
            </a:r>
            <a:r>
              <a:rPr sz="3000" dirty="0"/>
              <a:t>readily</a:t>
            </a:r>
            <a:r>
              <a:rPr sz="3000" spc="-50" dirty="0"/>
              <a:t> </a:t>
            </a:r>
            <a:r>
              <a:rPr sz="3000" dirty="0"/>
              <a:t>available</a:t>
            </a:r>
            <a:r>
              <a:rPr sz="3000" spc="-30" dirty="0"/>
              <a:t> </a:t>
            </a:r>
            <a:r>
              <a:rPr sz="3000" spc="-10" dirty="0"/>
              <a:t>signature </a:t>
            </a:r>
            <a:r>
              <a:rPr sz="3000" dirty="0"/>
              <a:t>for</a:t>
            </a:r>
            <a:r>
              <a:rPr sz="3000" spc="-10" dirty="0"/>
              <a:t> </a:t>
            </a:r>
            <a:r>
              <a:rPr sz="3000" dirty="0"/>
              <a:t>its</a:t>
            </a:r>
            <a:r>
              <a:rPr sz="3000" spc="-10" dirty="0"/>
              <a:t> detection</a:t>
            </a:r>
            <a:endParaRPr sz="3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60000" y="196849"/>
            <a:ext cx="1733550" cy="18859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77895" y="349377"/>
            <a:ext cx="50304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75" dirty="0"/>
              <a:t>APT</a:t>
            </a:r>
            <a:r>
              <a:rPr spc="520" dirty="0"/>
              <a:t> </a:t>
            </a:r>
            <a:r>
              <a:rPr spc="-10" dirty="0"/>
              <a:t>Cftaracteristics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36498" y="981836"/>
            <a:ext cx="9617710" cy="505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25" dirty="0">
                <a:solidFill>
                  <a:srgbClr val="6B9361"/>
                </a:solidFill>
                <a:latin typeface="Times New Roman"/>
                <a:cs typeface="Times New Roman"/>
              </a:rPr>
              <a:t>Social-</a:t>
            </a:r>
            <a:r>
              <a:rPr sz="3000" dirty="0">
                <a:solidFill>
                  <a:srgbClr val="6B9361"/>
                </a:solidFill>
                <a:latin typeface="Times New Roman"/>
                <a:cs typeface="Times New Roman"/>
              </a:rPr>
              <a:t>engineering</a:t>
            </a:r>
            <a:r>
              <a:rPr sz="3000" spc="-15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B9361"/>
                </a:solidFill>
                <a:latin typeface="Times New Roman"/>
                <a:cs typeface="Times New Roman"/>
              </a:rPr>
              <a:t>to</a:t>
            </a:r>
            <a:r>
              <a:rPr sz="3000" spc="-55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B9361"/>
                </a:solidFill>
                <a:latin typeface="Times New Roman"/>
                <a:cs typeface="Times New Roman"/>
              </a:rPr>
              <a:t>trick</a:t>
            </a:r>
            <a:r>
              <a:rPr sz="3000" spc="-30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B9361"/>
                </a:solidFill>
                <a:latin typeface="Times New Roman"/>
                <a:cs typeface="Times New Roman"/>
              </a:rPr>
              <a:t>even</a:t>
            </a:r>
            <a:r>
              <a:rPr sz="3000" spc="-40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B9361"/>
                </a:solidFill>
                <a:latin typeface="Times New Roman"/>
                <a:cs typeface="Times New Roman"/>
              </a:rPr>
              <a:t>the</a:t>
            </a:r>
            <a:r>
              <a:rPr sz="3000" spc="-50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B9361"/>
                </a:solidFill>
                <a:latin typeface="Times New Roman"/>
                <a:cs typeface="Times New Roman"/>
              </a:rPr>
              <a:t>most</a:t>
            </a:r>
            <a:r>
              <a:rPr sz="3000" spc="-30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B9361"/>
                </a:solidFill>
                <a:latin typeface="Times New Roman"/>
                <a:cs typeface="Times New Roman"/>
              </a:rPr>
              <a:t>sophisticated</a:t>
            </a:r>
            <a:r>
              <a:rPr sz="3000" spc="-10" dirty="0">
                <a:solidFill>
                  <a:srgbClr val="6B9361"/>
                </a:solidFill>
                <a:latin typeface="Times New Roman"/>
                <a:cs typeface="Times New Roman"/>
              </a:rPr>
              <a:t> users.</a:t>
            </a: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3000">
              <a:latin typeface="Times New Roman"/>
              <a:cs typeface="Times New Roman"/>
            </a:endParaRPr>
          </a:p>
          <a:p>
            <a:pPr marL="106680">
              <a:lnSpc>
                <a:spcPct val="100000"/>
              </a:lnSpc>
            </a:pPr>
            <a:r>
              <a:rPr sz="3000" spc="-10" dirty="0">
                <a:latin typeface="Times New Roman"/>
                <a:cs typeface="Times New Roman"/>
              </a:rPr>
              <a:t>Example:</a:t>
            </a: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3000">
              <a:latin typeface="Times New Roman"/>
              <a:cs typeface="Times New Roman"/>
            </a:endParaRPr>
          </a:p>
          <a:p>
            <a:pPr marL="12700" marR="5080" indent="-7620">
              <a:lnSpc>
                <a:spcPct val="100000"/>
              </a:lnSpc>
              <a:buSzPct val="96666"/>
              <a:buFont typeface="Arial MT"/>
              <a:buChar char="•"/>
              <a:tabLst>
                <a:tab pos="146685" algn="l"/>
              </a:tabLst>
            </a:pPr>
            <a:r>
              <a:rPr sz="3000" dirty="0">
                <a:latin typeface="Times New Roman"/>
                <a:cs typeface="Times New Roman"/>
              </a:rPr>
              <a:t>	First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compromise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core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internal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network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control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elements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such </a:t>
            </a:r>
            <a:r>
              <a:rPr sz="3000" dirty="0">
                <a:latin typeface="Times New Roman"/>
                <a:cs typeface="Times New Roman"/>
              </a:rPr>
              <a:t>as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routers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web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servers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learn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about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valuable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targets;</a:t>
            </a: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  <a:buFont typeface="Arial MT"/>
              <a:buChar char="•"/>
            </a:pPr>
            <a:endParaRPr sz="3000">
              <a:latin typeface="Times New Roman"/>
              <a:cs typeface="Times New Roman"/>
            </a:endParaRPr>
          </a:p>
          <a:p>
            <a:pPr marL="12700" marR="84455" indent="-7620">
              <a:lnSpc>
                <a:spcPct val="100000"/>
              </a:lnSpc>
              <a:buSzPct val="96666"/>
              <a:buFont typeface="Arial MT"/>
              <a:buChar char="•"/>
              <a:tabLst>
                <a:tab pos="146685" algn="l"/>
              </a:tabLst>
            </a:pPr>
            <a:r>
              <a:rPr sz="3000" dirty="0">
                <a:latin typeface="Times New Roman"/>
                <a:cs typeface="Times New Roman"/>
              </a:rPr>
              <a:t>	Then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play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man-in-</a:t>
            </a:r>
            <a:r>
              <a:rPr sz="3000" spc="-20" dirty="0">
                <a:latin typeface="Times New Roman"/>
                <a:cs typeface="Times New Roman"/>
              </a:rPr>
              <a:t>the-</a:t>
            </a:r>
            <a:r>
              <a:rPr sz="3000" dirty="0">
                <a:latin typeface="Times New Roman"/>
                <a:cs typeface="Times New Roman"/>
              </a:rPr>
              <a:t>middle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(MITM)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on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compromised </a:t>
            </a:r>
            <a:r>
              <a:rPr sz="3000" dirty="0">
                <a:latin typeface="Times New Roman"/>
                <a:cs typeface="Times New Roman"/>
              </a:rPr>
              <a:t>routers/server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make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social-</a:t>
            </a:r>
            <a:r>
              <a:rPr sz="3000" dirty="0">
                <a:latin typeface="Times New Roman"/>
                <a:cs typeface="Times New Roman"/>
              </a:rPr>
              <a:t>engineering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attacks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very </a:t>
            </a:r>
            <a:r>
              <a:rPr sz="3000" dirty="0">
                <a:latin typeface="Times New Roman"/>
                <a:cs typeface="Times New Roman"/>
              </a:rPr>
              <a:t>convincing,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e.g.,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forge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answers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challenge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or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inquiry </a:t>
            </a:r>
            <a:r>
              <a:rPr sz="3000" dirty="0">
                <a:latin typeface="Times New Roman"/>
                <a:cs typeface="Times New Roman"/>
              </a:rPr>
              <a:t>by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suspecting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users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60000" y="196849"/>
            <a:ext cx="1733550" cy="18859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9788" rIns="0" bIns="0" rtlCol="0">
            <a:spAutoFit/>
          </a:bodyPr>
          <a:lstStyle/>
          <a:p>
            <a:pPr marL="2181860">
              <a:lnSpc>
                <a:spcPct val="100000"/>
              </a:lnSpc>
              <a:spcBef>
                <a:spcPts val="95"/>
              </a:spcBef>
            </a:pPr>
            <a:r>
              <a:rPr spc="75" dirty="0"/>
              <a:t>APT</a:t>
            </a:r>
            <a:r>
              <a:rPr spc="520" dirty="0"/>
              <a:t> </a:t>
            </a:r>
            <a:r>
              <a:rPr spc="-10" dirty="0"/>
              <a:t>Cftaracteristics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48867" y="1193332"/>
            <a:ext cx="10716895" cy="459041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306070" marR="2345690" indent="-268605">
              <a:lnSpc>
                <a:spcPct val="120200"/>
              </a:lnSpc>
              <a:spcBef>
                <a:spcPts val="320"/>
              </a:spcBef>
              <a:buClr>
                <a:srgbClr val="000000"/>
              </a:buClr>
              <a:buFont typeface="Microsoft Sans Serif"/>
              <a:buChar char="●"/>
              <a:tabLst>
                <a:tab pos="306070" algn="l"/>
              </a:tabLst>
            </a:pPr>
            <a:r>
              <a:rPr sz="3000" dirty="0">
                <a:solidFill>
                  <a:srgbClr val="6B9361"/>
                </a:solidFill>
                <a:latin typeface="Times New Roman"/>
                <a:cs typeface="Times New Roman"/>
              </a:rPr>
              <a:t>Carry</a:t>
            </a:r>
            <a:r>
              <a:rPr sz="3000" spc="-50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B9361"/>
                </a:solidFill>
                <a:latin typeface="Times New Roman"/>
                <a:cs typeface="Times New Roman"/>
              </a:rPr>
              <a:t>out</a:t>
            </a:r>
            <a:r>
              <a:rPr sz="3000" spc="-45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B9361"/>
                </a:solidFill>
                <a:latin typeface="Times New Roman"/>
                <a:cs typeface="Times New Roman"/>
              </a:rPr>
              <a:t>its</a:t>
            </a:r>
            <a:r>
              <a:rPr sz="3000" spc="-40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B9361"/>
                </a:solidFill>
                <a:latin typeface="Times New Roman"/>
                <a:cs typeface="Times New Roman"/>
              </a:rPr>
              <a:t>intended</a:t>
            </a:r>
            <a:r>
              <a:rPr sz="3000" spc="-25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B9361"/>
                </a:solidFill>
                <a:latin typeface="Times New Roman"/>
                <a:cs typeface="Times New Roman"/>
              </a:rPr>
              <a:t>mission,</a:t>
            </a:r>
            <a:r>
              <a:rPr sz="3000" spc="-30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B9361"/>
                </a:solidFill>
                <a:latin typeface="Times New Roman"/>
                <a:cs typeface="Times New Roman"/>
              </a:rPr>
              <a:t>such</a:t>
            </a:r>
            <a:r>
              <a:rPr sz="3000" spc="-45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B9361"/>
                </a:solidFill>
                <a:latin typeface="Times New Roman"/>
                <a:cs typeface="Times New Roman"/>
              </a:rPr>
              <a:t>as</a:t>
            </a:r>
            <a:r>
              <a:rPr sz="3000" spc="-60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6B9361"/>
                </a:solidFill>
                <a:latin typeface="Times New Roman"/>
                <a:cs typeface="Times New Roman"/>
              </a:rPr>
              <a:t>data </a:t>
            </a:r>
            <a:r>
              <a:rPr sz="3000" dirty="0">
                <a:latin typeface="Times New Roman"/>
                <a:cs typeface="Times New Roman"/>
              </a:rPr>
              <a:t>tampering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exfiltration,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low-</a:t>
            </a:r>
            <a:r>
              <a:rPr sz="3000" spc="-20" dirty="0">
                <a:latin typeface="Times New Roman"/>
                <a:cs typeface="Times New Roman"/>
              </a:rPr>
              <a:t>and-slow </a:t>
            </a:r>
            <a:r>
              <a:rPr sz="3000" dirty="0">
                <a:solidFill>
                  <a:srgbClr val="6B9361"/>
                </a:solidFill>
                <a:latin typeface="Times New Roman"/>
                <a:cs typeface="Times New Roman"/>
              </a:rPr>
              <a:t>fashion</a:t>
            </a:r>
            <a:r>
              <a:rPr sz="3000" spc="-55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B9361"/>
                </a:solidFill>
                <a:latin typeface="Times New Roman"/>
                <a:cs typeface="Times New Roman"/>
              </a:rPr>
              <a:t>to</a:t>
            </a:r>
            <a:r>
              <a:rPr sz="3000" spc="-70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B9361"/>
                </a:solidFill>
                <a:latin typeface="Times New Roman"/>
                <a:cs typeface="Times New Roman"/>
              </a:rPr>
              <a:t>completely</a:t>
            </a:r>
            <a:r>
              <a:rPr sz="3000" spc="-20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B9361"/>
                </a:solidFill>
                <a:latin typeface="Times New Roman"/>
                <a:cs typeface="Times New Roman"/>
              </a:rPr>
              <a:t>blend</a:t>
            </a:r>
            <a:r>
              <a:rPr sz="3000" spc="-65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B9361"/>
                </a:solidFill>
                <a:latin typeface="Times New Roman"/>
                <a:cs typeface="Times New Roman"/>
              </a:rPr>
              <a:t>in</a:t>
            </a:r>
            <a:r>
              <a:rPr sz="3000" spc="-70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B9361"/>
                </a:solidFill>
                <a:latin typeface="Times New Roman"/>
                <a:cs typeface="Times New Roman"/>
              </a:rPr>
              <a:t>with</a:t>
            </a:r>
            <a:r>
              <a:rPr sz="3000" spc="-60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B9361"/>
                </a:solidFill>
                <a:latin typeface="Times New Roman"/>
                <a:cs typeface="Times New Roman"/>
              </a:rPr>
              <a:t>normal</a:t>
            </a:r>
            <a:r>
              <a:rPr sz="3000" spc="-50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6B9361"/>
                </a:solidFill>
                <a:latin typeface="Times New Roman"/>
                <a:cs typeface="Times New Roman"/>
              </a:rPr>
              <a:t>activities</a:t>
            </a:r>
            <a:endParaRPr sz="3000">
              <a:latin typeface="Times New Roman"/>
              <a:cs typeface="Times New Roman"/>
            </a:endParaRPr>
          </a:p>
          <a:p>
            <a:pPr marL="306070" indent="-267970">
              <a:lnSpc>
                <a:spcPct val="100000"/>
              </a:lnSpc>
              <a:spcBef>
                <a:spcPts val="495"/>
              </a:spcBef>
              <a:buClr>
                <a:srgbClr val="000000"/>
              </a:buClr>
              <a:buFont typeface="Microsoft Sans Serif"/>
              <a:buChar char="●"/>
              <a:tabLst>
                <a:tab pos="306070" algn="l"/>
              </a:tabLst>
            </a:pPr>
            <a:r>
              <a:rPr sz="3000" spc="-10" dirty="0">
                <a:solidFill>
                  <a:srgbClr val="6699FF"/>
                </a:solidFill>
                <a:latin typeface="Times New Roman"/>
                <a:cs typeface="Times New Roman"/>
              </a:rPr>
              <a:t>Example:</a:t>
            </a:r>
            <a:endParaRPr sz="3000">
              <a:latin typeface="Times New Roman"/>
              <a:cs typeface="Times New Roman"/>
            </a:endParaRPr>
          </a:p>
          <a:p>
            <a:pPr marL="278130" marR="1193800" lvl="1" indent="-7620">
              <a:lnSpc>
                <a:spcPct val="100000"/>
              </a:lnSpc>
              <a:spcBef>
                <a:spcPts val="640"/>
              </a:spcBef>
              <a:buSzPct val="96666"/>
              <a:buFont typeface="Arial MT"/>
              <a:buChar char="•"/>
              <a:tabLst>
                <a:tab pos="412115" algn="l"/>
              </a:tabLst>
            </a:pPr>
            <a:r>
              <a:rPr sz="3000" dirty="0">
                <a:latin typeface="Times New Roman"/>
                <a:cs typeface="Times New Roman"/>
              </a:rPr>
              <a:t>	Acts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only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when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targeted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user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authoring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sending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spc="-50" dirty="0">
                <a:latin typeface="Times New Roman"/>
                <a:cs typeface="Times New Roman"/>
              </a:rPr>
              <a:t>a </a:t>
            </a:r>
            <a:r>
              <a:rPr sz="3000" spc="-10" dirty="0">
                <a:latin typeface="Times New Roman"/>
                <a:cs typeface="Times New Roman"/>
              </a:rPr>
              <a:t>document</a:t>
            </a:r>
            <a:endParaRPr sz="3000">
              <a:latin typeface="Times New Roman"/>
              <a:cs typeface="Times New Roman"/>
            </a:endParaRPr>
          </a:p>
          <a:p>
            <a:pPr marL="278130" marR="30480" lvl="1" indent="-7620">
              <a:lnSpc>
                <a:spcPct val="100000"/>
              </a:lnSpc>
              <a:buSzPct val="96666"/>
              <a:buFont typeface="Arial MT"/>
              <a:buChar char="•"/>
              <a:tabLst>
                <a:tab pos="412115" algn="l"/>
              </a:tabLst>
            </a:pPr>
            <a:r>
              <a:rPr sz="3000" dirty="0">
                <a:latin typeface="Times New Roman"/>
                <a:cs typeface="Times New Roman"/>
              </a:rPr>
              <a:t>	Make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repeated,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small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incremental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change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data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accomplish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the </a:t>
            </a:r>
            <a:r>
              <a:rPr sz="3000" dirty="0">
                <a:latin typeface="Times New Roman"/>
                <a:cs typeface="Times New Roman"/>
              </a:rPr>
              <a:t>eventual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attack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goal</a:t>
            </a:r>
            <a:endParaRPr sz="3000">
              <a:latin typeface="Times New Roman"/>
              <a:cs typeface="Times New Roman"/>
            </a:endParaRPr>
          </a:p>
          <a:p>
            <a:pPr marL="411480" lvl="1" indent="-141605">
              <a:lnSpc>
                <a:spcPct val="100000"/>
              </a:lnSpc>
              <a:spcBef>
                <a:spcPts val="5"/>
              </a:spcBef>
              <a:buSzPct val="96666"/>
              <a:buFont typeface="Arial MT"/>
              <a:buChar char="•"/>
              <a:tabLst>
                <a:tab pos="411480" algn="l"/>
              </a:tabLst>
            </a:pPr>
            <a:r>
              <a:rPr sz="3000" dirty="0">
                <a:latin typeface="Times New Roman"/>
                <a:cs typeface="Times New Roman"/>
              </a:rPr>
              <a:t>Not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detectable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anomaly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by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existing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approaches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60000" y="196849"/>
            <a:ext cx="1733550" cy="18859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9788" rIns="0" bIns="0" rtlCol="0">
            <a:spAutoFit/>
          </a:bodyPr>
          <a:lstStyle/>
          <a:p>
            <a:pPr marL="2181860">
              <a:lnSpc>
                <a:spcPct val="100000"/>
              </a:lnSpc>
              <a:spcBef>
                <a:spcPts val="95"/>
              </a:spcBef>
            </a:pPr>
            <a:r>
              <a:rPr spc="75" dirty="0"/>
              <a:t>APT</a:t>
            </a:r>
            <a:r>
              <a:rPr spc="520" dirty="0"/>
              <a:t> </a:t>
            </a:r>
            <a:r>
              <a:rPr spc="-10" dirty="0"/>
              <a:t>Cftaracteristics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94944" y="1296415"/>
            <a:ext cx="9956165" cy="404939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306070" marR="3169285" indent="-268605">
              <a:lnSpc>
                <a:spcPct val="120200"/>
              </a:lnSpc>
              <a:spcBef>
                <a:spcPts val="320"/>
              </a:spcBef>
              <a:buFont typeface="Microsoft Sans Serif"/>
              <a:buChar char="●"/>
              <a:tabLst>
                <a:tab pos="306070" algn="l"/>
              </a:tabLst>
            </a:pPr>
            <a:r>
              <a:rPr sz="3000" dirty="0">
                <a:latin typeface="Times New Roman"/>
                <a:cs typeface="Times New Roman"/>
              </a:rPr>
              <a:t>APT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persistent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operation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that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involves </a:t>
            </a:r>
            <a:r>
              <a:rPr sz="3000" dirty="0">
                <a:solidFill>
                  <a:srgbClr val="6B9361"/>
                </a:solidFill>
                <a:latin typeface="Times New Roman"/>
                <a:cs typeface="Times New Roman"/>
              </a:rPr>
              <a:t>multiple</a:t>
            </a:r>
            <a:r>
              <a:rPr sz="3000" spc="-50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B9361"/>
                </a:solidFill>
                <a:latin typeface="Times New Roman"/>
                <a:cs typeface="Times New Roman"/>
              </a:rPr>
              <a:t>deliberate</a:t>
            </a:r>
            <a:r>
              <a:rPr sz="3000" spc="-50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B9361"/>
                </a:solidFill>
                <a:latin typeface="Times New Roman"/>
                <a:cs typeface="Times New Roman"/>
              </a:rPr>
              <a:t>steps</a:t>
            </a:r>
            <a:r>
              <a:rPr sz="3000" spc="-85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B9361"/>
                </a:solidFill>
                <a:latin typeface="Times New Roman"/>
                <a:cs typeface="Times New Roman"/>
              </a:rPr>
              <a:t>over</a:t>
            </a:r>
            <a:r>
              <a:rPr sz="3000" spc="-70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B9361"/>
                </a:solidFill>
                <a:latin typeface="Times New Roman"/>
                <a:cs typeface="Times New Roman"/>
              </a:rPr>
              <a:t>time,</a:t>
            </a:r>
            <a:r>
              <a:rPr sz="3000" spc="-65" dirty="0">
                <a:solidFill>
                  <a:srgbClr val="6B9361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6B9361"/>
                </a:solidFill>
                <a:latin typeface="Times New Roman"/>
                <a:cs typeface="Times New Roman"/>
              </a:rPr>
              <a:t>rather </a:t>
            </a:r>
            <a:r>
              <a:rPr sz="3000" dirty="0">
                <a:latin typeface="Times New Roman"/>
                <a:cs typeface="Times New Roman"/>
              </a:rPr>
              <a:t>than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single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attack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act</a:t>
            </a:r>
            <a:endParaRPr sz="3000">
              <a:latin typeface="Times New Roman"/>
              <a:cs typeface="Times New Roman"/>
            </a:endParaRPr>
          </a:p>
          <a:p>
            <a:pPr marL="288290" indent="-250190">
              <a:lnSpc>
                <a:spcPct val="100000"/>
              </a:lnSpc>
              <a:spcBef>
                <a:spcPts val="1520"/>
              </a:spcBef>
              <a:buClr>
                <a:srgbClr val="000000"/>
              </a:buClr>
              <a:buFont typeface="Microsoft Sans Serif"/>
              <a:buChar char="●"/>
              <a:tabLst>
                <a:tab pos="288290" algn="l"/>
              </a:tabLst>
            </a:pPr>
            <a:r>
              <a:rPr sz="3000" spc="-10" dirty="0">
                <a:solidFill>
                  <a:srgbClr val="6699FF"/>
                </a:solidFill>
                <a:latin typeface="Times New Roman"/>
                <a:cs typeface="Times New Roman"/>
              </a:rPr>
              <a:t>Example:</a:t>
            </a:r>
            <a:endParaRPr sz="3000">
              <a:latin typeface="Times New Roman"/>
              <a:cs typeface="Times New Roman"/>
            </a:endParaRPr>
          </a:p>
          <a:p>
            <a:pPr marL="360045" indent="-297180">
              <a:lnSpc>
                <a:spcPct val="100000"/>
              </a:lnSpc>
              <a:spcBef>
                <a:spcPts val="935"/>
              </a:spcBef>
              <a:buFont typeface="Microsoft Sans Serif"/>
              <a:buChar char="●"/>
              <a:tabLst>
                <a:tab pos="360045" algn="l"/>
              </a:tabLst>
            </a:pPr>
            <a:r>
              <a:rPr sz="3000" dirty="0">
                <a:latin typeface="Times New Roman"/>
                <a:cs typeface="Times New Roman"/>
              </a:rPr>
              <a:t>Employ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combination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steps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move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laterally</a:t>
            </a:r>
            <a:endParaRPr sz="3000">
              <a:latin typeface="Times New Roman"/>
              <a:cs typeface="Times New Roman"/>
            </a:endParaRPr>
          </a:p>
          <a:p>
            <a:pPr marL="360045" marR="30480">
              <a:lnSpc>
                <a:spcPct val="116700"/>
              </a:lnSpc>
              <a:spcBef>
                <a:spcPts val="425"/>
              </a:spcBef>
            </a:pPr>
            <a:r>
              <a:rPr sz="3000" dirty="0">
                <a:latin typeface="Times New Roman"/>
                <a:cs typeface="Times New Roman"/>
              </a:rPr>
              <a:t>through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network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target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only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necessary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systems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and </a:t>
            </a:r>
            <a:r>
              <a:rPr sz="3000" dirty="0">
                <a:latin typeface="Times New Roman"/>
                <a:cs typeface="Times New Roman"/>
              </a:rPr>
              <a:t>users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at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each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attack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step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0400" y="253999"/>
            <a:ext cx="11029950" cy="635634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00803" y="349377"/>
            <a:ext cx="31851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75" dirty="0"/>
              <a:t>APT</a:t>
            </a:r>
            <a:r>
              <a:rPr spc="530" dirty="0"/>
              <a:t> </a:t>
            </a:r>
            <a:r>
              <a:rPr spc="-150" dirty="0"/>
              <a:t>Example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45407" y="2322703"/>
            <a:ext cx="390334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>
                <a:solidFill>
                  <a:srgbClr val="014069"/>
                </a:solidFill>
                <a:latin typeface="Calibri"/>
                <a:cs typeface="Calibri"/>
              </a:rPr>
              <a:t>Thank</a:t>
            </a:r>
            <a:r>
              <a:rPr sz="7200" spc="-165" dirty="0">
                <a:solidFill>
                  <a:srgbClr val="014069"/>
                </a:solidFill>
                <a:latin typeface="Calibri"/>
                <a:cs typeface="Calibri"/>
              </a:rPr>
              <a:t> </a:t>
            </a:r>
            <a:r>
              <a:rPr sz="7200" spc="-25" dirty="0">
                <a:solidFill>
                  <a:srgbClr val="014069"/>
                </a:solidFill>
                <a:latin typeface="Calibri"/>
                <a:cs typeface="Calibri"/>
              </a:rPr>
              <a:t>You</a:t>
            </a:r>
            <a:endParaRPr sz="7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2800" y="533400"/>
            <a:ext cx="404279" cy="30327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0786491" y="5792787"/>
            <a:ext cx="1278890" cy="981075"/>
            <a:chOff x="10786491" y="5792787"/>
            <a:chExt cx="1278890" cy="981075"/>
          </a:xfrm>
        </p:grpSpPr>
        <p:sp>
          <p:nvSpPr>
            <p:cNvPr id="5" name="object 5"/>
            <p:cNvSpPr/>
            <p:nvPr/>
          </p:nvSpPr>
          <p:spPr>
            <a:xfrm>
              <a:off x="11383391" y="5792787"/>
              <a:ext cx="292100" cy="177800"/>
            </a:xfrm>
            <a:custGeom>
              <a:avLst/>
              <a:gdLst/>
              <a:ahLst/>
              <a:cxnLst/>
              <a:rect l="l" t="t" r="r" b="b"/>
              <a:pathLst>
                <a:path w="292100" h="177800">
                  <a:moveTo>
                    <a:pt x="292100" y="0"/>
                  </a:moveTo>
                  <a:lnTo>
                    <a:pt x="247141" y="2400"/>
                  </a:lnTo>
                  <a:lnTo>
                    <a:pt x="163702" y="21628"/>
                  </a:lnTo>
                  <a:lnTo>
                    <a:pt x="125222" y="36042"/>
                  </a:lnTo>
                  <a:lnTo>
                    <a:pt x="89915" y="55257"/>
                  </a:lnTo>
                  <a:lnTo>
                    <a:pt x="25780" y="98513"/>
                  </a:lnTo>
                  <a:lnTo>
                    <a:pt x="0" y="124942"/>
                  </a:lnTo>
                  <a:lnTo>
                    <a:pt x="122047" y="177800"/>
                  </a:lnTo>
                  <a:lnTo>
                    <a:pt x="154177" y="148971"/>
                  </a:lnTo>
                  <a:lnTo>
                    <a:pt x="173354" y="136956"/>
                  </a:lnTo>
                  <a:lnTo>
                    <a:pt x="195833" y="124942"/>
                  </a:lnTo>
                  <a:lnTo>
                    <a:pt x="240791" y="110528"/>
                  </a:lnTo>
                  <a:lnTo>
                    <a:pt x="266445" y="105714"/>
                  </a:lnTo>
                  <a:lnTo>
                    <a:pt x="292100" y="103314"/>
                  </a:lnTo>
                  <a:lnTo>
                    <a:pt x="292100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04091" y="5942012"/>
              <a:ext cx="160908" cy="254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326241" y="5942012"/>
              <a:ext cx="160908" cy="254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383391" y="6165850"/>
              <a:ext cx="292100" cy="179705"/>
            </a:xfrm>
            <a:custGeom>
              <a:avLst/>
              <a:gdLst/>
              <a:ahLst/>
              <a:cxnLst/>
              <a:rect l="l" t="t" r="r" b="b"/>
              <a:pathLst>
                <a:path w="292100" h="179704">
                  <a:moveTo>
                    <a:pt x="122047" y="0"/>
                  </a:moveTo>
                  <a:lnTo>
                    <a:pt x="0" y="53327"/>
                  </a:lnTo>
                  <a:lnTo>
                    <a:pt x="25780" y="79997"/>
                  </a:lnTo>
                  <a:lnTo>
                    <a:pt x="89915" y="123634"/>
                  </a:lnTo>
                  <a:lnTo>
                    <a:pt x="125222" y="143027"/>
                  </a:lnTo>
                  <a:lnTo>
                    <a:pt x="163702" y="157568"/>
                  </a:lnTo>
                  <a:lnTo>
                    <a:pt x="247141" y="176961"/>
                  </a:lnTo>
                  <a:lnTo>
                    <a:pt x="292100" y="179387"/>
                  </a:lnTo>
                  <a:lnTo>
                    <a:pt x="292100" y="75145"/>
                  </a:lnTo>
                  <a:lnTo>
                    <a:pt x="266445" y="72720"/>
                  </a:lnTo>
                  <a:lnTo>
                    <a:pt x="240791" y="67881"/>
                  </a:lnTo>
                  <a:lnTo>
                    <a:pt x="195833" y="53327"/>
                  </a:lnTo>
                  <a:lnTo>
                    <a:pt x="173354" y="41211"/>
                  </a:lnTo>
                  <a:lnTo>
                    <a:pt x="154177" y="29095"/>
                  </a:lnTo>
                  <a:lnTo>
                    <a:pt x="138049" y="16967"/>
                  </a:lnTo>
                  <a:lnTo>
                    <a:pt x="122047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715750" y="5792787"/>
              <a:ext cx="292100" cy="552450"/>
            </a:xfrm>
            <a:custGeom>
              <a:avLst/>
              <a:gdLst/>
              <a:ahLst/>
              <a:cxnLst/>
              <a:rect l="l" t="t" r="r" b="b"/>
              <a:pathLst>
                <a:path w="292100" h="552450">
                  <a:moveTo>
                    <a:pt x="292100" y="426389"/>
                  </a:moveTo>
                  <a:lnTo>
                    <a:pt x="170180" y="373062"/>
                  </a:lnTo>
                  <a:lnTo>
                    <a:pt x="157226" y="390029"/>
                  </a:lnTo>
                  <a:lnTo>
                    <a:pt x="118745" y="414274"/>
                  </a:lnTo>
                  <a:lnTo>
                    <a:pt x="96266" y="426389"/>
                  </a:lnTo>
                  <a:lnTo>
                    <a:pt x="51308" y="440944"/>
                  </a:lnTo>
                  <a:lnTo>
                    <a:pt x="25654" y="445782"/>
                  </a:lnTo>
                  <a:lnTo>
                    <a:pt x="0" y="448208"/>
                  </a:lnTo>
                  <a:lnTo>
                    <a:pt x="0" y="552450"/>
                  </a:lnTo>
                  <a:lnTo>
                    <a:pt x="44958" y="550024"/>
                  </a:lnTo>
                  <a:lnTo>
                    <a:pt x="128397" y="530631"/>
                  </a:lnTo>
                  <a:lnTo>
                    <a:pt x="166878" y="516089"/>
                  </a:lnTo>
                  <a:lnTo>
                    <a:pt x="202184" y="496697"/>
                  </a:lnTo>
                  <a:lnTo>
                    <a:pt x="237490" y="474878"/>
                  </a:lnTo>
                  <a:lnTo>
                    <a:pt x="266446" y="453059"/>
                  </a:lnTo>
                  <a:lnTo>
                    <a:pt x="292100" y="426389"/>
                  </a:lnTo>
                  <a:close/>
                </a:path>
                <a:path w="292100" h="552450">
                  <a:moveTo>
                    <a:pt x="292100" y="124942"/>
                  </a:moveTo>
                  <a:lnTo>
                    <a:pt x="237490" y="76885"/>
                  </a:lnTo>
                  <a:lnTo>
                    <a:pt x="202184" y="55257"/>
                  </a:lnTo>
                  <a:lnTo>
                    <a:pt x="166878" y="36042"/>
                  </a:lnTo>
                  <a:lnTo>
                    <a:pt x="128397" y="21628"/>
                  </a:lnTo>
                  <a:lnTo>
                    <a:pt x="44958" y="2400"/>
                  </a:lnTo>
                  <a:lnTo>
                    <a:pt x="0" y="0"/>
                  </a:lnTo>
                  <a:lnTo>
                    <a:pt x="0" y="103314"/>
                  </a:lnTo>
                  <a:lnTo>
                    <a:pt x="25654" y="105714"/>
                  </a:lnTo>
                  <a:lnTo>
                    <a:pt x="51308" y="110528"/>
                  </a:lnTo>
                  <a:lnTo>
                    <a:pt x="96266" y="124942"/>
                  </a:lnTo>
                  <a:lnTo>
                    <a:pt x="138049" y="148971"/>
                  </a:lnTo>
                  <a:lnTo>
                    <a:pt x="170180" y="177800"/>
                  </a:lnTo>
                  <a:lnTo>
                    <a:pt x="292100" y="124942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953750" y="6221412"/>
              <a:ext cx="330200" cy="138430"/>
            </a:xfrm>
            <a:custGeom>
              <a:avLst/>
              <a:gdLst/>
              <a:ahLst/>
              <a:cxnLst/>
              <a:rect l="l" t="t" r="r" b="b"/>
              <a:pathLst>
                <a:path w="330200" h="138429">
                  <a:moveTo>
                    <a:pt x="240410" y="0"/>
                  </a:moveTo>
                  <a:lnTo>
                    <a:pt x="198754" y="0"/>
                  </a:lnTo>
                  <a:lnTo>
                    <a:pt x="153924" y="4851"/>
                  </a:lnTo>
                  <a:lnTo>
                    <a:pt x="112268" y="14541"/>
                  </a:lnTo>
                  <a:lnTo>
                    <a:pt x="73786" y="26657"/>
                  </a:lnTo>
                  <a:lnTo>
                    <a:pt x="35305" y="43611"/>
                  </a:lnTo>
                  <a:lnTo>
                    <a:pt x="0" y="60579"/>
                  </a:lnTo>
                  <a:lnTo>
                    <a:pt x="92964" y="138112"/>
                  </a:lnTo>
                  <a:lnTo>
                    <a:pt x="137795" y="118732"/>
                  </a:lnTo>
                  <a:lnTo>
                    <a:pt x="160274" y="111455"/>
                  </a:lnTo>
                  <a:lnTo>
                    <a:pt x="185927" y="106616"/>
                  </a:lnTo>
                  <a:lnTo>
                    <a:pt x="208406" y="104190"/>
                  </a:lnTo>
                  <a:lnTo>
                    <a:pt x="234060" y="101765"/>
                  </a:lnTo>
                  <a:lnTo>
                    <a:pt x="290628" y="101765"/>
                  </a:lnTo>
                  <a:lnTo>
                    <a:pt x="330200" y="9690"/>
                  </a:lnTo>
                  <a:lnTo>
                    <a:pt x="285369" y="2425"/>
                  </a:lnTo>
                  <a:lnTo>
                    <a:pt x="240410" y="0"/>
                  </a:lnTo>
                  <a:close/>
                </a:path>
                <a:path w="330200" h="138429">
                  <a:moveTo>
                    <a:pt x="290628" y="101765"/>
                  </a:moveTo>
                  <a:lnTo>
                    <a:pt x="234060" y="101765"/>
                  </a:lnTo>
                  <a:lnTo>
                    <a:pt x="262890" y="104190"/>
                  </a:lnTo>
                  <a:lnTo>
                    <a:pt x="288544" y="106616"/>
                  </a:lnTo>
                  <a:lnTo>
                    <a:pt x="290628" y="10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355959" y="6453187"/>
              <a:ext cx="201041" cy="2413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818241" y="6300787"/>
              <a:ext cx="203200" cy="2413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830941" y="6546850"/>
              <a:ext cx="266700" cy="209550"/>
            </a:xfrm>
            <a:custGeom>
              <a:avLst/>
              <a:gdLst/>
              <a:ahLst/>
              <a:cxnLst/>
              <a:rect l="l" t="t" r="r" b="b"/>
              <a:pathLst>
                <a:path w="266700" h="209550">
                  <a:moveTo>
                    <a:pt x="135000" y="0"/>
                  </a:moveTo>
                  <a:lnTo>
                    <a:pt x="0" y="21678"/>
                  </a:lnTo>
                  <a:lnTo>
                    <a:pt x="12953" y="52984"/>
                  </a:lnTo>
                  <a:lnTo>
                    <a:pt x="32130" y="81889"/>
                  </a:lnTo>
                  <a:lnTo>
                    <a:pt x="80390" y="134886"/>
                  </a:lnTo>
                  <a:lnTo>
                    <a:pt x="144652" y="178244"/>
                  </a:lnTo>
                  <a:lnTo>
                    <a:pt x="183260" y="195098"/>
                  </a:lnTo>
                  <a:lnTo>
                    <a:pt x="224916" y="209551"/>
                  </a:lnTo>
                  <a:lnTo>
                    <a:pt x="266700" y="110794"/>
                  </a:lnTo>
                  <a:lnTo>
                    <a:pt x="221741" y="91528"/>
                  </a:lnTo>
                  <a:lnTo>
                    <a:pt x="202437" y="79489"/>
                  </a:lnTo>
                  <a:lnTo>
                    <a:pt x="183260" y="65036"/>
                  </a:lnTo>
                  <a:lnTo>
                    <a:pt x="167131" y="50584"/>
                  </a:lnTo>
                  <a:lnTo>
                    <a:pt x="154304" y="33718"/>
                  </a:lnTo>
                  <a:lnTo>
                    <a:pt x="135000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1275441" y="6238875"/>
              <a:ext cx="269240" cy="209550"/>
            </a:xfrm>
            <a:custGeom>
              <a:avLst/>
              <a:gdLst/>
              <a:ahLst/>
              <a:cxnLst/>
              <a:rect l="l" t="t" r="r" b="b"/>
              <a:pathLst>
                <a:path w="269240" h="209550">
                  <a:moveTo>
                    <a:pt x="44830" y="0"/>
                  </a:moveTo>
                  <a:lnTo>
                    <a:pt x="0" y="98755"/>
                  </a:lnTo>
                  <a:lnTo>
                    <a:pt x="25653" y="108394"/>
                  </a:lnTo>
                  <a:lnTo>
                    <a:pt x="48005" y="118021"/>
                  </a:lnTo>
                  <a:lnTo>
                    <a:pt x="86486" y="144513"/>
                  </a:lnTo>
                  <a:lnTo>
                    <a:pt x="115188" y="173418"/>
                  </a:lnTo>
                  <a:lnTo>
                    <a:pt x="124840" y="192684"/>
                  </a:lnTo>
                  <a:lnTo>
                    <a:pt x="134492" y="209550"/>
                  </a:lnTo>
                  <a:lnTo>
                    <a:pt x="268858" y="187871"/>
                  </a:lnTo>
                  <a:lnTo>
                    <a:pt x="256031" y="156565"/>
                  </a:lnTo>
                  <a:lnTo>
                    <a:pt x="236854" y="127660"/>
                  </a:lnTo>
                  <a:lnTo>
                    <a:pt x="188849" y="74663"/>
                  </a:lnTo>
                  <a:lnTo>
                    <a:pt x="156844" y="52984"/>
                  </a:lnTo>
                  <a:lnTo>
                    <a:pt x="121665" y="31318"/>
                  </a:lnTo>
                  <a:lnTo>
                    <a:pt x="86486" y="14452"/>
                  </a:lnTo>
                  <a:lnTo>
                    <a:pt x="448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091291" y="6634162"/>
              <a:ext cx="330200" cy="139700"/>
            </a:xfrm>
            <a:custGeom>
              <a:avLst/>
              <a:gdLst/>
              <a:ahLst/>
              <a:cxnLst/>
              <a:rect l="l" t="t" r="r" b="b"/>
              <a:pathLst>
                <a:path w="330200" h="139700">
                  <a:moveTo>
                    <a:pt x="41655" y="31318"/>
                  </a:moveTo>
                  <a:lnTo>
                    <a:pt x="0" y="130065"/>
                  </a:lnTo>
                  <a:lnTo>
                    <a:pt x="44957" y="137292"/>
                  </a:lnTo>
                  <a:lnTo>
                    <a:pt x="89788" y="139700"/>
                  </a:lnTo>
                  <a:lnTo>
                    <a:pt x="131444" y="139700"/>
                  </a:lnTo>
                  <a:lnTo>
                    <a:pt x="176402" y="134882"/>
                  </a:lnTo>
                  <a:lnTo>
                    <a:pt x="218058" y="125248"/>
                  </a:lnTo>
                  <a:lnTo>
                    <a:pt x="256539" y="113205"/>
                  </a:lnTo>
                  <a:lnTo>
                    <a:pt x="295020" y="96342"/>
                  </a:lnTo>
                  <a:lnTo>
                    <a:pt x="330200" y="77076"/>
                  </a:lnTo>
                  <a:lnTo>
                    <a:pt x="280815" y="36131"/>
                  </a:lnTo>
                  <a:lnTo>
                    <a:pt x="67309" y="36131"/>
                  </a:lnTo>
                  <a:lnTo>
                    <a:pt x="41655" y="31318"/>
                  </a:lnTo>
                  <a:close/>
                </a:path>
                <a:path w="330200" h="139700">
                  <a:moveTo>
                    <a:pt x="237235" y="0"/>
                  </a:moveTo>
                  <a:lnTo>
                    <a:pt x="192404" y="21678"/>
                  </a:lnTo>
                  <a:lnTo>
                    <a:pt x="144272" y="33718"/>
                  </a:lnTo>
                  <a:lnTo>
                    <a:pt x="118617" y="36131"/>
                  </a:lnTo>
                  <a:lnTo>
                    <a:pt x="280815" y="36131"/>
                  </a:lnTo>
                  <a:lnTo>
                    <a:pt x="237235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786491" y="5821362"/>
              <a:ext cx="243458" cy="39052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063859" y="5821362"/>
              <a:ext cx="243332" cy="3905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661</Words>
  <Application>Microsoft Office PowerPoint</Application>
  <PresentationFormat>Widescreen</PresentationFormat>
  <Paragraphs>111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 MT</vt:lpstr>
      <vt:lpstr>Calibri</vt:lpstr>
      <vt:lpstr>Lucida Sans Unicode</vt:lpstr>
      <vt:lpstr>Microsoft Sans Serif</vt:lpstr>
      <vt:lpstr>Times New Roman</vt:lpstr>
      <vt:lpstr>Office Theme</vt:lpstr>
      <vt:lpstr>Cyber Security &amp; Digital Forensics CSE - 4207 Lecture - 09</vt:lpstr>
      <vt:lpstr>Outline</vt:lpstr>
      <vt:lpstr>Botnet</vt:lpstr>
      <vt:lpstr>Botnet</vt:lpstr>
      <vt:lpstr>Attacks and Frauds by Botnets</vt:lpstr>
      <vt:lpstr>DDos Using Botnets</vt:lpstr>
      <vt:lpstr>Amplified Distributed Reflective Attacks</vt:lpstr>
      <vt:lpstr>Botnet Command and Control</vt:lpstr>
      <vt:lpstr>Botnet C&amp;C Problem</vt:lpstr>
      <vt:lpstr>Botnet C&amp;C- Naive Approacft</vt:lpstr>
      <vt:lpstr>Botnet C&amp;C Design</vt:lpstr>
      <vt:lpstr>Botnet C&amp;C Design</vt:lpstr>
      <vt:lpstr>Advanced Persistent Tftreat (APT)</vt:lpstr>
      <vt:lpstr>APT Lifecycle</vt:lpstr>
      <vt:lpstr>APT Cftaracteristics</vt:lpstr>
      <vt:lpstr>APT Cftaracteristics</vt:lpstr>
      <vt:lpstr>APT Cftaracteristics</vt:lpstr>
      <vt:lpstr>APT Cftaracteristics</vt:lpstr>
      <vt:lpstr>APT Example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ArchNemesis</dc:creator>
  <cp:lastModifiedBy>Home</cp:lastModifiedBy>
  <cp:revision>1</cp:revision>
  <dcterms:created xsi:type="dcterms:W3CDTF">2026-03-02T17:22:31Z</dcterms:created>
  <dcterms:modified xsi:type="dcterms:W3CDTF">2026-03-02T17:26:16Z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2023-10-29T00:00:00Z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2026-03-02T00:00:00Z</vt:filetime>
  </property>
  <property fmtid="{D5CDD505-2E9C-101B-9397-08002B2CF9AE}" pid="5" name="Producer">
    <vt:lpwstr>Microsoft® PowerPoint® 2010</vt:lpwstr>
  </property>
</Properties>
</file>