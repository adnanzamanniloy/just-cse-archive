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5" r:id="rId3"/>
    <p:sldId id="296" r:id="rId4"/>
    <p:sldId id="297" r:id="rId5"/>
    <p:sldId id="298" r:id="rId6"/>
    <p:sldId id="299" r:id="rId7"/>
    <p:sldId id="300" r:id="rId8"/>
    <p:sldId id="301" r:id="rId9"/>
    <p:sldId id="302" r:id="rId10"/>
    <p:sldId id="303" r:id="rId11"/>
    <p:sldId id="304" r:id="rId12"/>
    <p:sldId id="305" r:id="rId13"/>
    <p:sldId id="306" r:id="rId14"/>
    <p:sldId id="257" r:id="rId15"/>
    <p:sldId id="258" r:id="rId16"/>
    <p:sldId id="259" r:id="rId17"/>
    <p:sldId id="260" r:id="rId18"/>
    <p:sldId id="291" r:id="rId19"/>
    <p:sldId id="261" r:id="rId20"/>
    <p:sldId id="262" r:id="rId21"/>
    <p:sldId id="263" r:id="rId22"/>
    <p:sldId id="264" r:id="rId23"/>
    <p:sldId id="265" r:id="rId24"/>
    <p:sldId id="266" r:id="rId25"/>
    <p:sldId id="267" r:id="rId26"/>
    <p:sldId id="269" r:id="rId27"/>
    <p:sldId id="268" r:id="rId28"/>
    <p:sldId id="270" r:id="rId29"/>
    <p:sldId id="271" r:id="rId30"/>
    <p:sldId id="292" r:id="rId31"/>
    <p:sldId id="293" r:id="rId32"/>
    <p:sldId id="272" r:id="rId33"/>
    <p:sldId id="274" r:id="rId34"/>
    <p:sldId id="273" r:id="rId35"/>
    <p:sldId id="275" r:id="rId36"/>
    <p:sldId id="276" r:id="rId37"/>
    <p:sldId id="277" r:id="rId38"/>
    <p:sldId id="278" r:id="rId39"/>
    <p:sldId id="279" r:id="rId40"/>
    <p:sldId id="280" r:id="rId41"/>
    <p:sldId id="281" r:id="rId42"/>
    <p:sldId id="289" r:id="rId43"/>
    <p:sldId id="282" r:id="rId44"/>
    <p:sldId id="283" r:id="rId45"/>
    <p:sldId id="284" r:id="rId46"/>
    <p:sldId id="285" r:id="rId47"/>
    <p:sldId id="286" r:id="rId48"/>
    <p:sldId id="287" r:id="rId49"/>
    <p:sldId id="290" r:id="rId50"/>
    <p:sldId id="288"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8C535-E607-E6D0-8C69-8835130B5C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E23F63C-CB17-41FC-C578-42508EE38C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9D5D49-5BC8-3249-B697-1BA204C05CC0}"/>
              </a:ext>
            </a:extLst>
          </p:cNvPr>
          <p:cNvSpPr>
            <a:spLocks noGrp="1"/>
          </p:cNvSpPr>
          <p:nvPr>
            <p:ph type="dt" sz="half" idx="10"/>
          </p:nvPr>
        </p:nvSpPr>
        <p:spPr/>
        <p:txBody>
          <a:bodyPr/>
          <a:lstStyle/>
          <a:p>
            <a:fld id="{6D1C0D01-8AB6-4CB0-A379-6F491263B8B8}" type="datetimeFigureOut">
              <a:rPr lang="en-US" smtClean="0"/>
              <a:t>7/28/2025</a:t>
            </a:fld>
            <a:endParaRPr lang="en-US"/>
          </a:p>
        </p:txBody>
      </p:sp>
      <p:sp>
        <p:nvSpPr>
          <p:cNvPr id="5" name="Footer Placeholder 4">
            <a:extLst>
              <a:ext uri="{FF2B5EF4-FFF2-40B4-BE49-F238E27FC236}">
                <a16:creationId xmlns:a16="http://schemas.microsoft.com/office/drawing/2014/main" id="{8BED2F45-1C90-EC3B-0B04-FAC56A1B0E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E802B8-CF3E-F26A-F0E6-FB32FE70D4F4}"/>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2036050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D4C2F-C84B-4179-F065-3F9E8EF4EF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D63292-6355-50BE-EA44-F68B358C74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9E6728-15C0-85B8-5CEF-F3EC8628AF80}"/>
              </a:ext>
            </a:extLst>
          </p:cNvPr>
          <p:cNvSpPr>
            <a:spLocks noGrp="1"/>
          </p:cNvSpPr>
          <p:nvPr>
            <p:ph type="dt" sz="half" idx="10"/>
          </p:nvPr>
        </p:nvSpPr>
        <p:spPr/>
        <p:txBody>
          <a:bodyPr/>
          <a:lstStyle/>
          <a:p>
            <a:fld id="{6D1C0D01-8AB6-4CB0-A379-6F491263B8B8}" type="datetimeFigureOut">
              <a:rPr lang="en-US" smtClean="0"/>
              <a:t>7/28/2025</a:t>
            </a:fld>
            <a:endParaRPr lang="en-US"/>
          </a:p>
        </p:txBody>
      </p:sp>
      <p:sp>
        <p:nvSpPr>
          <p:cNvPr id="5" name="Footer Placeholder 4">
            <a:extLst>
              <a:ext uri="{FF2B5EF4-FFF2-40B4-BE49-F238E27FC236}">
                <a16:creationId xmlns:a16="http://schemas.microsoft.com/office/drawing/2014/main" id="{6A678A25-2417-0060-2230-CA745A224A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907D3A-78A2-FB85-9D50-76C8467120A1}"/>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3080791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7CF13-9486-8307-6EF6-99EF378FCD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003C3B-AC65-8B6C-30D0-89FFE99897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1298F6-375A-230E-8EDF-AC2CFEDB1C49}"/>
              </a:ext>
            </a:extLst>
          </p:cNvPr>
          <p:cNvSpPr>
            <a:spLocks noGrp="1"/>
          </p:cNvSpPr>
          <p:nvPr>
            <p:ph type="dt" sz="half" idx="10"/>
          </p:nvPr>
        </p:nvSpPr>
        <p:spPr/>
        <p:txBody>
          <a:bodyPr/>
          <a:lstStyle/>
          <a:p>
            <a:fld id="{6D1C0D01-8AB6-4CB0-A379-6F491263B8B8}" type="datetimeFigureOut">
              <a:rPr lang="en-US" smtClean="0"/>
              <a:t>7/28/2025</a:t>
            </a:fld>
            <a:endParaRPr lang="en-US"/>
          </a:p>
        </p:txBody>
      </p:sp>
      <p:sp>
        <p:nvSpPr>
          <p:cNvPr id="5" name="Footer Placeholder 4">
            <a:extLst>
              <a:ext uri="{FF2B5EF4-FFF2-40B4-BE49-F238E27FC236}">
                <a16:creationId xmlns:a16="http://schemas.microsoft.com/office/drawing/2014/main" id="{546A3BDB-0EA3-CD70-D798-048F6BDA48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C92F45-4401-6D64-18A3-1E73E387A7A5}"/>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692732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766BD-4981-8F27-3D69-DC2C863BA3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5264D5-AC5F-0281-8DE5-8F60ED63E8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6793E3-6935-0B20-F15D-E47EA3A3C8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9C8D9C-B4AB-ADA4-1E41-DC23FCAE5552}"/>
              </a:ext>
            </a:extLst>
          </p:cNvPr>
          <p:cNvSpPr>
            <a:spLocks noGrp="1"/>
          </p:cNvSpPr>
          <p:nvPr>
            <p:ph type="dt" sz="half" idx="10"/>
          </p:nvPr>
        </p:nvSpPr>
        <p:spPr/>
        <p:txBody>
          <a:bodyPr/>
          <a:lstStyle/>
          <a:p>
            <a:fld id="{6D1C0D01-8AB6-4CB0-A379-6F491263B8B8}" type="datetimeFigureOut">
              <a:rPr lang="en-US" smtClean="0"/>
              <a:t>7/28/2025</a:t>
            </a:fld>
            <a:endParaRPr lang="en-US"/>
          </a:p>
        </p:txBody>
      </p:sp>
      <p:sp>
        <p:nvSpPr>
          <p:cNvPr id="6" name="Footer Placeholder 5">
            <a:extLst>
              <a:ext uri="{FF2B5EF4-FFF2-40B4-BE49-F238E27FC236}">
                <a16:creationId xmlns:a16="http://schemas.microsoft.com/office/drawing/2014/main" id="{F508AF29-C107-849A-BEA8-4A0CC82863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1F802B-6E2C-5B85-DCC0-0D154CA69F36}"/>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2479794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DBCDF-9998-24B3-FC26-C23EB6B6AB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0ABE138-D72F-9A2D-30E3-D4C4DCFECE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751989-D236-7EAD-1EB6-BCD2FEEEC4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6DAD40-608D-13CB-251B-853242ADA8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D4DE28-F4F7-0602-1481-932D1CA417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2ED933-DEE0-8313-128A-E0D456E09D7F}"/>
              </a:ext>
            </a:extLst>
          </p:cNvPr>
          <p:cNvSpPr>
            <a:spLocks noGrp="1"/>
          </p:cNvSpPr>
          <p:nvPr>
            <p:ph type="dt" sz="half" idx="10"/>
          </p:nvPr>
        </p:nvSpPr>
        <p:spPr/>
        <p:txBody>
          <a:bodyPr/>
          <a:lstStyle/>
          <a:p>
            <a:fld id="{6D1C0D01-8AB6-4CB0-A379-6F491263B8B8}" type="datetimeFigureOut">
              <a:rPr lang="en-US" smtClean="0"/>
              <a:t>7/28/2025</a:t>
            </a:fld>
            <a:endParaRPr lang="en-US"/>
          </a:p>
        </p:txBody>
      </p:sp>
      <p:sp>
        <p:nvSpPr>
          <p:cNvPr id="8" name="Footer Placeholder 7">
            <a:extLst>
              <a:ext uri="{FF2B5EF4-FFF2-40B4-BE49-F238E27FC236}">
                <a16:creationId xmlns:a16="http://schemas.microsoft.com/office/drawing/2014/main" id="{86AB5240-D03C-4AD7-0A24-448786FC4A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AC523C-E29E-B11D-74D6-450E24B283BE}"/>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3609292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B377C-3AE8-D549-9A9F-55DD87F2C3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FEB6C85-8803-DD9C-F834-9A6A67A6EE12}"/>
              </a:ext>
            </a:extLst>
          </p:cNvPr>
          <p:cNvSpPr>
            <a:spLocks noGrp="1"/>
          </p:cNvSpPr>
          <p:nvPr>
            <p:ph type="dt" sz="half" idx="10"/>
          </p:nvPr>
        </p:nvSpPr>
        <p:spPr/>
        <p:txBody>
          <a:bodyPr/>
          <a:lstStyle/>
          <a:p>
            <a:fld id="{6D1C0D01-8AB6-4CB0-A379-6F491263B8B8}" type="datetimeFigureOut">
              <a:rPr lang="en-US" smtClean="0"/>
              <a:t>7/28/2025</a:t>
            </a:fld>
            <a:endParaRPr lang="en-US"/>
          </a:p>
        </p:txBody>
      </p:sp>
      <p:sp>
        <p:nvSpPr>
          <p:cNvPr id="4" name="Footer Placeholder 3">
            <a:extLst>
              <a:ext uri="{FF2B5EF4-FFF2-40B4-BE49-F238E27FC236}">
                <a16:creationId xmlns:a16="http://schemas.microsoft.com/office/drawing/2014/main" id="{2633A92C-F93C-B82C-FF68-8630A0EB0E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534F79-2670-1724-46B3-699C6A2BC675}"/>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3520008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475D03-A1D3-322D-B06E-0D124846E3ED}"/>
              </a:ext>
            </a:extLst>
          </p:cNvPr>
          <p:cNvSpPr>
            <a:spLocks noGrp="1"/>
          </p:cNvSpPr>
          <p:nvPr>
            <p:ph type="dt" sz="half" idx="10"/>
          </p:nvPr>
        </p:nvSpPr>
        <p:spPr/>
        <p:txBody>
          <a:bodyPr/>
          <a:lstStyle/>
          <a:p>
            <a:fld id="{6D1C0D01-8AB6-4CB0-A379-6F491263B8B8}" type="datetimeFigureOut">
              <a:rPr lang="en-US" smtClean="0"/>
              <a:t>7/28/2025</a:t>
            </a:fld>
            <a:endParaRPr lang="en-US"/>
          </a:p>
        </p:txBody>
      </p:sp>
      <p:sp>
        <p:nvSpPr>
          <p:cNvPr id="3" name="Footer Placeholder 2">
            <a:extLst>
              <a:ext uri="{FF2B5EF4-FFF2-40B4-BE49-F238E27FC236}">
                <a16:creationId xmlns:a16="http://schemas.microsoft.com/office/drawing/2014/main" id="{D9A354FB-9AA3-2A0F-503A-0589C7BD2BC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4677B1-8254-1B21-6F0B-377BC8A451EE}"/>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2924248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176E2-FC7A-06AA-0E89-C5384038E3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8C5314-7A83-06D5-3C86-50C7DD9797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F5D97B7-8A3E-9A3A-6E22-81B51791A4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C2C6FA-C45D-207B-1159-D113894F7056}"/>
              </a:ext>
            </a:extLst>
          </p:cNvPr>
          <p:cNvSpPr>
            <a:spLocks noGrp="1"/>
          </p:cNvSpPr>
          <p:nvPr>
            <p:ph type="dt" sz="half" idx="10"/>
          </p:nvPr>
        </p:nvSpPr>
        <p:spPr/>
        <p:txBody>
          <a:bodyPr/>
          <a:lstStyle/>
          <a:p>
            <a:fld id="{6D1C0D01-8AB6-4CB0-A379-6F491263B8B8}" type="datetimeFigureOut">
              <a:rPr lang="en-US" smtClean="0"/>
              <a:t>7/28/2025</a:t>
            </a:fld>
            <a:endParaRPr lang="en-US"/>
          </a:p>
        </p:txBody>
      </p:sp>
      <p:sp>
        <p:nvSpPr>
          <p:cNvPr id="6" name="Footer Placeholder 5">
            <a:extLst>
              <a:ext uri="{FF2B5EF4-FFF2-40B4-BE49-F238E27FC236}">
                <a16:creationId xmlns:a16="http://schemas.microsoft.com/office/drawing/2014/main" id="{DD802EA5-8C2B-2A12-4BEA-BA9F0773C9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03317F-666E-F566-BAF5-7948C7EDF83C}"/>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2882185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FAA8-E91A-DDBE-B396-372E878ADD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5F5EDC-CCFD-84A6-6412-0D7A8076ED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B17172-D01D-1DDE-F0C9-23806A8556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492BB2-EC5B-BBA4-3CBD-D3F54A4BA6D2}"/>
              </a:ext>
            </a:extLst>
          </p:cNvPr>
          <p:cNvSpPr>
            <a:spLocks noGrp="1"/>
          </p:cNvSpPr>
          <p:nvPr>
            <p:ph type="dt" sz="half" idx="10"/>
          </p:nvPr>
        </p:nvSpPr>
        <p:spPr/>
        <p:txBody>
          <a:bodyPr/>
          <a:lstStyle/>
          <a:p>
            <a:fld id="{6D1C0D01-8AB6-4CB0-A379-6F491263B8B8}" type="datetimeFigureOut">
              <a:rPr lang="en-US" smtClean="0"/>
              <a:t>7/28/2025</a:t>
            </a:fld>
            <a:endParaRPr lang="en-US"/>
          </a:p>
        </p:txBody>
      </p:sp>
      <p:sp>
        <p:nvSpPr>
          <p:cNvPr id="6" name="Footer Placeholder 5">
            <a:extLst>
              <a:ext uri="{FF2B5EF4-FFF2-40B4-BE49-F238E27FC236}">
                <a16:creationId xmlns:a16="http://schemas.microsoft.com/office/drawing/2014/main" id="{4FEA0E47-A7B5-F4C0-5EE7-6C7A5D2594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12BEC9-E273-D749-F6C5-CB5D9E1898E1}"/>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1846495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F2014-02C8-600A-1871-7A84C8BD5B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2A14D2-EA9E-E759-044C-010D38DD38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FED988-9EF3-5C81-624A-661F4C10C92A}"/>
              </a:ext>
            </a:extLst>
          </p:cNvPr>
          <p:cNvSpPr>
            <a:spLocks noGrp="1"/>
          </p:cNvSpPr>
          <p:nvPr>
            <p:ph type="dt" sz="half" idx="10"/>
          </p:nvPr>
        </p:nvSpPr>
        <p:spPr/>
        <p:txBody>
          <a:bodyPr/>
          <a:lstStyle/>
          <a:p>
            <a:fld id="{6D1C0D01-8AB6-4CB0-A379-6F491263B8B8}" type="datetimeFigureOut">
              <a:rPr lang="en-US" smtClean="0"/>
              <a:t>7/28/2025</a:t>
            </a:fld>
            <a:endParaRPr lang="en-US"/>
          </a:p>
        </p:txBody>
      </p:sp>
      <p:sp>
        <p:nvSpPr>
          <p:cNvPr id="5" name="Footer Placeholder 4">
            <a:extLst>
              <a:ext uri="{FF2B5EF4-FFF2-40B4-BE49-F238E27FC236}">
                <a16:creationId xmlns:a16="http://schemas.microsoft.com/office/drawing/2014/main" id="{D91B22B2-7314-35A6-0B1F-0C47605D22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E05929-1961-38E8-EFEE-2FDE28B3B528}"/>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4265244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B3BEAF-BADF-467D-78AF-64FE4EEDCB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85FF33-62D5-73ED-C690-BFCACE80D2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5BBFB3-E42D-1FA9-7068-2A2317CB2AF9}"/>
              </a:ext>
            </a:extLst>
          </p:cNvPr>
          <p:cNvSpPr>
            <a:spLocks noGrp="1"/>
          </p:cNvSpPr>
          <p:nvPr>
            <p:ph type="dt" sz="half" idx="10"/>
          </p:nvPr>
        </p:nvSpPr>
        <p:spPr/>
        <p:txBody>
          <a:bodyPr/>
          <a:lstStyle/>
          <a:p>
            <a:fld id="{6D1C0D01-8AB6-4CB0-A379-6F491263B8B8}" type="datetimeFigureOut">
              <a:rPr lang="en-US" smtClean="0"/>
              <a:t>7/28/2025</a:t>
            </a:fld>
            <a:endParaRPr lang="en-US"/>
          </a:p>
        </p:txBody>
      </p:sp>
      <p:sp>
        <p:nvSpPr>
          <p:cNvPr id="5" name="Footer Placeholder 4">
            <a:extLst>
              <a:ext uri="{FF2B5EF4-FFF2-40B4-BE49-F238E27FC236}">
                <a16:creationId xmlns:a16="http://schemas.microsoft.com/office/drawing/2014/main" id="{7F3AC430-8390-D2B4-C4CF-5D9073FEB4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2A06B0-35FE-5303-2825-E30729155A2D}"/>
              </a:ext>
            </a:extLst>
          </p:cNvPr>
          <p:cNvSpPr>
            <a:spLocks noGrp="1"/>
          </p:cNvSpPr>
          <p:nvPr>
            <p:ph type="sldNum" sz="quarter" idx="12"/>
          </p:nvPr>
        </p:nvSpPr>
        <p:spPr/>
        <p:txBody>
          <a:bodyPr/>
          <a:lstStyle/>
          <a:p>
            <a:fld id="{9B9B0E03-724C-4705-AB1F-41F9ED661EA4}" type="slidenum">
              <a:rPr lang="en-US" smtClean="0"/>
              <a:t>‹#›</a:t>
            </a:fld>
            <a:endParaRPr lang="en-US"/>
          </a:p>
        </p:txBody>
      </p:sp>
    </p:spTree>
    <p:extLst>
      <p:ext uri="{BB962C8B-B14F-4D97-AF65-F5344CB8AC3E}">
        <p14:creationId xmlns:p14="http://schemas.microsoft.com/office/powerpoint/2010/main" val="1506458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73992B-25C3-976B-09F9-C624829E21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F09A712-CDBE-AC6B-9115-BFE5136447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0CCE59-4B39-524F-F6B1-F977C9968D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1C0D01-8AB6-4CB0-A379-6F491263B8B8}" type="datetimeFigureOut">
              <a:rPr lang="en-US" smtClean="0"/>
              <a:t>7/28/2025</a:t>
            </a:fld>
            <a:endParaRPr lang="en-US"/>
          </a:p>
        </p:txBody>
      </p:sp>
      <p:sp>
        <p:nvSpPr>
          <p:cNvPr id="5" name="Footer Placeholder 4">
            <a:extLst>
              <a:ext uri="{FF2B5EF4-FFF2-40B4-BE49-F238E27FC236}">
                <a16:creationId xmlns:a16="http://schemas.microsoft.com/office/drawing/2014/main" id="{E12B34E3-E53C-E5A3-A2DE-61A626AAC2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62138BE-E6E1-38FA-A552-0B17D6629E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9B0E03-724C-4705-AB1F-41F9ED661EA4}" type="slidenum">
              <a:rPr lang="en-US" smtClean="0"/>
              <a:t>‹#›</a:t>
            </a:fld>
            <a:endParaRPr lang="en-US"/>
          </a:p>
        </p:txBody>
      </p:sp>
    </p:spTree>
    <p:extLst>
      <p:ext uri="{BB962C8B-B14F-4D97-AF65-F5344CB8AC3E}">
        <p14:creationId xmlns:p14="http://schemas.microsoft.com/office/powerpoint/2010/main" val="2434325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E3519-DA9B-AD95-B240-B7B1CC9398CC}"/>
              </a:ext>
            </a:extLst>
          </p:cNvPr>
          <p:cNvSpPr>
            <a:spLocks noGrp="1"/>
          </p:cNvSpPr>
          <p:nvPr>
            <p:ph type="ctrTitle"/>
          </p:nvPr>
        </p:nvSpPr>
        <p:spPr/>
        <p:txBody>
          <a:bodyPr/>
          <a:lstStyle/>
          <a:p>
            <a:r>
              <a:rPr lang="en-GB" dirty="0"/>
              <a:t>Software Engineering</a:t>
            </a:r>
            <a:endParaRPr lang="en-US" dirty="0"/>
          </a:p>
        </p:txBody>
      </p:sp>
      <p:sp>
        <p:nvSpPr>
          <p:cNvPr id="3" name="Subtitle 2">
            <a:extLst>
              <a:ext uri="{FF2B5EF4-FFF2-40B4-BE49-F238E27FC236}">
                <a16:creationId xmlns:a16="http://schemas.microsoft.com/office/drawing/2014/main" id="{B7C47331-EC97-FF73-0801-4DCA1E98E6FB}"/>
              </a:ext>
            </a:extLst>
          </p:cNvPr>
          <p:cNvSpPr>
            <a:spLocks noGrp="1"/>
          </p:cNvSpPr>
          <p:nvPr>
            <p:ph type="subTitle" idx="1"/>
          </p:nvPr>
        </p:nvSpPr>
        <p:spPr/>
        <p:txBody>
          <a:bodyPr/>
          <a:lstStyle/>
          <a:p>
            <a:r>
              <a:rPr lang="en-GB" dirty="0"/>
              <a:t>Dr. Md. Nasim Adnan</a:t>
            </a:r>
            <a:endParaRPr lang="en-US" dirty="0"/>
          </a:p>
        </p:txBody>
      </p:sp>
    </p:spTree>
    <p:extLst>
      <p:ext uri="{BB962C8B-B14F-4D97-AF65-F5344CB8AC3E}">
        <p14:creationId xmlns:p14="http://schemas.microsoft.com/office/powerpoint/2010/main" val="881096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4DAD6-78FF-493C-D794-54DA02595522}"/>
              </a:ext>
            </a:extLst>
          </p:cNvPr>
          <p:cNvSpPr>
            <a:spLocks noGrp="1"/>
          </p:cNvSpPr>
          <p:nvPr>
            <p:ph type="title"/>
          </p:nvPr>
        </p:nvSpPr>
        <p:spPr/>
        <p:txBody>
          <a:bodyPr/>
          <a:lstStyle/>
          <a:p>
            <a:r>
              <a:rPr lang="en-GB" dirty="0"/>
              <a:t>Some Software Failures: </a:t>
            </a:r>
            <a:r>
              <a:rPr lang="en-US" dirty="0"/>
              <a:t>Disney’s Lion King, 1994–1995</a:t>
            </a:r>
          </a:p>
        </p:txBody>
      </p:sp>
      <p:sp>
        <p:nvSpPr>
          <p:cNvPr id="3" name="Content Placeholder 2">
            <a:extLst>
              <a:ext uri="{FF2B5EF4-FFF2-40B4-BE49-F238E27FC236}">
                <a16:creationId xmlns:a16="http://schemas.microsoft.com/office/drawing/2014/main" id="{0A5DB34E-8504-C7AF-6DC7-78DFB99D96D3}"/>
              </a:ext>
            </a:extLst>
          </p:cNvPr>
          <p:cNvSpPr>
            <a:spLocks noGrp="1"/>
          </p:cNvSpPr>
          <p:nvPr>
            <p:ph idx="1"/>
          </p:nvPr>
        </p:nvSpPr>
        <p:spPr/>
        <p:txBody>
          <a:bodyPr>
            <a:normAutofit fontScale="92500" lnSpcReduction="10000"/>
          </a:bodyPr>
          <a:lstStyle/>
          <a:p>
            <a:pPr algn="just"/>
            <a:r>
              <a:rPr lang="en-US" dirty="0"/>
              <a:t> </a:t>
            </a:r>
            <a:r>
              <a:rPr lang="en-GB" dirty="0"/>
              <a:t>In the fall of 1994, the Disney company released its first multimedia CD-ROM game for children, The Lion King Animated Storybook.</a:t>
            </a:r>
          </a:p>
          <a:p>
            <a:pPr algn="just"/>
            <a:r>
              <a:rPr lang="en-GB" dirty="0"/>
              <a:t>Although many other companies had been marketing children’s programs for years, this was Disney’s first venture into the market and it was highly promoted and advertised. Sales were huge. It was “the game to buy” for children that holiday season.</a:t>
            </a:r>
          </a:p>
          <a:p>
            <a:pPr algn="just"/>
            <a:r>
              <a:rPr lang="en-GB" dirty="0"/>
              <a:t>What happened, however, was a huge debacle. On December 26, the day after Christmas, Disney’s customer support phones began to ring, and ring, and ring.</a:t>
            </a:r>
          </a:p>
          <a:p>
            <a:pPr algn="just"/>
            <a:r>
              <a:rPr lang="en-GB" dirty="0"/>
              <a:t>Soon the phone support technicians were swamped with calls from angry parents with crying children who couldn’t get the software to work. Numerous stories appeared in newspapers and on TV news. </a:t>
            </a:r>
            <a:endParaRPr lang="en-US" dirty="0"/>
          </a:p>
        </p:txBody>
      </p:sp>
    </p:spTree>
    <p:extLst>
      <p:ext uri="{BB962C8B-B14F-4D97-AF65-F5344CB8AC3E}">
        <p14:creationId xmlns:p14="http://schemas.microsoft.com/office/powerpoint/2010/main" val="669198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11173-B9BC-2822-F3BA-3720873139B4}"/>
              </a:ext>
            </a:extLst>
          </p:cNvPr>
          <p:cNvSpPr>
            <a:spLocks noGrp="1"/>
          </p:cNvSpPr>
          <p:nvPr>
            <p:ph type="title"/>
          </p:nvPr>
        </p:nvSpPr>
        <p:spPr/>
        <p:txBody>
          <a:bodyPr/>
          <a:lstStyle/>
          <a:p>
            <a:r>
              <a:rPr lang="en-US" dirty="0"/>
              <a:t>NASA Mars Polar Lander, 1999</a:t>
            </a:r>
          </a:p>
        </p:txBody>
      </p:sp>
      <p:sp>
        <p:nvSpPr>
          <p:cNvPr id="3" name="Content Placeholder 2">
            <a:extLst>
              <a:ext uri="{FF2B5EF4-FFF2-40B4-BE49-F238E27FC236}">
                <a16:creationId xmlns:a16="http://schemas.microsoft.com/office/drawing/2014/main" id="{C93A057B-8E14-8EF6-AEEC-642FA135BEAF}"/>
              </a:ext>
            </a:extLst>
          </p:cNvPr>
          <p:cNvSpPr>
            <a:spLocks noGrp="1"/>
          </p:cNvSpPr>
          <p:nvPr>
            <p:ph idx="1"/>
          </p:nvPr>
        </p:nvSpPr>
        <p:spPr/>
        <p:txBody>
          <a:bodyPr>
            <a:normAutofit fontScale="92500" lnSpcReduction="10000"/>
          </a:bodyPr>
          <a:lstStyle/>
          <a:p>
            <a:pPr algn="just"/>
            <a:r>
              <a:rPr lang="en-GB" dirty="0"/>
              <a:t>On December 3, 1999, NASA’s Mars Polar Lander disappeared during its landing attempt on the Martian surface. A Failure Review Board investigated the failure and determined that the most likely reason for the malfunction was the unexpected setting of a single data bit. </a:t>
            </a:r>
          </a:p>
          <a:p>
            <a:pPr algn="just"/>
            <a:r>
              <a:rPr lang="en-GB" dirty="0"/>
              <a:t>Most alarming was why the problem wasn’t caught by internal tests. In theory, the plan for landing was this: As the lander fell to the surface, it was to deploy a parachute to slow its descent.</a:t>
            </a:r>
          </a:p>
          <a:p>
            <a:pPr algn="just"/>
            <a:r>
              <a:rPr lang="en-GB" dirty="0"/>
              <a:t>A few seconds after the chute deployed, the probe’s three legs were to snap open and latch into position for landing. When the probe was about 1,800 meters from the surface, it was to release the parachute and ignite its landing thrusters to gently lower it the remaining distance to the ground.</a:t>
            </a:r>
            <a:endParaRPr lang="en-US" dirty="0"/>
          </a:p>
        </p:txBody>
      </p:sp>
    </p:spTree>
    <p:extLst>
      <p:ext uri="{BB962C8B-B14F-4D97-AF65-F5344CB8AC3E}">
        <p14:creationId xmlns:p14="http://schemas.microsoft.com/office/powerpoint/2010/main" val="3859171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8FABD-D049-B1BD-08E6-78196AA04323}"/>
              </a:ext>
            </a:extLst>
          </p:cNvPr>
          <p:cNvSpPr>
            <a:spLocks noGrp="1"/>
          </p:cNvSpPr>
          <p:nvPr>
            <p:ph type="title"/>
          </p:nvPr>
        </p:nvSpPr>
        <p:spPr/>
        <p:txBody>
          <a:bodyPr/>
          <a:lstStyle/>
          <a:p>
            <a:r>
              <a:rPr lang="en-US" dirty="0"/>
              <a:t>NASA Mars Polar Lander, 1999</a:t>
            </a:r>
          </a:p>
        </p:txBody>
      </p:sp>
      <p:sp>
        <p:nvSpPr>
          <p:cNvPr id="3" name="Content Placeholder 2">
            <a:extLst>
              <a:ext uri="{FF2B5EF4-FFF2-40B4-BE49-F238E27FC236}">
                <a16:creationId xmlns:a16="http://schemas.microsoft.com/office/drawing/2014/main" id="{3D6C1830-7E50-68BD-951E-7985ED8AF1C6}"/>
              </a:ext>
            </a:extLst>
          </p:cNvPr>
          <p:cNvSpPr>
            <a:spLocks noGrp="1"/>
          </p:cNvSpPr>
          <p:nvPr>
            <p:ph idx="1"/>
          </p:nvPr>
        </p:nvSpPr>
        <p:spPr/>
        <p:txBody>
          <a:bodyPr/>
          <a:lstStyle/>
          <a:p>
            <a:pPr algn="just"/>
            <a:r>
              <a:rPr lang="en-GB" dirty="0"/>
              <a:t>Unfortunately, the Failure Review Board discovered in their tests that in most cases when the legs snapped open for landing, a mechanical vibration also tripped the touch-down switch, set ting the fatal bit. It’s very probable that, thinking it had landed, the computer turned off the thrusters and the Mars Polar Lander smashed to pieces after falling 1,800 meters to the surface.</a:t>
            </a:r>
            <a:endParaRPr lang="en-US" dirty="0"/>
          </a:p>
        </p:txBody>
      </p:sp>
    </p:spTree>
    <p:extLst>
      <p:ext uri="{BB962C8B-B14F-4D97-AF65-F5344CB8AC3E}">
        <p14:creationId xmlns:p14="http://schemas.microsoft.com/office/powerpoint/2010/main" val="13331587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2310C-C360-187C-0244-8BBE9E165EE6}"/>
              </a:ext>
            </a:extLst>
          </p:cNvPr>
          <p:cNvSpPr>
            <a:spLocks noGrp="1"/>
          </p:cNvSpPr>
          <p:nvPr>
            <p:ph type="title"/>
          </p:nvPr>
        </p:nvSpPr>
        <p:spPr/>
        <p:txBody>
          <a:bodyPr/>
          <a:lstStyle/>
          <a:p>
            <a:r>
              <a:rPr lang="en-US" dirty="0"/>
              <a:t>The USA Star-Wars Program</a:t>
            </a:r>
          </a:p>
        </p:txBody>
      </p:sp>
      <p:sp>
        <p:nvSpPr>
          <p:cNvPr id="3" name="Content Placeholder 2">
            <a:extLst>
              <a:ext uri="{FF2B5EF4-FFF2-40B4-BE49-F238E27FC236}">
                <a16:creationId xmlns:a16="http://schemas.microsoft.com/office/drawing/2014/main" id="{90D2C52E-31E4-51F2-1961-8B0694B1BE32}"/>
              </a:ext>
            </a:extLst>
          </p:cNvPr>
          <p:cNvSpPr>
            <a:spLocks noGrp="1"/>
          </p:cNvSpPr>
          <p:nvPr>
            <p:ph idx="1"/>
          </p:nvPr>
        </p:nvSpPr>
        <p:spPr/>
        <p:txBody>
          <a:bodyPr>
            <a:normAutofit fontScale="92500" lnSpcReduction="10000"/>
          </a:bodyPr>
          <a:lstStyle/>
          <a:p>
            <a:pPr algn="just"/>
            <a:r>
              <a:rPr lang="en-GB" dirty="0"/>
              <a:t>‘Patriot missile’ was the result of the USA ‘Star Wars’ program. This missile was used for the first time in the Gulf war against the Scud missile of Iraq. Surprisingly, ‘Patriot missiles’ failed many times to hit the targeted Scud missile. One of the failures killed 28 American soldiers in Dhahran, Saudi Arabia.</a:t>
            </a:r>
          </a:p>
          <a:p>
            <a:pPr algn="just"/>
            <a:r>
              <a:rPr lang="en-GB" dirty="0"/>
              <a:t>An investigation team was constituted to identify the cause of failure. The team re-looked at every dimension of the product and found the reason for the failure. The cause of the failure was a software fault. There was a slight timing error in the system’s clock after 14 hours of its operation.</a:t>
            </a:r>
          </a:p>
          <a:p>
            <a:pPr algn="just"/>
            <a:r>
              <a:rPr lang="en-GB" dirty="0"/>
              <a:t>Hence, the tracking system was not accurate after 14 hours of operations and at the time of the Dhahran attack, the system had already operated for more than 100 hours.</a:t>
            </a:r>
            <a:endParaRPr lang="en-US" dirty="0"/>
          </a:p>
        </p:txBody>
      </p:sp>
    </p:spTree>
    <p:extLst>
      <p:ext uri="{BB962C8B-B14F-4D97-AF65-F5344CB8AC3E}">
        <p14:creationId xmlns:p14="http://schemas.microsoft.com/office/powerpoint/2010/main" val="3724889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C6198-4BCD-B41A-1B18-C9B86679C43A}"/>
              </a:ext>
            </a:extLst>
          </p:cNvPr>
          <p:cNvSpPr>
            <a:spLocks noGrp="1"/>
          </p:cNvSpPr>
          <p:nvPr>
            <p:ph type="title"/>
          </p:nvPr>
        </p:nvSpPr>
        <p:spPr/>
        <p:txBody>
          <a:bodyPr/>
          <a:lstStyle/>
          <a:p>
            <a:r>
              <a:rPr lang="en-GB" dirty="0"/>
              <a:t>The Y2K (Year 2000) Bug, circa 1974</a:t>
            </a:r>
            <a:endParaRPr lang="en-US" dirty="0"/>
          </a:p>
        </p:txBody>
      </p:sp>
      <p:sp>
        <p:nvSpPr>
          <p:cNvPr id="3" name="Content Placeholder 2">
            <a:extLst>
              <a:ext uri="{FF2B5EF4-FFF2-40B4-BE49-F238E27FC236}">
                <a16:creationId xmlns:a16="http://schemas.microsoft.com/office/drawing/2014/main" id="{5DA1802C-2076-ECCC-5216-3FB3CD9ECBC9}"/>
              </a:ext>
            </a:extLst>
          </p:cNvPr>
          <p:cNvSpPr>
            <a:spLocks noGrp="1"/>
          </p:cNvSpPr>
          <p:nvPr>
            <p:ph idx="1"/>
          </p:nvPr>
        </p:nvSpPr>
        <p:spPr/>
        <p:txBody>
          <a:bodyPr>
            <a:normAutofit lnSpcReduction="10000"/>
          </a:bodyPr>
          <a:lstStyle/>
          <a:p>
            <a:pPr algn="just"/>
            <a:r>
              <a:rPr lang="en-GB" dirty="0"/>
              <a:t>Sometime in the early 1970s a computer programmer—let’s suppose his name was Dave—was working on a payroll system for his company. The computer he was using had very little mem </a:t>
            </a:r>
            <a:r>
              <a:rPr lang="en-GB" dirty="0" err="1"/>
              <a:t>ory</a:t>
            </a:r>
            <a:r>
              <a:rPr lang="en-GB" dirty="0"/>
              <a:t> for storage, forcing him to conserve every last byte he could. Dave was proud that he could pack his programs more tightly than any of his peers.</a:t>
            </a:r>
          </a:p>
          <a:p>
            <a:pPr algn="just"/>
            <a:r>
              <a:rPr lang="en-GB" dirty="0"/>
              <a:t>One method he used was to shorten dates from their 4-digit format, such as 1973, to a 2-digit format, such as 73. Because his payroll program relied heavily on date processing, Dave could save lots of expensive memory space. He briefly considered the problems that might occur when the current year hit 2000 and his program began doing computations on years such as 00 and 01. </a:t>
            </a:r>
            <a:endParaRPr lang="en-US" dirty="0"/>
          </a:p>
        </p:txBody>
      </p:sp>
    </p:spTree>
    <p:extLst>
      <p:ext uri="{BB962C8B-B14F-4D97-AF65-F5344CB8AC3E}">
        <p14:creationId xmlns:p14="http://schemas.microsoft.com/office/powerpoint/2010/main" val="1759612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BFE03-060E-EEA7-94E4-C3015B636259}"/>
              </a:ext>
            </a:extLst>
          </p:cNvPr>
          <p:cNvSpPr>
            <a:spLocks noGrp="1"/>
          </p:cNvSpPr>
          <p:nvPr>
            <p:ph type="title"/>
          </p:nvPr>
        </p:nvSpPr>
        <p:spPr/>
        <p:txBody>
          <a:bodyPr/>
          <a:lstStyle/>
          <a:p>
            <a:r>
              <a:rPr lang="en-GB" dirty="0"/>
              <a:t>The Y2K (Year 2000) Bug, circa 1974</a:t>
            </a:r>
            <a:endParaRPr lang="en-US" dirty="0"/>
          </a:p>
        </p:txBody>
      </p:sp>
      <p:sp>
        <p:nvSpPr>
          <p:cNvPr id="3" name="Content Placeholder 2">
            <a:extLst>
              <a:ext uri="{FF2B5EF4-FFF2-40B4-BE49-F238E27FC236}">
                <a16:creationId xmlns:a16="http://schemas.microsoft.com/office/drawing/2014/main" id="{381F966E-1A40-E6C6-C7B9-12F587900C3C}"/>
              </a:ext>
            </a:extLst>
          </p:cNvPr>
          <p:cNvSpPr>
            <a:spLocks noGrp="1"/>
          </p:cNvSpPr>
          <p:nvPr>
            <p:ph idx="1"/>
          </p:nvPr>
        </p:nvSpPr>
        <p:spPr/>
        <p:txBody>
          <a:bodyPr/>
          <a:lstStyle/>
          <a:p>
            <a:pPr algn="just"/>
            <a:r>
              <a:rPr lang="en-GB" dirty="0"/>
              <a:t>He knew there would be problems but decided that his program would surely be replaced or updated in 25 years and his immediate tasks were more important than planning for something that far out in time. After all, he had a deadline to meet. In 1995, Dave’s program was still being used, Dave was retired, and no one knew how to get into the program to check if it was Y2K compliant, let alone how to fix it. It’s estimated that several hundred billion dollars were spent, worldwide, to replace or update computer programs such as Dave’s, to fix potential Year 2000 failures.</a:t>
            </a:r>
            <a:endParaRPr lang="en-US" dirty="0"/>
          </a:p>
        </p:txBody>
      </p:sp>
    </p:spTree>
    <p:extLst>
      <p:ext uri="{BB962C8B-B14F-4D97-AF65-F5344CB8AC3E}">
        <p14:creationId xmlns:p14="http://schemas.microsoft.com/office/powerpoint/2010/main" val="2684221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654F-56BD-540D-E53C-005D7C937949}"/>
              </a:ext>
            </a:extLst>
          </p:cNvPr>
          <p:cNvSpPr>
            <a:spLocks noGrp="1"/>
          </p:cNvSpPr>
          <p:nvPr>
            <p:ph type="title"/>
          </p:nvPr>
        </p:nvSpPr>
        <p:spPr/>
        <p:txBody>
          <a:bodyPr/>
          <a:lstStyle/>
          <a:p>
            <a:r>
              <a:rPr lang="en-GB" dirty="0"/>
              <a:t>Intel Pentium Floating-Point Division Bug, 1994</a:t>
            </a:r>
            <a:endParaRPr lang="en-US" dirty="0"/>
          </a:p>
        </p:txBody>
      </p:sp>
      <p:sp>
        <p:nvSpPr>
          <p:cNvPr id="3" name="Content Placeholder 2">
            <a:extLst>
              <a:ext uri="{FF2B5EF4-FFF2-40B4-BE49-F238E27FC236}">
                <a16:creationId xmlns:a16="http://schemas.microsoft.com/office/drawing/2014/main" id="{B6508C03-B90D-2F0B-5481-BB30C60B310D}"/>
              </a:ext>
            </a:extLst>
          </p:cNvPr>
          <p:cNvSpPr>
            <a:spLocks noGrp="1"/>
          </p:cNvSpPr>
          <p:nvPr>
            <p:ph idx="1"/>
          </p:nvPr>
        </p:nvSpPr>
        <p:spPr/>
        <p:txBody>
          <a:bodyPr/>
          <a:lstStyle/>
          <a:p>
            <a:pPr algn="just"/>
            <a:r>
              <a:rPr lang="en-GB" dirty="0"/>
              <a:t>Enter the following equation into your PC’s calculator: (4195835 / 3145727) * 3145727 – 4195835</a:t>
            </a:r>
          </a:p>
          <a:p>
            <a:pPr algn="just"/>
            <a:r>
              <a:rPr lang="en-GB" dirty="0"/>
              <a:t>If the answer is zero, your computer is just fine. If you get anything else, you have an old Intel Pentium CPU with a floating-point division bug—a software bug burned into a computer chip and reproduced over and over in the manufacturing process.</a:t>
            </a:r>
          </a:p>
          <a:p>
            <a:pPr algn="just"/>
            <a:r>
              <a:rPr lang="en-GB" dirty="0"/>
              <a:t>On October 30, 1994, Dr. Thomas R. Nicely of Lynchburg (Virginia) College traced an unexpected result from one of his experiments to an incorrect answer by a division problem solved on his Pentium PC.</a:t>
            </a:r>
            <a:endParaRPr lang="en-US" dirty="0"/>
          </a:p>
        </p:txBody>
      </p:sp>
    </p:spTree>
    <p:extLst>
      <p:ext uri="{BB962C8B-B14F-4D97-AF65-F5344CB8AC3E}">
        <p14:creationId xmlns:p14="http://schemas.microsoft.com/office/powerpoint/2010/main" val="1397534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AC5DD-6ED3-6539-8620-B3333E8E0A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61E12D6-4C91-8429-2C95-3B34824DF393}"/>
              </a:ext>
            </a:extLst>
          </p:cNvPr>
          <p:cNvSpPr>
            <a:spLocks noGrp="1"/>
          </p:cNvSpPr>
          <p:nvPr>
            <p:ph idx="1"/>
          </p:nvPr>
        </p:nvSpPr>
        <p:spPr/>
        <p:txBody>
          <a:bodyPr/>
          <a:lstStyle/>
          <a:p>
            <a:pPr algn="just"/>
            <a:r>
              <a:rPr lang="en-GB" dirty="0"/>
              <a:t>He posted his find on the Internet and soon afterward a firestorm erupted as numerous other people duplicated his problem and found additional situations that resulted in wrong answers.</a:t>
            </a:r>
          </a:p>
          <a:p>
            <a:pPr algn="just"/>
            <a:r>
              <a:rPr lang="en-GB" dirty="0"/>
              <a:t>Fortunately, these cases were rare and resulted in wrong answers only for extremely math-intensive, scientific, and engineering calculations. Most people would never encounter them doing their taxes or running their businesses.</a:t>
            </a:r>
            <a:endParaRPr lang="en-US" dirty="0"/>
          </a:p>
        </p:txBody>
      </p:sp>
    </p:spTree>
    <p:extLst>
      <p:ext uri="{BB962C8B-B14F-4D97-AF65-F5344CB8AC3E}">
        <p14:creationId xmlns:p14="http://schemas.microsoft.com/office/powerpoint/2010/main" val="2553473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E32F4-4B80-C381-41C3-4361855CE4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7B5598-A5F2-A3A6-D11C-9AF3C0679BC5}"/>
              </a:ext>
            </a:extLst>
          </p:cNvPr>
          <p:cNvSpPr>
            <a:spLocks noGrp="1"/>
          </p:cNvSpPr>
          <p:nvPr>
            <p:ph idx="1"/>
          </p:nvPr>
        </p:nvSpPr>
        <p:spPr/>
        <p:txBody>
          <a:bodyPr/>
          <a:lstStyle/>
          <a:p>
            <a:r>
              <a:rPr lang="en-GB" dirty="0"/>
              <a:t>What makes this story notable isn’t the bug, but the way Intel handled the situation:</a:t>
            </a:r>
          </a:p>
          <a:p>
            <a:pPr lvl="1"/>
            <a:r>
              <a:rPr lang="en-GB" dirty="0"/>
              <a:t>Their software test engineers had found the problem while performing their own tests before the chip was released. Intel’s management decided that the problem wasn’t severe enough or likely enough to warrant fixing it, or even publicizing it.</a:t>
            </a:r>
          </a:p>
          <a:p>
            <a:pPr lvl="1"/>
            <a:r>
              <a:rPr lang="en-GB" dirty="0"/>
              <a:t>Once the bug was found, Intel attempted to diminish its perceived severity through press releases and public statements.</a:t>
            </a:r>
          </a:p>
          <a:p>
            <a:pPr lvl="1"/>
            <a:r>
              <a:rPr lang="en-GB" dirty="0"/>
              <a:t>When pressured, Intel offered to replace the faulty chips, but only if a user could prove that he was affected by the bug</a:t>
            </a:r>
            <a:endParaRPr lang="en-US" dirty="0"/>
          </a:p>
        </p:txBody>
      </p:sp>
    </p:spTree>
    <p:extLst>
      <p:ext uri="{BB962C8B-B14F-4D97-AF65-F5344CB8AC3E}">
        <p14:creationId xmlns:p14="http://schemas.microsoft.com/office/powerpoint/2010/main" val="1984520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3D653-EF79-9C4F-2854-9AA56D39505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4F03A97-83E7-FE27-1E08-07B321F32518}"/>
              </a:ext>
            </a:extLst>
          </p:cNvPr>
          <p:cNvSpPr>
            <a:spLocks noGrp="1"/>
          </p:cNvSpPr>
          <p:nvPr>
            <p:ph idx="1"/>
          </p:nvPr>
        </p:nvSpPr>
        <p:spPr/>
        <p:txBody>
          <a:bodyPr/>
          <a:lstStyle/>
          <a:p>
            <a:pPr algn="just"/>
            <a:r>
              <a:rPr lang="en-GB" dirty="0"/>
              <a:t>There was a public outcry. Internet newsgroups were jammed with irate customers demanding that Intel fix the problem. News stories painted the company as uncaring and incredulous.</a:t>
            </a:r>
          </a:p>
          <a:p>
            <a:pPr algn="just"/>
            <a:r>
              <a:rPr lang="en-GB" dirty="0"/>
              <a:t>In the end, Intel apologized for the way it handled the bug and took a charge of over $400 million to cover the costs of replacing bad chips. Intel now reports known problems on its Web site and carefully monitors customer feedback on Internet newsgroups</a:t>
            </a:r>
            <a:endParaRPr lang="en-US" dirty="0"/>
          </a:p>
        </p:txBody>
      </p:sp>
    </p:spTree>
    <p:extLst>
      <p:ext uri="{BB962C8B-B14F-4D97-AF65-F5344CB8AC3E}">
        <p14:creationId xmlns:p14="http://schemas.microsoft.com/office/powerpoint/2010/main" val="1463598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D9CE3-2E5E-A56D-FA9C-0161339F6255}"/>
              </a:ext>
            </a:extLst>
          </p:cNvPr>
          <p:cNvSpPr>
            <a:spLocks noGrp="1"/>
          </p:cNvSpPr>
          <p:nvPr>
            <p:ph type="title"/>
          </p:nvPr>
        </p:nvSpPr>
        <p:spPr/>
        <p:txBody>
          <a:bodyPr/>
          <a:lstStyle/>
          <a:p>
            <a:r>
              <a:rPr lang="en-GB" dirty="0"/>
              <a:t>The Explosion of the Ariane 5 Rocket</a:t>
            </a:r>
            <a:endParaRPr lang="en-US" dirty="0"/>
          </a:p>
        </p:txBody>
      </p:sp>
      <p:sp>
        <p:nvSpPr>
          <p:cNvPr id="3" name="Content Placeholder 2">
            <a:extLst>
              <a:ext uri="{FF2B5EF4-FFF2-40B4-BE49-F238E27FC236}">
                <a16:creationId xmlns:a16="http://schemas.microsoft.com/office/drawing/2014/main" id="{848C5BDE-5C9E-2873-22F2-1962E108B8BD}"/>
              </a:ext>
            </a:extLst>
          </p:cNvPr>
          <p:cNvSpPr>
            <a:spLocks noGrp="1"/>
          </p:cNvSpPr>
          <p:nvPr>
            <p:ph idx="1"/>
          </p:nvPr>
        </p:nvSpPr>
        <p:spPr/>
        <p:txBody>
          <a:bodyPr/>
          <a:lstStyle/>
          <a:p>
            <a:pPr algn="just"/>
            <a:r>
              <a:rPr lang="en-GB" dirty="0"/>
              <a:t>The Ariane 5 rocket was designed by European Space Agency and it was launched on June 4, 1996. It was an unmanned rocket and unfortunately exploded only after 40 seconds of its take off from Kourou, French Guiana. The design and development took ten long years with a cost of $7 billion.</a:t>
            </a:r>
          </a:p>
          <a:p>
            <a:pPr algn="just"/>
            <a:r>
              <a:rPr lang="en-GB" dirty="0"/>
              <a:t>An enquiry board was constituted to find the reasons of the explosion. The board identified the cause and mentioned in its report that : “The failure of the Ariane 5 was caused by the complete loss of guidance and altitude information, 37 seconds after start of the main engine ignition sequence (30 seconds after lift-off).</a:t>
            </a:r>
            <a:endParaRPr lang="en-US" dirty="0"/>
          </a:p>
        </p:txBody>
      </p:sp>
    </p:spTree>
    <p:extLst>
      <p:ext uri="{BB962C8B-B14F-4D97-AF65-F5344CB8AC3E}">
        <p14:creationId xmlns:p14="http://schemas.microsoft.com/office/powerpoint/2010/main" val="951795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BACD3-0E11-A994-222F-17FFB65394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4F200E1-BA52-E735-E49C-4520130CADA7}"/>
              </a:ext>
            </a:extLst>
          </p:cNvPr>
          <p:cNvSpPr>
            <a:spLocks noGrp="1"/>
          </p:cNvSpPr>
          <p:nvPr>
            <p:ph idx="1"/>
          </p:nvPr>
        </p:nvSpPr>
        <p:spPr/>
        <p:txBody>
          <a:bodyPr/>
          <a:lstStyle/>
          <a:p>
            <a:pPr algn="just"/>
            <a:r>
              <a:rPr lang="en-GB" dirty="0"/>
              <a:t>Unfortunately, the navigation system of Ariane 4 was used in Ariane 5 without proper testing and analysis. The Ariane 5 was a high speed rocket with higher value of an internal alignment function, known as horizontal bias.</a:t>
            </a:r>
          </a:p>
          <a:p>
            <a:pPr algn="just"/>
            <a:r>
              <a:rPr lang="en-GB" dirty="0"/>
              <a:t>This value is for the calculation of horizontal velocity. On the day of the explosion, this value was more than expectations due to different trajectory of this rocket as compared to the Ariane 4.</a:t>
            </a:r>
            <a:endParaRPr lang="en-US" dirty="0"/>
          </a:p>
        </p:txBody>
      </p:sp>
    </p:spTree>
    <p:extLst>
      <p:ext uri="{BB962C8B-B14F-4D97-AF65-F5344CB8AC3E}">
        <p14:creationId xmlns:p14="http://schemas.microsoft.com/office/powerpoint/2010/main" val="2802321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BD0C0-DE47-B0BB-A779-3B805BB28679}"/>
              </a:ext>
            </a:extLst>
          </p:cNvPr>
          <p:cNvSpPr>
            <a:spLocks noGrp="1"/>
          </p:cNvSpPr>
          <p:nvPr>
            <p:ph type="title"/>
          </p:nvPr>
        </p:nvSpPr>
        <p:spPr/>
        <p:txBody>
          <a:bodyPr/>
          <a:lstStyle/>
          <a:p>
            <a:r>
              <a:rPr lang="en-US" dirty="0"/>
              <a:t>Software Testing</a:t>
            </a:r>
          </a:p>
        </p:txBody>
      </p:sp>
      <p:sp>
        <p:nvSpPr>
          <p:cNvPr id="3" name="Content Placeholder 2">
            <a:extLst>
              <a:ext uri="{FF2B5EF4-FFF2-40B4-BE49-F238E27FC236}">
                <a16:creationId xmlns:a16="http://schemas.microsoft.com/office/drawing/2014/main" id="{0B28F109-D46D-41E0-2CB7-5B6BF7E6FCCF}"/>
              </a:ext>
            </a:extLst>
          </p:cNvPr>
          <p:cNvSpPr>
            <a:spLocks noGrp="1"/>
          </p:cNvSpPr>
          <p:nvPr>
            <p:ph idx="1"/>
          </p:nvPr>
        </p:nvSpPr>
        <p:spPr/>
        <p:txBody>
          <a:bodyPr/>
          <a:lstStyle/>
          <a:p>
            <a:pPr algn="just"/>
            <a:r>
              <a:rPr lang="en-US" dirty="0"/>
              <a:t>Testing is a set of activities that can be planned in advance and conducted systematically.</a:t>
            </a:r>
          </a:p>
          <a:p>
            <a:pPr algn="just"/>
            <a:r>
              <a:rPr lang="en-US" dirty="0"/>
              <a:t>Who knows the software better than its developer?</a:t>
            </a:r>
          </a:p>
        </p:txBody>
      </p:sp>
    </p:spTree>
    <p:extLst>
      <p:ext uri="{BB962C8B-B14F-4D97-AF65-F5344CB8AC3E}">
        <p14:creationId xmlns:p14="http://schemas.microsoft.com/office/powerpoint/2010/main" val="330708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5C794-A270-B8A7-8983-F9F8FB2C65F3}"/>
              </a:ext>
            </a:extLst>
          </p:cNvPr>
          <p:cNvSpPr>
            <a:spLocks noGrp="1"/>
          </p:cNvSpPr>
          <p:nvPr>
            <p:ph type="title"/>
          </p:nvPr>
        </p:nvSpPr>
        <p:spPr/>
        <p:txBody>
          <a:bodyPr/>
          <a:lstStyle/>
          <a:p>
            <a:r>
              <a:rPr lang="en-US" dirty="0"/>
              <a:t>Organizing for Software Testing</a:t>
            </a:r>
          </a:p>
        </p:txBody>
      </p:sp>
      <p:sp>
        <p:nvSpPr>
          <p:cNvPr id="3" name="Content Placeholder 2">
            <a:extLst>
              <a:ext uri="{FF2B5EF4-FFF2-40B4-BE49-F238E27FC236}">
                <a16:creationId xmlns:a16="http://schemas.microsoft.com/office/drawing/2014/main" id="{45882323-2A19-322A-A380-BBC5D2E48983}"/>
              </a:ext>
            </a:extLst>
          </p:cNvPr>
          <p:cNvSpPr>
            <a:spLocks noGrp="1"/>
          </p:cNvSpPr>
          <p:nvPr>
            <p:ph idx="1"/>
          </p:nvPr>
        </p:nvSpPr>
        <p:spPr/>
        <p:txBody>
          <a:bodyPr/>
          <a:lstStyle/>
          <a:p>
            <a:pPr algn="just"/>
            <a:r>
              <a:rPr lang="en-GB" dirty="0"/>
              <a:t>For every software project, there is an inherent conflict of interest that occurs as testing begins. The people who have built the software are now asked to test the software. This seems harmless in itself; after all, who knows the program better than its developers? </a:t>
            </a:r>
          </a:p>
          <a:p>
            <a:pPr algn="just"/>
            <a:r>
              <a:rPr lang="en-GB" dirty="0"/>
              <a:t>Unfortunately, these same developers have a vested interest in demonstrating that the program is error-free, that it works according to customer requirements, and that it will be completed on schedule and within budget. Each of these interests mitigate against thorough testing.</a:t>
            </a:r>
            <a:endParaRPr lang="en-US" dirty="0"/>
          </a:p>
        </p:txBody>
      </p:sp>
    </p:spTree>
    <p:extLst>
      <p:ext uri="{BB962C8B-B14F-4D97-AF65-F5344CB8AC3E}">
        <p14:creationId xmlns:p14="http://schemas.microsoft.com/office/powerpoint/2010/main" val="798565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741FB-9E0D-0D8C-D719-27D59CC8F2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DFE67D-1B24-B358-F30A-D22D957ACBB1}"/>
              </a:ext>
            </a:extLst>
          </p:cNvPr>
          <p:cNvSpPr>
            <a:spLocks noGrp="1"/>
          </p:cNvSpPr>
          <p:nvPr>
            <p:ph idx="1"/>
          </p:nvPr>
        </p:nvSpPr>
        <p:spPr/>
        <p:txBody>
          <a:bodyPr>
            <a:normAutofit fontScale="92500" lnSpcReduction="20000"/>
          </a:bodyPr>
          <a:lstStyle/>
          <a:p>
            <a:pPr algn="just"/>
            <a:r>
              <a:rPr lang="en-GB" dirty="0"/>
              <a:t>From a psychological point of view, software analysis and design (along with coding) are constructive tasks. A team of software engineers </a:t>
            </a:r>
            <a:r>
              <a:rPr lang="en-GB" dirty="0" err="1"/>
              <a:t>analyzes</a:t>
            </a:r>
            <a:r>
              <a:rPr lang="en-GB" dirty="0"/>
              <a:t>, models, and then creates a computer program and its documentation.</a:t>
            </a:r>
          </a:p>
          <a:p>
            <a:pPr algn="just"/>
            <a:r>
              <a:rPr lang="en-GB" dirty="0"/>
              <a:t>Like any builder, the software engineers are proud of the edifice that has been built and looks askance at anyone who attempts to tear it down. When testing commences, there is a subtle, yet definite, attempt to “break” the thing that the software engineers have built. From the point of view of the builder, testing can be considered to be (psychologically) destructive.</a:t>
            </a:r>
          </a:p>
          <a:p>
            <a:pPr algn="just"/>
            <a:r>
              <a:rPr lang="en-GB" dirty="0"/>
              <a:t>So the builder treads lightly, designing and executing tests that will demonstrate that the program works, rather than uncovering errors. </a:t>
            </a:r>
          </a:p>
          <a:p>
            <a:pPr algn="just"/>
            <a:r>
              <a:rPr lang="en-GB" dirty="0"/>
              <a:t>Unfortunately, errors will be present. And, if the software engineers don’t find them, the customers will!</a:t>
            </a:r>
            <a:endParaRPr lang="en-US" dirty="0"/>
          </a:p>
        </p:txBody>
      </p:sp>
    </p:spTree>
    <p:extLst>
      <p:ext uri="{BB962C8B-B14F-4D97-AF65-F5344CB8AC3E}">
        <p14:creationId xmlns:p14="http://schemas.microsoft.com/office/powerpoint/2010/main" val="7654638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69431-1103-B201-8719-13424CD31C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807DC7-2C2E-2391-B5DA-950B1058589E}"/>
              </a:ext>
            </a:extLst>
          </p:cNvPr>
          <p:cNvSpPr>
            <a:spLocks noGrp="1"/>
          </p:cNvSpPr>
          <p:nvPr>
            <p:ph idx="1"/>
          </p:nvPr>
        </p:nvSpPr>
        <p:spPr/>
        <p:txBody>
          <a:bodyPr>
            <a:normAutofit fontScale="92500" lnSpcReduction="10000"/>
          </a:bodyPr>
          <a:lstStyle/>
          <a:p>
            <a:pPr algn="just"/>
            <a:r>
              <a:rPr lang="en-US" dirty="0"/>
              <a:t>There are often a number of misconceptions that you might infer erroneously from the preceding discussion:</a:t>
            </a:r>
          </a:p>
          <a:p>
            <a:pPr lvl="1" algn="just"/>
            <a:r>
              <a:rPr lang="en-US" dirty="0"/>
              <a:t>(1) that the developer of software should do no testing at all</a:t>
            </a:r>
          </a:p>
          <a:p>
            <a:pPr lvl="1" algn="just"/>
            <a:r>
              <a:rPr lang="en-US" dirty="0"/>
              <a:t>(2) that the software should be “tossed over the wall” to strangers who will test it mercilessly</a:t>
            </a:r>
          </a:p>
          <a:p>
            <a:pPr lvl="1" algn="just"/>
            <a:r>
              <a:rPr lang="en-US" dirty="0"/>
              <a:t>(3) that testers get involved with the project only when the testing steps are about to begin. Each of these statements is incorrect.</a:t>
            </a:r>
          </a:p>
          <a:p>
            <a:pPr algn="just"/>
            <a:r>
              <a:rPr lang="en-US" dirty="0"/>
              <a:t>The software developer is always responsible for testing the individual units (components) of the program, ensuring that each performs the function or exhibits the behavior for which it was designed. In many cases, the developer also conducts integration testing—a testing step that leads to the construction of the complete software architecture.</a:t>
            </a:r>
          </a:p>
        </p:txBody>
      </p:sp>
    </p:spTree>
    <p:extLst>
      <p:ext uri="{BB962C8B-B14F-4D97-AF65-F5344CB8AC3E}">
        <p14:creationId xmlns:p14="http://schemas.microsoft.com/office/powerpoint/2010/main" val="391317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4725E-C5BC-6ABD-49DD-05AB62E8506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3AA8C97-B041-625A-42D8-269F3CBB5B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3109" y="774290"/>
            <a:ext cx="9896168" cy="5309419"/>
          </a:xfrm>
        </p:spPr>
      </p:pic>
    </p:spTree>
    <p:extLst>
      <p:ext uri="{BB962C8B-B14F-4D97-AF65-F5344CB8AC3E}">
        <p14:creationId xmlns:p14="http://schemas.microsoft.com/office/powerpoint/2010/main" val="1677092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06F9C-942F-970F-2C0A-5388C130428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C3036B-BCCD-5898-8818-1B9E1399CCC3}"/>
              </a:ext>
            </a:extLst>
          </p:cNvPr>
          <p:cNvSpPr>
            <a:spLocks noGrp="1"/>
          </p:cNvSpPr>
          <p:nvPr>
            <p:ph idx="1"/>
          </p:nvPr>
        </p:nvSpPr>
        <p:spPr/>
        <p:txBody>
          <a:bodyPr>
            <a:normAutofit fontScale="92500"/>
          </a:bodyPr>
          <a:lstStyle/>
          <a:p>
            <a:pPr algn="just"/>
            <a:r>
              <a:rPr lang="en-US" dirty="0"/>
              <a:t>Only after the software architecture is complete does an Independent Test Group become involved.</a:t>
            </a:r>
          </a:p>
          <a:p>
            <a:pPr algn="just"/>
            <a:r>
              <a:rPr lang="en-US" dirty="0"/>
              <a:t>The role of an Independent Test Group (ITG) is to remove the inherent problems associated with letting the builder test the thing that has been built. Independent testing removes the conflict of interest that may otherwise be present. After all, ITG personnel are paid to find errors.</a:t>
            </a:r>
          </a:p>
          <a:p>
            <a:pPr algn="just"/>
            <a:r>
              <a:rPr lang="en-US" dirty="0"/>
              <a:t>However, you don’t turn the program over to ITG and walk away. The developer and the ITG work closely throughout a software project to ensure that thorough tests will be conducted. While testing is conducted, the developer must be available to correct errors that are uncovered.</a:t>
            </a:r>
          </a:p>
        </p:txBody>
      </p:sp>
    </p:spTree>
    <p:extLst>
      <p:ext uri="{BB962C8B-B14F-4D97-AF65-F5344CB8AC3E}">
        <p14:creationId xmlns:p14="http://schemas.microsoft.com/office/powerpoint/2010/main" val="3722255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D3DB3-F5A9-9835-3D21-5828717D236D}"/>
              </a:ext>
            </a:extLst>
          </p:cNvPr>
          <p:cNvSpPr>
            <a:spLocks noGrp="1"/>
          </p:cNvSpPr>
          <p:nvPr>
            <p:ph type="title"/>
          </p:nvPr>
        </p:nvSpPr>
        <p:spPr/>
        <p:txBody>
          <a:bodyPr/>
          <a:lstStyle/>
          <a:p>
            <a:r>
              <a:rPr lang="en-US" dirty="0"/>
              <a:t>Software Testing Strategy—The Big Picture</a:t>
            </a:r>
          </a:p>
        </p:txBody>
      </p:sp>
      <p:pic>
        <p:nvPicPr>
          <p:cNvPr id="5" name="Content Placeholder 4">
            <a:extLst>
              <a:ext uri="{FF2B5EF4-FFF2-40B4-BE49-F238E27FC236}">
                <a16:creationId xmlns:a16="http://schemas.microsoft.com/office/drawing/2014/main" id="{A81D3B15-788C-7461-9AD0-39FFD67FAC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2716" y="1825625"/>
            <a:ext cx="9306568" cy="4351338"/>
          </a:xfrm>
        </p:spPr>
      </p:pic>
    </p:spTree>
    <p:extLst>
      <p:ext uri="{BB962C8B-B14F-4D97-AF65-F5344CB8AC3E}">
        <p14:creationId xmlns:p14="http://schemas.microsoft.com/office/powerpoint/2010/main" val="2955037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88AD1-AC4E-36F6-B306-088568AE2D7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AC8B5D-113C-6A7A-B271-CDA7661F9CF7}"/>
              </a:ext>
            </a:extLst>
          </p:cNvPr>
          <p:cNvSpPr>
            <a:spLocks noGrp="1"/>
          </p:cNvSpPr>
          <p:nvPr>
            <p:ph idx="1"/>
          </p:nvPr>
        </p:nvSpPr>
        <p:spPr/>
        <p:txBody>
          <a:bodyPr>
            <a:normAutofit fontScale="92500" lnSpcReduction="20000"/>
          </a:bodyPr>
          <a:lstStyle/>
          <a:p>
            <a:pPr algn="just"/>
            <a:r>
              <a:rPr lang="en-US" dirty="0"/>
              <a:t>A strategy for software testing may also be viewed in the context of the spiral.</a:t>
            </a:r>
          </a:p>
          <a:p>
            <a:pPr algn="just"/>
            <a:r>
              <a:rPr lang="en-US" dirty="0"/>
              <a:t>Unit testing begins at the vortex of the spiral and concentrates on each unit of the software as implemented in source code.</a:t>
            </a:r>
          </a:p>
          <a:p>
            <a:pPr algn="just"/>
            <a:r>
              <a:rPr lang="en-US" dirty="0"/>
              <a:t>Testing progresses by moving outward along the spiral to integration testing, where the focus is on design and the construction of the software architecture.</a:t>
            </a:r>
          </a:p>
          <a:p>
            <a:pPr algn="just"/>
            <a:r>
              <a:rPr lang="en-US" dirty="0"/>
              <a:t>Taking another turn outward on the spiral, you encounter validation testing, where requirements established as part of requirements modeling are validated against the software that has been constructed.</a:t>
            </a:r>
          </a:p>
          <a:p>
            <a:pPr algn="just"/>
            <a:r>
              <a:rPr lang="en-US" dirty="0"/>
              <a:t>Finally, you arrive at system testing, where the software and other system elements are tested as a whole</a:t>
            </a:r>
          </a:p>
        </p:txBody>
      </p:sp>
    </p:spTree>
    <p:extLst>
      <p:ext uri="{BB962C8B-B14F-4D97-AF65-F5344CB8AC3E}">
        <p14:creationId xmlns:p14="http://schemas.microsoft.com/office/powerpoint/2010/main" val="385242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5D0E23-ACB4-D4B6-F4E7-9E454AE7A5DE}"/>
              </a:ext>
            </a:extLst>
          </p:cNvPr>
          <p:cNvSpPr>
            <a:spLocks noGrp="1"/>
          </p:cNvSpPr>
          <p:nvPr>
            <p:ph idx="1"/>
          </p:nvPr>
        </p:nvSpPr>
        <p:spPr>
          <a:xfrm>
            <a:off x="616974" y="345410"/>
            <a:ext cx="10515600" cy="1050310"/>
          </a:xfrm>
        </p:spPr>
        <p:txBody>
          <a:bodyPr>
            <a:normAutofit fontScale="92500" lnSpcReduction="10000"/>
          </a:bodyPr>
          <a:lstStyle/>
          <a:p>
            <a:pPr algn="just"/>
            <a:r>
              <a:rPr lang="en-US" dirty="0"/>
              <a:t>Considering the process from a procedural point of view, testing within the con text of software engineering is actually a series of four steps that are implemented sequentially.</a:t>
            </a:r>
          </a:p>
        </p:txBody>
      </p:sp>
      <p:pic>
        <p:nvPicPr>
          <p:cNvPr id="5" name="Picture 4">
            <a:extLst>
              <a:ext uri="{FF2B5EF4-FFF2-40B4-BE49-F238E27FC236}">
                <a16:creationId xmlns:a16="http://schemas.microsoft.com/office/drawing/2014/main" id="{183D6F4A-6785-13AD-3C79-14B81BF2B9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7271" y="1613720"/>
            <a:ext cx="9427599" cy="4898870"/>
          </a:xfrm>
          <a:prstGeom prst="rect">
            <a:avLst/>
          </a:prstGeom>
        </p:spPr>
      </p:pic>
    </p:spTree>
    <p:extLst>
      <p:ext uri="{BB962C8B-B14F-4D97-AF65-F5344CB8AC3E}">
        <p14:creationId xmlns:p14="http://schemas.microsoft.com/office/powerpoint/2010/main" val="1243095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F135C-CC50-9EAE-FC31-8E9348607BAC}"/>
              </a:ext>
            </a:extLst>
          </p:cNvPr>
          <p:cNvSpPr>
            <a:spLocks noGrp="1"/>
          </p:cNvSpPr>
          <p:nvPr>
            <p:ph type="title"/>
          </p:nvPr>
        </p:nvSpPr>
        <p:spPr/>
        <p:txBody>
          <a:bodyPr/>
          <a:lstStyle/>
          <a:p>
            <a:r>
              <a:rPr lang="en-US" dirty="0"/>
              <a:t>Test Strategies for Conventional Software</a:t>
            </a:r>
          </a:p>
        </p:txBody>
      </p:sp>
      <p:sp>
        <p:nvSpPr>
          <p:cNvPr id="3" name="Content Placeholder 2">
            <a:extLst>
              <a:ext uri="{FF2B5EF4-FFF2-40B4-BE49-F238E27FC236}">
                <a16:creationId xmlns:a16="http://schemas.microsoft.com/office/drawing/2014/main" id="{23A9E1E9-6ACD-FC72-E9C4-CE334DEC1888}"/>
              </a:ext>
            </a:extLst>
          </p:cNvPr>
          <p:cNvSpPr>
            <a:spLocks noGrp="1"/>
          </p:cNvSpPr>
          <p:nvPr>
            <p:ph idx="1"/>
          </p:nvPr>
        </p:nvSpPr>
        <p:spPr/>
        <p:txBody>
          <a:bodyPr/>
          <a:lstStyle/>
          <a:p>
            <a:pPr algn="just"/>
            <a:r>
              <a:rPr lang="en-US" dirty="0"/>
              <a:t>When to start testing?</a:t>
            </a:r>
          </a:p>
          <a:p>
            <a:pPr algn="just"/>
            <a:r>
              <a:rPr lang="en-US" dirty="0"/>
              <a:t>There are many strategies that can be used to test software. At one extreme, you can wait until the system is fully constructed and then conduct tests on the overall system in hopes of finding errors. This approach, although appealing, simply does not work. It will result in buggy software that disappoints all stakeholders. At the other extreme, you could conduct tests on a daily basis, whenever any part of the system is constructed. This approach, although less appealing to many, can be very effective.</a:t>
            </a:r>
          </a:p>
        </p:txBody>
      </p:sp>
    </p:spTree>
    <p:extLst>
      <p:ext uri="{BB962C8B-B14F-4D97-AF65-F5344CB8AC3E}">
        <p14:creationId xmlns:p14="http://schemas.microsoft.com/office/powerpoint/2010/main" val="335111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E671-C3BB-A9AA-8426-4377F2133CE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E63B82-63A0-3FA1-1717-3EDEFF0775C5}"/>
              </a:ext>
            </a:extLst>
          </p:cNvPr>
          <p:cNvSpPr>
            <a:spLocks noGrp="1"/>
          </p:cNvSpPr>
          <p:nvPr>
            <p:ph idx="1"/>
          </p:nvPr>
        </p:nvSpPr>
        <p:spPr/>
        <p:txBody>
          <a:bodyPr/>
          <a:lstStyle/>
          <a:p>
            <a:pPr algn="just"/>
            <a:r>
              <a:rPr lang="en-US" dirty="0"/>
              <a:t>A testing strategy that is chosen by most software teams falls between the two extremes.</a:t>
            </a:r>
          </a:p>
          <a:p>
            <a:pPr algn="just"/>
            <a:r>
              <a:rPr lang="en-US" dirty="0"/>
              <a:t>It takes an incremental view of testing, beginning with the testing of individual program units, moving to tests designed to facilitate the integration of the units, and culminating with tests that exercise the constructed system.</a:t>
            </a:r>
          </a:p>
          <a:p>
            <a:pPr algn="just"/>
            <a:r>
              <a:rPr lang="en-US" dirty="0"/>
              <a:t>Each of these classes of tests is described in the sections that follow.</a:t>
            </a:r>
          </a:p>
        </p:txBody>
      </p:sp>
    </p:spTree>
    <p:extLst>
      <p:ext uri="{BB962C8B-B14F-4D97-AF65-F5344CB8AC3E}">
        <p14:creationId xmlns:p14="http://schemas.microsoft.com/office/powerpoint/2010/main" val="358040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0FBDA-3FCD-E460-BC0A-5CAC69DE0629}"/>
              </a:ext>
            </a:extLst>
          </p:cNvPr>
          <p:cNvSpPr>
            <a:spLocks noGrp="1"/>
          </p:cNvSpPr>
          <p:nvPr>
            <p:ph type="title"/>
          </p:nvPr>
        </p:nvSpPr>
        <p:spPr/>
        <p:txBody>
          <a:bodyPr/>
          <a:lstStyle/>
          <a:p>
            <a:r>
              <a:rPr lang="en-US" dirty="0"/>
              <a:t>Unit Testing</a:t>
            </a:r>
          </a:p>
        </p:txBody>
      </p:sp>
      <p:sp>
        <p:nvSpPr>
          <p:cNvPr id="3" name="Content Placeholder 2">
            <a:extLst>
              <a:ext uri="{FF2B5EF4-FFF2-40B4-BE49-F238E27FC236}">
                <a16:creationId xmlns:a16="http://schemas.microsoft.com/office/drawing/2014/main" id="{B09E3E8D-8EF3-79E2-5424-0B352875C660}"/>
              </a:ext>
            </a:extLst>
          </p:cNvPr>
          <p:cNvSpPr>
            <a:spLocks noGrp="1"/>
          </p:cNvSpPr>
          <p:nvPr>
            <p:ph idx="1"/>
          </p:nvPr>
        </p:nvSpPr>
        <p:spPr/>
        <p:txBody>
          <a:bodyPr>
            <a:normAutofit fontScale="92500"/>
          </a:bodyPr>
          <a:lstStyle/>
          <a:p>
            <a:pPr algn="just"/>
            <a:r>
              <a:rPr lang="en-US" dirty="0"/>
              <a:t>Unit testing focuses verification effort on the smallest unit of software design—the software component or module. Using the component-level design description as a guide, important control paths are tested to uncover errors within the boundary of the module.</a:t>
            </a:r>
          </a:p>
          <a:p>
            <a:pPr algn="just"/>
            <a:r>
              <a:rPr lang="en-US" dirty="0"/>
              <a:t>The unit test focuses on the internal processing logic and data structures within the boundaries of a module. Hence, all independent paths through the control structure are exercised to ensure that all statements in a module have been executed at least once. Boundary conditions are tested to ensure that the module operates properly at boundaries established to limit or restrict processing. And finally, all error-handling paths are tested.</a:t>
            </a:r>
          </a:p>
          <a:p>
            <a:pPr algn="just"/>
            <a:r>
              <a:rPr lang="en-US" dirty="0"/>
              <a:t>This type of testing can be conducted in parallel for multiple components.</a:t>
            </a:r>
          </a:p>
        </p:txBody>
      </p:sp>
    </p:spTree>
    <p:extLst>
      <p:ext uri="{BB962C8B-B14F-4D97-AF65-F5344CB8AC3E}">
        <p14:creationId xmlns:p14="http://schemas.microsoft.com/office/powerpoint/2010/main" val="4010502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FA25C-4452-CC3E-203B-5E8C8730075E}"/>
              </a:ext>
            </a:extLst>
          </p:cNvPr>
          <p:cNvSpPr>
            <a:spLocks noGrp="1"/>
          </p:cNvSpPr>
          <p:nvPr>
            <p:ph type="title"/>
          </p:nvPr>
        </p:nvSpPr>
        <p:spPr/>
        <p:txBody>
          <a:bodyPr/>
          <a:lstStyle/>
          <a:p>
            <a:r>
              <a:rPr lang="en-US" dirty="0"/>
              <a:t>Unit Testing</a:t>
            </a:r>
          </a:p>
        </p:txBody>
      </p:sp>
      <p:sp>
        <p:nvSpPr>
          <p:cNvPr id="3" name="Content Placeholder 2">
            <a:extLst>
              <a:ext uri="{FF2B5EF4-FFF2-40B4-BE49-F238E27FC236}">
                <a16:creationId xmlns:a16="http://schemas.microsoft.com/office/drawing/2014/main" id="{B7A955A3-D536-5E58-EF86-F5BB5D4ABA31}"/>
              </a:ext>
            </a:extLst>
          </p:cNvPr>
          <p:cNvSpPr>
            <a:spLocks noGrp="1"/>
          </p:cNvSpPr>
          <p:nvPr>
            <p:ph idx="1"/>
          </p:nvPr>
        </p:nvSpPr>
        <p:spPr/>
        <p:txBody>
          <a:bodyPr/>
          <a:lstStyle/>
          <a:p>
            <a:pPr algn="just"/>
            <a:r>
              <a:rPr lang="en-US" dirty="0"/>
              <a:t>Most common errors</a:t>
            </a:r>
          </a:p>
          <a:p>
            <a:pPr lvl="1" algn="just"/>
            <a:r>
              <a:rPr lang="en-US" dirty="0"/>
              <a:t>Misunderstood/incorrect arithmetic precedence</a:t>
            </a:r>
          </a:p>
          <a:p>
            <a:pPr lvl="1" algn="just"/>
            <a:r>
              <a:rPr lang="en-US" dirty="0"/>
              <a:t>Incorrect initializations</a:t>
            </a:r>
          </a:p>
          <a:p>
            <a:pPr lvl="1" algn="just"/>
            <a:r>
              <a:rPr lang="en-US" dirty="0"/>
              <a:t>Incorrect comparison of variables</a:t>
            </a:r>
          </a:p>
          <a:p>
            <a:pPr lvl="1" algn="just"/>
            <a:r>
              <a:rPr lang="en-US" dirty="0"/>
              <a:t>Precision inaccuracy</a:t>
            </a:r>
          </a:p>
          <a:p>
            <a:pPr lvl="1" algn="just"/>
            <a:r>
              <a:rPr lang="en-US" dirty="0"/>
              <a:t>Incorrect symbolic representation of an expression</a:t>
            </a:r>
          </a:p>
          <a:p>
            <a:pPr lvl="1" algn="just"/>
            <a:r>
              <a:rPr lang="en-US" dirty="0"/>
              <a:t>Mixed mode operations</a:t>
            </a:r>
          </a:p>
          <a:p>
            <a:pPr algn="just"/>
            <a:r>
              <a:rPr lang="en-US" dirty="0"/>
              <a:t>Unit testing is simplified when a component with high cohesion is designed.</a:t>
            </a:r>
          </a:p>
        </p:txBody>
      </p:sp>
    </p:spTree>
    <p:extLst>
      <p:ext uri="{BB962C8B-B14F-4D97-AF65-F5344CB8AC3E}">
        <p14:creationId xmlns:p14="http://schemas.microsoft.com/office/powerpoint/2010/main" val="319048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A2744-36FE-8B54-5AA0-F8E265D7368A}"/>
              </a:ext>
            </a:extLst>
          </p:cNvPr>
          <p:cNvSpPr>
            <a:spLocks noGrp="1"/>
          </p:cNvSpPr>
          <p:nvPr>
            <p:ph type="title"/>
          </p:nvPr>
        </p:nvSpPr>
        <p:spPr/>
        <p:txBody>
          <a:bodyPr/>
          <a:lstStyle/>
          <a:p>
            <a:r>
              <a:rPr lang="en-US" dirty="0"/>
              <a:t>Integration Testing</a:t>
            </a:r>
          </a:p>
        </p:txBody>
      </p:sp>
      <p:sp>
        <p:nvSpPr>
          <p:cNvPr id="3" name="Content Placeholder 2">
            <a:extLst>
              <a:ext uri="{FF2B5EF4-FFF2-40B4-BE49-F238E27FC236}">
                <a16:creationId xmlns:a16="http://schemas.microsoft.com/office/drawing/2014/main" id="{878C81EB-67CF-4EF1-C3C6-AA0AF37D7365}"/>
              </a:ext>
            </a:extLst>
          </p:cNvPr>
          <p:cNvSpPr>
            <a:spLocks noGrp="1"/>
          </p:cNvSpPr>
          <p:nvPr>
            <p:ph idx="1"/>
          </p:nvPr>
        </p:nvSpPr>
        <p:spPr/>
        <p:txBody>
          <a:bodyPr>
            <a:normAutofit lnSpcReduction="10000"/>
          </a:bodyPr>
          <a:lstStyle/>
          <a:p>
            <a:pPr algn="just"/>
            <a:r>
              <a:rPr lang="en-US" dirty="0"/>
              <a:t>A neophyte in the software world might ask a seemingly legitimate question once all modules have been unit tested: “If they all work individually, why do you doubt that they’ll work when we put them together?”</a:t>
            </a:r>
          </a:p>
          <a:p>
            <a:pPr algn="just"/>
            <a:r>
              <a:rPr lang="en-US" dirty="0"/>
              <a:t>The problem, of course, is “putting them together”—interfacing.</a:t>
            </a:r>
          </a:p>
          <a:p>
            <a:pPr algn="just"/>
            <a:r>
              <a:rPr lang="en-US" dirty="0"/>
              <a:t>Data can be lost across an interface; one component can have an inadvertent, adverse effect on another; subfunctions, when combined, may not produce the desired major function; individually acceptable imprecision may be magnified to unacceptable levels (Shamsul Alamin Pharma); global data structures can present problems. Sadly, the list goes on and on.</a:t>
            </a:r>
          </a:p>
        </p:txBody>
      </p:sp>
    </p:spTree>
    <p:extLst>
      <p:ext uri="{BB962C8B-B14F-4D97-AF65-F5344CB8AC3E}">
        <p14:creationId xmlns:p14="http://schemas.microsoft.com/office/powerpoint/2010/main" val="2660800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ACDD2-0D6D-E950-7A3D-9AEE696F73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CE982B-999D-8ED9-6B6D-F91209C4E1E1}"/>
              </a:ext>
            </a:extLst>
          </p:cNvPr>
          <p:cNvSpPr>
            <a:spLocks noGrp="1"/>
          </p:cNvSpPr>
          <p:nvPr>
            <p:ph idx="1"/>
          </p:nvPr>
        </p:nvSpPr>
        <p:spPr/>
        <p:txBody>
          <a:bodyPr/>
          <a:lstStyle/>
          <a:p>
            <a:r>
              <a:rPr lang="en-US" dirty="0"/>
              <a:t>Integration Testing</a:t>
            </a:r>
          </a:p>
          <a:p>
            <a:pPr lvl="1"/>
            <a:r>
              <a:rPr lang="en-US" dirty="0"/>
              <a:t>Top down</a:t>
            </a:r>
          </a:p>
          <a:p>
            <a:pPr lvl="1"/>
            <a:r>
              <a:rPr lang="en-US" dirty="0"/>
              <a:t>Bottom up</a:t>
            </a:r>
          </a:p>
          <a:p>
            <a:r>
              <a:rPr lang="en-US" dirty="0"/>
              <a:t>Top down or Bottom up?</a:t>
            </a:r>
          </a:p>
        </p:txBody>
      </p:sp>
    </p:spTree>
    <p:extLst>
      <p:ext uri="{BB962C8B-B14F-4D97-AF65-F5344CB8AC3E}">
        <p14:creationId xmlns:p14="http://schemas.microsoft.com/office/powerpoint/2010/main" val="1950645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A0520-CE61-B4F4-909B-B08764F548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5D0760-8D82-2995-C30D-DAE5E9FF2A30}"/>
              </a:ext>
            </a:extLst>
          </p:cNvPr>
          <p:cNvSpPr>
            <a:spLocks noGrp="1"/>
          </p:cNvSpPr>
          <p:nvPr>
            <p:ph idx="1"/>
          </p:nvPr>
        </p:nvSpPr>
        <p:spPr/>
        <p:txBody>
          <a:bodyPr/>
          <a:lstStyle/>
          <a:p>
            <a:pPr algn="just"/>
            <a:r>
              <a:rPr lang="en-US" dirty="0"/>
              <a:t>Selection of integration testing strategy depends upon software characteristics and sometimes project schedule.</a:t>
            </a:r>
          </a:p>
          <a:p>
            <a:pPr algn="just"/>
            <a:r>
              <a:rPr lang="en-US" dirty="0"/>
              <a:t>Sometimes a combined approach (sandwich testing) is used …</a:t>
            </a:r>
          </a:p>
        </p:txBody>
      </p:sp>
    </p:spTree>
    <p:extLst>
      <p:ext uri="{BB962C8B-B14F-4D97-AF65-F5344CB8AC3E}">
        <p14:creationId xmlns:p14="http://schemas.microsoft.com/office/powerpoint/2010/main" val="2993465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08477-5DA0-5A4C-5C05-D56B7BF44E4B}"/>
              </a:ext>
            </a:extLst>
          </p:cNvPr>
          <p:cNvSpPr>
            <a:spLocks noGrp="1"/>
          </p:cNvSpPr>
          <p:nvPr>
            <p:ph type="title"/>
          </p:nvPr>
        </p:nvSpPr>
        <p:spPr/>
        <p:txBody>
          <a:bodyPr/>
          <a:lstStyle/>
          <a:p>
            <a:r>
              <a:rPr lang="en-US" dirty="0"/>
              <a:t>Cohesion and Coupling</a:t>
            </a:r>
          </a:p>
        </p:txBody>
      </p:sp>
      <p:sp>
        <p:nvSpPr>
          <p:cNvPr id="3" name="Content Placeholder 2">
            <a:extLst>
              <a:ext uri="{FF2B5EF4-FFF2-40B4-BE49-F238E27FC236}">
                <a16:creationId xmlns:a16="http://schemas.microsoft.com/office/drawing/2014/main" id="{A00B13B1-4412-1269-3E21-F0F6B2F3B08C}"/>
              </a:ext>
            </a:extLst>
          </p:cNvPr>
          <p:cNvSpPr>
            <a:spLocks noGrp="1"/>
          </p:cNvSpPr>
          <p:nvPr>
            <p:ph idx="1"/>
          </p:nvPr>
        </p:nvSpPr>
        <p:spPr/>
        <p:txBody>
          <a:bodyPr/>
          <a:lstStyle/>
          <a:p>
            <a:pPr algn="just"/>
            <a:r>
              <a:rPr lang="en-US" dirty="0"/>
              <a:t>Cohesion refers to how closely related the responsibilities of a single module or class are. A highly cohesive module performs a single, well-defined task, making it easier to understand, test, and maintain.</a:t>
            </a:r>
          </a:p>
          <a:p>
            <a:pPr algn="just"/>
            <a:r>
              <a:rPr lang="en-US" dirty="0"/>
              <a:t>For example, a </a:t>
            </a:r>
            <a:r>
              <a:rPr lang="en-US" dirty="0" err="1"/>
              <a:t>clsUserManager</a:t>
            </a:r>
            <a:r>
              <a:rPr lang="en-US" dirty="0"/>
              <a:t> class that only handles user-related operations (like creating, updating, or deleting users) is cohesive.</a:t>
            </a:r>
          </a:p>
          <a:p>
            <a:pPr lvl="1" algn="just"/>
            <a:r>
              <a:rPr lang="en-US" dirty="0"/>
              <a:t>High cohesion = focused, organized, and reusable code.</a:t>
            </a:r>
          </a:p>
          <a:p>
            <a:pPr lvl="1" algn="just"/>
            <a:r>
              <a:rPr lang="en-US" dirty="0"/>
              <a:t>Low cohesion = scattered responsibilities, harder to maintain.</a:t>
            </a:r>
          </a:p>
          <a:p>
            <a:pPr algn="just"/>
            <a:endParaRPr lang="en-US" dirty="0"/>
          </a:p>
        </p:txBody>
      </p:sp>
    </p:spTree>
    <p:extLst>
      <p:ext uri="{BB962C8B-B14F-4D97-AF65-F5344CB8AC3E}">
        <p14:creationId xmlns:p14="http://schemas.microsoft.com/office/powerpoint/2010/main" val="8827389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CEE73-4191-D24A-CBE0-D5EB0525CFFD}"/>
              </a:ext>
            </a:extLst>
          </p:cNvPr>
          <p:cNvSpPr>
            <a:spLocks noGrp="1"/>
          </p:cNvSpPr>
          <p:nvPr>
            <p:ph type="title"/>
          </p:nvPr>
        </p:nvSpPr>
        <p:spPr/>
        <p:txBody>
          <a:bodyPr/>
          <a:lstStyle/>
          <a:p>
            <a:r>
              <a:rPr lang="en-US" dirty="0"/>
              <a:t>Cohesion and Coupling</a:t>
            </a:r>
          </a:p>
        </p:txBody>
      </p:sp>
      <p:sp>
        <p:nvSpPr>
          <p:cNvPr id="3" name="Content Placeholder 2">
            <a:extLst>
              <a:ext uri="{FF2B5EF4-FFF2-40B4-BE49-F238E27FC236}">
                <a16:creationId xmlns:a16="http://schemas.microsoft.com/office/drawing/2014/main" id="{DE3BA057-E79B-1652-4827-B35EE83C6381}"/>
              </a:ext>
            </a:extLst>
          </p:cNvPr>
          <p:cNvSpPr>
            <a:spLocks noGrp="1"/>
          </p:cNvSpPr>
          <p:nvPr>
            <p:ph idx="1"/>
          </p:nvPr>
        </p:nvSpPr>
        <p:spPr/>
        <p:txBody>
          <a:bodyPr/>
          <a:lstStyle/>
          <a:p>
            <a:pPr algn="just"/>
            <a:r>
              <a:rPr lang="en-US" dirty="0"/>
              <a:t>Coupling describes how dependent one module is on another. Low coupling means modules interact through well-defined interfaces and don’t rely heavily on each other’s internal workings. This makes the system more flexible and easier to change.</a:t>
            </a:r>
          </a:p>
          <a:p>
            <a:pPr lvl="1" algn="just"/>
            <a:r>
              <a:rPr lang="en-US" dirty="0"/>
              <a:t>Low coupling = modules can evolve independently.</a:t>
            </a:r>
          </a:p>
          <a:p>
            <a:pPr lvl="1" algn="just"/>
            <a:r>
              <a:rPr lang="en-US" dirty="0"/>
              <a:t>High coupling = changes in one module may break others.</a:t>
            </a:r>
          </a:p>
          <a:p>
            <a:pPr algn="just"/>
            <a:endParaRPr lang="en-US" dirty="0"/>
          </a:p>
          <a:p>
            <a:pPr algn="just"/>
            <a:r>
              <a:rPr lang="en-US" dirty="0"/>
              <a:t>The sweet spot in software design is </a:t>
            </a:r>
            <a:r>
              <a:rPr lang="en-US" b="1" dirty="0"/>
              <a:t>high cohesion and low coupling</a:t>
            </a:r>
            <a:r>
              <a:rPr lang="en-US" dirty="0"/>
              <a:t>.</a:t>
            </a:r>
          </a:p>
        </p:txBody>
      </p:sp>
    </p:spTree>
    <p:extLst>
      <p:ext uri="{BB962C8B-B14F-4D97-AF65-F5344CB8AC3E}">
        <p14:creationId xmlns:p14="http://schemas.microsoft.com/office/powerpoint/2010/main" val="42120128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39347-5624-6A2C-E6F9-A94921A4EC39}"/>
              </a:ext>
            </a:extLst>
          </p:cNvPr>
          <p:cNvSpPr>
            <a:spLocks noGrp="1"/>
          </p:cNvSpPr>
          <p:nvPr>
            <p:ph type="title"/>
          </p:nvPr>
        </p:nvSpPr>
        <p:spPr/>
        <p:txBody>
          <a:bodyPr/>
          <a:lstStyle/>
          <a:p>
            <a:r>
              <a:rPr lang="en-US" dirty="0"/>
              <a:t>Regression testing (Toughest)</a:t>
            </a:r>
          </a:p>
        </p:txBody>
      </p:sp>
      <p:sp>
        <p:nvSpPr>
          <p:cNvPr id="3" name="Content Placeholder 2">
            <a:extLst>
              <a:ext uri="{FF2B5EF4-FFF2-40B4-BE49-F238E27FC236}">
                <a16:creationId xmlns:a16="http://schemas.microsoft.com/office/drawing/2014/main" id="{A60236B0-B247-1C35-69E6-366E7EF7AF25}"/>
              </a:ext>
            </a:extLst>
          </p:cNvPr>
          <p:cNvSpPr>
            <a:spLocks noGrp="1"/>
          </p:cNvSpPr>
          <p:nvPr>
            <p:ph idx="1"/>
          </p:nvPr>
        </p:nvSpPr>
        <p:spPr/>
        <p:txBody>
          <a:bodyPr/>
          <a:lstStyle/>
          <a:p>
            <a:pPr algn="just"/>
            <a:r>
              <a:rPr lang="en-US" dirty="0"/>
              <a:t>Each time a new module is added, the software changes. New data flow paths are established, new I/O may occur, and new control logic is invoked. These changes may cause problems with functions that previously worked flawlessly.</a:t>
            </a:r>
          </a:p>
          <a:p>
            <a:pPr algn="just"/>
            <a:r>
              <a:rPr lang="en-US" dirty="0"/>
              <a:t>In the context of an integration test strategy, regression testing is the re-execution of some subset of tests that have already been conducted to ensure that changes have not propagated unintended side effects.</a:t>
            </a:r>
          </a:p>
        </p:txBody>
      </p:sp>
    </p:spTree>
    <p:extLst>
      <p:ext uri="{BB962C8B-B14F-4D97-AF65-F5344CB8AC3E}">
        <p14:creationId xmlns:p14="http://schemas.microsoft.com/office/powerpoint/2010/main" val="357195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2C346-7CB2-F8B7-6D16-8D400B0CB17C}"/>
              </a:ext>
            </a:extLst>
          </p:cNvPr>
          <p:cNvSpPr>
            <a:spLocks noGrp="1"/>
          </p:cNvSpPr>
          <p:nvPr>
            <p:ph type="title"/>
          </p:nvPr>
        </p:nvSpPr>
        <p:spPr/>
        <p:txBody>
          <a:bodyPr/>
          <a:lstStyle/>
          <a:p>
            <a:r>
              <a:rPr lang="en-US" dirty="0"/>
              <a:t>Sanity Testing</a:t>
            </a:r>
          </a:p>
        </p:txBody>
      </p:sp>
      <p:sp>
        <p:nvSpPr>
          <p:cNvPr id="3" name="Content Placeholder 2">
            <a:extLst>
              <a:ext uri="{FF2B5EF4-FFF2-40B4-BE49-F238E27FC236}">
                <a16:creationId xmlns:a16="http://schemas.microsoft.com/office/drawing/2014/main" id="{84704C5D-9880-E184-E01B-2A969DB59DFB}"/>
              </a:ext>
            </a:extLst>
          </p:cNvPr>
          <p:cNvSpPr>
            <a:spLocks noGrp="1"/>
          </p:cNvSpPr>
          <p:nvPr>
            <p:ph idx="1"/>
          </p:nvPr>
        </p:nvSpPr>
        <p:spPr/>
        <p:txBody>
          <a:bodyPr/>
          <a:lstStyle/>
          <a:p>
            <a:pPr algn="just"/>
            <a:r>
              <a:rPr lang="en-US" dirty="0"/>
              <a:t>A sanity test is a narrow regression test that focuses on one or a few areas of functionality</a:t>
            </a:r>
          </a:p>
          <a:p>
            <a:pPr algn="just"/>
            <a:r>
              <a:rPr lang="en-US" dirty="0"/>
              <a:t>Sanity testing is usually narrow and deep.</a:t>
            </a:r>
          </a:p>
          <a:p>
            <a:pPr algn="just"/>
            <a:r>
              <a:rPr lang="en-US" dirty="0"/>
              <a:t>A Sanity test is used to determine a small (usually very critical/ Shamsul Alamin Pharma) section of the application (a few areas of functionality) is still working after a minor change.</a:t>
            </a:r>
          </a:p>
        </p:txBody>
      </p:sp>
    </p:spTree>
    <p:extLst>
      <p:ext uri="{BB962C8B-B14F-4D97-AF65-F5344CB8AC3E}">
        <p14:creationId xmlns:p14="http://schemas.microsoft.com/office/powerpoint/2010/main" val="37437484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708F5-52AB-678F-5353-9ED90FD1C234}"/>
              </a:ext>
            </a:extLst>
          </p:cNvPr>
          <p:cNvSpPr>
            <a:spLocks noGrp="1"/>
          </p:cNvSpPr>
          <p:nvPr>
            <p:ph type="title"/>
          </p:nvPr>
        </p:nvSpPr>
        <p:spPr/>
        <p:txBody>
          <a:bodyPr/>
          <a:lstStyle/>
          <a:p>
            <a:r>
              <a:rPr lang="en-US" dirty="0"/>
              <a:t>Smoke testing</a:t>
            </a:r>
          </a:p>
        </p:txBody>
      </p:sp>
      <p:sp>
        <p:nvSpPr>
          <p:cNvPr id="3" name="Content Placeholder 2">
            <a:extLst>
              <a:ext uri="{FF2B5EF4-FFF2-40B4-BE49-F238E27FC236}">
                <a16:creationId xmlns:a16="http://schemas.microsoft.com/office/drawing/2014/main" id="{9A971129-D96C-4622-CD88-CAB1477B9CE5}"/>
              </a:ext>
            </a:extLst>
          </p:cNvPr>
          <p:cNvSpPr>
            <a:spLocks noGrp="1"/>
          </p:cNvSpPr>
          <p:nvPr>
            <p:ph idx="1"/>
          </p:nvPr>
        </p:nvSpPr>
        <p:spPr/>
        <p:txBody>
          <a:bodyPr>
            <a:normAutofit fontScale="92500" lnSpcReduction="10000"/>
          </a:bodyPr>
          <a:lstStyle/>
          <a:p>
            <a:pPr algn="just"/>
            <a:r>
              <a:rPr lang="en-US" dirty="0"/>
              <a:t>Smoke testing originates in the hardware testing practice of turning on a new piece of hardware for the first time and considering it a success if it does not catch fire and smoke.</a:t>
            </a:r>
          </a:p>
          <a:p>
            <a:pPr algn="just"/>
            <a:r>
              <a:rPr lang="en-US" dirty="0"/>
              <a:t>In software industry, smoke testing is a shallow and wide approach whereby all areas of the application without getting into too deep, is tested.</a:t>
            </a:r>
          </a:p>
          <a:p>
            <a:pPr algn="just"/>
            <a:r>
              <a:rPr lang="en-US" dirty="0"/>
              <a:t>It is scripted, either using a written set of tests or an automated test  (selenium)</a:t>
            </a:r>
          </a:p>
          <a:p>
            <a:pPr algn="just"/>
            <a:r>
              <a:rPr lang="en-US" dirty="0"/>
              <a:t>Smoke testing is conducted to ensure whether the most important functions of a program are working, but not bothering with finer details.</a:t>
            </a:r>
          </a:p>
          <a:p>
            <a:pPr algn="just"/>
            <a:r>
              <a:rPr lang="en-US" dirty="0"/>
              <a:t>Smoke testing is like normal health check up.</a:t>
            </a:r>
          </a:p>
        </p:txBody>
      </p:sp>
    </p:spTree>
    <p:extLst>
      <p:ext uri="{BB962C8B-B14F-4D97-AF65-F5344CB8AC3E}">
        <p14:creationId xmlns:p14="http://schemas.microsoft.com/office/powerpoint/2010/main" val="12002250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53506-31CE-C155-DC76-F705874F8B7C}"/>
              </a:ext>
            </a:extLst>
          </p:cNvPr>
          <p:cNvSpPr>
            <a:spLocks noGrp="1"/>
          </p:cNvSpPr>
          <p:nvPr>
            <p:ph type="title"/>
          </p:nvPr>
        </p:nvSpPr>
        <p:spPr/>
        <p:txBody>
          <a:bodyPr/>
          <a:lstStyle/>
          <a:p>
            <a:r>
              <a:rPr lang="en-US" dirty="0"/>
              <a:t>Test Strategies for Object-Oriented Software</a:t>
            </a:r>
          </a:p>
        </p:txBody>
      </p:sp>
      <p:sp>
        <p:nvSpPr>
          <p:cNvPr id="3" name="Content Placeholder 2">
            <a:extLst>
              <a:ext uri="{FF2B5EF4-FFF2-40B4-BE49-F238E27FC236}">
                <a16:creationId xmlns:a16="http://schemas.microsoft.com/office/drawing/2014/main" id="{AC3CDB07-5840-04F7-B59C-CFAC7FE19183}"/>
              </a:ext>
            </a:extLst>
          </p:cNvPr>
          <p:cNvSpPr>
            <a:spLocks noGrp="1"/>
          </p:cNvSpPr>
          <p:nvPr>
            <p:ph idx="1"/>
          </p:nvPr>
        </p:nvSpPr>
        <p:spPr/>
        <p:txBody>
          <a:bodyPr/>
          <a:lstStyle/>
          <a:p>
            <a:pPr algn="just"/>
            <a:r>
              <a:rPr lang="en-US" dirty="0"/>
              <a:t>The objective of testing is to find out the greatest possible number of errors with a manageable amount of effort applied over realistic time span remains the same for Object Oriented Software.</a:t>
            </a:r>
          </a:p>
        </p:txBody>
      </p:sp>
    </p:spTree>
    <p:extLst>
      <p:ext uri="{BB962C8B-B14F-4D97-AF65-F5344CB8AC3E}">
        <p14:creationId xmlns:p14="http://schemas.microsoft.com/office/powerpoint/2010/main" val="6478453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B03F6-0A5F-5BBC-5211-57015B3EACF9}"/>
              </a:ext>
            </a:extLst>
          </p:cNvPr>
          <p:cNvSpPr>
            <a:spLocks noGrp="1"/>
          </p:cNvSpPr>
          <p:nvPr>
            <p:ph type="title"/>
          </p:nvPr>
        </p:nvSpPr>
        <p:spPr/>
        <p:txBody>
          <a:bodyPr/>
          <a:lstStyle/>
          <a:p>
            <a:r>
              <a:rPr lang="en-US" dirty="0"/>
              <a:t>Unit Testing in the OO Context</a:t>
            </a:r>
          </a:p>
        </p:txBody>
      </p:sp>
      <p:sp>
        <p:nvSpPr>
          <p:cNvPr id="3" name="Content Placeholder 2">
            <a:extLst>
              <a:ext uri="{FF2B5EF4-FFF2-40B4-BE49-F238E27FC236}">
                <a16:creationId xmlns:a16="http://schemas.microsoft.com/office/drawing/2014/main" id="{B2C932BC-878C-B015-0EA7-8C3924E70C6E}"/>
              </a:ext>
            </a:extLst>
          </p:cNvPr>
          <p:cNvSpPr>
            <a:spLocks noGrp="1"/>
          </p:cNvSpPr>
          <p:nvPr>
            <p:ph idx="1"/>
          </p:nvPr>
        </p:nvSpPr>
        <p:spPr/>
        <p:txBody>
          <a:bodyPr/>
          <a:lstStyle/>
          <a:p>
            <a:pPr algn="just"/>
            <a:r>
              <a:rPr lang="en-US" dirty="0"/>
              <a:t>Class testing for OO software is the equivalent of unit testing for conventional software.</a:t>
            </a:r>
          </a:p>
          <a:p>
            <a:pPr algn="just"/>
            <a:r>
              <a:rPr lang="en-US" dirty="0"/>
              <a:t>Unlike unit testing of conventional software, which tends to focus on the algorithmic detail of a module and the data that flow across the module interface, class testing for OO software is driven by the operations encapsulated by the class and the state behavior of the class.</a:t>
            </a:r>
          </a:p>
        </p:txBody>
      </p:sp>
    </p:spTree>
    <p:extLst>
      <p:ext uri="{BB962C8B-B14F-4D97-AF65-F5344CB8AC3E}">
        <p14:creationId xmlns:p14="http://schemas.microsoft.com/office/powerpoint/2010/main" val="40135827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43F33-E805-0EBC-BBCA-C40F11D4B303}"/>
              </a:ext>
            </a:extLst>
          </p:cNvPr>
          <p:cNvSpPr>
            <a:spLocks noGrp="1"/>
          </p:cNvSpPr>
          <p:nvPr>
            <p:ph type="title"/>
          </p:nvPr>
        </p:nvSpPr>
        <p:spPr/>
        <p:txBody>
          <a:bodyPr/>
          <a:lstStyle/>
          <a:p>
            <a:r>
              <a:rPr lang="en-US" dirty="0"/>
              <a:t>Integration Testing in the OO Context</a:t>
            </a:r>
          </a:p>
        </p:txBody>
      </p:sp>
      <p:sp>
        <p:nvSpPr>
          <p:cNvPr id="3" name="Content Placeholder 2">
            <a:extLst>
              <a:ext uri="{FF2B5EF4-FFF2-40B4-BE49-F238E27FC236}">
                <a16:creationId xmlns:a16="http://schemas.microsoft.com/office/drawing/2014/main" id="{B5AF448C-994A-549A-F09B-F9E4903FE576}"/>
              </a:ext>
            </a:extLst>
          </p:cNvPr>
          <p:cNvSpPr>
            <a:spLocks noGrp="1"/>
          </p:cNvSpPr>
          <p:nvPr>
            <p:ph idx="1"/>
          </p:nvPr>
        </p:nvSpPr>
        <p:spPr>
          <a:xfrm>
            <a:off x="838200" y="1825625"/>
            <a:ext cx="10515600" cy="4667250"/>
          </a:xfrm>
        </p:spPr>
        <p:txBody>
          <a:bodyPr>
            <a:normAutofit lnSpcReduction="10000"/>
          </a:bodyPr>
          <a:lstStyle/>
          <a:p>
            <a:pPr algn="just"/>
            <a:r>
              <a:rPr lang="en-US" dirty="0"/>
              <a:t>There are two different strategies for integration testing of OO systems.</a:t>
            </a:r>
          </a:p>
          <a:p>
            <a:pPr lvl="1" algn="just"/>
            <a:r>
              <a:rPr lang="en-US" dirty="0"/>
              <a:t>The first, thread-based testing, integrates the set of classes required to respond to one input or event for the system. Each thread is integrated and tested individually.</a:t>
            </a:r>
          </a:p>
          <a:p>
            <a:pPr lvl="1" algn="just"/>
            <a:r>
              <a:rPr lang="en-US" dirty="0"/>
              <a:t>The second integration approach, use-based testing, begins the construction of the system by testing those classes (called independent classes) that use very few (if any) server classes. After the independent classes are tested, the next layer of classes, called dependent classes, that use the independent classes are tested. This sequence of testing layers of dependent classes continues until the entire system is constructed.</a:t>
            </a:r>
          </a:p>
          <a:p>
            <a:pPr lvl="1" algn="just"/>
            <a:r>
              <a:rPr lang="en-US" dirty="0"/>
              <a:t>Cluster testing is one step in the integration testing of OO software. Here, a cluster of collaborating classes is exercised by designing test cases that attempt to uncover errors in the collaborations.</a:t>
            </a:r>
          </a:p>
        </p:txBody>
      </p:sp>
    </p:spTree>
    <p:extLst>
      <p:ext uri="{BB962C8B-B14F-4D97-AF65-F5344CB8AC3E}">
        <p14:creationId xmlns:p14="http://schemas.microsoft.com/office/powerpoint/2010/main" val="21406759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FB66B-FFC0-52D2-A871-55ED2898499A}"/>
              </a:ext>
            </a:extLst>
          </p:cNvPr>
          <p:cNvSpPr>
            <a:spLocks noGrp="1"/>
          </p:cNvSpPr>
          <p:nvPr>
            <p:ph type="title"/>
          </p:nvPr>
        </p:nvSpPr>
        <p:spPr/>
        <p:txBody>
          <a:bodyPr/>
          <a:lstStyle/>
          <a:p>
            <a:r>
              <a:rPr lang="en-US" dirty="0"/>
              <a:t>Validation Testing in an OO Context</a:t>
            </a:r>
          </a:p>
        </p:txBody>
      </p:sp>
      <p:sp>
        <p:nvSpPr>
          <p:cNvPr id="3" name="Content Placeholder 2">
            <a:extLst>
              <a:ext uri="{FF2B5EF4-FFF2-40B4-BE49-F238E27FC236}">
                <a16:creationId xmlns:a16="http://schemas.microsoft.com/office/drawing/2014/main" id="{ACB189B7-D0FA-9439-7503-E38BF277D50C}"/>
              </a:ext>
            </a:extLst>
          </p:cNvPr>
          <p:cNvSpPr>
            <a:spLocks noGrp="1"/>
          </p:cNvSpPr>
          <p:nvPr>
            <p:ph idx="1"/>
          </p:nvPr>
        </p:nvSpPr>
        <p:spPr/>
        <p:txBody>
          <a:bodyPr>
            <a:normAutofit/>
          </a:bodyPr>
          <a:lstStyle/>
          <a:p>
            <a:pPr algn="just"/>
            <a:r>
              <a:rPr lang="en-US" dirty="0"/>
              <a:t>From validation testing, the distinction between conventional and object-oriented software disappears.</a:t>
            </a:r>
          </a:p>
          <a:p>
            <a:pPr algn="just"/>
            <a:r>
              <a:rPr lang="en-US" dirty="0"/>
              <a:t>After validation testing two possible conditions exist:</a:t>
            </a:r>
          </a:p>
          <a:p>
            <a:pPr lvl="1" algn="just"/>
            <a:r>
              <a:rPr lang="en-US" dirty="0"/>
              <a:t>Conforms to specification and is accepted</a:t>
            </a:r>
          </a:p>
          <a:p>
            <a:pPr lvl="1" algn="just"/>
            <a:r>
              <a:rPr lang="en-US" dirty="0"/>
              <a:t>A derivation from specification is uncovered and a deficiency list is created</a:t>
            </a:r>
          </a:p>
          <a:p>
            <a:pPr algn="just"/>
            <a:r>
              <a:rPr lang="en-US" dirty="0"/>
              <a:t>Deviation or error discovered at this stage can rarely be corrected prior to scheduled delivery</a:t>
            </a:r>
          </a:p>
          <a:p>
            <a:pPr algn="just"/>
            <a:r>
              <a:rPr lang="en-US" dirty="0"/>
              <a:t>Negotiation with customers…</a:t>
            </a:r>
          </a:p>
          <a:p>
            <a:pPr algn="just"/>
            <a:endParaRPr lang="en-US" dirty="0"/>
          </a:p>
        </p:txBody>
      </p:sp>
    </p:spTree>
    <p:extLst>
      <p:ext uri="{BB962C8B-B14F-4D97-AF65-F5344CB8AC3E}">
        <p14:creationId xmlns:p14="http://schemas.microsoft.com/office/powerpoint/2010/main" val="12286939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B46A-E808-C406-E5F5-F5F79AC5066D}"/>
              </a:ext>
            </a:extLst>
          </p:cNvPr>
          <p:cNvSpPr>
            <a:spLocks noGrp="1"/>
          </p:cNvSpPr>
          <p:nvPr>
            <p:ph type="title"/>
          </p:nvPr>
        </p:nvSpPr>
        <p:spPr/>
        <p:txBody>
          <a:bodyPr/>
          <a:lstStyle/>
          <a:p>
            <a:r>
              <a:rPr lang="en-US" dirty="0"/>
              <a:t>Validation Testing: How?</a:t>
            </a:r>
          </a:p>
        </p:txBody>
      </p:sp>
      <p:sp>
        <p:nvSpPr>
          <p:cNvPr id="3" name="Content Placeholder 2">
            <a:extLst>
              <a:ext uri="{FF2B5EF4-FFF2-40B4-BE49-F238E27FC236}">
                <a16:creationId xmlns:a16="http://schemas.microsoft.com/office/drawing/2014/main" id="{3216FB5F-1E78-06D6-CE32-0CDC2AC8849A}"/>
              </a:ext>
            </a:extLst>
          </p:cNvPr>
          <p:cNvSpPr>
            <a:spLocks noGrp="1"/>
          </p:cNvSpPr>
          <p:nvPr>
            <p:ph idx="1"/>
          </p:nvPr>
        </p:nvSpPr>
        <p:spPr/>
        <p:txBody>
          <a:bodyPr/>
          <a:lstStyle/>
          <a:p>
            <a:pPr algn="just"/>
            <a:r>
              <a:rPr lang="en-US" dirty="0"/>
              <a:t>Alpha Testing</a:t>
            </a:r>
          </a:p>
          <a:p>
            <a:pPr lvl="1" algn="just"/>
            <a:r>
              <a:rPr lang="en-US" dirty="0"/>
              <a:t>It is virtually impossible for a software developer to foresee how the customer will really use the program</a:t>
            </a:r>
          </a:p>
          <a:p>
            <a:pPr lvl="1" algn="just"/>
            <a:r>
              <a:rPr lang="en-US" dirty="0"/>
              <a:t>Takes relatively longer time (validates all requirements)</a:t>
            </a:r>
          </a:p>
          <a:p>
            <a:pPr lvl="1" algn="just"/>
            <a:r>
              <a:rPr lang="en-US" dirty="0"/>
              <a:t>Conducted at developer’s site</a:t>
            </a:r>
          </a:p>
          <a:p>
            <a:pPr lvl="1" algn="just"/>
            <a:r>
              <a:rPr lang="en-US" dirty="0"/>
              <a:t>The software is used in a natural setting with the developer “looking over the shoulder” of typical users and recording errors and usage problems</a:t>
            </a:r>
          </a:p>
          <a:p>
            <a:pPr algn="just"/>
            <a:endParaRPr lang="en-US" dirty="0"/>
          </a:p>
        </p:txBody>
      </p:sp>
    </p:spTree>
    <p:extLst>
      <p:ext uri="{BB962C8B-B14F-4D97-AF65-F5344CB8AC3E}">
        <p14:creationId xmlns:p14="http://schemas.microsoft.com/office/powerpoint/2010/main" val="32200207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0A422-9CA2-0CAE-48BF-F8716BA402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9FC19B-7972-719B-B63A-3D715F1E190B}"/>
              </a:ext>
            </a:extLst>
          </p:cNvPr>
          <p:cNvSpPr>
            <a:spLocks noGrp="1"/>
          </p:cNvSpPr>
          <p:nvPr>
            <p:ph idx="1"/>
          </p:nvPr>
        </p:nvSpPr>
        <p:spPr/>
        <p:txBody>
          <a:bodyPr/>
          <a:lstStyle/>
          <a:p>
            <a:pPr algn="just"/>
            <a:r>
              <a:rPr lang="en-US" dirty="0"/>
              <a:t>Beta Testing</a:t>
            </a:r>
          </a:p>
          <a:p>
            <a:pPr lvl="1" algn="just"/>
            <a:r>
              <a:rPr lang="en-US" dirty="0"/>
              <a:t>Conducted at end user’s site</a:t>
            </a:r>
          </a:p>
          <a:p>
            <a:pPr lvl="1" algn="just"/>
            <a:r>
              <a:rPr lang="en-US" dirty="0"/>
              <a:t>Software is used like “live” application</a:t>
            </a:r>
          </a:p>
          <a:p>
            <a:pPr lvl="1" algn="just"/>
            <a:r>
              <a:rPr lang="en-US" dirty="0"/>
              <a:t>Takes a bit long time (again validates all requirements)</a:t>
            </a:r>
          </a:p>
          <a:p>
            <a:pPr lvl="1" algn="just"/>
            <a:r>
              <a:rPr lang="en-US" dirty="0"/>
              <a:t>Usually done by several group of users</a:t>
            </a:r>
          </a:p>
          <a:p>
            <a:pPr lvl="1" algn="just"/>
            <a:r>
              <a:rPr lang="en-US" dirty="0"/>
              <a:t>Users report all the problems and those are compiled and corrected before final release</a:t>
            </a:r>
          </a:p>
        </p:txBody>
      </p:sp>
    </p:spTree>
    <p:extLst>
      <p:ext uri="{BB962C8B-B14F-4D97-AF65-F5344CB8AC3E}">
        <p14:creationId xmlns:p14="http://schemas.microsoft.com/office/powerpoint/2010/main" val="34586682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DD6AD-9599-553A-0755-22B4ACEF49C5}"/>
              </a:ext>
            </a:extLst>
          </p:cNvPr>
          <p:cNvSpPr>
            <a:spLocks noGrp="1"/>
          </p:cNvSpPr>
          <p:nvPr>
            <p:ph type="title"/>
          </p:nvPr>
        </p:nvSpPr>
        <p:spPr/>
        <p:txBody>
          <a:bodyPr/>
          <a:lstStyle/>
          <a:p>
            <a:r>
              <a:rPr lang="en-US" dirty="0"/>
              <a:t>System Testing</a:t>
            </a:r>
          </a:p>
        </p:txBody>
      </p:sp>
      <p:sp>
        <p:nvSpPr>
          <p:cNvPr id="3" name="Content Placeholder 2">
            <a:extLst>
              <a:ext uri="{FF2B5EF4-FFF2-40B4-BE49-F238E27FC236}">
                <a16:creationId xmlns:a16="http://schemas.microsoft.com/office/drawing/2014/main" id="{07B2FDFB-FE95-A482-0E3B-38AC39C7AC81}"/>
              </a:ext>
            </a:extLst>
          </p:cNvPr>
          <p:cNvSpPr>
            <a:spLocks noGrp="1"/>
          </p:cNvSpPr>
          <p:nvPr>
            <p:ph idx="1"/>
          </p:nvPr>
        </p:nvSpPr>
        <p:spPr/>
        <p:txBody>
          <a:bodyPr>
            <a:normAutofit fontScale="92500" lnSpcReduction="10000"/>
          </a:bodyPr>
          <a:lstStyle/>
          <a:p>
            <a:r>
              <a:rPr lang="en-US" dirty="0"/>
              <a:t>Deployment Testing</a:t>
            </a:r>
          </a:p>
          <a:p>
            <a:pPr lvl="1"/>
            <a:r>
              <a:rPr lang="en-US" dirty="0"/>
              <a:t>Sometimes called configuration testing, exercises the software in different environment in which it is to operate</a:t>
            </a:r>
          </a:p>
          <a:p>
            <a:r>
              <a:rPr lang="en-US" dirty="0"/>
              <a:t>Security testing</a:t>
            </a:r>
          </a:p>
          <a:p>
            <a:pPr lvl="1"/>
            <a:r>
              <a:rPr lang="en-US" dirty="0"/>
              <a:t>Tester attempts to penetrate the system</a:t>
            </a:r>
          </a:p>
          <a:p>
            <a:r>
              <a:rPr lang="en-US" dirty="0"/>
              <a:t>Performance testing</a:t>
            </a:r>
          </a:p>
          <a:p>
            <a:pPr lvl="1"/>
            <a:r>
              <a:rPr lang="en-US" dirty="0"/>
              <a:t>Run-time performance</a:t>
            </a:r>
          </a:p>
          <a:p>
            <a:r>
              <a:rPr lang="en-US" dirty="0"/>
              <a:t>Stress testing</a:t>
            </a:r>
          </a:p>
          <a:p>
            <a:pPr lvl="1"/>
            <a:r>
              <a:rPr lang="en-US" dirty="0"/>
              <a:t>How high can the software handle before it fails</a:t>
            </a:r>
          </a:p>
          <a:p>
            <a:r>
              <a:rPr lang="en-US" dirty="0"/>
              <a:t>Recovery testing</a:t>
            </a:r>
          </a:p>
          <a:p>
            <a:pPr lvl="1"/>
            <a:r>
              <a:rPr lang="en-US" dirty="0"/>
              <a:t>Fault tolerant</a:t>
            </a:r>
          </a:p>
        </p:txBody>
      </p:sp>
    </p:spTree>
    <p:extLst>
      <p:ext uri="{BB962C8B-B14F-4D97-AF65-F5344CB8AC3E}">
        <p14:creationId xmlns:p14="http://schemas.microsoft.com/office/powerpoint/2010/main" val="24208151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E010E-5757-915D-FF0C-5E7AF2721DAE}"/>
              </a:ext>
            </a:extLst>
          </p:cNvPr>
          <p:cNvSpPr>
            <a:spLocks noGrp="1"/>
          </p:cNvSpPr>
          <p:nvPr>
            <p:ph type="title"/>
          </p:nvPr>
        </p:nvSpPr>
        <p:spPr/>
        <p:txBody>
          <a:bodyPr/>
          <a:lstStyle/>
          <a:p>
            <a:r>
              <a:rPr lang="en-US" dirty="0"/>
              <a:t>Overall Test Characteristics</a:t>
            </a:r>
          </a:p>
        </p:txBody>
      </p:sp>
      <p:sp>
        <p:nvSpPr>
          <p:cNvPr id="3" name="Content Placeholder 2">
            <a:extLst>
              <a:ext uri="{FF2B5EF4-FFF2-40B4-BE49-F238E27FC236}">
                <a16:creationId xmlns:a16="http://schemas.microsoft.com/office/drawing/2014/main" id="{A83B60EC-218D-DAC3-1A4C-370ECA6C6D54}"/>
              </a:ext>
            </a:extLst>
          </p:cNvPr>
          <p:cNvSpPr>
            <a:spLocks noGrp="1"/>
          </p:cNvSpPr>
          <p:nvPr>
            <p:ph idx="1"/>
          </p:nvPr>
        </p:nvSpPr>
        <p:spPr/>
        <p:txBody>
          <a:bodyPr/>
          <a:lstStyle/>
          <a:p>
            <a:r>
              <a:rPr lang="en-US" dirty="0"/>
              <a:t>A good test has a high probability of finding errors</a:t>
            </a:r>
          </a:p>
          <a:p>
            <a:r>
              <a:rPr lang="en-US" dirty="0"/>
              <a:t>A good test is not redundant</a:t>
            </a:r>
          </a:p>
          <a:p>
            <a:r>
              <a:rPr lang="en-US" dirty="0"/>
              <a:t>‘’should be “best of breed”</a:t>
            </a:r>
          </a:p>
          <a:p>
            <a:r>
              <a:rPr lang="en-US" dirty="0"/>
              <a:t>“neither too simple nor too complex”</a:t>
            </a:r>
          </a:p>
        </p:txBody>
      </p:sp>
    </p:spTree>
    <p:extLst>
      <p:ext uri="{BB962C8B-B14F-4D97-AF65-F5344CB8AC3E}">
        <p14:creationId xmlns:p14="http://schemas.microsoft.com/office/powerpoint/2010/main" val="11303218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2CB0B-0C82-50B0-8A5E-6EB9A92AAC64}"/>
              </a:ext>
            </a:extLst>
          </p:cNvPr>
          <p:cNvSpPr>
            <a:spLocks noGrp="1"/>
          </p:cNvSpPr>
          <p:nvPr>
            <p:ph type="title"/>
          </p:nvPr>
        </p:nvSpPr>
        <p:spPr/>
        <p:txBody>
          <a:bodyPr/>
          <a:lstStyle/>
          <a:p>
            <a:r>
              <a:rPr lang="en-US" dirty="0"/>
              <a:t>Debugging</a:t>
            </a:r>
          </a:p>
        </p:txBody>
      </p:sp>
      <p:sp>
        <p:nvSpPr>
          <p:cNvPr id="3" name="Content Placeholder 2">
            <a:extLst>
              <a:ext uri="{FF2B5EF4-FFF2-40B4-BE49-F238E27FC236}">
                <a16:creationId xmlns:a16="http://schemas.microsoft.com/office/drawing/2014/main" id="{D44BE6BB-CB5C-D5F0-194E-AAC624CF4377}"/>
              </a:ext>
            </a:extLst>
          </p:cNvPr>
          <p:cNvSpPr>
            <a:spLocks noGrp="1"/>
          </p:cNvSpPr>
          <p:nvPr>
            <p:ph idx="1"/>
          </p:nvPr>
        </p:nvSpPr>
        <p:spPr/>
        <p:txBody>
          <a:bodyPr/>
          <a:lstStyle/>
          <a:p>
            <a:pPr algn="just"/>
            <a:r>
              <a:rPr lang="en-US" dirty="0"/>
              <a:t>Debugging occurs as a consequence of successful testing</a:t>
            </a:r>
          </a:p>
          <a:p>
            <a:pPr algn="just"/>
            <a:r>
              <a:rPr lang="en-US" dirty="0"/>
              <a:t>Debugging sometimes pose greater challenge as the external manifestation of the error and the internal cause of the error may have no obvious relationship. (Shamsul Alamin Pharma)</a:t>
            </a:r>
          </a:p>
          <a:p>
            <a:pPr algn="just"/>
            <a:endParaRPr lang="en-US" dirty="0"/>
          </a:p>
        </p:txBody>
      </p:sp>
    </p:spTree>
    <p:extLst>
      <p:ext uri="{BB962C8B-B14F-4D97-AF65-F5344CB8AC3E}">
        <p14:creationId xmlns:p14="http://schemas.microsoft.com/office/powerpoint/2010/main" val="9365958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97AF0-40A8-D21B-29F0-E0924C781342}"/>
              </a:ext>
            </a:extLst>
          </p:cNvPr>
          <p:cNvSpPr>
            <a:spLocks noGrp="1"/>
          </p:cNvSpPr>
          <p:nvPr>
            <p:ph type="title"/>
          </p:nvPr>
        </p:nvSpPr>
        <p:spPr/>
        <p:txBody>
          <a:bodyPr/>
          <a:lstStyle/>
          <a:p>
            <a:r>
              <a:rPr lang="en-US" dirty="0"/>
              <a:t>Debugging Process</a:t>
            </a:r>
          </a:p>
        </p:txBody>
      </p:sp>
      <p:sp>
        <p:nvSpPr>
          <p:cNvPr id="3" name="Content Placeholder 2">
            <a:extLst>
              <a:ext uri="{FF2B5EF4-FFF2-40B4-BE49-F238E27FC236}">
                <a16:creationId xmlns:a16="http://schemas.microsoft.com/office/drawing/2014/main" id="{F0D78559-580C-A309-5E7C-742694BE6666}"/>
              </a:ext>
            </a:extLst>
          </p:cNvPr>
          <p:cNvSpPr>
            <a:spLocks noGrp="1"/>
          </p:cNvSpPr>
          <p:nvPr>
            <p:ph idx="1"/>
          </p:nvPr>
        </p:nvSpPr>
        <p:spPr/>
        <p:txBody>
          <a:bodyPr/>
          <a:lstStyle/>
          <a:p>
            <a:pPr algn="just"/>
            <a:r>
              <a:rPr lang="en-US" dirty="0"/>
              <a:t>Debugging begins with the execution of the error generating test case …</a:t>
            </a:r>
          </a:p>
          <a:p>
            <a:pPr algn="just"/>
            <a:r>
              <a:rPr lang="en-US" dirty="0"/>
              <a:t>Attempts to match the symptom with probable causes … thereby leading to error correction</a:t>
            </a:r>
          </a:p>
          <a:p>
            <a:pPr algn="just"/>
            <a:r>
              <a:rPr lang="en-US" dirty="0"/>
              <a:t>Debugging will always have one of two outcomes</a:t>
            </a:r>
          </a:p>
          <a:p>
            <a:pPr lvl="1" algn="just"/>
            <a:r>
              <a:rPr lang="en-US" dirty="0"/>
              <a:t>Cause will be found and corrected</a:t>
            </a:r>
          </a:p>
          <a:p>
            <a:pPr lvl="1" algn="just"/>
            <a:r>
              <a:rPr lang="en-US" dirty="0"/>
              <a:t>Cause will not be found</a:t>
            </a:r>
          </a:p>
        </p:txBody>
      </p:sp>
    </p:spTree>
    <p:extLst>
      <p:ext uri="{BB962C8B-B14F-4D97-AF65-F5344CB8AC3E}">
        <p14:creationId xmlns:p14="http://schemas.microsoft.com/office/powerpoint/2010/main" val="32222582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C3910-634C-106D-D8AD-9AB85EAA04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06AFB0-9C5C-6B92-DCFC-B4C61B37527A}"/>
              </a:ext>
            </a:extLst>
          </p:cNvPr>
          <p:cNvSpPr>
            <a:spLocks noGrp="1"/>
          </p:cNvSpPr>
          <p:nvPr>
            <p:ph idx="1"/>
          </p:nvPr>
        </p:nvSpPr>
        <p:spPr/>
        <p:txBody>
          <a:bodyPr/>
          <a:lstStyle/>
          <a:p>
            <a:pPr algn="just"/>
            <a:r>
              <a:rPr lang="en-US" dirty="0"/>
              <a:t>Debugging -&gt; more of psychological.</a:t>
            </a:r>
          </a:p>
          <a:p>
            <a:pPr algn="just"/>
            <a:r>
              <a:rPr lang="en-US" dirty="0"/>
              <a:t>However, a few characteristics of bugs provide some clues:</a:t>
            </a:r>
          </a:p>
          <a:p>
            <a:pPr lvl="1" algn="just"/>
            <a:r>
              <a:rPr lang="en-US" dirty="0"/>
              <a:t>The symptom of the case may be geographically remote. That is, the symptom may appear in one part of a program while the cause may actually be located at a site that is far remote. Highly coupled components exacerbate this situation.</a:t>
            </a:r>
          </a:p>
          <a:p>
            <a:pPr lvl="1" algn="just"/>
            <a:r>
              <a:rPr lang="en-US" dirty="0"/>
              <a:t>The symptom may disappear when another error is corrected</a:t>
            </a:r>
          </a:p>
          <a:p>
            <a:pPr lvl="1" algn="just"/>
            <a:r>
              <a:rPr lang="en-US" dirty="0"/>
              <a:t>The symptom may actually be caused by non errors (round-off problems)</a:t>
            </a:r>
          </a:p>
          <a:p>
            <a:pPr lvl="1" algn="just"/>
            <a:r>
              <a:rPr lang="en-US" dirty="0"/>
              <a:t>It may be very difficult to reproduce the input conditions (in real-time situation)</a:t>
            </a:r>
          </a:p>
          <a:p>
            <a:pPr lvl="1" algn="just"/>
            <a:r>
              <a:rPr lang="en-US" dirty="0"/>
              <a:t>The symptom may be intermittent (in embedded systems)</a:t>
            </a:r>
          </a:p>
          <a:p>
            <a:pPr algn="just"/>
            <a:endParaRPr lang="en-US" dirty="0"/>
          </a:p>
        </p:txBody>
      </p:sp>
    </p:spTree>
    <p:extLst>
      <p:ext uri="{BB962C8B-B14F-4D97-AF65-F5344CB8AC3E}">
        <p14:creationId xmlns:p14="http://schemas.microsoft.com/office/powerpoint/2010/main" val="11860704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0BA9F-28BA-9706-EAC0-59C65F028321}"/>
              </a:ext>
            </a:extLst>
          </p:cNvPr>
          <p:cNvSpPr>
            <a:spLocks noGrp="1"/>
          </p:cNvSpPr>
          <p:nvPr>
            <p:ph type="title"/>
          </p:nvPr>
        </p:nvSpPr>
        <p:spPr/>
        <p:txBody>
          <a:bodyPr/>
          <a:lstStyle/>
          <a:p>
            <a:r>
              <a:rPr lang="en-US" dirty="0"/>
              <a:t>Psychological Considerations</a:t>
            </a:r>
          </a:p>
        </p:txBody>
      </p:sp>
      <p:sp>
        <p:nvSpPr>
          <p:cNvPr id="3" name="Content Placeholder 2">
            <a:extLst>
              <a:ext uri="{FF2B5EF4-FFF2-40B4-BE49-F238E27FC236}">
                <a16:creationId xmlns:a16="http://schemas.microsoft.com/office/drawing/2014/main" id="{013AF77E-001D-5A78-DB6F-63FFBFE08EA8}"/>
              </a:ext>
            </a:extLst>
          </p:cNvPr>
          <p:cNvSpPr>
            <a:spLocks noGrp="1"/>
          </p:cNvSpPr>
          <p:nvPr>
            <p:ph idx="1"/>
          </p:nvPr>
        </p:nvSpPr>
        <p:spPr/>
        <p:txBody>
          <a:bodyPr>
            <a:normAutofit fontScale="92500"/>
          </a:bodyPr>
          <a:lstStyle/>
          <a:p>
            <a:pPr algn="just"/>
            <a:r>
              <a:rPr lang="en-US" dirty="0"/>
              <a:t>During debugging, we encounter errors that range from mildly annoying to catastrophic.</a:t>
            </a:r>
          </a:p>
          <a:p>
            <a:pPr algn="just"/>
            <a:r>
              <a:rPr lang="en-US" dirty="0"/>
              <a:t>As the consequence of an error increase, the amount of pressure to find the cause also increases.</a:t>
            </a:r>
          </a:p>
          <a:p>
            <a:pPr algn="just"/>
            <a:r>
              <a:rPr lang="en-US" dirty="0"/>
              <a:t>Often, pressure forces a software developer to fix one more error while at the same time introducing two more</a:t>
            </a:r>
          </a:p>
          <a:p>
            <a:r>
              <a:rPr lang="en-US" dirty="0"/>
              <a:t>Unfortunately, there appears to be some evidence that debugging prowess is an innate human trait. Some are good at it and others aren’t.</a:t>
            </a:r>
          </a:p>
          <a:p>
            <a:r>
              <a:rPr lang="en-US" dirty="0"/>
              <a:t>Still, if somebody follows a good debugging strategy, they can show very good performance…</a:t>
            </a:r>
          </a:p>
          <a:p>
            <a:pPr algn="just"/>
            <a:endParaRPr lang="en-US" dirty="0"/>
          </a:p>
          <a:p>
            <a:pPr algn="just"/>
            <a:endParaRPr lang="en-US" dirty="0"/>
          </a:p>
        </p:txBody>
      </p:sp>
    </p:spTree>
    <p:extLst>
      <p:ext uri="{BB962C8B-B14F-4D97-AF65-F5344CB8AC3E}">
        <p14:creationId xmlns:p14="http://schemas.microsoft.com/office/powerpoint/2010/main" val="28099654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7EF20-FBC1-A0E8-6B21-B056E41969AC}"/>
              </a:ext>
            </a:extLst>
          </p:cNvPr>
          <p:cNvSpPr>
            <a:spLocks noGrp="1"/>
          </p:cNvSpPr>
          <p:nvPr>
            <p:ph type="title"/>
          </p:nvPr>
        </p:nvSpPr>
        <p:spPr/>
        <p:txBody>
          <a:bodyPr/>
          <a:lstStyle/>
          <a:p>
            <a:r>
              <a:rPr lang="en-US" dirty="0"/>
              <a:t>Debugging Strategies</a:t>
            </a:r>
          </a:p>
        </p:txBody>
      </p:sp>
      <p:sp>
        <p:nvSpPr>
          <p:cNvPr id="3" name="Content Placeholder 2">
            <a:extLst>
              <a:ext uri="{FF2B5EF4-FFF2-40B4-BE49-F238E27FC236}">
                <a16:creationId xmlns:a16="http://schemas.microsoft.com/office/drawing/2014/main" id="{BFB0056C-7A81-7636-2020-B593192B47F8}"/>
              </a:ext>
            </a:extLst>
          </p:cNvPr>
          <p:cNvSpPr>
            <a:spLocks noGrp="1"/>
          </p:cNvSpPr>
          <p:nvPr>
            <p:ph idx="1"/>
          </p:nvPr>
        </p:nvSpPr>
        <p:spPr>
          <a:xfrm>
            <a:off x="838200" y="1430594"/>
            <a:ext cx="10515600" cy="5062281"/>
          </a:xfrm>
        </p:spPr>
        <p:txBody>
          <a:bodyPr>
            <a:normAutofit fontScale="92500" lnSpcReduction="10000"/>
          </a:bodyPr>
          <a:lstStyle/>
          <a:p>
            <a:pPr algn="just"/>
            <a:r>
              <a:rPr lang="en-US" dirty="0"/>
              <a:t>Debugging has one very straightforward objective: to find and correct the cause of the error</a:t>
            </a:r>
          </a:p>
          <a:p>
            <a:pPr algn="just"/>
            <a:r>
              <a:rPr lang="en-US" dirty="0"/>
              <a:t>Debugging strategies</a:t>
            </a:r>
          </a:p>
          <a:p>
            <a:pPr lvl="1" algn="just"/>
            <a:r>
              <a:rPr lang="en-US" dirty="0"/>
              <a:t>Brute force</a:t>
            </a:r>
          </a:p>
          <a:p>
            <a:pPr lvl="1" algn="just"/>
            <a:r>
              <a:rPr lang="en-US" dirty="0"/>
              <a:t>Backtracking</a:t>
            </a:r>
          </a:p>
          <a:p>
            <a:pPr lvl="1" algn="just"/>
            <a:r>
              <a:rPr lang="en-US" dirty="0"/>
              <a:t>Cause elimination</a:t>
            </a:r>
          </a:p>
          <a:p>
            <a:pPr algn="just"/>
            <a:r>
              <a:rPr lang="en-US" dirty="0"/>
              <a:t>Automated debugging: Integrated Development Environments (IDEs) provide a way to capture some of the language specific predetermined errors (e.g., missing end-of-statement characters, undefined variables, and so on) without requiring compilation.</a:t>
            </a:r>
          </a:p>
          <a:p>
            <a:pPr algn="just"/>
            <a:r>
              <a:rPr lang="en-US" dirty="0"/>
              <a:t>The people factor: any discussion of debugging approaches and tools is incomplete without mention of a powerful ally—other people! A fresh viewpoint, unclouded by hours of frustration, can do wonders. A final maxim for debugging might be: “When all else fails, get help!”</a:t>
            </a:r>
          </a:p>
        </p:txBody>
      </p:sp>
    </p:spTree>
    <p:extLst>
      <p:ext uri="{BB962C8B-B14F-4D97-AF65-F5344CB8AC3E}">
        <p14:creationId xmlns:p14="http://schemas.microsoft.com/office/powerpoint/2010/main" val="3421761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38605-4CEB-9428-4C10-CED882096117}"/>
              </a:ext>
            </a:extLst>
          </p:cNvPr>
          <p:cNvSpPr>
            <a:spLocks noGrp="1"/>
          </p:cNvSpPr>
          <p:nvPr>
            <p:ph type="title"/>
          </p:nvPr>
        </p:nvSpPr>
        <p:spPr/>
        <p:txBody>
          <a:bodyPr/>
          <a:lstStyle/>
          <a:p>
            <a:r>
              <a:rPr lang="en-US" dirty="0"/>
              <a:t>Correcting the Error</a:t>
            </a:r>
          </a:p>
        </p:txBody>
      </p:sp>
      <p:sp>
        <p:nvSpPr>
          <p:cNvPr id="3" name="Content Placeholder 2">
            <a:extLst>
              <a:ext uri="{FF2B5EF4-FFF2-40B4-BE49-F238E27FC236}">
                <a16:creationId xmlns:a16="http://schemas.microsoft.com/office/drawing/2014/main" id="{B3A9C13B-2B6E-D7B1-686E-DE8A3E1AF0BF}"/>
              </a:ext>
            </a:extLst>
          </p:cNvPr>
          <p:cNvSpPr>
            <a:spLocks noGrp="1"/>
          </p:cNvSpPr>
          <p:nvPr>
            <p:ph idx="1"/>
          </p:nvPr>
        </p:nvSpPr>
        <p:spPr/>
        <p:txBody>
          <a:bodyPr>
            <a:normAutofit/>
          </a:bodyPr>
          <a:lstStyle/>
          <a:p>
            <a:pPr algn="just"/>
            <a:r>
              <a:rPr lang="en-US" dirty="0"/>
              <a:t>Once a bug has been found, it must be corrected. But, as we have already noted, the correction of a bug can introduce other errors and therefore do more harm than good.</a:t>
            </a:r>
          </a:p>
          <a:p>
            <a:pPr algn="just"/>
            <a:r>
              <a:rPr lang="en-US" dirty="0"/>
              <a:t>Hence, after correcting the error, we need to go for Regression Testing…</a:t>
            </a:r>
          </a:p>
          <a:p>
            <a:pPr algn="just"/>
            <a:endParaRPr lang="en-US" dirty="0"/>
          </a:p>
        </p:txBody>
      </p:sp>
    </p:spTree>
    <p:extLst>
      <p:ext uri="{BB962C8B-B14F-4D97-AF65-F5344CB8AC3E}">
        <p14:creationId xmlns:p14="http://schemas.microsoft.com/office/powerpoint/2010/main" val="120674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3B156-32BF-77A5-E588-DAC36F717E6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F7D88FD-5A0B-6F23-4D6A-834F85E010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03987" y="221226"/>
            <a:ext cx="7093974" cy="6415548"/>
          </a:xfrm>
        </p:spPr>
      </p:pic>
    </p:spTree>
    <p:extLst>
      <p:ext uri="{BB962C8B-B14F-4D97-AF65-F5344CB8AC3E}">
        <p14:creationId xmlns:p14="http://schemas.microsoft.com/office/powerpoint/2010/main" val="19463890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1EB6B-AFCE-61EC-8B71-5166C9CCF0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AFC31EF-D6DF-590F-B149-567ACD72EB00}"/>
              </a:ext>
            </a:extLst>
          </p:cNvPr>
          <p:cNvSpPr>
            <a:spLocks noGrp="1"/>
          </p:cNvSpPr>
          <p:nvPr>
            <p:ph idx="1"/>
          </p:nvPr>
        </p:nvSpPr>
        <p:spPr/>
        <p:txBody>
          <a:bodyPr/>
          <a:lstStyle/>
          <a:p>
            <a:endParaRPr lang="en-US"/>
          </a:p>
        </p:txBody>
      </p:sp>
      <p:pic>
        <p:nvPicPr>
          <p:cNvPr id="4" name="Content Placeholder 3" descr="1vq1V.png">
            <a:extLst>
              <a:ext uri="{FF2B5EF4-FFF2-40B4-BE49-F238E27FC236}">
                <a16:creationId xmlns:a16="http://schemas.microsoft.com/office/drawing/2014/main" id="{981BBD8E-7C98-178E-579E-17A6344ACF65}"/>
              </a:ext>
            </a:extLst>
          </p:cNvPr>
          <p:cNvPicPr>
            <a:picLocks noChangeAspect="1"/>
          </p:cNvPicPr>
          <p:nvPr/>
        </p:nvPicPr>
        <p:blipFill>
          <a:blip r:embed="rId2" cstate="print"/>
          <a:stretch>
            <a:fillRect/>
          </a:stretch>
        </p:blipFill>
        <p:spPr>
          <a:xfrm>
            <a:off x="3642018" y="1651001"/>
            <a:ext cx="4586308" cy="4525962"/>
          </a:xfrm>
          <a:prstGeom prst="rect">
            <a:avLst/>
          </a:prstGeom>
        </p:spPr>
      </p:pic>
    </p:spTree>
    <p:extLst>
      <p:ext uri="{BB962C8B-B14F-4D97-AF65-F5344CB8AC3E}">
        <p14:creationId xmlns:p14="http://schemas.microsoft.com/office/powerpoint/2010/main" val="72459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2559</TotalTime>
  <Words>3994</Words>
  <Application>Microsoft Office PowerPoint</Application>
  <PresentationFormat>Widescreen</PresentationFormat>
  <Paragraphs>195</Paragraphs>
  <Slides>50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Calibri Light</vt:lpstr>
      <vt:lpstr>Office Theme</vt:lpstr>
      <vt:lpstr>Software Engineering</vt:lpstr>
      <vt:lpstr>Some Software Failures: Disney’s Lion King, 1994–1995</vt:lpstr>
      <vt:lpstr>NASA Mars Polar Lander, 1999</vt:lpstr>
      <vt:lpstr>NASA Mars Polar Lander, 1999</vt:lpstr>
      <vt:lpstr>The USA Star-Wars Program</vt:lpstr>
      <vt:lpstr>The Y2K (Year 2000) Bug, circa 1974</vt:lpstr>
      <vt:lpstr>The Y2K (Year 2000) Bug, circa 1974</vt:lpstr>
      <vt:lpstr>Intel Pentium Floating-Point Division Bug, 1994</vt:lpstr>
      <vt:lpstr>PowerPoint Presentation</vt:lpstr>
      <vt:lpstr>PowerPoint Presentation</vt:lpstr>
      <vt:lpstr>PowerPoint Presentation</vt:lpstr>
      <vt:lpstr>The Explosion of the Ariane 5 Rocket</vt:lpstr>
      <vt:lpstr>PowerPoint Presentation</vt:lpstr>
      <vt:lpstr>Software Testing</vt:lpstr>
      <vt:lpstr>Organizing for Software Testing</vt:lpstr>
      <vt:lpstr>PowerPoint Presentation</vt:lpstr>
      <vt:lpstr>PowerPoint Presentation</vt:lpstr>
      <vt:lpstr>PowerPoint Presentation</vt:lpstr>
      <vt:lpstr>PowerPoint Presentation</vt:lpstr>
      <vt:lpstr>Software Testing Strategy—The Big Picture</vt:lpstr>
      <vt:lpstr>PowerPoint Presentation</vt:lpstr>
      <vt:lpstr>PowerPoint Presentation</vt:lpstr>
      <vt:lpstr>Test Strategies for Conventional Software</vt:lpstr>
      <vt:lpstr>PowerPoint Presentation</vt:lpstr>
      <vt:lpstr>Unit Testing</vt:lpstr>
      <vt:lpstr>Unit Testing</vt:lpstr>
      <vt:lpstr>Integration Testing</vt:lpstr>
      <vt:lpstr>PowerPoint Presentation</vt:lpstr>
      <vt:lpstr>PowerPoint Presentation</vt:lpstr>
      <vt:lpstr>Cohesion and Coupling</vt:lpstr>
      <vt:lpstr>Cohesion and Coupling</vt:lpstr>
      <vt:lpstr>Regression testing (Toughest)</vt:lpstr>
      <vt:lpstr>Sanity Testing</vt:lpstr>
      <vt:lpstr>Smoke testing</vt:lpstr>
      <vt:lpstr>Test Strategies for Object-Oriented Software</vt:lpstr>
      <vt:lpstr>Unit Testing in the OO Context</vt:lpstr>
      <vt:lpstr>Integration Testing in the OO Context</vt:lpstr>
      <vt:lpstr>Validation Testing in an OO Context</vt:lpstr>
      <vt:lpstr>Validation Testing: How?</vt:lpstr>
      <vt:lpstr>PowerPoint Presentation</vt:lpstr>
      <vt:lpstr>System Testing</vt:lpstr>
      <vt:lpstr>Overall Test Characteristics</vt:lpstr>
      <vt:lpstr>Debugging</vt:lpstr>
      <vt:lpstr>Debugging Process</vt:lpstr>
      <vt:lpstr>PowerPoint Presentation</vt:lpstr>
      <vt:lpstr>Psychological Considerations</vt:lpstr>
      <vt:lpstr>Debugging Strategies</vt:lpstr>
      <vt:lpstr>Correcting the Error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Nasim Adnan</dc:creator>
  <cp:lastModifiedBy>Md. Nasim Adnan</cp:lastModifiedBy>
  <cp:revision>37</cp:revision>
  <dcterms:created xsi:type="dcterms:W3CDTF">2025-05-14T06:16:17Z</dcterms:created>
  <dcterms:modified xsi:type="dcterms:W3CDTF">2025-07-28T01:42:44Z</dcterms:modified>
</cp:coreProperties>
</file>