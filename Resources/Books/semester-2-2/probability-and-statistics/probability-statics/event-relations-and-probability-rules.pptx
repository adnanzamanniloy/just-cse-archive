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5c406b40e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5c406b40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5c406b40e_0_9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5c406b40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5c406b40e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5c406b40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5c406b40e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5c406b40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5c406b40e_0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5c406b40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5c406b40e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5c406b40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5c406b40e_0_1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5c406b40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5c406b40e_0_1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5c406b40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5c406b40e_0_1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5c406b40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5c406b40e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5c406b40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5c406b40e_0_1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5c406b40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5c406b40e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5c406b40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5c406b40e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5c406b40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5c406b40e_0_1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5c406b40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5c406b40e_0_1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15c406b40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5c406b40e_0_1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5c406b40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5c406b40e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5c406b40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29442" y="723460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7950" y="1176300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7952" y="3395900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729442" y="764660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1800">
                <a:solidFill>
                  <a:srgbClr val="000000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 sz="1500"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  <a:defRPr sz="13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729317" y="7843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7800" y="979167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1692767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1904" y="1692767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729442" y="754360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7800" y="919233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Char char="●"/>
              <a:defRPr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1176300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Relations and Probability Rules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395900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Relation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Sometimes the event of interest can be formed as a combination of several other events. Need to consider 3 important event rules (same as set theory)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Union Rule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The </a:t>
            </a:r>
            <a:r>
              <a:rPr b="1" lang="en" sz="2000"/>
              <a:t>union</a:t>
            </a:r>
            <a:r>
              <a:rPr lang="en" sz="2000"/>
              <a:t> of events A and B, denoted by</a:t>
            </a:r>
            <a:r>
              <a:rPr b="1" lang="en" sz="2000"/>
              <a:t> A ∪ B,</a:t>
            </a:r>
            <a:r>
              <a:rPr lang="en" sz="2000"/>
              <a:t> is the event that either A or B or both occur.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387" y="3149600"/>
            <a:ext cx="3050825" cy="20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Intersection Rule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The </a:t>
            </a:r>
            <a:r>
              <a:rPr b="1" lang="en" sz="2000"/>
              <a:t>intersection </a:t>
            </a:r>
            <a:r>
              <a:rPr lang="en" sz="2000"/>
              <a:t>of events A and B, denoted by </a:t>
            </a:r>
            <a:r>
              <a:rPr b="1" lang="en" sz="2000"/>
              <a:t>A ∩ B</a:t>
            </a:r>
            <a:r>
              <a:rPr lang="en" sz="2000"/>
              <a:t>, is the event that both A and B occur.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900" y="3173125"/>
            <a:ext cx="3924199" cy="26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 Rule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The </a:t>
            </a:r>
            <a:r>
              <a:rPr b="1" lang="en" sz="2000"/>
              <a:t>complement </a:t>
            </a:r>
            <a:r>
              <a:rPr lang="en" sz="2000"/>
              <a:t>of an event A, denoted by A</a:t>
            </a:r>
            <a:r>
              <a:rPr baseline="30000" lang="en" sz="2000"/>
              <a:t>c</a:t>
            </a:r>
            <a:r>
              <a:rPr lang="en" sz="2000"/>
              <a:t>  (or A’), is the event that A does not occur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315" y="3006553"/>
            <a:ext cx="3919375" cy="28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Two fair coins are tossed, and the outcome is recorded. These are the events of interest: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A: Observe at least one head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B: Observe at least one tail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Define the events </a:t>
            </a:r>
            <a:r>
              <a:rPr b="1" lang="en" sz="2000"/>
              <a:t>A</a:t>
            </a:r>
            <a:r>
              <a:rPr lang="en" sz="2000"/>
              <a:t>, </a:t>
            </a:r>
            <a:r>
              <a:rPr b="1" lang="en" sz="2000"/>
              <a:t>B</a:t>
            </a:r>
            <a:r>
              <a:rPr lang="en" sz="2000"/>
              <a:t>, </a:t>
            </a:r>
            <a:r>
              <a:rPr b="1" lang="en" sz="2000"/>
              <a:t>A ⋃ B</a:t>
            </a:r>
            <a:r>
              <a:rPr lang="en" sz="2000"/>
              <a:t>, </a:t>
            </a:r>
            <a:r>
              <a:rPr b="1" lang="en" sz="2000"/>
              <a:t>A ⋂ B</a:t>
            </a:r>
            <a:r>
              <a:rPr lang="en" sz="2000"/>
              <a:t>, and </a:t>
            </a:r>
            <a:r>
              <a:rPr b="1" lang="en" sz="2000"/>
              <a:t>A</a:t>
            </a:r>
            <a:r>
              <a:rPr b="1" baseline="30000" lang="en" sz="2000"/>
              <a:t>c</a:t>
            </a:r>
            <a:r>
              <a:rPr lang="en" sz="2000"/>
              <a:t> as collections of simple events, and find their probabilities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Probabilities for Unions and Complements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Addition Rule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two events, A and B, the probability of their union, </a:t>
            </a:r>
            <a:r>
              <a:rPr b="1" lang="en"/>
              <a:t>A ⋃ B</a:t>
            </a:r>
            <a:r>
              <a:rPr lang="en"/>
              <a:t>, is equal 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i="1" lang="en" sz="23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A ⋃ B)  = P(A) + P(B) - P(A ⋂ B)</a:t>
            </a:r>
            <a:endParaRPr b="1" i="1" sz="2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u="sng"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925" y="3428994"/>
            <a:ext cx="3809749" cy="26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Mutually Exclusive	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What happens if two events are mutually exclusive?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for Complement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i="1" lang="en" sz="23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A) + P(A</a:t>
            </a:r>
            <a:r>
              <a:rPr b="1" baseline="30000" i="1" lang="en" sz="2300"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) = 1</a:t>
            </a:r>
            <a:endParaRPr b="1" i="1" sz="2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Or</a:t>
            </a:r>
            <a:endParaRPr b="1" i="1" sz="2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P(A) = 1 - P(A</a:t>
            </a:r>
            <a:r>
              <a:rPr b="1" baseline="30000" i="1" lang="en" sz="2300"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)</a:t>
            </a:r>
            <a:endParaRPr b="1" i="1" sz="23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 oil-prospecting firm plans to drill two exploratory wells. Past evidence is used to assess the possible outcomes listed in Table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Find 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i="1" lang="en" sz="23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A ⋃ B) </a:t>
            </a:r>
            <a:r>
              <a:rPr lang="en" sz="2300">
                <a:latin typeface="Courier"/>
                <a:ea typeface="Courier"/>
                <a:cs typeface="Courier"/>
                <a:sym typeface="Courier"/>
              </a:rPr>
              <a:t>and </a:t>
            </a:r>
            <a:r>
              <a:rPr b="1" i="1" lang="en" sz="2300">
                <a:latin typeface="Courier"/>
                <a:ea typeface="Courier"/>
                <a:cs typeface="Courier"/>
                <a:sym typeface="Courier"/>
              </a:rPr>
              <a:t>P(B ⋃ C)</a:t>
            </a:r>
            <a:r>
              <a:rPr lang="en" sz="2300">
                <a:latin typeface="Courier"/>
                <a:ea typeface="Courier"/>
                <a:cs typeface="Courier"/>
                <a:sym typeface="Courier"/>
              </a:rPr>
              <a:t> 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537" y="2611123"/>
            <a:ext cx="5790926" cy="20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/>
              <a:t>The event A ⋃ B can be described as the event that </a:t>
            </a:r>
            <a:r>
              <a:rPr b="1" i="1" lang="en" sz="2300"/>
              <a:t>at most</a:t>
            </a:r>
            <a:r>
              <a:rPr lang="en" sz="2300"/>
              <a:t> one well produces oil or gas, and B ⋃ C describes the event that </a:t>
            </a:r>
            <a:r>
              <a:rPr b="1" i="1" lang="en" sz="2300"/>
              <a:t>at least</a:t>
            </a:r>
            <a:r>
              <a:rPr lang="en" sz="2300"/>
              <a:t> one well produces gas or oil.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Independence, Conditional Probability and The Multiplication Rule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and Dependent Events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There is a probability rule that can be used to calculate the probability of the intersection of </a:t>
            </a:r>
            <a:r>
              <a:rPr b="1" lang="en" sz="2000"/>
              <a:t>several events</a:t>
            </a:r>
            <a:r>
              <a:rPr lang="en" sz="2000"/>
              <a:t>. However, this rule depends on the important statistical concept of independent or dependent events.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Two events, A and B, are said to be </a:t>
            </a:r>
            <a:r>
              <a:rPr b="1" lang="en"/>
              <a:t>independent </a:t>
            </a:r>
            <a:r>
              <a:rPr lang="en"/>
              <a:t>if and only if the probability of event B is not influenced or changed by the occurrence of event A, or vice versa.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probability of an event A, given that the event B has occurred, is called the conditional probability of A, given that B has occurred, denoted by P(A|B)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Multiplicative Rule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probability that both A and B occur when the experiment is performed 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P(A⋂B) = P(A) * P(B|A)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Probability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P(A|B) = P(A⋂B) / P(B) Given P(B) ≠0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P(B|A) = P(A⋂B) / P(A) Given P(A) ≠0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ss Slid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