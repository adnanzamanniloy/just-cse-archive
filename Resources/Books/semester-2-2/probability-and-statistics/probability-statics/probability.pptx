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embeddedFontLst>
    <p:embeddedFont>
      <p:font typeface="Lato" charset="0"/>
      <p:regular r:id="rId20"/>
      <p:bold r:id="rId21"/>
      <p:italic r:id="rId22"/>
      <p:boldItalic r:id="rId23"/>
    </p:embeddedFont>
    <p:embeddedFont>
      <p:font typeface="Raleway"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4" d="100"/>
          <a:sy n="84" d="100"/>
        </p:scale>
        <p:origin x="-96" y="30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51407596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13f5d80d0b_0_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13f5d80d0b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13f5d80d0b_0_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13f5d80d0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13f5d80d0b_0_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13f5d80d0b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13f5d80d0b_0_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13f5d80d0b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13f5d80d0b_0_1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13f5d80d0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13f5d80d0b_0_1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13f5d80d0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13f5d80d0b_0_1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13f5d80d0b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13f5d80d0b_0_1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13f5d80d0b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13f5d80d0b_0_1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13f5d80d0b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13f5d80d0b_0_1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13f5d80d0b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13f5d80d0b_0_1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13f5d80d0b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13f5d80d0b_0_1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13f5d80d0b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13f5d80d0b_0_1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13f5d80d0b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13f5d80d0b_0_1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13f5d80d0b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13f5d80d0b_0_1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13f5d80d0b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13f5d80d0b_0_1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13f5d80d0b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650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729443" y="723375"/>
            <a:ext cx="745763" cy="61101"/>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7950" y="1176300"/>
            <a:ext cx="7688100" cy="22196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7952" y="3395900"/>
            <a:ext cx="7688100" cy="721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3" y="1588342"/>
            <a:ext cx="745763" cy="61101"/>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763267"/>
            <a:ext cx="7688400" cy="20248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650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729443" y="764575"/>
            <a:ext cx="745763" cy="61101"/>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rgbClr val="000000"/>
              </a:buClr>
              <a:buSzPts val="1800"/>
              <a:buChar char="●"/>
              <a:defRPr sz="1800">
                <a:solidFill>
                  <a:srgbClr val="000000"/>
                </a:solidFill>
              </a:defRPr>
            </a:lvl1pPr>
            <a:lvl2pPr marL="914400" lvl="1" indent="-323850">
              <a:spcBef>
                <a:spcPts val="0"/>
              </a:spcBef>
              <a:spcAft>
                <a:spcPts val="0"/>
              </a:spcAft>
              <a:buClr>
                <a:srgbClr val="000000"/>
              </a:buClr>
              <a:buSzPts val="1500"/>
              <a:buChar char="○"/>
              <a:defRPr sz="1500">
                <a:solidFill>
                  <a:srgbClr val="000000"/>
                </a:solidFill>
              </a:defRPr>
            </a:lvl2pPr>
            <a:lvl3pPr marL="1371600" lvl="2" indent="-317500">
              <a:spcBef>
                <a:spcPts val="0"/>
              </a:spcBef>
              <a:spcAft>
                <a:spcPts val="0"/>
              </a:spcAft>
              <a:buClr>
                <a:srgbClr val="000000"/>
              </a:buClr>
              <a:buSzPts val="1400"/>
              <a:buChar char="■"/>
              <a:defRPr sz="1400">
                <a:solidFill>
                  <a:srgbClr val="000000"/>
                </a:solidFill>
              </a:defRPr>
            </a:lvl3pPr>
            <a:lvl4pPr marL="1828800" lvl="3" indent="-311150">
              <a:spcBef>
                <a:spcPts val="0"/>
              </a:spcBef>
              <a:spcAft>
                <a:spcPts val="0"/>
              </a:spcAft>
              <a:buClr>
                <a:srgbClr val="000000"/>
              </a:buClr>
              <a:buSzPts val="1300"/>
              <a:buChar char="●"/>
              <a:defRPr sz="1300">
                <a:solidFill>
                  <a:srgbClr val="000000"/>
                </a:solidFill>
              </a:defRPr>
            </a:lvl4pPr>
            <a:lvl5pPr marL="2286000" lvl="4" indent="-304800">
              <a:spcBef>
                <a:spcPts val="0"/>
              </a:spcBef>
              <a:spcAft>
                <a:spcPts val="0"/>
              </a:spcAft>
              <a:buClr>
                <a:srgbClr val="000000"/>
              </a:buClr>
              <a:buSzPts val="1200"/>
              <a:buChar char="○"/>
              <a:defRPr sz="1200">
                <a:solidFill>
                  <a:srgbClr val="000000"/>
                </a:solidFill>
              </a:defRPr>
            </a:lvl5pPr>
            <a:lvl6pPr marL="2743200" lvl="5" indent="-298450">
              <a:spcBef>
                <a:spcPts val="0"/>
              </a:spcBef>
              <a:spcAft>
                <a:spcPts val="0"/>
              </a:spcAft>
              <a:buClr>
                <a:srgbClr val="000000"/>
              </a:buClr>
              <a:buSzPts val="1100"/>
              <a:buChar char="■"/>
              <a:defRPr>
                <a:solidFill>
                  <a:srgbClr val="000000"/>
                </a:solidFill>
              </a:defRPr>
            </a:lvl6pPr>
            <a:lvl7pPr marL="3200400" lvl="6" indent="-298450">
              <a:spcBef>
                <a:spcPts val="0"/>
              </a:spcBef>
              <a:spcAft>
                <a:spcPts val="0"/>
              </a:spcAft>
              <a:buClr>
                <a:srgbClr val="000000"/>
              </a:buClr>
              <a:buSzPts val="1100"/>
              <a:buChar char="●"/>
              <a:defRPr>
                <a:solidFill>
                  <a:srgbClr val="000000"/>
                </a:solidFill>
              </a:defRPr>
            </a:lvl7pPr>
            <a:lvl8pPr marL="3657600" lvl="7" indent="-298450">
              <a:spcBef>
                <a:spcPts val="0"/>
              </a:spcBef>
              <a:spcAft>
                <a:spcPts val="0"/>
              </a:spcAft>
              <a:buClr>
                <a:srgbClr val="000000"/>
              </a:buClr>
              <a:buSzPts val="1100"/>
              <a:buChar char="○"/>
              <a:defRPr>
                <a:solidFill>
                  <a:srgbClr val="000000"/>
                </a:solidFill>
              </a:defRPr>
            </a:lvl8pPr>
            <a:lvl9pPr marL="4114800" lvl="8" indent="-298450">
              <a:spcBef>
                <a:spcPts val="0"/>
              </a:spcBef>
              <a:spcAft>
                <a:spcPts val="0"/>
              </a:spcAft>
              <a:buClr>
                <a:srgbClr val="000000"/>
              </a:buClr>
              <a:buSzPts val="1100"/>
              <a:buChar char="■"/>
              <a:defRPr>
                <a:solidFill>
                  <a:srgbClr val="000000"/>
                </a:solidFill>
              </a:defRPr>
            </a:lvl9pPr>
          </a:lstStyle>
          <a:p>
            <a:endParaRPr/>
          </a:p>
        </p:txBody>
      </p:sp>
      <p:sp>
        <p:nvSpPr>
          <p:cNvPr id="30" name="Google Shape;30;p4"/>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650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729318" y="784242"/>
            <a:ext cx="745763" cy="61101"/>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7800" y="979167"/>
            <a:ext cx="7688400" cy="7136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1692767"/>
            <a:ext cx="3774300" cy="30148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rgbClr val="000000"/>
              </a:buClr>
              <a:buSzPts val="1600"/>
              <a:buChar char="●"/>
              <a:defRPr sz="1600">
                <a:solidFill>
                  <a:srgbClr val="000000"/>
                </a:solidFill>
              </a:defRPr>
            </a:lvl1pPr>
            <a:lvl2pPr marL="914400" lvl="1" indent="-317500">
              <a:spcBef>
                <a:spcPts val="0"/>
              </a:spcBef>
              <a:spcAft>
                <a:spcPts val="0"/>
              </a:spcAft>
              <a:buClr>
                <a:srgbClr val="000000"/>
              </a:buClr>
              <a:buSzPts val="1400"/>
              <a:buChar char="○"/>
              <a:defRPr sz="1400">
                <a:solidFill>
                  <a:srgbClr val="000000"/>
                </a:solidFill>
              </a:defRPr>
            </a:lvl2pPr>
            <a:lvl3pPr marL="1371600" lvl="2" indent="-298450">
              <a:spcBef>
                <a:spcPts val="0"/>
              </a:spcBef>
              <a:spcAft>
                <a:spcPts val="0"/>
              </a:spcAft>
              <a:buClr>
                <a:srgbClr val="000000"/>
              </a:buClr>
              <a:buSzPts val="1100"/>
              <a:buChar char="■"/>
              <a:defRPr>
                <a:solidFill>
                  <a:srgbClr val="000000"/>
                </a:solidFill>
              </a:defRPr>
            </a:lvl3pPr>
            <a:lvl4pPr marL="1828800" lvl="3" indent="-298450">
              <a:spcBef>
                <a:spcPts val="0"/>
              </a:spcBef>
              <a:spcAft>
                <a:spcPts val="0"/>
              </a:spcAft>
              <a:buClr>
                <a:srgbClr val="000000"/>
              </a:buClr>
              <a:buSzPts val="1100"/>
              <a:buChar char="●"/>
              <a:defRPr>
                <a:solidFill>
                  <a:srgbClr val="000000"/>
                </a:solidFill>
              </a:defRPr>
            </a:lvl4pPr>
            <a:lvl5pPr marL="2286000" lvl="4" indent="-298450">
              <a:spcBef>
                <a:spcPts val="0"/>
              </a:spcBef>
              <a:spcAft>
                <a:spcPts val="0"/>
              </a:spcAft>
              <a:buClr>
                <a:srgbClr val="000000"/>
              </a:buClr>
              <a:buSzPts val="1100"/>
              <a:buChar char="○"/>
              <a:defRPr>
                <a:solidFill>
                  <a:srgbClr val="000000"/>
                </a:solidFill>
              </a:defRPr>
            </a:lvl5pPr>
            <a:lvl6pPr marL="2743200" lvl="5" indent="-298450">
              <a:spcBef>
                <a:spcPts val="0"/>
              </a:spcBef>
              <a:spcAft>
                <a:spcPts val="0"/>
              </a:spcAft>
              <a:buClr>
                <a:srgbClr val="000000"/>
              </a:buClr>
              <a:buSzPts val="1100"/>
              <a:buChar char="■"/>
              <a:defRPr>
                <a:solidFill>
                  <a:srgbClr val="000000"/>
                </a:solidFill>
              </a:defRPr>
            </a:lvl6pPr>
            <a:lvl7pPr marL="3200400" lvl="6" indent="-298450">
              <a:spcBef>
                <a:spcPts val="0"/>
              </a:spcBef>
              <a:spcAft>
                <a:spcPts val="0"/>
              </a:spcAft>
              <a:buClr>
                <a:srgbClr val="000000"/>
              </a:buClr>
              <a:buSzPts val="1100"/>
              <a:buChar char="●"/>
              <a:defRPr>
                <a:solidFill>
                  <a:srgbClr val="000000"/>
                </a:solidFill>
              </a:defRPr>
            </a:lvl7pPr>
            <a:lvl8pPr marL="3657600" lvl="7" indent="-298450">
              <a:spcBef>
                <a:spcPts val="0"/>
              </a:spcBef>
              <a:spcAft>
                <a:spcPts val="0"/>
              </a:spcAft>
              <a:buClr>
                <a:srgbClr val="000000"/>
              </a:buClr>
              <a:buSzPts val="1100"/>
              <a:buChar char="○"/>
              <a:defRPr>
                <a:solidFill>
                  <a:srgbClr val="000000"/>
                </a:solidFill>
              </a:defRPr>
            </a:lvl8pPr>
            <a:lvl9pPr marL="4114800" lvl="8" indent="-298450">
              <a:spcBef>
                <a:spcPts val="0"/>
              </a:spcBef>
              <a:spcAft>
                <a:spcPts val="0"/>
              </a:spcAft>
              <a:buClr>
                <a:srgbClr val="000000"/>
              </a:buClr>
              <a:buSzPts val="1100"/>
              <a:buChar char="■"/>
              <a:defRPr>
                <a:solidFill>
                  <a:srgbClr val="000000"/>
                </a:solidFill>
              </a:defRPr>
            </a:lvl9pPr>
          </a:lstStyle>
          <a:p>
            <a:endParaRPr/>
          </a:p>
        </p:txBody>
      </p:sp>
      <p:sp>
        <p:nvSpPr>
          <p:cNvPr id="38" name="Google Shape;38;p5"/>
          <p:cNvSpPr txBox="1">
            <a:spLocks noGrp="1"/>
          </p:cNvSpPr>
          <p:nvPr>
            <p:ph type="body" idx="2"/>
          </p:nvPr>
        </p:nvSpPr>
        <p:spPr>
          <a:xfrm>
            <a:off x="4641904" y="1692767"/>
            <a:ext cx="3774300" cy="30148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rgbClr val="000000"/>
              </a:buClr>
              <a:buSzPts val="1600"/>
              <a:buChar char="●"/>
              <a:defRPr sz="1600">
                <a:solidFill>
                  <a:srgbClr val="000000"/>
                </a:solidFill>
              </a:defRPr>
            </a:lvl1pPr>
            <a:lvl2pPr marL="914400" lvl="1" indent="-317500">
              <a:spcBef>
                <a:spcPts val="0"/>
              </a:spcBef>
              <a:spcAft>
                <a:spcPts val="0"/>
              </a:spcAft>
              <a:buClr>
                <a:srgbClr val="000000"/>
              </a:buClr>
              <a:buSzPts val="1400"/>
              <a:buChar char="○"/>
              <a:defRPr sz="1400">
                <a:solidFill>
                  <a:srgbClr val="000000"/>
                </a:solidFill>
              </a:defRPr>
            </a:lvl2pPr>
            <a:lvl3pPr marL="1371600" lvl="2" indent="-298450">
              <a:spcBef>
                <a:spcPts val="0"/>
              </a:spcBef>
              <a:spcAft>
                <a:spcPts val="0"/>
              </a:spcAft>
              <a:buClr>
                <a:srgbClr val="000000"/>
              </a:buClr>
              <a:buSzPts val="1100"/>
              <a:buChar char="■"/>
              <a:defRPr>
                <a:solidFill>
                  <a:srgbClr val="000000"/>
                </a:solidFill>
              </a:defRPr>
            </a:lvl3pPr>
            <a:lvl4pPr marL="1828800" lvl="3" indent="-298450">
              <a:spcBef>
                <a:spcPts val="0"/>
              </a:spcBef>
              <a:spcAft>
                <a:spcPts val="0"/>
              </a:spcAft>
              <a:buClr>
                <a:srgbClr val="000000"/>
              </a:buClr>
              <a:buSzPts val="1100"/>
              <a:buChar char="●"/>
              <a:defRPr>
                <a:solidFill>
                  <a:srgbClr val="000000"/>
                </a:solidFill>
              </a:defRPr>
            </a:lvl4pPr>
            <a:lvl5pPr marL="2286000" lvl="4" indent="-298450">
              <a:spcBef>
                <a:spcPts val="0"/>
              </a:spcBef>
              <a:spcAft>
                <a:spcPts val="0"/>
              </a:spcAft>
              <a:buClr>
                <a:srgbClr val="000000"/>
              </a:buClr>
              <a:buSzPts val="1100"/>
              <a:buChar char="○"/>
              <a:defRPr>
                <a:solidFill>
                  <a:srgbClr val="000000"/>
                </a:solidFill>
              </a:defRPr>
            </a:lvl5pPr>
            <a:lvl6pPr marL="2743200" lvl="5" indent="-298450">
              <a:spcBef>
                <a:spcPts val="0"/>
              </a:spcBef>
              <a:spcAft>
                <a:spcPts val="0"/>
              </a:spcAft>
              <a:buClr>
                <a:srgbClr val="000000"/>
              </a:buClr>
              <a:buSzPts val="1100"/>
              <a:buChar char="■"/>
              <a:defRPr>
                <a:solidFill>
                  <a:srgbClr val="000000"/>
                </a:solidFill>
              </a:defRPr>
            </a:lvl6pPr>
            <a:lvl7pPr marL="3200400" lvl="6" indent="-298450">
              <a:spcBef>
                <a:spcPts val="0"/>
              </a:spcBef>
              <a:spcAft>
                <a:spcPts val="0"/>
              </a:spcAft>
              <a:buClr>
                <a:srgbClr val="000000"/>
              </a:buClr>
              <a:buSzPts val="1100"/>
              <a:buChar char="●"/>
              <a:defRPr>
                <a:solidFill>
                  <a:srgbClr val="000000"/>
                </a:solidFill>
              </a:defRPr>
            </a:lvl7pPr>
            <a:lvl8pPr marL="3657600" lvl="7" indent="-298450">
              <a:spcBef>
                <a:spcPts val="0"/>
              </a:spcBef>
              <a:spcAft>
                <a:spcPts val="0"/>
              </a:spcAft>
              <a:buClr>
                <a:srgbClr val="000000"/>
              </a:buClr>
              <a:buSzPts val="1100"/>
              <a:buChar char="○"/>
              <a:defRPr>
                <a:solidFill>
                  <a:srgbClr val="000000"/>
                </a:solidFill>
              </a:defRPr>
            </a:lvl8pPr>
            <a:lvl9pPr marL="4114800" lvl="8" indent="-298450">
              <a:spcBef>
                <a:spcPts val="0"/>
              </a:spcBef>
              <a:spcAft>
                <a:spcPts val="0"/>
              </a:spcAft>
              <a:buClr>
                <a:srgbClr val="000000"/>
              </a:buClr>
              <a:buSzPts val="1100"/>
              <a:buChar char="■"/>
              <a:defRPr>
                <a:solidFill>
                  <a:srgbClr val="000000"/>
                </a:solidFill>
              </a:defRPr>
            </a:lvl9pPr>
          </a:lstStyle>
          <a:p>
            <a:endParaRPr/>
          </a:p>
        </p:txBody>
      </p:sp>
      <p:sp>
        <p:nvSpPr>
          <p:cNvPr id="39" name="Google Shape;39;p5"/>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650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729443" y="754275"/>
            <a:ext cx="745763" cy="61101"/>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7800" y="919233"/>
            <a:ext cx="7688400" cy="7136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650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3" y="1588342"/>
            <a:ext cx="745763" cy="61101"/>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758200"/>
            <a:ext cx="3300900" cy="18420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3708967"/>
            <a:ext cx="3300900" cy="21300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SzPts val="20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3" y="5558840"/>
            <a:ext cx="745763" cy="61101"/>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1152400"/>
            <a:ext cx="7021200" cy="3980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3" y="1588342"/>
            <a:ext cx="745763" cy="61101"/>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758200"/>
            <a:ext cx="3300900" cy="22496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4215367"/>
            <a:ext cx="3300900" cy="1012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803500"/>
            <a:ext cx="3374400" cy="40340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SzPts val="20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5830068"/>
            <a:ext cx="7697400" cy="6140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000"/>
              <a:buNone/>
              <a:defRPr/>
            </a:lvl1pPr>
          </a:lstStyle>
          <a:p>
            <a:endParaRPr/>
          </a:p>
        </p:txBody>
      </p:sp>
      <p:sp>
        <p:nvSpPr>
          <p:cNvPr id="72" name="Google Shape;72;p10"/>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3" y="5558840"/>
            <a:ext cx="745763" cy="61101"/>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978600"/>
            <a:ext cx="7688400" cy="165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3030517"/>
            <a:ext cx="7688400" cy="21072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chemeClr val="lt1"/>
              </a:buClr>
              <a:buSzPts val="20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93367"/>
            <a:ext cx="85206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rmAutofit/>
          </a:bodyPr>
          <a:lstStyle>
            <a:lvl1pPr marL="457200" lvl="0" indent="-355600">
              <a:lnSpc>
                <a:spcPct val="115000"/>
              </a:lnSpc>
              <a:spcBef>
                <a:spcPts val="0"/>
              </a:spcBef>
              <a:spcAft>
                <a:spcPts val="0"/>
              </a:spcAft>
              <a:buClr>
                <a:schemeClr val="dk2"/>
              </a:buClr>
              <a:buSzPts val="2000"/>
              <a:buFont typeface="Lato"/>
              <a:buChar char="●"/>
              <a:defRPr sz="2000">
                <a:solidFill>
                  <a:schemeClr val="dk2"/>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6333135"/>
            <a:ext cx="548700" cy="524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7950" y="1176300"/>
            <a:ext cx="7688100" cy="221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Probability</a:t>
            </a:r>
            <a:endParaRPr/>
          </a:p>
        </p:txBody>
      </p:sp>
      <p:sp>
        <p:nvSpPr>
          <p:cNvPr id="87" name="Google Shape;87;p13"/>
          <p:cNvSpPr txBox="1">
            <a:spLocks noGrp="1"/>
          </p:cNvSpPr>
          <p:nvPr>
            <p:ph type="subTitle" idx="1"/>
          </p:nvPr>
        </p:nvSpPr>
        <p:spPr>
          <a:xfrm>
            <a:off x="727952" y="3395900"/>
            <a:ext cx="7688100" cy="721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How Probability is Used</a:t>
            </a:r>
            <a:endParaRPr/>
          </a:p>
        </p:txBody>
      </p:sp>
      <p:sp>
        <p:nvSpPr>
          <p:cNvPr id="93" name="Google Shape;93;p14"/>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100"/>
              <a:t>Probability is used as a tool. It allows you to evaluate the reliability of your conclusions about the population when you have only sample information.</a:t>
            </a:r>
            <a:endParaRPr sz="2100"/>
          </a:p>
          <a:p>
            <a:pPr marL="0" lvl="0" indent="0" algn="l" rtl="0">
              <a:spcBef>
                <a:spcPts val="1200"/>
              </a:spcBef>
              <a:spcAft>
                <a:spcPts val="1200"/>
              </a:spcAft>
              <a:buNone/>
            </a:pPr>
            <a:endParaRPr sz="21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Coin Toss </a:t>
            </a:r>
            <a:endParaRPr/>
          </a:p>
        </p:txBody>
      </p:sp>
      <p:sp>
        <p:nvSpPr>
          <p:cNvPr id="99" name="Google Shape;99;p15"/>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You toss the coin repeatedly, you will generate an infinitely large number of Hs and Ts—the entire population. What does this population look like? If the coin is fair, then the population should contain 50% Hs and 50% Ts. Now toss the coin one more time. What is the chance of getting a head? Most people would say that the “probability” or chance is 1/2.</a:t>
            </a:r>
            <a:endParaRPr/>
          </a:p>
          <a:p>
            <a:pPr marL="0" lvl="0" indent="0" algn="l" rtl="0">
              <a:spcBef>
                <a:spcPts val="1200"/>
              </a:spcBef>
              <a:spcAft>
                <a:spcPts val="1200"/>
              </a:spcAft>
              <a:buNone/>
            </a:pPr>
            <a:r>
              <a:rPr lang="en"/>
              <a:t>Now suppose you are not sure whether the coin is fair; that is, you are not sure whether the makeup of the population is 50–50. You decide to perform a simple experiment. You toss the coin n  10 times and observe </a:t>
            </a:r>
            <a:r>
              <a:rPr lang="en" b="1"/>
              <a:t>10 heads in a row</a:t>
            </a:r>
            <a:r>
              <a:rPr lang="en"/>
              <a:t>. Can you conclude that the coin is fair? Probably not, because if the coin were fair, observing 10 heads in a row would be very unlikely; that is, the “probability” would be very small. It is more likely that the coin is biased.</a:t>
            </a: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9450" y="1763267"/>
            <a:ext cx="7688400" cy="2024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Some Terminology</a:t>
            </a: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Experiment</a:t>
            </a:r>
            <a:endParaRPr/>
          </a:p>
        </p:txBody>
      </p:sp>
      <p:sp>
        <p:nvSpPr>
          <p:cNvPr id="110" name="Google Shape;110;p17"/>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An </a:t>
            </a:r>
            <a:r>
              <a:rPr lang="en" b="1" i="1"/>
              <a:t>experiment </a:t>
            </a:r>
            <a:r>
              <a:rPr lang="en"/>
              <a:t>is the process by which an observation (or measurement) is obtained.</a:t>
            </a:r>
            <a:endParaRPr/>
          </a:p>
          <a:p>
            <a:pPr marL="0" lvl="0" indent="0" algn="l" rtl="0">
              <a:spcBef>
                <a:spcPts val="1200"/>
              </a:spcBef>
              <a:spcAft>
                <a:spcPts val="0"/>
              </a:spcAft>
              <a:buNone/>
            </a:pPr>
            <a:r>
              <a:rPr lang="en"/>
              <a:t>• Recording a test grade</a:t>
            </a:r>
            <a:endParaRPr/>
          </a:p>
          <a:p>
            <a:pPr marL="0" lvl="0" indent="0" algn="l" rtl="0">
              <a:spcBef>
                <a:spcPts val="1200"/>
              </a:spcBef>
              <a:spcAft>
                <a:spcPts val="0"/>
              </a:spcAft>
              <a:buNone/>
            </a:pPr>
            <a:r>
              <a:rPr lang="en"/>
              <a:t>• Measuring daily rainfall</a:t>
            </a:r>
            <a:endParaRPr/>
          </a:p>
          <a:p>
            <a:pPr marL="0" lvl="0" indent="0" algn="l" rtl="0">
              <a:spcBef>
                <a:spcPts val="1200"/>
              </a:spcBef>
              <a:spcAft>
                <a:spcPts val="0"/>
              </a:spcAft>
              <a:buNone/>
            </a:pPr>
            <a:r>
              <a:rPr lang="en"/>
              <a:t>• Testing a printed circuit board to determine whether it is a defective product or an acceptable product</a:t>
            </a:r>
            <a:endParaRPr/>
          </a:p>
          <a:p>
            <a:pPr marL="0" lvl="0" indent="0" algn="l" rtl="0">
              <a:spcBef>
                <a:spcPts val="1200"/>
              </a:spcBef>
              <a:spcAft>
                <a:spcPts val="1200"/>
              </a:spcAft>
              <a:buNone/>
            </a:pPr>
            <a:r>
              <a:rPr lang="en"/>
              <a:t>• Tossing a coin and observing the face that appears</a:t>
            </a: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8"/>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Simple Event</a:t>
            </a:r>
            <a:endParaRPr/>
          </a:p>
        </p:txBody>
      </p:sp>
      <p:sp>
        <p:nvSpPr>
          <p:cNvPr id="116" name="Google Shape;116;p18"/>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 </a:t>
            </a:r>
            <a:r>
              <a:rPr lang="en" b="1" i="1"/>
              <a:t>simple event</a:t>
            </a:r>
            <a:r>
              <a:rPr lang="en"/>
              <a:t> is the outcome that is observed on a single repetition of the experiment. It is often denoted by the capital </a:t>
            </a:r>
            <a:r>
              <a:rPr lang="en" b="1" i="1"/>
              <a:t>E</a:t>
            </a:r>
            <a:r>
              <a:rPr lang="en" i="1"/>
              <a:t> </a:t>
            </a:r>
            <a:r>
              <a:rPr lang="en"/>
              <a:t>with a subscript</a:t>
            </a:r>
            <a:endParaRPr/>
          </a:p>
          <a:p>
            <a:pPr marL="0" lvl="0" indent="0" algn="l" rtl="0">
              <a:spcBef>
                <a:spcPts val="1200"/>
              </a:spcBef>
              <a:spcAft>
                <a:spcPts val="0"/>
              </a:spcAft>
              <a:buNone/>
            </a:pPr>
            <a:r>
              <a:rPr lang="en"/>
              <a:t>Example: Toss a die</a:t>
            </a:r>
            <a:br>
              <a:rPr lang="en"/>
            </a:br>
            <a:r>
              <a:rPr lang="en"/>
              <a:t>There are total 6 simple events</a:t>
            </a:r>
            <a:endParaRPr/>
          </a:p>
          <a:p>
            <a:pPr marL="0" lvl="0" indent="0" algn="l" rtl="0">
              <a:spcBef>
                <a:spcPts val="1200"/>
              </a:spcBef>
              <a:spcAft>
                <a:spcPts val="0"/>
              </a:spcAft>
              <a:buNone/>
            </a:pPr>
            <a:r>
              <a:rPr lang="en"/>
              <a:t>E</a:t>
            </a:r>
            <a:r>
              <a:rPr lang="en" baseline="-25000"/>
              <a:t>1 </a:t>
            </a:r>
            <a:r>
              <a:rPr lang="en"/>
              <a:t>: Observe 1</a:t>
            </a:r>
            <a:r>
              <a:rPr lang="en" baseline="-25000"/>
              <a:t>		</a:t>
            </a:r>
            <a:r>
              <a:rPr lang="en"/>
              <a:t>E</a:t>
            </a:r>
            <a:r>
              <a:rPr lang="en" baseline="-25000"/>
              <a:t>2</a:t>
            </a:r>
            <a:r>
              <a:rPr lang="en"/>
              <a:t>: </a:t>
            </a:r>
            <a:r>
              <a:rPr lang="en" baseline="-25000"/>
              <a:t> </a:t>
            </a:r>
            <a:r>
              <a:rPr lang="en"/>
              <a:t>Observe 2</a:t>
            </a:r>
            <a:endParaRPr baseline="-25000"/>
          </a:p>
          <a:p>
            <a:pPr marL="0" lvl="0" indent="0" algn="l" rtl="0">
              <a:spcBef>
                <a:spcPts val="1200"/>
              </a:spcBef>
              <a:spcAft>
                <a:spcPts val="0"/>
              </a:spcAft>
              <a:buNone/>
            </a:pPr>
            <a:r>
              <a:rPr lang="en"/>
              <a:t>E</a:t>
            </a:r>
            <a:r>
              <a:rPr lang="en" baseline="-25000"/>
              <a:t>3 </a:t>
            </a:r>
            <a:r>
              <a:rPr lang="en"/>
              <a:t>: Observe 3</a:t>
            </a:r>
            <a:r>
              <a:rPr lang="en" baseline="-25000"/>
              <a:t>		</a:t>
            </a:r>
            <a:r>
              <a:rPr lang="en"/>
              <a:t>E</a:t>
            </a:r>
            <a:r>
              <a:rPr lang="en" baseline="-25000"/>
              <a:t>4 </a:t>
            </a:r>
            <a:r>
              <a:rPr lang="en"/>
              <a:t>: Observe 4</a:t>
            </a:r>
            <a:endParaRPr baseline="-25000"/>
          </a:p>
          <a:p>
            <a:pPr marL="0" lvl="0" indent="0" algn="l" rtl="0">
              <a:spcBef>
                <a:spcPts val="1200"/>
              </a:spcBef>
              <a:spcAft>
                <a:spcPts val="1200"/>
              </a:spcAft>
              <a:buNone/>
            </a:pPr>
            <a:r>
              <a:rPr lang="en"/>
              <a:t>E</a:t>
            </a:r>
            <a:r>
              <a:rPr lang="en" baseline="-25000"/>
              <a:t>5 </a:t>
            </a:r>
            <a:r>
              <a:rPr lang="en"/>
              <a:t>: Observe 5</a:t>
            </a:r>
            <a:r>
              <a:rPr lang="en" baseline="-25000"/>
              <a:t>		</a:t>
            </a:r>
            <a:r>
              <a:rPr lang="en"/>
              <a:t>E</a:t>
            </a:r>
            <a:r>
              <a:rPr lang="en" baseline="-25000"/>
              <a:t>6 </a:t>
            </a:r>
            <a:r>
              <a:rPr lang="en"/>
              <a:t>: Observe 6</a:t>
            </a:r>
            <a:endParaRPr baseline="-250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Event</a:t>
            </a:r>
            <a:endParaRPr/>
          </a:p>
        </p:txBody>
      </p:sp>
      <p:sp>
        <p:nvSpPr>
          <p:cNvPr id="122" name="Google Shape;122;p19"/>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An </a:t>
            </a:r>
            <a:r>
              <a:rPr lang="en" b="1" i="1"/>
              <a:t>event </a:t>
            </a:r>
            <a:r>
              <a:rPr lang="en"/>
              <a:t>is a collection of simple events.</a:t>
            </a:r>
            <a:endParaRPr/>
          </a:p>
          <a:p>
            <a:pPr marL="0" lvl="0" indent="0" algn="l" rtl="0">
              <a:spcBef>
                <a:spcPts val="1200"/>
              </a:spcBef>
              <a:spcAft>
                <a:spcPts val="0"/>
              </a:spcAft>
              <a:buNone/>
            </a:pPr>
            <a:r>
              <a:rPr lang="en"/>
              <a:t>We can define the events</a:t>
            </a:r>
            <a:r>
              <a:rPr lang="en" i="1"/>
              <a:t> A</a:t>
            </a:r>
            <a:r>
              <a:rPr lang="en"/>
              <a:t> and </a:t>
            </a:r>
            <a:r>
              <a:rPr lang="en" i="1"/>
              <a:t>B</a:t>
            </a:r>
            <a:r>
              <a:rPr lang="en"/>
              <a:t> for the die tossing experiment:</a:t>
            </a:r>
            <a:endParaRPr/>
          </a:p>
          <a:p>
            <a:pPr marL="0" lvl="0" indent="0" algn="l" rtl="0">
              <a:spcBef>
                <a:spcPts val="1200"/>
              </a:spcBef>
              <a:spcAft>
                <a:spcPts val="0"/>
              </a:spcAft>
              <a:buNone/>
            </a:pPr>
            <a:r>
              <a:rPr lang="en" b="1"/>
              <a:t>A: Observe an odd number</a:t>
            </a:r>
            <a:endParaRPr b="1"/>
          </a:p>
          <a:p>
            <a:pPr marL="0" lvl="0" indent="0" algn="l" rtl="0">
              <a:spcBef>
                <a:spcPts val="1200"/>
              </a:spcBef>
              <a:spcAft>
                <a:spcPts val="0"/>
              </a:spcAft>
              <a:buNone/>
            </a:pPr>
            <a:r>
              <a:rPr lang="en" b="1"/>
              <a:t>B: Observe a number less than 4</a:t>
            </a:r>
            <a:endParaRPr b="1"/>
          </a:p>
          <a:p>
            <a:pPr marL="0" lvl="0" indent="0" algn="l" rtl="0">
              <a:spcBef>
                <a:spcPts val="1200"/>
              </a:spcBef>
              <a:spcAft>
                <a:spcPts val="0"/>
              </a:spcAft>
              <a:buNone/>
            </a:pPr>
            <a:r>
              <a:rPr lang="en"/>
              <a:t>Since event A occurs if the upper face is 1, 3, or 5, it is a collection of three simple</a:t>
            </a:r>
            <a:endParaRPr/>
          </a:p>
          <a:p>
            <a:pPr marL="0" lvl="0" indent="0" algn="l" rtl="0">
              <a:spcBef>
                <a:spcPts val="1200"/>
              </a:spcBef>
              <a:spcAft>
                <a:spcPts val="0"/>
              </a:spcAft>
              <a:buNone/>
            </a:pPr>
            <a:r>
              <a:rPr lang="en"/>
              <a:t>events and we write A=  {E</a:t>
            </a:r>
            <a:r>
              <a:rPr lang="en" baseline="-25000"/>
              <a:t>1</a:t>
            </a:r>
            <a:r>
              <a:rPr lang="en"/>
              <a:t>, E</a:t>
            </a:r>
            <a:r>
              <a:rPr lang="en" baseline="-25000"/>
              <a:t>3</a:t>
            </a:r>
            <a:r>
              <a:rPr lang="en"/>
              <a:t>, E</a:t>
            </a:r>
            <a:r>
              <a:rPr lang="en" baseline="-25000"/>
              <a:t>5</a:t>
            </a:r>
            <a:r>
              <a:rPr lang="en"/>
              <a:t>}. Similarly, the event B occurs if the upper face</a:t>
            </a:r>
            <a:endParaRPr/>
          </a:p>
          <a:p>
            <a:pPr marL="0" lvl="0" indent="0" algn="l" rtl="0">
              <a:spcBef>
                <a:spcPts val="1200"/>
              </a:spcBef>
              <a:spcAft>
                <a:spcPts val="0"/>
              </a:spcAft>
              <a:buNone/>
            </a:pPr>
            <a:r>
              <a:rPr lang="en"/>
              <a:t>is 1, 2, or 3 and is defined as a collection or set of these three simple events:</a:t>
            </a:r>
            <a:endParaRPr/>
          </a:p>
          <a:p>
            <a:pPr marL="0" lvl="0" indent="0" algn="l" rtl="0">
              <a:spcBef>
                <a:spcPts val="1200"/>
              </a:spcBef>
              <a:spcAft>
                <a:spcPts val="1200"/>
              </a:spcAft>
              <a:buNone/>
            </a:pPr>
            <a:r>
              <a:rPr lang="en"/>
              <a:t>B =  {E</a:t>
            </a:r>
            <a:r>
              <a:rPr lang="en" baseline="-25000"/>
              <a:t>1</a:t>
            </a:r>
            <a:r>
              <a:rPr lang="en"/>
              <a:t>, E</a:t>
            </a:r>
            <a:r>
              <a:rPr lang="en" baseline="-25000"/>
              <a:t>2</a:t>
            </a:r>
            <a:r>
              <a:rPr lang="en"/>
              <a:t>, E</a:t>
            </a:r>
            <a:r>
              <a:rPr lang="en" baseline="-25000"/>
              <a:t>3</a:t>
            </a:r>
            <a:r>
              <a:rPr lang="en"/>
              <a:t>}.</a:t>
            </a:r>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Mutually Exclusive Events</a:t>
            </a:r>
            <a:endParaRPr/>
          </a:p>
        </p:txBody>
      </p:sp>
      <p:sp>
        <p:nvSpPr>
          <p:cNvPr id="128" name="Google Shape;128;p20"/>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Two events are mutually exclusive if, when one event occurs, the others cannot, and vice versa.</a:t>
            </a:r>
            <a:endParaRPr/>
          </a:p>
          <a:p>
            <a:pPr marL="0" lvl="0" indent="0" algn="l" rtl="0">
              <a:spcBef>
                <a:spcPts val="1200"/>
              </a:spcBef>
              <a:spcAft>
                <a:spcPts val="0"/>
              </a:spcAft>
              <a:buNone/>
            </a:pPr>
            <a:endParaRPr/>
          </a:p>
          <a:p>
            <a:pPr marL="0" lvl="0" indent="0" algn="l" rtl="0">
              <a:spcBef>
                <a:spcPts val="1200"/>
              </a:spcBef>
              <a:spcAft>
                <a:spcPts val="1200"/>
              </a:spcAft>
              <a:buNone/>
            </a:pPr>
            <a:r>
              <a:rPr lang="en"/>
              <a:t>Question: Are the previous events mutually exclusive?</a:t>
            </a:r>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Sample Space</a:t>
            </a:r>
            <a:endParaRPr/>
          </a:p>
        </p:txBody>
      </p:sp>
      <p:sp>
        <p:nvSpPr>
          <p:cNvPr id="134" name="Google Shape;134;p21"/>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The set of all simple events is called the</a:t>
            </a:r>
            <a:r>
              <a:rPr lang="en" b="1" i="1"/>
              <a:t> sample space</a:t>
            </a:r>
            <a:r>
              <a:rPr lang="en"/>
              <a:t>, denoted by </a:t>
            </a:r>
            <a:r>
              <a:rPr lang="en" b="1" i="1"/>
              <a:t>S</a:t>
            </a:r>
            <a:endParaRPr b="1" i="1"/>
          </a:p>
        </p:txBody>
      </p:sp>
      <p:pic>
        <p:nvPicPr>
          <p:cNvPr id="135" name="Google Shape;135;p21"/>
          <p:cNvPicPr preferRelativeResize="0"/>
          <p:nvPr/>
        </p:nvPicPr>
        <p:blipFill>
          <a:blip r:embed="rId3">
            <a:alphaModFix/>
          </a:blip>
          <a:stretch>
            <a:fillRect/>
          </a:stretch>
        </p:blipFill>
        <p:spPr>
          <a:xfrm>
            <a:off x="2682289" y="2723333"/>
            <a:ext cx="3686175" cy="2540000"/>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Sample Space</a:t>
            </a:r>
            <a:endParaRPr/>
          </a:p>
        </p:txBody>
      </p:sp>
      <p:sp>
        <p:nvSpPr>
          <p:cNvPr id="141" name="Google Shape;141;p22"/>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For a single coin toss, the possible outcomes are either heads (H) or tails (T).</a:t>
            </a:r>
            <a:endParaRPr/>
          </a:p>
          <a:p>
            <a:pPr marL="0" lvl="0" indent="0" algn="l" rtl="0">
              <a:spcBef>
                <a:spcPts val="1200"/>
              </a:spcBef>
              <a:spcAft>
                <a:spcPts val="0"/>
              </a:spcAft>
              <a:buNone/>
            </a:pPr>
            <a:r>
              <a:rPr lang="en" b="1"/>
              <a:t>Sample Space, </a:t>
            </a:r>
            <a:r>
              <a:rPr lang="en" b="1" i="1"/>
              <a:t>S</a:t>
            </a:r>
            <a:r>
              <a:rPr lang="en" i="1"/>
              <a:t>:  {H, T}</a:t>
            </a:r>
            <a:endParaRPr i="1"/>
          </a:p>
          <a:p>
            <a:pPr marL="0" lvl="0" indent="0" algn="l" rtl="0">
              <a:spcBef>
                <a:spcPts val="1200"/>
              </a:spcBef>
              <a:spcAft>
                <a:spcPts val="0"/>
              </a:spcAft>
              <a:buNone/>
            </a:pPr>
            <a:endParaRPr i="1"/>
          </a:p>
          <a:p>
            <a:pPr marL="0" lvl="0" indent="0" algn="l" rtl="0">
              <a:spcBef>
                <a:spcPts val="1200"/>
              </a:spcBef>
              <a:spcAft>
                <a:spcPts val="1200"/>
              </a:spcAft>
              <a:buNone/>
            </a:pPr>
            <a:r>
              <a:rPr lang="en"/>
              <a:t>What is we toss the coin twice? What will be the sample space of that experiment?</a:t>
            </a:r>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Relative Frequency</a:t>
            </a:r>
            <a:endParaRPr/>
          </a:p>
        </p:txBody>
      </p:sp>
      <p:sp>
        <p:nvSpPr>
          <p:cNvPr id="147" name="Google Shape;147;p23"/>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if an experiment is performed n times, then the relative frequency of a particular occurrence </a:t>
            </a:r>
            <a:r>
              <a:rPr lang="en" b="1" i="1"/>
              <a:t> A </a:t>
            </a:r>
            <a:r>
              <a:rPr lang="en"/>
              <a:t>— is</a:t>
            </a:r>
            <a:endParaRPr/>
          </a:p>
          <a:p>
            <a:pPr marL="0" lvl="0" indent="0" algn="l" rtl="0">
              <a:spcBef>
                <a:spcPts val="1200"/>
              </a:spcBef>
              <a:spcAft>
                <a:spcPts val="0"/>
              </a:spcAft>
              <a:buNone/>
            </a:pPr>
            <a:r>
              <a:rPr lang="en" b="1" i="1"/>
              <a:t>Relative frequency = Frequency / n</a:t>
            </a:r>
            <a:endParaRPr b="1" i="1"/>
          </a:p>
          <a:p>
            <a:pPr marL="0" lvl="0" indent="0" algn="l" rtl="0">
              <a:spcBef>
                <a:spcPts val="1200"/>
              </a:spcBef>
              <a:spcAft>
                <a:spcPts val="0"/>
              </a:spcAft>
              <a:buNone/>
            </a:pPr>
            <a:r>
              <a:rPr lang="en"/>
              <a:t>Where the frequency is the number of times the event A occurred.</a:t>
            </a:r>
            <a:endParaRPr/>
          </a:p>
          <a:p>
            <a:pPr marL="0" lvl="0" indent="0" algn="l" rtl="0">
              <a:spcBef>
                <a:spcPts val="1200"/>
              </a:spcBef>
              <a:spcAft>
                <a:spcPts val="0"/>
              </a:spcAft>
              <a:buNone/>
            </a:pPr>
            <a:r>
              <a:rPr lang="en"/>
              <a:t>What if </a:t>
            </a:r>
            <a:r>
              <a:rPr lang="en" sz="2700" b="1" i="1"/>
              <a:t>n -&gt; ∞</a:t>
            </a:r>
            <a:endParaRPr sz="2700" b="1" i="1"/>
          </a:p>
          <a:p>
            <a:pPr marL="0" lvl="0" indent="0" algn="l" rtl="0">
              <a:spcBef>
                <a:spcPts val="1200"/>
              </a:spcBef>
              <a:spcAft>
                <a:spcPts val="0"/>
              </a:spcAft>
              <a:buNone/>
            </a:pPr>
            <a:r>
              <a:rPr lang="en"/>
              <a:t>you will eventually generate the entire population.</a:t>
            </a:r>
            <a:endParaRPr/>
          </a:p>
          <a:p>
            <a:pPr marL="0" lvl="0" indent="0" algn="l" rtl="0">
              <a:spcBef>
                <a:spcPts val="1200"/>
              </a:spcBef>
              <a:spcAft>
                <a:spcPts val="1200"/>
              </a:spcAft>
              <a:buNone/>
            </a:pPr>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Probability</a:t>
            </a:r>
            <a:endParaRPr/>
          </a:p>
        </p:txBody>
      </p:sp>
      <p:sp>
        <p:nvSpPr>
          <p:cNvPr id="153" name="Google Shape;153;p24"/>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 this population, the relative frequency of the event </a:t>
            </a:r>
            <a:r>
              <a:rPr lang="en" b="1" i="1"/>
              <a:t>A</a:t>
            </a:r>
            <a:r>
              <a:rPr lang="en"/>
              <a:t> is defined as the probability of event </a:t>
            </a:r>
            <a:r>
              <a:rPr lang="en" b="1" i="1"/>
              <a:t>A;</a:t>
            </a:r>
            <a:r>
              <a:rPr lang="en"/>
              <a:t> that is,</a:t>
            </a:r>
            <a:endParaRPr/>
          </a:p>
          <a:p>
            <a:pPr marL="0" lvl="0" indent="0" algn="l" rtl="0">
              <a:spcBef>
                <a:spcPts val="1200"/>
              </a:spcBef>
              <a:spcAft>
                <a:spcPts val="1200"/>
              </a:spcAft>
              <a:buNone/>
            </a:pPr>
            <a:endParaRPr/>
          </a:p>
        </p:txBody>
      </p:sp>
      <p:pic>
        <p:nvPicPr>
          <p:cNvPr id="154" name="Google Shape;154;p24"/>
          <p:cNvPicPr preferRelativeResize="0"/>
          <p:nvPr/>
        </p:nvPicPr>
        <p:blipFill>
          <a:blip r:embed="rId3">
            <a:alphaModFix/>
          </a:blip>
          <a:stretch>
            <a:fillRect/>
          </a:stretch>
        </p:blipFill>
        <p:spPr>
          <a:xfrm>
            <a:off x="2255001" y="3192050"/>
            <a:ext cx="4242825" cy="1602567"/>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5"/>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Probability value range</a:t>
            </a:r>
            <a:endParaRPr/>
          </a:p>
        </p:txBody>
      </p:sp>
      <p:sp>
        <p:nvSpPr>
          <p:cNvPr id="160" name="Google Shape;160;p25"/>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P(A) behaves like a relative frequency, P(A) must be a proportion lying between 0 and 1. P(A) = 0 if the event A never occurs, and P(A) = 1 if the event A always occurs. The closer P(A) is to 1, the more likely it is that A will occur.</a:t>
            </a:r>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Probability</a:t>
            </a:r>
            <a:endParaRPr/>
          </a:p>
        </p:txBody>
      </p:sp>
      <p:sp>
        <p:nvSpPr>
          <p:cNvPr id="166" name="Google Shape;166;p26"/>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if you tossed a balanced, six-sided die an infinite number of times, you would expect the relative frequency for any of the six values, x = 1, 2, 3, 4, 5, 6, to be 1/6.</a:t>
            </a:r>
            <a:endParaRPr/>
          </a:p>
          <a:p>
            <a:pPr marL="0" lvl="0" indent="0" algn="l" rtl="0">
              <a:spcBef>
                <a:spcPts val="1200"/>
              </a:spcBef>
              <a:spcAft>
                <a:spcPts val="0"/>
              </a:spcAft>
              <a:buNone/>
            </a:pPr>
            <a:r>
              <a:rPr lang="en"/>
              <a:t>It is impossible, to repeat an experiment an infinite number of times.</a:t>
            </a:r>
            <a:endParaRPr/>
          </a:p>
          <a:p>
            <a:pPr marL="0" lvl="0" indent="0" algn="l" rtl="0">
              <a:spcBef>
                <a:spcPts val="1200"/>
              </a:spcBef>
              <a:spcAft>
                <a:spcPts val="1200"/>
              </a:spcAft>
              <a:buNone/>
            </a:pPr>
            <a:r>
              <a:rPr lang="en"/>
              <a:t>An important consequence of the relative frequency definition of probability involves the simple events. Since the simple events are mutually exclusive, their probabilities must satisfy two conditions.</a:t>
            </a:r>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7"/>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Requirements for Simple Event Probabilities</a:t>
            </a:r>
            <a:endParaRPr/>
          </a:p>
        </p:txBody>
      </p:sp>
      <p:sp>
        <p:nvSpPr>
          <p:cNvPr id="172" name="Google Shape;172;p27"/>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Each probability must lie between 0 and 1.</a:t>
            </a:r>
            <a:endParaRPr/>
          </a:p>
          <a:p>
            <a:pPr marL="457200" lvl="0" indent="-342900" algn="l" rtl="0">
              <a:spcBef>
                <a:spcPts val="0"/>
              </a:spcBef>
              <a:spcAft>
                <a:spcPts val="0"/>
              </a:spcAft>
              <a:buSzPts val="1800"/>
              <a:buChar char="●"/>
            </a:pPr>
            <a:r>
              <a:rPr lang="en"/>
              <a:t>The sum of the probabilities for all simple events in S equals 1.</a:t>
            </a:r>
            <a:endParaRPr/>
          </a:p>
          <a:p>
            <a:pPr marL="0" lvl="0" indent="0" algn="l" rtl="0">
              <a:spcBef>
                <a:spcPts val="1200"/>
              </a:spcBef>
              <a:spcAft>
                <a:spcPts val="1200"/>
              </a:spcAft>
              <a:buNone/>
            </a:pPr>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8"/>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Probability (Definition)</a:t>
            </a:r>
            <a:endParaRPr/>
          </a:p>
        </p:txBody>
      </p:sp>
      <p:sp>
        <p:nvSpPr>
          <p:cNvPr id="178" name="Google Shape;178;p28"/>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probability of an </a:t>
            </a:r>
            <a:r>
              <a:rPr lang="en" b="1"/>
              <a:t>event</a:t>
            </a:r>
            <a:r>
              <a:rPr lang="en"/>
              <a:t> </a:t>
            </a:r>
            <a:r>
              <a:rPr lang="en" b="1" i="1"/>
              <a:t>A</a:t>
            </a:r>
            <a:r>
              <a:rPr lang="en"/>
              <a:t> is equal to the sum of the probabilities of the </a:t>
            </a:r>
            <a:r>
              <a:rPr lang="en" b="1"/>
              <a:t>simple events </a:t>
            </a:r>
            <a:r>
              <a:rPr lang="en"/>
              <a:t>contained in </a:t>
            </a:r>
            <a:r>
              <a:rPr lang="en" b="1" i="1"/>
              <a:t>A</a:t>
            </a:r>
            <a:r>
              <a:rPr lang="en"/>
              <a:t>.</a:t>
            </a:r>
            <a:endParaRPr/>
          </a:p>
          <a:p>
            <a:pPr marL="0" lvl="0" indent="0" algn="l" rtl="0">
              <a:spcBef>
                <a:spcPts val="1200"/>
              </a:spcBef>
              <a:spcAft>
                <a:spcPts val="1200"/>
              </a:spcAft>
              <a:buNone/>
            </a:pPr>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9"/>
          <p:cNvSpPr txBox="1">
            <a:spLocks noGrp="1"/>
          </p:cNvSpPr>
          <p:nvPr>
            <p:ph type="title"/>
          </p:nvPr>
        </p:nvSpPr>
        <p:spPr>
          <a:xfrm>
            <a:off x="729450" y="939833"/>
            <a:ext cx="7688700" cy="7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Example</a:t>
            </a:r>
            <a:endParaRPr/>
          </a:p>
        </p:txBody>
      </p:sp>
      <p:sp>
        <p:nvSpPr>
          <p:cNvPr id="184" name="Google Shape;184;p29"/>
          <p:cNvSpPr txBox="1">
            <a:spLocks noGrp="1"/>
          </p:cNvSpPr>
          <p:nvPr>
            <p:ph type="body" idx="1"/>
          </p:nvPr>
        </p:nvSpPr>
        <p:spPr>
          <a:xfrm>
            <a:off x="727650" y="1653533"/>
            <a:ext cx="7688700" cy="467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Toss two fair coins and record the outcome. Find the probability of observing exactly one head in the two tosses.</a:t>
            </a:r>
            <a:endParaRPr/>
          </a:p>
          <a:p>
            <a:pPr marL="0" lvl="0" indent="0" algn="l" rtl="0">
              <a:spcBef>
                <a:spcPts val="1200"/>
              </a:spcBef>
              <a:spcAft>
                <a:spcPts val="1200"/>
              </a:spcAft>
              <a:buNone/>
            </a:pPr>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lass Slid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826</Words>
  <Application>Microsoft Office PowerPoint</Application>
  <PresentationFormat>On-screen Show (4:3)</PresentationFormat>
  <Paragraphs>60</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Lato</vt:lpstr>
      <vt:lpstr>Raleway</vt:lpstr>
      <vt:lpstr>Class Slide</vt:lpstr>
      <vt:lpstr>Probability</vt:lpstr>
      <vt:lpstr>How Probability is Used</vt:lpstr>
      <vt:lpstr>Coin Toss </vt:lpstr>
      <vt:lpstr>Some Terminology</vt:lpstr>
      <vt:lpstr>Experiment</vt:lpstr>
      <vt:lpstr>Simple Event</vt:lpstr>
      <vt:lpstr>Event</vt:lpstr>
      <vt:lpstr>Mutually Exclusive Events</vt:lpstr>
      <vt:lpstr>Sample Space</vt:lpstr>
      <vt:lpstr>Sample Space</vt:lpstr>
      <vt:lpstr>Relative Frequency</vt:lpstr>
      <vt:lpstr>Probability</vt:lpstr>
      <vt:lpstr>Probability value range</vt:lpstr>
      <vt:lpstr>Probability</vt:lpstr>
      <vt:lpstr>Requirements for Simple Event Probabilities</vt:lpstr>
      <vt:lpstr>Probability (Definition)</vt:lpstr>
      <vt:lpstr>Example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dc:title>
  <cp:lastModifiedBy>USER</cp:lastModifiedBy>
  <cp:revision>2</cp:revision>
  <dcterms:modified xsi:type="dcterms:W3CDTF">2024-11-12T04:07:54Z</dcterms:modified>
</cp:coreProperties>
</file>