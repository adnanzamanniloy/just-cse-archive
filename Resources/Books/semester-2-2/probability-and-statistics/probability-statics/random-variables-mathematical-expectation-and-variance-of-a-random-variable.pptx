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regular.fntdata"/><Relationship Id="rId25" Type="http://schemas.openxmlformats.org/officeDocument/2006/relationships/slide" Target="slides/slide20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905513ccb_0_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905513cc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905513ccb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905513cc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905513ccb_0_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905513cc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905513ccb_0_10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905513cc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905513ccb_0_10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905513cc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905513ccb_0_1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905513cc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905513ccb_0_1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905513cc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905513ccb_0_1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1905513cc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905513ccb_0_1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905513cc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905513ccb_0_1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905513cc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905513ccb_0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905513cc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905513ccb_0_1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905513ccb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905513ccb_0_1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1905513cc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905513ccb_0_17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905513ccb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905513ccb_0_1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905513cc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905513ccb_0_1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1905513cc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905513ccb_0_1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905513cc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905513ccb_0_1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1905513ccb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1905513ccb_0_1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1905513cc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29442" y="723460"/>
            <a:ext cx="745763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7950" y="1176300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7952" y="3395900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729442" y="764660"/>
            <a:ext cx="745763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 sz="1800">
                <a:solidFill>
                  <a:srgbClr val="000000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 sz="1500">
                <a:solidFill>
                  <a:srgbClr val="000000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>
                <a:solidFill>
                  <a:srgbClr val="000000"/>
                </a:solidFill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  <a:defRPr sz="1300">
                <a:solidFill>
                  <a:srgbClr val="000000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  <a:defRPr>
                <a:solidFill>
                  <a:srgbClr val="000000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  <a:defRPr>
                <a:solidFill>
                  <a:srgbClr val="000000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729317" y="784327"/>
            <a:ext cx="745763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7800" y="979167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1692767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  <a:defRPr>
                <a:solidFill>
                  <a:srgbClr val="000000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  <a:defRPr>
                <a:solidFill>
                  <a:srgbClr val="000000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  <a:defRPr>
                <a:solidFill>
                  <a:srgbClr val="000000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  <a:defRPr>
                <a:solidFill>
                  <a:srgbClr val="000000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1904" y="1692767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  <a:defRPr>
                <a:solidFill>
                  <a:srgbClr val="000000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  <a:defRPr>
                <a:solidFill>
                  <a:srgbClr val="000000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  <a:defRPr>
                <a:solidFill>
                  <a:srgbClr val="000000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  <a:defRPr>
                <a:solidFill>
                  <a:srgbClr val="000000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729442" y="754360"/>
            <a:ext cx="745763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7800" y="919233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ato"/>
              <a:buChar char="●"/>
              <a:defRPr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7950" y="1176300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Variables, Mathematical Expectation and Variance of a random variable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2" y="3395900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Variable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Y</a:t>
            </a:r>
            <a:r>
              <a:rPr lang="en" sz="2200"/>
              <a:t>ou toss a die and measure </a:t>
            </a:r>
            <a:r>
              <a:rPr b="1" i="1" lang="en" sz="2200" u="sng"/>
              <a:t>x</a:t>
            </a:r>
            <a:r>
              <a:rPr lang="en" sz="2200"/>
              <a:t>, the number observed on the upper face. The variable </a:t>
            </a:r>
            <a:r>
              <a:rPr b="1" i="1" lang="en" sz="2200" u="sng"/>
              <a:t>x</a:t>
            </a:r>
            <a:r>
              <a:rPr lang="en" sz="2200"/>
              <a:t> can take on any of six values—1, 2, 3, 4, 5, 6—depending on the random outcome of the experiment.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 variable</a:t>
            </a:r>
            <a:r>
              <a:rPr b="1" i="1" lang="en" sz="2100"/>
              <a:t> </a:t>
            </a:r>
            <a:r>
              <a:rPr b="1" i="1" lang="en" sz="2100" u="sng"/>
              <a:t>x</a:t>
            </a:r>
            <a:r>
              <a:rPr lang="en" sz="2100"/>
              <a:t> is a random variable if the value that it assumes, corresponding to the outcome of an experiment, is a chance or random event.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i="1" lang="en" sz="2200" u="sng"/>
              <a:t>x</a:t>
            </a:r>
            <a:r>
              <a:rPr lang="en" sz="2200"/>
              <a:t>  Number of defects on a randomly selected piece of furniture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2200" u="sng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i="1" lang="en" sz="2200" u="sng"/>
              <a:t>x</a:t>
            </a:r>
            <a:r>
              <a:rPr lang="en" sz="2200"/>
              <a:t>  SAT score for a randomly selected college applicant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i="1" lang="en" sz="2200" u="sng"/>
              <a:t>x</a:t>
            </a:r>
            <a:r>
              <a:rPr lang="en" sz="2200"/>
              <a:t>  Number of telephone calls received by a crisis intervention hotline during a randomly selected time period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 </a:t>
            </a:r>
            <a:r>
              <a:rPr b="1" lang="en" sz="2100"/>
              <a:t>variable </a:t>
            </a:r>
            <a:r>
              <a:rPr lang="en" sz="2100"/>
              <a:t>is a characteristic that changes or varies over time and/or for different individuals or objects under consideration.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A </a:t>
            </a:r>
            <a:r>
              <a:rPr b="1" lang="en" sz="2100"/>
              <a:t>discrete variable</a:t>
            </a:r>
            <a:r>
              <a:rPr lang="en" sz="2100"/>
              <a:t> can assume only a finite or countable number of values. (e.g. number of family members, number of new car sales, and number of defective tires returned)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A </a:t>
            </a:r>
            <a:r>
              <a:rPr b="1" lang="en" sz="2100"/>
              <a:t>continuous variable</a:t>
            </a:r>
            <a:r>
              <a:rPr lang="en" sz="2100"/>
              <a:t> can assume the infinitely many values corresponding to the points on a line interval. (e.g. height, weight, time, distance, and volume)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or quantitative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Identify each of the following variables as qualitative or quantitative: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The most frequent use of your microwave oven (reheating, defrosting, warming, other)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The number of consumers who refuse to answer a telephone </a:t>
            </a:r>
            <a:r>
              <a:rPr lang="en" sz="2000"/>
              <a:t>su</a:t>
            </a:r>
            <a:r>
              <a:rPr lang="en" sz="2000"/>
              <a:t>rvey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The door chosen by a mouse in a maze experiment (A, B, or C)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The winning time for a horse running in the Kentucky Derby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The number of children in a fifth-grade class who are reading at or above grade level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DIFFERENCE BETWEEN VARIABLE AND RANDOM VARIABLE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Distributions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probability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</a:t>
            </a:r>
            <a:r>
              <a:rPr lang="en" sz="2100"/>
              <a:t>e defined probability as the limiting value of the </a:t>
            </a:r>
            <a:r>
              <a:rPr i="1" lang="en" sz="2100"/>
              <a:t>relative frequency </a:t>
            </a:r>
            <a:r>
              <a:rPr lang="en" sz="2100"/>
              <a:t>as the experiment is repeated over and over again.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Now we define the probability distribution for a random variable </a:t>
            </a:r>
            <a:r>
              <a:rPr b="1" i="1" lang="en" sz="2100" u="sng"/>
              <a:t>x</a:t>
            </a:r>
            <a:r>
              <a:rPr lang="en" sz="2100"/>
              <a:t> as the </a:t>
            </a:r>
            <a:r>
              <a:rPr lang="en" sz="2100">
                <a:solidFill>
                  <a:srgbClr val="980000"/>
                </a:solidFill>
              </a:rPr>
              <a:t>relative frequency distribution constructed for the entire population of measurements.</a:t>
            </a:r>
            <a:endParaRPr sz="21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Probability Distributions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The </a:t>
            </a:r>
            <a:r>
              <a:rPr i="1" lang="en" sz="2100"/>
              <a:t>probability distribution</a:t>
            </a:r>
            <a:r>
              <a:rPr lang="en" sz="2100"/>
              <a:t> for a discrete random variable is a formula, table, or graph that gives the possible values of </a:t>
            </a:r>
            <a:r>
              <a:rPr b="1" i="1" lang="en" sz="2100" u="sng"/>
              <a:t>x</a:t>
            </a:r>
            <a:r>
              <a:rPr lang="en" sz="2100"/>
              <a:t>, and the probability</a:t>
            </a:r>
            <a:r>
              <a:rPr b="1" i="1" lang="en" sz="2100"/>
              <a:t> p(x)</a:t>
            </a:r>
            <a:r>
              <a:rPr lang="en" sz="2100"/>
              <a:t> associated with each value of </a:t>
            </a:r>
            <a:r>
              <a:rPr b="1" i="1" lang="en" sz="2100" u="sng"/>
              <a:t>x</a:t>
            </a:r>
            <a:r>
              <a:rPr lang="en" sz="2100"/>
              <a:t>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The values of </a:t>
            </a:r>
            <a:r>
              <a:rPr b="1" i="1" lang="en" sz="2100" u="sng"/>
              <a:t>x</a:t>
            </a:r>
            <a:r>
              <a:rPr lang="en" sz="2100"/>
              <a:t> represent mutually exclusive numerical events.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Summing </a:t>
            </a:r>
            <a:r>
              <a:rPr b="1" i="1" lang="en" sz="2100"/>
              <a:t>p(x)</a:t>
            </a:r>
            <a:r>
              <a:rPr lang="en" sz="2100"/>
              <a:t> over all values of </a:t>
            </a:r>
            <a:r>
              <a:rPr b="1" i="1" lang="en" sz="2100" u="sng"/>
              <a:t>x</a:t>
            </a:r>
            <a:r>
              <a:rPr lang="en" sz="2100"/>
              <a:t> is equivalent to adding the probabilities of all simple events which is?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A DISCRETE PROBABILITY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2916300" y="2026450"/>
            <a:ext cx="33150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ctr">
              <a:spcBef>
                <a:spcPts val="0"/>
              </a:spcBef>
              <a:spcAft>
                <a:spcPts val="0"/>
              </a:spcAft>
              <a:buSzPts val="2500"/>
              <a:buFont typeface="Courier"/>
              <a:buChar char="●"/>
            </a:pPr>
            <a:r>
              <a:rPr lang="en" sz="2500">
                <a:latin typeface="Courier"/>
                <a:ea typeface="Courier"/>
                <a:cs typeface="Courier"/>
                <a:sym typeface="Courier"/>
              </a:rPr>
              <a:t>0 ≤ p(x)≤ 1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-387350" lvl="0" marL="457200" rtl="0" algn="ctr">
              <a:spcBef>
                <a:spcPts val="0"/>
              </a:spcBef>
              <a:spcAft>
                <a:spcPts val="0"/>
              </a:spcAft>
              <a:buSzPts val="2500"/>
              <a:buFont typeface="Courier"/>
              <a:buChar char="●"/>
            </a:pPr>
            <a:r>
              <a:rPr lang="en" sz="2500">
                <a:latin typeface="Courier"/>
                <a:ea typeface="Courier"/>
                <a:cs typeface="Courier"/>
                <a:sym typeface="Courier"/>
              </a:rPr>
              <a:t>⅀ p(x) = 1</a:t>
            </a:r>
            <a:endParaRPr sz="25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Toss two fair coins and let </a:t>
            </a:r>
            <a:r>
              <a:rPr b="1" i="1" lang="en" sz="2100" u="sng"/>
              <a:t>x</a:t>
            </a:r>
            <a:r>
              <a:rPr lang="en" sz="2100"/>
              <a:t> equal the number of heads observed. Find the probability distribution for </a:t>
            </a:r>
            <a:r>
              <a:rPr b="1" i="1" lang="en" sz="2100" u="sng"/>
              <a:t>x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9100" y="3021650"/>
            <a:ext cx="6429375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(Cont..)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For each value of x, you can calculate p(x) by adding the probabilities of the simple events in that event. For example, when x = 0,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For x=1, what is the probability? </a:t>
            </a:r>
            <a:endParaRPr sz="2100"/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41" y="2888463"/>
            <a:ext cx="2513676" cy="95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Distributions</a:t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00" y="2002088"/>
            <a:ext cx="5210175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Mean and Standard Deviation for a Discrete Random Variable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What is the mean of </a:t>
            </a:r>
            <a:r>
              <a:rPr b="1" i="1" lang="en" sz="2400" u="sng"/>
              <a:t>x </a:t>
            </a:r>
            <a:r>
              <a:rPr lang="en" sz="2400"/>
              <a:t>?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Formula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Let x be a discrete random variable with probability distribution p(x). The mean or expected value of x is given as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89" name="Google Shape;1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4525" y="3221513"/>
            <a:ext cx="5114925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</a:t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Let x be a discrete random variable with probability distribution p(x) and mean μ. The variance of x is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96" name="Google Shape;1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800" y="3011625"/>
            <a:ext cx="5535996" cy="635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729450" y="939833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Deviation</a:t>
            </a:r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727650" y="1653533"/>
            <a:ext cx="76887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 standard deviation s of a random variable </a:t>
            </a:r>
            <a:r>
              <a:rPr b="1" i="1" lang="en" sz="2200" u="sng"/>
              <a:t>x</a:t>
            </a:r>
            <a:r>
              <a:rPr lang="en" sz="2200"/>
              <a:t> is equal to the positive square root of its variance.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ass Slid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