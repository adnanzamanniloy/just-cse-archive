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embeddedFontLst>
    <p:embeddedFont>
      <p:font typeface="Lato" panose="020F0502020204030203" pitchFamily="34" charset="0"/>
      <p:regular r:id="rId11"/>
      <p:bold r:id="rId12"/>
      <p:italic r:id="rId13"/>
      <p:boldItalic r:id="rId14"/>
    </p:embeddedFont>
    <p:embeddedFont>
      <p:font typeface="Raleway"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0AF22C-CE86-4781-999C-C31AF8ACB379}">
  <a:tblStyle styleId="{B90AF22C-CE86-4781-999C-C31AF8ACB37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836"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19ab69ffcc_0_77: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19ab69ffcc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19ab69ffcc_0_83: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19ab69ffcc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19ab69ffcc_0_88: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19ab69ffcc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19ab69ffcc_0_96: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19ab69ff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19ab69ffcc_0_108: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19ab69ffcc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19ab69ffcc_0_1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19ab69ffcc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650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729442" y="723460"/>
            <a:ext cx="745763" cy="61102"/>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7950" y="1176300"/>
            <a:ext cx="7688100" cy="2219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7952" y="3395900"/>
            <a:ext cx="7688100" cy="7215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588427"/>
            <a:ext cx="745763" cy="61102"/>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763267"/>
            <a:ext cx="7688400" cy="202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729442" y="764660"/>
            <a:ext cx="745763" cy="61102"/>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939833"/>
            <a:ext cx="7688700" cy="7137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7650" y="1653533"/>
            <a:ext cx="7688700" cy="4679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rgbClr val="000000"/>
              </a:buClr>
              <a:buSzPts val="1800"/>
              <a:buChar char="●"/>
              <a:defRPr sz="1800">
                <a:solidFill>
                  <a:srgbClr val="000000"/>
                </a:solidFill>
              </a:defRPr>
            </a:lvl1pPr>
            <a:lvl2pPr marL="914400" lvl="1" indent="-323850">
              <a:spcBef>
                <a:spcPts val="0"/>
              </a:spcBef>
              <a:spcAft>
                <a:spcPts val="0"/>
              </a:spcAft>
              <a:buClr>
                <a:srgbClr val="000000"/>
              </a:buClr>
              <a:buSzPts val="1500"/>
              <a:buChar char="○"/>
              <a:defRPr sz="1500">
                <a:solidFill>
                  <a:srgbClr val="000000"/>
                </a:solidFill>
              </a:defRPr>
            </a:lvl2pPr>
            <a:lvl3pPr marL="1371600" lvl="2" indent="-317500">
              <a:spcBef>
                <a:spcPts val="0"/>
              </a:spcBef>
              <a:spcAft>
                <a:spcPts val="0"/>
              </a:spcAft>
              <a:buClr>
                <a:srgbClr val="000000"/>
              </a:buClr>
              <a:buSzPts val="1400"/>
              <a:buChar char="■"/>
              <a:defRPr sz="1400">
                <a:solidFill>
                  <a:srgbClr val="000000"/>
                </a:solidFill>
              </a:defRPr>
            </a:lvl3pPr>
            <a:lvl4pPr marL="1828800" lvl="3" indent="-311150">
              <a:spcBef>
                <a:spcPts val="0"/>
              </a:spcBef>
              <a:spcAft>
                <a:spcPts val="0"/>
              </a:spcAft>
              <a:buClr>
                <a:srgbClr val="000000"/>
              </a:buClr>
              <a:buSzPts val="1300"/>
              <a:buChar char="●"/>
              <a:defRPr sz="1300">
                <a:solidFill>
                  <a:srgbClr val="000000"/>
                </a:solidFill>
              </a:defRPr>
            </a:lvl4pPr>
            <a:lvl5pPr marL="2286000" lvl="4" indent="-304800">
              <a:spcBef>
                <a:spcPts val="0"/>
              </a:spcBef>
              <a:spcAft>
                <a:spcPts val="0"/>
              </a:spcAft>
              <a:buClr>
                <a:srgbClr val="000000"/>
              </a:buClr>
              <a:buSzPts val="1200"/>
              <a:buChar char="○"/>
              <a:defRPr sz="1200">
                <a:solidFill>
                  <a:srgbClr val="000000"/>
                </a:solidFill>
              </a:defRPr>
            </a:lvl5pPr>
            <a:lvl6pPr marL="2743200" lvl="5" indent="-298450">
              <a:spcBef>
                <a:spcPts val="0"/>
              </a:spcBef>
              <a:spcAft>
                <a:spcPts val="0"/>
              </a:spcAft>
              <a:buClr>
                <a:srgbClr val="000000"/>
              </a:buClr>
              <a:buSzPts val="1100"/>
              <a:buChar char="■"/>
              <a:defRPr>
                <a:solidFill>
                  <a:srgbClr val="000000"/>
                </a:solidFill>
              </a:defRPr>
            </a:lvl6pPr>
            <a:lvl7pPr marL="3200400" lvl="6" indent="-298450">
              <a:spcBef>
                <a:spcPts val="0"/>
              </a:spcBef>
              <a:spcAft>
                <a:spcPts val="0"/>
              </a:spcAft>
              <a:buClr>
                <a:srgbClr val="000000"/>
              </a:buClr>
              <a:buSzPts val="1100"/>
              <a:buChar char="●"/>
              <a:defRPr>
                <a:solidFill>
                  <a:srgbClr val="000000"/>
                </a:solidFill>
              </a:defRPr>
            </a:lvl7pPr>
            <a:lvl8pPr marL="3657600" lvl="7" indent="-298450">
              <a:spcBef>
                <a:spcPts val="0"/>
              </a:spcBef>
              <a:spcAft>
                <a:spcPts val="0"/>
              </a:spcAft>
              <a:buClr>
                <a:srgbClr val="000000"/>
              </a:buClr>
              <a:buSzPts val="1100"/>
              <a:buChar char="○"/>
              <a:defRPr>
                <a:solidFill>
                  <a:srgbClr val="000000"/>
                </a:solidFill>
              </a:defRPr>
            </a:lvl8pPr>
            <a:lvl9pPr marL="4114800" lvl="8" indent="-298450">
              <a:spcBef>
                <a:spcPts val="0"/>
              </a:spcBef>
              <a:spcAft>
                <a:spcPts val="0"/>
              </a:spcAft>
              <a:buClr>
                <a:srgbClr val="000000"/>
              </a:buClr>
              <a:buSzPts val="1100"/>
              <a:buChar char="■"/>
              <a:defRPr>
                <a:solidFill>
                  <a:srgbClr val="000000"/>
                </a:solidFill>
              </a:defRPr>
            </a:lvl9pPr>
          </a:lstStyle>
          <a:p>
            <a:endParaRPr/>
          </a:p>
        </p:txBody>
      </p:sp>
      <p:sp>
        <p:nvSpPr>
          <p:cNvPr id="30" name="Google Shape;30;p4"/>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729317" y="784327"/>
            <a:ext cx="745763" cy="61102"/>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7800" y="979167"/>
            <a:ext cx="7688400" cy="7137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1692767"/>
            <a:ext cx="3774300" cy="3014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rgbClr val="000000"/>
              </a:buClr>
              <a:buSzPts val="1600"/>
              <a:buChar char="●"/>
              <a:defRPr sz="1600">
                <a:solidFill>
                  <a:srgbClr val="000000"/>
                </a:solidFill>
              </a:defRPr>
            </a:lvl1pPr>
            <a:lvl2pPr marL="914400" lvl="1" indent="-317500">
              <a:spcBef>
                <a:spcPts val="0"/>
              </a:spcBef>
              <a:spcAft>
                <a:spcPts val="0"/>
              </a:spcAft>
              <a:buClr>
                <a:srgbClr val="000000"/>
              </a:buClr>
              <a:buSzPts val="1400"/>
              <a:buChar char="○"/>
              <a:defRPr sz="1400">
                <a:solidFill>
                  <a:srgbClr val="000000"/>
                </a:solidFill>
              </a:defRPr>
            </a:lvl2pPr>
            <a:lvl3pPr marL="1371600" lvl="2" indent="-298450">
              <a:spcBef>
                <a:spcPts val="0"/>
              </a:spcBef>
              <a:spcAft>
                <a:spcPts val="0"/>
              </a:spcAft>
              <a:buClr>
                <a:srgbClr val="000000"/>
              </a:buClr>
              <a:buSzPts val="1100"/>
              <a:buChar char="■"/>
              <a:defRPr>
                <a:solidFill>
                  <a:srgbClr val="000000"/>
                </a:solidFill>
              </a:defRPr>
            </a:lvl3pPr>
            <a:lvl4pPr marL="1828800" lvl="3" indent="-298450">
              <a:spcBef>
                <a:spcPts val="0"/>
              </a:spcBef>
              <a:spcAft>
                <a:spcPts val="0"/>
              </a:spcAft>
              <a:buClr>
                <a:srgbClr val="000000"/>
              </a:buClr>
              <a:buSzPts val="1100"/>
              <a:buChar char="●"/>
              <a:defRPr>
                <a:solidFill>
                  <a:srgbClr val="000000"/>
                </a:solidFill>
              </a:defRPr>
            </a:lvl4pPr>
            <a:lvl5pPr marL="2286000" lvl="4" indent="-298450">
              <a:spcBef>
                <a:spcPts val="0"/>
              </a:spcBef>
              <a:spcAft>
                <a:spcPts val="0"/>
              </a:spcAft>
              <a:buClr>
                <a:srgbClr val="000000"/>
              </a:buClr>
              <a:buSzPts val="1100"/>
              <a:buChar char="○"/>
              <a:defRPr>
                <a:solidFill>
                  <a:srgbClr val="000000"/>
                </a:solidFill>
              </a:defRPr>
            </a:lvl5pPr>
            <a:lvl6pPr marL="2743200" lvl="5" indent="-298450">
              <a:spcBef>
                <a:spcPts val="0"/>
              </a:spcBef>
              <a:spcAft>
                <a:spcPts val="0"/>
              </a:spcAft>
              <a:buClr>
                <a:srgbClr val="000000"/>
              </a:buClr>
              <a:buSzPts val="1100"/>
              <a:buChar char="■"/>
              <a:defRPr>
                <a:solidFill>
                  <a:srgbClr val="000000"/>
                </a:solidFill>
              </a:defRPr>
            </a:lvl6pPr>
            <a:lvl7pPr marL="3200400" lvl="6" indent="-298450">
              <a:spcBef>
                <a:spcPts val="0"/>
              </a:spcBef>
              <a:spcAft>
                <a:spcPts val="0"/>
              </a:spcAft>
              <a:buClr>
                <a:srgbClr val="000000"/>
              </a:buClr>
              <a:buSzPts val="1100"/>
              <a:buChar char="●"/>
              <a:defRPr>
                <a:solidFill>
                  <a:srgbClr val="000000"/>
                </a:solidFill>
              </a:defRPr>
            </a:lvl7pPr>
            <a:lvl8pPr marL="3657600" lvl="7" indent="-298450">
              <a:spcBef>
                <a:spcPts val="0"/>
              </a:spcBef>
              <a:spcAft>
                <a:spcPts val="0"/>
              </a:spcAft>
              <a:buClr>
                <a:srgbClr val="000000"/>
              </a:buClr>
              <a:buSzPts val="1100"/>
              <a:buChar char="○"/>
              <a:defRPr>
                <a:solidFill>
                  <a:srgbClr val="000000"/>
                </a:solidFill>
              </a:defRPr>
            </a:lvl8pPr>
            <a:lvl9pPr marL="4114800" lvl="8" indent="-298450">
              <a:spcBef>
                <a:spcPts val="0"/>
              </a:spcBef>
              <a:spcAft>
                <a:spcPts val="0"/>
              </a:spcAft>
              <a:buClr>
                <a:srgbClr val="000000"/>
              </a:buClr>
              <a:buSzPts val="1100"/>
              <a:buChar char="■"/>
              <a:defRPr>
                <a:solidFill>
                  <a:srgbClr val="000000"/>
                </a:solidFill>
              </a:defRPr>
            </a:lvl9pPr>
          </a:lstStyle>
          <a:p>
            <a:endParaRPr/>
          </a:p>
        </p:txBody>
      </p:sp>
      <p:sp>
        <p:nvSpPr>
          <p:cNvPr id="38" name="Google Shape;38;p5"/>
          <p:cNvSpPr txBox="1">
            <a:spLocks noGrp="1"/>
          </p:cNvSpPr>
          <p:nvPr>
            <p:ph type="body" idx="2"/>
          </p:nvPr>
        </p:nvSpPr>
        <p:spPr>
          <a:xfrm>
            <a:off x="4641904" y="1692767"/>
            <a:ext cx="3774300" cy="3014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rgbClr val="000000"/>
              </a:buClr>
              <a:buSzPts val="1600"/>
              <a:buChar char="●"/>
              <a:defRPr sz="1600">
                <a:solidFill>
                  <a:srgbClr val="000000"/>
                </a:solidFill>
              </a:defRPr>
            </a:lvl1pPr>
            <a:lvl2pPr marL="914400" lvl="1" indent="-317500">
              <a:spcBef>
                <a:spcPts val="0"/>
              </a:spcBef>
              <a:spcAft>
                <a:spcPts val="0"/>
              </a:spcAft>
              <a:buClr>
                <a:srgbClr val="000000"/>
              </a:buClr>
              <a:buSzPts val="1400"/>
              <a:buChar char="○"/>
              <a:defRPr sz="1400">
                <a:solidFill>
                  <a:srgbClr val="000000"/>
                </a:solidFill>
              </a:defRPr>
            </a:lvl2pPr>
            <a:lvl3pPr marL="1371600" lvl="2" indent="-298450">
              <a:spcBef>
                <a:spcPts val="0"/>
              </a:spcBef>
              <a:spcAft>
                <a:spcPts val="0"/>
              </a:spcAft>
              <a:buClr>
                <a:srgbClr val="000000"/>
              </a:buClr>
              <a:buSzPts val="1100"/>
              <a:buChar char="■"/>
              <a:defRPr>
                <a:solidFill>
                  <a:srgbClr val="000000"/>
                </a:solidFill>
              </a:defRPr>
            </a:lvl3pPr>
            <a:lvl4pPr marL="1828800" lvl="3" indent="-298450">
              <a:spcBef>
                <a:spcPts val="0"/>
              </a:spcBef>
              <a:spcAft>
                <a:spcPts val="0"/>
              </a:spcAft>
              <a:buClr>
                <a:srgbClr val="000000"/>
              </a:buClr>
              <a:buSzPts val="1100"/>
              <a:buChar char="●"/>
              <a:defRPr>
                <a:solidFill>
                  <a:srgbClr val="000000"/>
                </a:solidFill>
              </a:defRPr>
            </a:lvl4pPr>
            <a:lvl5pPr marL="2286000" lvl="4" indent="-298450">
              <a:spcBef>
                <a:spcPts val="0"/>
              </a:spcBef>
              <a:spcAft>
                <a:spcPts val="0"/>
              </a:spcAft>
              <a:buClr>
                <a:srgbClr val="000000"/>
              </a:buClr>
              <a:buSzPts val="1100"/>
              <a:buChar char="○"/>
              <a:defRPr>
                <a:solidFill>
                  <a:srgbClr val="000000"/>
                </a:solidFill>
              </a:defRPr>
            </a:lvl5pPr>
            <a:lvl6pPr marL="2743200" lvl="5" indent="-298450">
              <a:spcBef>
                <a:spcPts val="0"/>
              </a:spcBef>
              <a:spcAft>
                <a:spcPts val="0"/>
              </a:spcAft>
              <a:buClr>
                <a:srgbClr val="000000"/>
              </a:buClr>
              <a:buSzPts val="1100"/>
              <a:buChar char="■"/>
              <a:defRPr>
                <a:solidFill>
                  <a:srgbClr val="000000"/>
                </a:solidFill>
              </a:defRPr>
            </a:lvl6pPr>
            <a:lvl7pPr marL="3200400" lvl="6" indent="-298450">
              <a:spcBef>
                <a:spcPts val="0"/>
              </a:spcBef>
              <a:spcAft>
                <a:spcPts val="0"/>
              </a:spcAft>
              <a:buClr>
                <a:srgbClr val="000000"/>
              </a:buClr>
              <a:buSzPts val="1100"/>
              <a:buChar char="●"/>
              <a:defRPr>
                <a:solidFill>
                  <a:srgbClr val="000000"/>
                </a:solidFill>
              </a:defRPr>
            </a:lvl7pPr>
            <a:lvl8pPr marL="3657600" lvl="7" indent="-298450">
              <a:spcBef>
                <a:spcPts val="0"/>
              </a:spcBef>
              <a:spcAft>
                <a:spcPts val="0"/>
              </a:spcAft>
              <a:buClr>
                <a:srgbClr val="000000"/>
              </a:buClr>
              <a:buSzPts val="1100"/>
              <a:buChar char="○"/>
              <a:defRPr>
                <a:solidFill>
                  <a:srgbClr val="000000"/>
                </a:solidFill>
              </a:defRPr>
            </a:lvl8pPr>
            <a:lvl9pPr marL="4114800" lvl="8" indent="-298450">
              <a:spcBef>
                <a:spcPts val="0"/>
              </a:spcBef>
              <a:spcAft>
                <a:spcPts val="0"/>
              </a:spcAft>
              <a:buClr>
                <a:srgbClr val="000000"/>
              </a:buClr>
              <a:buSzPts val="1100"/>
              <a:buChar char="■"/>
              <a:defRPr>
                <a:solidFill>
                  <a:srgbClr val="000000"/>
                </a:solidFill>
              </a:defRPr>
            </a:lvl9pPr>
          </a:lstStyle>
          <a:p>
            <a:endParaRPr/>
          </a:p>
        </p:txBody>
      </p:sp>
      <p:sp>
        <p:nvSpPr>
          <p:cNvPr id="39" name="Google Shape;39;p5"/>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729442" y="754360"/>
            <a:ext cx="745763" cy="61102"/>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7800" y="919233"/>
            <a:ext cx="7688400" cy="7137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65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588427"/>
            <a:ext cx="745763" cy="61102"/>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758200"/>
            <a:ext cx="3300900" cy="18420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3708967"/>
            <a:ext cx="3300900" cy="21300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SzPts val="20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5558926"/>
            <a:ext cx="745763" cy="61102"/>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1152400"/>
            <a:ext cx="7021200" cy="39801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588427"/>
            <a:ext cx="745763" cy="61102"/>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758200"/>
            <a:ext cx="3300900" cy="22497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4215367"/>
            <a:ext cx="3300900" cy="1011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803500"/>
            <a:ext cx="3374400" cy="4034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SzPts val="20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5830068"/>
            <a:ext cx="7697400" cy="614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000"/>
              <a:buNone/>
              <a:defRPr/>
            </a:lvl1pPr>
          </a:lstStyle>
          <a:p>
            <a:endParaRPr/>
          </a:p>
        </p:txBody>
      </p:sp>
      <p:sp>
        <p:nvSpPr>
          <p:cNvPr id="72" name="Google Shape;72;p10"/>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5558926"/>
            <a:ext cx="745763" cy="61102"/>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978600"/>
            <a:ext cx="7688400" cy="165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3030517"/>
            <a:ext cx="7688400" cy="21072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chemeClr val="lt1"/>
              </a:buClr>
              <a:buSzPts val="20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6333134"/>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55600">
              <a:lnSpc>
                <a:spcPct val="115000"/>
              </a:lnSpc>
              <a:spcBef>
                <a:spcPts val="0"/>
              </a:spcBef>
              <a:spcAft>
                <a:spcPts val="0"/>
              </a:spcAft>
              <a:buClr>
                <a:schemeClr val="dk2"/>
              </a:buClr>
              <a:buSzPts val="2000"/>
              <a:buFont typeface="Lato"/>
              <a:buChar char="●"/>
              <a:defRPr sz="2000">
                <a:solidFill>
                  <a:schemeClr val="dk2"/>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6333134"/>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7950" y="1176300"/>
            <a:ext cx="7688100" cy="2219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Discrete Distributions</a:t>
            </a:r>
            <a:endParaRPr/>
          </a:p>
        </p:txBody>
      </p:sp>
      <p:sp>
        <p:nvSpPr>
          <p:cNvPr id="87" name="Google Shape;87;p13"/>
          <p:cNvSpPr txBox="1">
            <a:spLocks noGrp="1"/>
          </p:cNvSpPr>
          <p:nvPr>
            <p:ph type="subTitle" idx="1"/>
          </p:nvPr>
        </p:nvSpPr>
        <p:spPr>
          <a:xfrm>
            <a:off x="727952" y="3395900"/>
            <a:ext cx="7688100" cy="72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939833"/>
            <a:ext cx="7688700" cy="71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Introduction</a:t>
            </a:r>
            <a:endParaRPr/>
          </a:p>
        </p:txBody>
      </p:sp>
      <p:sp>
        <p:nvSpPr>
          <p:cNvPr id="93" name="Google Shape;93;p14"/>
          <p:cNvSpPr txBox="1">
            <a:spLocks noGrp="1"/>
          </p:cNvSpPr>
          <p:nvPr>
            <p:ph type="body" idx="1"/>
          </p:nvPr>
        </p:nvSpPr>
        <p:spPr>
          <a:xfrm>
            <a:off x="727650" y="1653533"/>
            <a:ext cx="7688700" cy="4679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There are three discrete probability distributions that serve as models for a large number of applications.</a:t>
            </a:r>
            <a:endParaRPr sz="2200"/>
          </a:p>
          <a:p>
            <a:pPr marL="457200" lvl="0" indent="-368300" algn="l" rtl="0">
              <a:spcBef>
                <a:spcPts val="1200"/>
              </a:spcBef>
              <a:spcAft>
                <a:spcPts val="0"/>
              </a:spcAft>
              <a:buSzPts val="2200"/>
              <a:buAutoNum type="arabicPeriod"/>
            </a:pPr>
            <a:r>
              <a:rPr lang="en" sz="2200"/>
              <a:t>The Binomial Distribution</a:t>
            </a:r>
            <a:endParaRPr sz="2200"/>
          </a:p>
          <a:p>
            <a:pPr marL="457200" lvl="0" indent="-368300" algn="l" rtl="0">
              <a:spcBef>
                <a:spcPts val="0"/>
              </a:spcBef>
              <a:spcAft>
                <a:spcPts val="0"/>
              </a:spcAft>
              <a:buSzPts val="2200"/>
              <a:buAutoNum type="arabicPeriod"/>
            </a:pPr>
            <a:r>
              <a:rPr lang="en" sz="2200"/>
              <a:t>The Poisson Distribution</a:t>
            </a:r>
            <a:endParaRPr sz="2200"/>
          </a:p>
          <a:p>
            <a:pPr marL="457200" lvl="0" indent="-368300" algn="l" rtl="0">
              <a:spcBef>
                <a:spcPts val="0"/>
              </a:spcBef>
              <a:spcAft>
                <a:spcPts val="0"/>
              </a:spcAft>
              <a:buSzPts val="2200"/>
              <a:buAutoNum type="arabicPeriod"/>
            </a:pPr>
            <a:r>
              <a:rPr lang="en" sz="2200"/>
              <a:t>The Hypergeometric Distribution</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763267"/>
            <a:ext cx="7688400" cy="2024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What is Binomial Random Variables?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29450" y="939833"/>
            <a:ext cx="7688700" cy="71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Example</a:t>
            </a:r>
            <a:endParaRPr/>
          </a:p>
        </p:txBody>
      </p:sp>
      <p:sp>
        <p:nvSpPr>
          <p:cNvPr id="104" name="Google Shape;104;p16"/>
          <p:cNvSpPr txBox="1">
            <a:spLocks noGrp="1"/>
          </p:cNvSpPr>
          <p:nvPr>
            <p:ph type="body" idx="1"/>
          </p:nvPr>
        </p:nvSpPr>
        <p:spPr>
          <a:xfrm>
            <a:off x="727650" y="1653533"/>
            <a:ext cx="7688700" cy="4679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100"/>
              <a:t>Coin toss is a good example of Binomial random variable</a:t>
            </a:r>
            <a:endParaRPr sz="2100"/>
          </a:p>
          <a:p>
            <a:pPr marL="0" lvl="0" indent="0" algn="l" rtl="0">
              <a:spcBef>
                <a:spcPts val="1200"/>
              </a:spcBef>
              <a:spcAft>
                <a:spcPts val="0"/>
              </a:spcAft>
              <a:buNone/>
            </a:pPr>
            <a:r>
              <a:rPr lang="en" sz="2100"/>
              <a:t>Some other examples </a:t>
            </a:r>
            <a:endParaRPr sz="2100"/>
          </a:p>
          <a:p>
            <a:pPr marL="457200" lvl="0" indent="-361950" algn="l" rtl="0">
              <a:spcBef>
                <a:spcPts val="1200"/>
              </a:spcBef>
              <a:spcAft>
                <a:spcPts val="0"/>
              </a:spcAft>
              <a:buSzPts val="2100"/>
              <a:buAutoNum type="arabicPeriod"/>
            </a:pPr>
            <a:r>
              <a:rPr lang="en" sz="2100"/>
              <a:t>A sociologist is interested in the proportion of elementary school teachers who are men.</a:t>
            </a:r>
            <a:endParaRPr sz="2100"/>
          </a:p>
          <a:p>
            <a:pPr marL="457200" lvl="0" indent="-361950" algn="l" rtl="0">
              <a:spcBef>
                <a:spcPts val="0"/>
              </a:spcBef>
              <a:spcAft>
                <a:spcPts val="0"/>
              </a:spcAft>
              <a:buSzPts val="2100"/>
              <a:buAutoNum type="arabicPeriod"/>
            </a:pPr>
            <a:r>
              <a:rPr lang="en" sz="2100"/>
              <a:t>A soft-drink marketer is interested in the proportion of cola drinkers who prefer her brand.</a:t>
            </a:r>
            <a:endParaRPr sz="2100"/>
          </a:p>
          <a:p>
            <a:pPr marL="457200" lvl="0" indent="-361950" algn="l" rtl="0">
              <a:spcBef>
                <a:spcPts val="0"/>
              </a:spcBef>
              <a:spcAft>
                <a:spcPts val="0"/>
              </a:spcAft>
              <a:buSzPts val="2100"/>
              <a:buAutoNum type="arabicPeriod"/>
            </a:pPr>
            <a:r>
              <a:rPr lang="en" sz="2100"/>
              <a:t>A geneticist is interested in the proportion of the population who possess a gene linked to Alzheimer’s disease.</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729450" y="939833"/>
            <a:ext cx="7688700" cy="71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Definition</a:t>
            </a:r>
            <a:endParaRPr/>
          </a:p>
        </p:txBody>
      </p:sp>
      <p:sp>
        <p:nvSpPr>
          <p:cNvPr id="110" name="Google Shape;110;p17"/>
          <p:cNvSpPr txBox="1">
            <a:spLocks noGrp="1"/>
          </p:cNvSpPr>
          <p:nvPr>
            <p:ph type="body" idx="1"/>
          </p:nvPr>
        </p:nvSpPr>
        <p:spPr>
          <a:xfrm>
            <a:off x="727650" y="1653533"/>
            <a:ext cx="7688700" cy="4679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100"/>
              <a:t>A binomial experiment is one that has these five characteristics:</a:t>
            </a:r>
            <a:endParaRPr sz="2100"/>
          </a:p>
          <a:p>
            <a:pPr marL="457200" lvl="0" indent="-361950" algn="l" rtl="0">
              <a:spcBef>
                <a:spcPts val="1200"/>
              </a:spcBef>
              <a:spcAft>
                <a:spcPts val="0"/>
              </a:spcAft>
              <a:buSzPts val="2100"/>
              <a:buAutoNum type="arabicPeriod"/>
            </a:pPr>
            <a:r>
              <a:rPr lang="en" sz="2100"/>
              <a:t>The experiment consists of </a:t>
            </a:r>
            <a:r>
              <a:rPr lang="en" sz="2100" i="1"/>
              <a:t>n</a:t>
            </a:r>
            <a:r>
              <a:rPr lang="en" sz="2100"/>
              <a:t> identical trials.</a:t>
            </a:r>
            <a:endParaRPr sz="2100"/>
          </a:p>
          <a:p>
            <a:pPr marL="457200" lvl="0" indent="-361950" algn="l" rtl="0">
              <a:spcBef>
                <a:spcPts val="0"/>
              </a:spcBef>
              <a:spcAft>
                <a:spcPts val="0"/>
              </a:spcAft>
              <a:buSzPts val="2100"/>
              <a:buAutoNum type="arabicPeriod"/>
            </a:pPr>
            <a:r>
              <a:rPr lang="en" sz="2100"/>
              <a:t>Each trial results in one of two outcomes. For lack of a better name, the one outcome is called a success, </a:t>
            </a:r>
            <a:r>
              <a:rPr lang="en" sz="2100" b="1"/>
              <a:t>S</a:t>
            </a:r>
            <a:r>
              <a:rPr lang="en" sz="2100"/>
              <a:t>, and the other a failure, </a:t>
            </a:r>
            <a:r>
              <a:rPr lang="en" sz="2100" b="1"/>
              <a:t>F</a:t>
            </a:r>
            <a:r>
              <a:rPr lang="en" sz="2100"/>
              <a:t>.</a:t>
            </a:r>
            <a:endParaRPr sz="2100"/>
          </a:p>
          <a:p>
            <a:pPr marL="457200" lvl="0" indent="-361950" algn="l" rtl="0">
              <a:spcBef>
                <a:spcPts val="0"/>
              </a:spcBef>
              <a:spcAft>
                <a:spcPts val="0"/>
              </a:spcAft>
              <a:buSzPts val="2100"/>
              <a:buAutoNum type="arabicPeriod"/>
            </a:pPr>
            <a:r>
              <a:rPr lang="en" sz="2100"/>
              <a:t>The probability of success on a single trial is equal to </a:t>
            </a:r>
            <a:r>
              <a:rPr lang="en" sz="2100" b="1" i="1"/>
              <a:t>p</a:t>
            </a:r>
            <a:r>
              <a:rPr lang="en" sz="2100"/>
              <a:t> and remains the same from trial to trial. The probability of failure is equal to </a:t>
            </a:r>
            <a:r>
              <a:rPr lang="en" sz="2100" b="1" i="1"/>
              <a:t>(1- p) = q</a:t>
            </a:r>
            <a:endParaRPr sz="2100" b="1" i="1"/>
          </a:p>
          <a:p>
            <a:pPr marL="457200" lvl="0" indent="-361950" algn="l" rtl="0">
              <a:spcBef>
                <a:spcPts val="0"/>
              </a:spcBef>
              <a:spcAft>
                <a:spcPts val="0"/>
              </a:spcAft>
              <a:buSzPts val="2100"/>
              <a:buAutoNum type="arabicPeriod"/>
            </a:pPr>
            <a:r>
              <a:rPr lang="en" sz="2100"/>
              <a:t>The trials are independent.</a:t>
            </a:r>
            <a:endParaRPr sz="2100"/>
          </a:p>
          <a:p>
            <a:pPr marL="457200" lvl="0" indent="-361950" algn="l" rtl="0">
              <a:spcBef>
                <a:spcPts val="0"/>
              </a:spcBef>
              <a:spcAft>
                <a:spcPts val="0"/>
              </a:spcAft>
              <a:buSzPts val="2100"/>
              <a:buAutoNum type="arabicPeriod"/>
            </a:pPr>
            <a:r>
              <a:rPr lang="en" sz="2100"/>
              <a:t>We are interested in </a:t>
            </a:r>
            <a:r>
              <a:rPr lang="en" sz="2100" b="1" i="1" u="sng"/>
              <a:t>x</a:t>
            </a:r>
            <a:r>
              <a:rPr lang="en" sz="2100"/>
              <a:t>, the number of successes observed during the n trials, for x = 0, 1, 2, . . . , n.</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729450" y="939833"/>
            <a:ext cx="7688700" cy="71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Example</a:t>
            </a:r>
            <a:endParaRPr/>
          </a:p>
        </p:txBody>
      </p:sp>
      <p:sp>
        <p:nvSpPr>
          <p:cNvPr id="116" name="Google Shape;116;p18"/>
          <p:cNvSpPr txBox="1">
            <a:spLocks noGrp="1"/>
          </p:cNvSpPr>
          <p:nvPr>
            <p:ph type="body" idx="1"/>
          </p:nvPr>
        </p:nvSpPr>
        <p:spPr>
          <a:xfrm>
            <a:off x="727650" y="1653533"/>
            <a:ext cx="7688700" cy="4679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100"/>
              <a:t>Suppose there are approximately </a:t>
            </a:r>
            <a:r>
              <a:rPr lang="en" sz="2100" b="1"/>
              <a:t>1,000,000</a:t>
            </a:r>
            <a:r>
              <a:rPr lang="en" sz="2100"/>
              <a:t> adults in a county and an unknown proportion p favor term limits for politicians. A sample of 1000 adults will be chosen in such a way that every one of the 1,000,000 adults has an equal chance of being selected, and each adult is asked whether he or she favors term limits. Is this a binomial experiment? </a:t>
            </a:r>
            <a:endParaRPr sz="2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graphicFrame>
        <p:nvGraphicFramePr>
          <p:cNvPr id="121" name="Google Shape;121;p19"/>
          <p:cNvGraphicFramePr/>
          <p:nvPr>
            <p:extLst>
              <p:ext uri="{D42A27DB-BD31-4B8C-83A1-F6EECF244321}">
                <p14:modId xmlns:p14="http://schemas.microsoft.com/office/powerpoint/2010/main" val="918317758"/>
              </p:ext>
            </p:extLst>
          </p:nvPr>
        </p:nvGraphicFramePr>
        <p:xfrm>
          <a:off x="221075" y="949142"/>
          <a:ext cx="8358950" cy="5602925"/>
        </p:xfrm>
        <a:graphic>
          <a:graphicData uri="http://schemas.openxmlformats.org/drawingml/2006/table">
            <a:tbl>
              <a:tblPr>
                <a:noFill/>
                <a:tableStyleId>{B90AF22C-CE86-4781-999C-C31AF8ACB379}</a:tableStyleId>
              </a:tblPr>
              <a:tblGrid>
                <a:gridCol w="4179475">
                  <a:extLst>
                    <a:ext uri="{9D8B030D-6E8A-4147-A177-3AD203B41FA5}">
                      <a16:colId xmlns:a16="http://schemas.microsoft.com/office/drawing/2014/main" val="20000"/>
                    </a:ext>
                  </a:extLst>
                </a:gridCol>
                <a:gridCol w="4179475">
                  <a:extLst>
                    <a:ext uri="{9D8B030D-6E8A-4147-A177-3AD203B41FA5}">
                      <a16:colId xmlns:a16="http://schemas.microsoft.com/office/drawing/2014/main" val="20001"/>
                    </a:ext>
                  </a:extLst>
                </a:gridCol>
              </a:tblGrid>
              <a:tr h="734400">
                <a:tc>
                  <a:txBody>
                    <a:bodyPr/>
                    <a:lstStyle/>
                    <a:p>
                      <a:pPr marL="0" lvl="0" indent="0" algn="l" rtl="0">
                        <a:spcBef>
                          <a:spcPts val="0"/>
                        </a:spcBef>
                        <a:spcAft>
                          <a:spcPts val="0"/>
                        </a:spcAft>
                        <a:buNone/>
                      </a:pPr>
                      <a:r>
                        <a:rPr lang="en" sz="1500" dirty="0"/>
                        <a:t>The experiment consists of n identical trials.</a:t>
                      </a:r>
                      <a:endParaRPr sz="1500" dirty="0"/>
                    </a:p>
                  </a:txBody>
                  <a:tcPr marL="91425" marR="91425" marT="91425" marB="91425"/>
                </a:tc>
                <a:tc>
                  <a:txBody>
                    <a:bodyPr/>
                    <a:lstStyle/>
                    <a:p>
                      <a:pPr marL="0" lvl="0" indent="0" algn="l" rtl="0">
                        <a:spcBef>
                          <a:spcPts val="0"/>
                        </a:spcBef>
                        <a:spcAft>
                          <a:spcPts val="0"/>
                        </a:spcAft>
                        <a:buNone/>
                      </a:pPr>
                      <a:r>
                        <a:rPr lang="en" sz="1500" dirty="0"/>
                        <a:t>A “trial” is the choice of a single adult from the 1,000,000 adults in the county. This sample consists of n 1000 identical trials.</a:t>
                      </a:r>
                      <a:endParaRPr sz="1500" dirty="0"/>
                    </a:p>
                  </a:txBody>
                  <a:tcPr marL="91425" marR="91425" marT="91425" marB="91425"/>
                </a:tc>
                <a:extLst>
                  <a:ext uri="{0D108BD9-81ED-4DB2-BD59-A6C34878D82A}">
                    <a16:rowId xmlns:a16="http://schemas.microsoft.com/office/drawing/2014/main" val="10000"/>
                  </a:ext>
                </a:extLst>
              </a:tr>
              <a:tr h="1115200">
                <a:tc>
                  <a:txBody>
                    <a:bodyPr/>
                    <a:lstStyle/>
                    <a:p>
                      <a:pPr marL="0" lvl="0" indent="0" algn="l" rtl="0">
                        <a:spcBef>
                          <a:spcPts val="0"/>
                        </a:spcBef>
                        <a:spcAft>
                          <a:spcPts val="0"/>
                        </a:spcAft>
                        <a:buNone/>
                      </a:pPr>
                      <a:r>
                        <a:rPr lang="en" sz="1500" dirty="0"/>
                        <a:t>Each trial results in one of two outcomes. For lack of a better name, the one outcome is called a success, S, and the other a failure, F.</a:t>
                      </a:r>
                      <a:endParaRPr sz="1500" dirty="0"/>
                    </a:p>
                  </a:txBody>
                  <a:tcPr marL="91425" marR="91425" marT="91425" marB="91425"/>
                </a:tc>
                <a:tc>
                  <a:txBody>
                    <a:bodyPr/>
                    <a:lstStyle/>
                    <a:p>
                      <a:pPr marL="0" lvl="0" indent="0" algn="l" rtl="0">
                        <a:spcBef>
                          <a:spcPts val="0"/>
                        </a:spcBef>
                        <a:spcAft>
                          <a:spcPts val="0"/>
                        </a:spcAft>
                        <a:buNone/>
                      </a:pPr>
                      <a:r>
                        <a:rPr lang="en" sz="1500" dirty="0"/>
                        <a:t>Since each adult will either favor or not favor term limits, there are two outcomes that represent the “successes” and “failures” in the binomial experiment.</a:t>
                      </a:r>
                      <a:endParaRPr sz="1500" dirty="0"/>
                    </a:p>
                  </a:txBody>
                  <a:tcPr marL="91425" marR="91425" marT="91425" marB="91425"/>
                </a:tc>
                <a:extLst>
                  <a:ext uri="{0D108BD9-81ED-4DB2-BD59-A6C34878D82A}">
                    <a16:rowId xmlns:a16="http://schemas.microsoft.com/office/drawing/2014/main" val="10001"/>
                  </a:ext>
                </a:extLst>
              </a:tr>
              <a:tr h="833625">
                <a:tc>
                  <a:txBody>
                    <a:bodyPr/>
                    <a:lstStyle/>
                    <a:p>
                      <a:pPr marL="0" lvl="0" indent="0" algn="l" rtl="0">
                        <a:spcBef>
                          <a:spcPts val="0"/>
                        </a:spcBef>
                        <a:spcAft>
                          <a:spcPts val="0"/>
                        </a:spcAft>
                        <a:buNone/>
                      </a:pPr>
                      <a:r>
                        <a:rPr lang="en" sz="1500" dirty="0"/>
                        <a:t>The probability of success on a single trial is equal to p and remains the same from trial to trial. The probability of failure is equal to (1- p) = q</a:t>
                      </a:r>
                      <a:endParaRPr sz="1500" dirty="0"/>
                    </a:p>
                  </a:txBody>
                  <a:tcPr marL="91425" marR="91425" marT="91425" marB="91425"/>
                </a:tc>
                <a:tc>
                  <a:txBody>
                    <a:bodyPr/>
                    <a:lstStyle/>
                    <a:p>
                      <a:pPr marL="0" lvl="0" indent="0" algn="l" rtl="0">
                        <a:spcBef>
                          <a:spcPts val="0"/>
                        </a:spcBef>
                        <a:spcAft>
                          <a:spcPts val="0"/>
                        </a:spcAft>
                        <a:buNone/>
                      </a:pPr>
                      <a:r>
                        <a:rPr lang="en" sz="1500" dirty="0"/>
                        <a:t>The probability of success, p, is the probability that an adult favors term limits. Does this probability remain the same for each adult in the sample? </a:t>
                      </a:r>
                      <a:endParaRPr sz="1500" dirty="0"/>
                    </a:p>
                  </a:txBody>
                  <a:tcPr marL="91425" marR="91425" marT="91425" marB="91425"/>
                </a:tc>
                <a:extLst>
                  <a:ext uri="{0D108BD9-81ED-4DB2-BD59-A6C34878D82A}">
                    <a16:rowId xmlns:a16="http://schemas.microsoft.com/office/drawing/2014/main" val="10002"/>
                  </a:ext>
                </a:extLst>
              </a:tr>
              <a:tr h="1115200">
                <a:tc>
                  <a:txBody>
                    <a:bodyPr/>
                    <a:lstStyle/>
                    <a:p>
                      <a:pPr marL="0" lvl="0" indent="0" algn="l" rtl="0">
                        <a:spcBef>
                          <a:spcPts val="0"/>
                        </a:spcBef>
                        <a:spcAft>
                          <a:spcPts val="0"/>
                        </a:spcAft>
                        <a:buNone/>
                      </a:pPr>
                      <a:r>
                        <a:rPr lang="en" sz="1500" dirty="0"/>
                        <a:t>The trials are independent.</a:t>
                      </a:r>
                      <a:endParaRPr sz="1500" dirty="0"/>
                    </a:p>
                  </a:txBody>
                  <a:tcPr marL="91425" marR="91425" marT="91425" marB="91425"/>
                </a:tc>
                <a:tc>
                  <a:txBody>
                    <a:bodyPr/>
                    <a:lstStyle/>
                    <a:p>
                      <a:pPr marL="0" lvl="0" indent="0" algn="l" rtl="0">
                        <a:spcBef>
                          <a:spcPts val="0"/>
                        </a:spcBef>
                        <a:spcAft>
                          <a:spcPts val="0"/>
                        </a:spcAft>
                        <a:buNone/>
                      </a:pPr>
                      <a:r>
                        <a:rPr lang="en" sz="1500" dirty="0"/>
                        <a:t>The independence of the trials is guaranteed because of the large group of adults from which the sample is chosen. The probability of an adult favoring term limits does not change depending on the responses of previously chosen people.</a:t>
                      </a:r>
                      <a:endParaRPr sz="1500" dirty="0"/>
                    </a:p>
                  </a:txBody>
                  <a:tcPr marL="91425" marR="91425" marT="91425" marB="91425"/>
                </a:tc>
                <a:extLst>
                  <a:ext uri="{0D108BD9-81ED-4DB2-BD59-A6C34878D82A}">
                    <a16:rowId xmlns:a16="http://schemas.microsoft.com/office/drawing/2014/main" val="10003"/>
                  </a:ext>
                </a:extLst>
              </a:tr>
              <a:tr h="967375">
                <a:tc>
                  <a:txBody>
                    <a:bodyPr/>
                    <a:lstStyle/>
                    <a:p>
                      <a:pPr marL="0" lvl="0" indent="0" algn="l" rtl="0">
                        <a:spcBef>
                          <a:spcPts val="0"/>
                        </a:spcBef>
                        <a:spcAft>
                          <a:spcPts val="0"/>
                        </a:spcAft>
                        <a:buNone/>
                      </a:pPr>
                      <a:r>
                        <a:rPr lang="en" sz="1500" dirty="0"/>
                        <a:t>We are interested in x, the number of successes observed during the n trials, for x = 0, 1, 2, . . . , n.</a:t>
                      </a:r>
                      <a:endParaRPr sz="1500" dirty="0"/>
                    </a:p>
                  </a:txBody>
                  <a:tcPr marL="91425" marR="91425" marT="91425" marB="91425"/>
                </a:tc>
                <a:tc>
                  <a:txBody>
                    <a:bodyPr/>
                    <a:lstStyle/>
                    <a:p>
                      <a:pPr marL="0" lvl="0" indent="0" algn="l" rtl="0">
                        <a:spcBef>
                          <a:spcPts val="0"/>
                        </a:spcBef>
                        <a:spcAft>
                          <a:spcPts val="0"/>
                        </a:spcAft>
                        <a:buNone/>
                      </a:pPr>
                      <a:r>
                        <a:rPr lang="en" sz="1500" dirty="0"/>
                        <a:t>The random variable x is the number of adults in the sample who favor term limits.</a:t>
                      </a:r>
                      <a:endParaRPr sz="1500" dirty="0"/>
                    </a:p>
                    <a:p>
                      <a:pPr marL="0" lvl="0" indent="0" algn="l" rtl="0">
                        <a:spcBef>
                          <a:spcPts val="0"/>
                        </a:spcBef>
                        <a:spcAft>
                          <a:spcPts val="0"/>
                        </a:spcAft>
                        <a:buNone/>
                      </a:pPr>
                      <a:endParaRPr sz="1500" dirty="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B13D88-A7E0-CC6C-582D-AEA27F9109AC}"/>
              </a:ext>
            </a:extLst>
          </p:cNvPr>
          <p:cNvSpPr>
            <a:spLocks noGrp="1"/>
          </p:cNvSpPr>
          <p:nvPr>
            <p:ph type="body" idx="1"/>
          </p:nvPr>
        </p:nvSpPr>
        <p:spPr>
          <a:xfrm>
            <a:off x="0" y="846383"/>
            <a:ext cx="4503625" cy="5165233"/>
          </a:xfrm>
        </p:spPr>
        <p:txBody>
          <a:bodyPr/>
          <a:lstStyle/>
          <a:p>
            <a:pPr marL="469900" indent="-342900">
              <a:buFont typeface="+mj-lt"/>
              <a:buAutoNum type="arabicPeriod"/>
            </a:pPr>
            <a:r>
              <a:rPr lang="en" sz="1600" dirty="0"/>
              <a:t>The experiment consists of n identical trials</a:t>
            </a:r>
          </a:p>
          <a:p>
            <a:pPr marL="469900" indent="-342900">
              <a:buFont typeface="+mj-lt"/>
              <a:buAutoNum type="arabicPeriod"/>
            </a:pPr>
            <a:r>
              <a:rPr lang="en-US" dirty="0"/>
              <a:t>Each trial results in one of two outcomes. For lack of a better name, the one outcome is called a success, S, and the other a failure, F.</a:t>
            </a:r>
          </a:p>
          <a:p>
            <a:pPr marL="469900" indent="-342900">
              <a:buFont typeface="+mj-lt"/>
              <a:buAutoNum type="arabicPeriod"/>
            </a:pPr>
            <a:r>
              <a:rPr lang="en-US" sz="1600" dirty="0"/>
              <a:t>The probability of success on a single trial is equal to p and remains the same from trial to trial. The probability of failure is equal to (1- p) = q</a:t>
            </a:r>
          </a:p>
          <a:p>
            <a:pPr marL="469900" indent="-342900">
              <a:buFont typeface="+mj-lt"/>
              <a:buAutoNum type="arabicPeriod"/>
            </a:pPr>
            <a:r>
              <a:rPr lang="en-US" sz="1600" dirty="0"/>
              <a:t>The trials are independent.</a:t>
            </a:r>
          </a:p>
          <a:p>
            <a:pPr marL="469900" indent="-342900">
              <a:buFont typeface="+mj-lt"/>
              <a:buAutoNum type="arabicPeriod"/>
            </a:pPr>
            <a:r>
              <a:rPr lang="en-US" sz="1600" dirty="0"/>
              <a:t>We are interested in x, the number of successes observed during the n trials, for x = 0, 1, 2, . . . , n.</a:t>
            </a:r>
          </a:p>
          <a:p>
            <a:endParaRPr lang="en-US" sz="1600" dirty="0"/>
          </a:p>
          <a:p>
            <a:endParaRPr lang="en-US" sz="1600" dirty="0"/>
          </a:p>
          <a:p>
            <a:endParaRPr lang="en-US" dirty="0"/>
          </a:p>
          <a:p>
            <a:endParaRPr lang="en-US" dirty="0"/>
          </a:p>
        </p:txBody>
      </p:sp>
      <p:sp>
        <p:nvSpPr>
          <p:cNvPr id="6" name="Text Placeholder 5">
            <a:extLst>
              <a:ext uri="{FF2B5EF4-FFF2-40B4-BE49-F238E27FC236}">
                <a16:creationId xmlns:a16="http://schemas.microsoft.com/office/drawing/2014/main" id="{ADD0C42B-D6C4-2C54-0E58-1D1FBFE0E73E}"/>
              </a:ext>
            </a:extLst>
          </p:cNvPr>
          <p:cNvSpPr>
            <a:spLocks noGrp="1"/>
          </p:cNvSpPr>
          <p:nvPr>
            <p:ph type="body" idx="2"/>
          </p:nvPr>
        </p:nvSpPr>
        <p:spPr>
          <a:xfrm>
            <a:off x="4572000" y="846384"/>
            <a:ext cx="4502096" cy="5165232"/>
          </a:xfrm>
        </p:spPr>
        <p:txBody>
          <a:bodyPr>
            <a:normAutofit lnSpcReduction="10000"/>
          </a:bodyPr>
          <a:lstStyle/>
          <a:p>
            <a:pPr marL="469900" indent="-342900">
              <a:buFont typeface="+mj-lt"/>
              <a:buAutoNum type="arabicPeriod"/>
            </a:pPr>
            <a:r>
              <a:rPr lang="en-US" sz="1600" dirty="0"/>
              <a:t>A “trial” is the choice of a single adult from the 1,000,000 adults in the county. This sample consists of n 1000 identical trials.</a:t>
            </a:r>
          </a:p>
          <a:p>
            <a:pPr marL="469900" indent="-342900">
              <a:buFont typeface="+mj-lt"/>
              <a:buAutoNum type="arabicPeriod"/>
            </a:pPr>
            <a:r>
              <a:rPr lang="en-US" sz="1600" dirty="0"/>
              <a:t>Since each adult will either favor or not favor term limits, there are two out comes that represent the “successes” and “failures” in the binomial experiment.</a:t>
            </a:r>
          </a:p>
          <a:p>
            <a:pPr marL="469900" indent="-342900">
              <a:buFont typeface="+mj-lt"/>
              <a:buAutoNum type="arabicPeriod"/>
            </a:pPr>
            <a:r>
              <a:rPr lang="en-US" sz="1600" dirty="0"/>
              <a:t>The probability of success, p, is the probability that an adult favors term limits. Does this probability remain the same for each adult in the sample? </a:t>
            </a:r>
          </a:p>
          <a:p>
            <a:pPr marL="469900" indent="-342900">
              <a:buFont typeface="+mj-lt"/>
              <a:buAutoNum type="arabicPeriod"/>
            </a:pPr>
            <a:r>
              <a:rPr lang="en-US" sz="1600" dirty="0"/>
              <a:t>The independence of the trials is guaranteed because of the large group of adults from which the sample is chosen. The probability of an adult favoring term limits does not change depending on the responses of previously chosen people.</a:t>
            </a:r>
          </a:p>
          <a:p>
            <a:pPr marL="469900" indent="-342900">
              <a:buFont typeface="+mj-lt"/>
              <a:buAutoNum type="arabicPeriod"/>
            </a:pPr>
            <a:r>
              <a:rPr lang="en-US" sz="1600" dirty="0"/>
              <a:t>The random variable x is the number of adults in the sample who favor term limits.</a:t>
            </a:r>
          </a:p>
          <a:p>
            <a:pPr marL="469900" indent="-342900">
              <a:buFont typeface="+mj-lt"/>
              <a:buAutoNum type="arabicPeriod"/>
            </a:pPr>
            <a:endParaRPr lang="en-US" sz="1600" dirty="0"/>
          </a:p>
          <a:p>
            <a:pPr marL="469900" indent="-342900">
              <a:buFont typeface="+mj-lt"/>
              <a:buAutoNum type="arabicPeriod"/>
            </a:pPr>
            <a:endParaRPr lang="en-US" sz="1600" dirty="0"/>
          </a:p>
          <a:p>
            <a:pPr marL="469900" indent="-342900">
              <a:buFont typeface="+mj-lt"/>
              <a:buAutoNum type="arabicPeriod"/>
            </a:pPr>
            <a:endParaRPr lang="en-US" sz="1600" dirty="0"/>
          </a:p>
          <a:p>
            <a:pPr marL="469900" indent="-342900">
              <a:buFont typeface="+mj-lt"/>
              <a:buAutoNum type="arabicPeriod"/>
            </a:pPr>
            <a:endParaRPr lang="en-US" sz="1600" dirty="0"/>
          </a:p>
          <a:p>
            <a:pPr marL="469900" indent="-342900">
              <a:buFont typeface="+mj-lt"/>
              <a:buAutoNum type="arabicPeriod"/>
            </a:pPr>
            <a:endParaRPr lang="en-US" dirty="0"/>
          </a:p>
        </p:txBody>
      </p:sp>
    </p:spTree>
    <p:extLst>
      <p:ext uri="{BB962C8B-B14F-4D97-AF65-F5344CB8AC3E}">
        <p14:creationId xmlns:p14="http://schemas.microsoft.com/office/powerpoint/2010/main" val="293908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Class Slid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808</Words>
  <Application>Microsoft Office PowerPoint</Application>
  <PresentationFormat>On-screen Show (4:3)</PresentationFormat>
  <Paragraphs>47</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Raleway</vt:lpstr>
      <vt:lpstr>Arial</vt:lpstr>
      <vt:lpstr>Lato</vt:lpstr>
      <vt:lpstr>Class Slide</vt:lpstr>
      <vt:lpstr>Discrete Distributions</vt:lpstr>
      <vt:lpstr>Introduction</vt:lpstr>
      <vt:lpstr>What is Binomial Random Variables?</vt:lpstr>
      <vt:lpstr>Example</vt:lpstr>
      <vt:lpstr>Definition</vt:lpstr>
      <vt:lpstr>Example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Ariful Hoque</cp:lastModifiedBy>
  <cp:revision>1</cp:revision>
  <dcterms:modified xsi:type="dcterms:W3CDTF">2024-11-26T05:30:50Z</dcterms:modified>
</cp:coreProperties>
</file>