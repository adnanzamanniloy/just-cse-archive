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654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9B37A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9B37A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9B37A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9B37A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3958" y="266141"/>
            <a:ext cx="14880082" cy="14677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9B37A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50808" y="2512788"/>
            <a:ext cx="7378700" cy="5645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" y="0"/>
            <a:ext cx="18192750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0561" y="2250770"/>
            <a:ext cx="11328400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26204" marR="5080" indent="-3914140">
              <a:lnSpc>
                <a:spcPct val="100000"/>
              </a:lnSpc>
              <a:spcBef>
                <a:spcPts val="95"/>
              </a:spcBef>
            </a:pPr>
            <a:r>
              <a:rPr sz="6400" b="1" dirty="0">
                <a:solidFill>
                  <a:srgbClr val="001F5F"/>
                </a:solidFill>
                <a:latin typeface="Calibri"/>
                <a:cs typeface="Calibri"/>
              </a:rPr>
              <a:t>Cyber</a:t>
            </a:r>
            <a:r>
              <a:rPr sz="6400" b="1" spc="-1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6400" b="1" dirty="0">
                <a:solidFill>
                  <a:srgbClr val="001F5F"/>
                </a:solidFill>
                <a:latin typeface="Calibri"/>
                <a:cs typeface="Calibri"/>
              </a:rPr>
              <a:t>Security</a:t>
            </a:r>
            <a:r>
              <a:rPr sz="6400" b="1" spc="-1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6400" b="1" dirty="0">
                <a:solidFill>
                  <a:srgbClr val="001F5F"/>
                </a:solidFill>
                <a:latin typeface="Calibri"/>
                <a:cs typeface="Calibri"/>
              </a:rPr>
              <a:t>&amp;</a:t>
            </a:r>
            <a:r>
              <a:rPr sz="6400" b="1" spc="-1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6400" b="1" dirty="0">
                <a:solidFill>
                  <a:srgbClr val="001F5F"/>
                </a:solidFill>
                <a:latin typeface="Calibri"/>
                <a:cs typeface="Calibri"/>
              </a:rPr>
              <a:t>Digital</a:t>
            </a:r>
            <a:r>
              <a:rPr sz="6400" b="1" spc="-1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6400" b="1" spc="-10" dirty="0">
                <a:solidFill>
                  <a:srgbClr val="001F5F"/>
                </a:solidFill>
                <a:latin typeface="Calibri"/>
                <a:cs typeface="Calibri"/>
              </a:rPr>
              <a:t>Forensics </a:t>
            </a:r>
            <a:r>
              <a:rPr sz="6400" b="1" dirty="0">
                <a:solidFill>
                  <a:srgbClr val="001F5F"/>
                </a:solidFill>
                <a:latin typeface="Calibri"/>
                <a:cs typeface="Calibri"/>
              </a:rPr>
              <a:t>CSE</a:t>
            </a:r>
            <a:r>
              <a:rPr sz="6400" b="1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6400" b="1" dirty="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r>
              <a:rPr sz="6400" b="1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6400" b="1" spc="-20" dirty="0">
                <a:solidFill>
                  <a:srgbClr val="001F5F"/>
                </a:solidFill>
                <a:latin typeface="Calibri"/>
                <a:cs typeface="Calibri"/>
              </a:rPr>
              <a:t>4207</a:t>
            </a:r>
            <a:endParaRPr sz="6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7050" y="5263307"/>
            <a:ext cx="9615805" cy="324993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5000" b="1" dirty="0">
                <a:latin typeface="Calibri"/>
                <a:cs typeface="Calibri"/>
              </a:rPr>
              <a:t>Lecture</a:t>
            </a:r>
            <a:r>
              <a:rPr sz="5000" b="1" spc="-30" dirty="0">
                <a:latin typeface="Calibri"/>
                <a:cs typeface="Calibri"/>
              </a:rPr>
              <a:t> </a:t>
            </a:r>
            <a:r>
              <a:rPr sz="5000" b="1" dirty="0">
                <a:latin typeface="Calibri"/>
                <a:cs typeface="Calibri"/>
              </a:rPr>
              <a:t>-</a:t>
            </a:r>
            <a:r>
              <a:rPr sz="5000" b="1" spc="-30" dirty="0">
                <a:latin typeface="Calibri"/>
                <a:cs typeface="Calibri"/>
              </a:rPr>
              <a:t> </a:t>
            </a:r>
            <a:r>
              <a:rPr sz="5000" b="1" spc="-25" dirty="0">
                <a:latin typeface="Calibri"/>
                <a:cs typeface="Calibri"/>
              </a:rPr>
              <a:t>08</a:t>
            </a:r>
            <a:endParaRPr sz="5000" dirty="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1305"/>
              </a:spcBef>
            </a:pPr>
            <a:r>
              <a:rPr lang="en-US" sz="5400" b="1" dirty="0">
                <a:latin typeface="Calibri"/>
                <a:cs typeface="Calibri"/>
              </a:rPr>
              <a:t>Dr. Md. Alam Hossain</a:t>
            </a:r>
            <a:endParaRPr sz="5400" dirty="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70"/>
              </a:spcBef>
            </a:pPr>
            <a:r>
              <a:rPr lang="en-US" sz="4300" spc="-10" dirty="0">
                <a:latin typeface="Calibri"/>
                <a:cs typeface="Calibri"/>
              </a:rPr>
              <a:t>Professor</a:t>
            </a:r>
            <a:endParaRPr sz="43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4300" dirty="0">
                <a:latin typeface="Calibri"/>
                <a:cs typeface="Calibri"/>
              </a:rPr>
              <a:t>Jashore</a:t>
            </a:r>
            <a:r>
              <a:rPr sz="4300" spc="-70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University</a:t>
            </a:r>
            <a:r>
              <a:rPr sz="4300" spc="-70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of</a:t>
            </a:r>
            <a:r>
              <a:rPr sz="4300" spc="-90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Science</a:t>
            </a:r>
            <a:r>
              <a:rPr sz="4300" spc="-75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&amp;</a:t>
            </a:r>
            <a:r>
              <a:rPr sz="4300" spc="-90" dirty="0">
                <a:latin typeface="Calibri"/>
                <a:cs typeface="Calibri"/>
              </a:rPr>
              <a:t> </a:t>
            </a:r>
            <a:r>
              <a:rPr sz="4300" spc="-10" dirty="0">
                <a:latin typeface="Calibri"/>
                <a:cs typeface="Calibri"/>
              </a:rPr>
              <a:t>Technology</a:t>
            </a:r>
            <a:endParaRPr sz="43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1714500"/>
            <a:ext cx="895350" cy="988694"/>
            <a:chOff x="457200" y="1714500"/>
            <a:chExt cx="895350" cy="988694"/>
          </a:xfrm>
        </p:grpSpPr>
        <p:sp>
          <p:nvSpPr>
            <p:cNvPr id="6" name="object 6"/>
            <p:cNvSpPr/>
            <p:nvPr/>
          </p:nvSpPr>
          <p:spPr>
            <a:xfrm>
              <a:off x="615569" y="2057400"/>
              <a:ext cx="386080" cy="161290"/>
            </a:xfrm>
            <a:custGeom>
              <a:avLst/>
              <a:gdLst/>
              <a:ahLst/>
              <a:cxnLst/>
              <a:rect l="l" t="t" r="r" b="b"/>
              <a:pathLst>
                <a:path w="386080" h="161289">
                  <a:moveTo>
                    <a:pt x="281089" y="0"/>
                  </a:moveTo>
                  <a:lnTo>
                    <a:pt x="232359" y="0"/>
                  </a:lnTo>
                  <a:lnTo>
                    <a:pt x="179895" y="5715"/>
                  </a:lnTo>
                  <a:lnTo>
                    <a:pt x="131165" y="17018"/>
                  </a:lnTo>
                  <a:lnTo>
                    <a:pt x="86194" y="31115"/>
                  </a:lnTo>
                  <a:lnTo>
                    <a:pt x="41224" y="50926"/>
                  </a:lnTo>
                  <a:lnTo>
                    <a:pt x="0" y="70739"/>
                  </a:lnTo>
                  <a:lnTo>
                    <a:pt x="108686" y="161290"/>
                  </a:lnTo>
                  <a:lnTo>
                    <a:pt x="161150" y="138683"/>
                  </a:lnTo>
                  <a:lnTo>
                    <a:pt x="187388" y="130175"/>
                  </a:lnTo>
                  <a:lnTo>
                    <a:pt x="217373" y="124586"/>
                  </a:lnTo>
                  <a:lnTo>
                    <a:pt x="243611" y="121666"/>
                  </a:lnTo>
                  <a:lnTo>
                    <a:pt x="273583" y="118872"/>
                  </a:lnTo>
                  <a:lnTo>
                    <a:pt x="339757" y="118872"/>
                  </a:lnTo>
                  <a:lnTo>
                    <a:pt x="386016" y="11302"/>
                  </a:lnTo>
                  <a:lnTo>
                    <a:pt x="333552" y="2794"/>
                  </a:lnTo>
                  <a:lnTo>
                    <a:pt x="281089" y="0"/>
                  </a:lnTo>
                  <a:close/>
                </a:path>
                <a:path w="386080" h="161289">
                  <a:moveTo>
                    <a:pt x="339757" y="118872"/>
                  </a:moveTo>
                  <a:lnTo>
                    <a:pt x="273583" y="118872"/>
                  </a:lnTo>
                  <a:lnTo>
                    <a:pt x="307314" y="121666"/>
                  </a:lnTo>
                  <a:lnTo>
                    <a:pt x="337299" y="124586"/>
                  </a:lnTo>
                  <a:lnTo>
                    <a:pt x="339757" y="118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2150109"/>
              <a:ext cx="863600" cy="532765"/>
            </a:xfrm>
            <a:custGeom>
              <a:avLst/>
              <a:gdLst/>
              <a:ahLst/>
              <a:cxnLst/>
              <a:rect l="l" t="t" r="r" b="b"/>
              <a:pathLst>
                <a:path w="863600" h="532764">
                  <a:moveTo>
                    <a:pt x="237553" y="90170"/>
                  </a:moveTo>
                  <a:lnTo>
                    <a:pt x="128206" y="0"/>
                  </a:lnTo>
                  <a:lnTo>
                    <a:pt x="94272" y="28194"/>
                  </a:lnTo>
                  <a:lnTo>
                    <a:pt x="64096" y="59182"/>
                  </a:lnTo>
                  <a:lnTo>
                    <a:pt x="41478" y="92964"/>
                  </a:lnTo>
                  <a:lnTo>
                    <a:pt x="22618" y="129667"/>
                  </a:lnTo>
                  <a:lnTo>
                    <a:pt x="7543" y="166370"/>
                  </a:lnTo>
                  <a:lnTo>
                    <a:pt x="0" y="205740"/>
                  </a:lnTo>
                  <a:lnTo>
                    <a:pt x="0" y="245237"/>
                  </a:lnTo>
                  <a:lnTo>
                    <a:pt x="7543" y="281813"/>
                  </a:lnTo>
                  <a:lnTo>
                    <a:pt x="165912" y="256540"/>
                  </a:lnTo>
                  <a:lnTo>
                    <a:pt x="162140" y="233934"/>
                  </a:lnTo>
                  <a:lnTo>
                    <a:pt x="162140" y="211455"/>
                  </a:lnTo>
                  <a:lnTo>
                    <a:pt x="165912" y="188849"/>
                  </a:lnTo>
                  <a:lnTo>
                    <a:pt x="173456" y="166370"/>
                  </a:lnTo>
                  <a:lnTo>
                    <a:pt x="184759" y="146558"/>
                  </a:lnTo>
                  <a:lnTo>
                    <a:pt x="199847" y="124079"/>
                  </a:lnTo>
                  <a:lnTo>
                    <a:pt x="237553" y="90170"/>
                  </a:lnTo>
                  <a:close/>
                </a:path>
                <a:path w="863600" h="532764">
                  <a:moveTo>
                    <a:pt x="326631" y="416814"/>
                  </a:moveTo>
                  <a:lnTo>
                    <a:pt x="274040" y="394335"/>
                  </a:lnTo>
                  <a:lnTo>
                    <a:pt x="228968" y="363347"/>
                  </a:lnTo>
                  <a:lnTo>
                    <a:pt x="195160" y="326771"/>
                  </a:lnTo>
                  <a:lnTo>
                    <a:pt x="172618" y="287401"/>
                  </a:lnTo>
                  <a:lnTo>
                    <a:pt x="14846" y="312801"/>
                  </a:lnTo>
                  <a:lnTo>
                    <a:pt x="29870" y="349377"/>
                  </a:lnTo>
                  <a:lnTo>
                    <a:pt x="52412" y="383159"/>
                  </a:lnTo>
                  <a:lnTo>
                    <a:pt x="78701" y="414020"/>
                  </a:lnTo>
                  <a:lnTo>
                    <a:pt x="108762" y="445008"/>
                  </a:lnTo>
                  <a:lnTo>
                    <a:pt x="183883" y="495681"/>
                  </a:lnTo>
                  <a:lnTo>
                    <a:pt x="228968" y="515366"/>
                  </a:lnTo>
                  <a:lnTo>
                    <a:pt x="277799" y="532257"/>
                  </a:lnTo>
                  <a:lnTo>
                    <a:pt x="326631" y="416814"/>
                  </a:lnTo>
                  <a:close/>
                </a:path>
                <a:path w="863600" h="532764">
                  <a:moveTo>
                    <a:pt x="863600" y="214630"/>
                  </a:moveTo>
                  <a:lnTo>
                    <a:pt x="856107" y="178054"/>
                  </a:lnTo>
                  <a:lnTo>
                    <a:pt x="699414" y="203454"/>
                  </a:lnTo>
                  <a:lnTo>
                    <a:pt x="703148" y="225933"/>
                  </a:lnTo>
                  <a:lnTo>
                    <a:pt x="703148" y="248539"/>
                  </a:lnTo>
                  <a:lnTo>
                    <a:pt x="688225" y="293624"/>
                  </a:lnTo>
                  <a:lnTo>
                    <a:pt x="665835" y="332994"/>
                  </a:lnTo>
                  <a:lnTo>
                    <a:pt x="628523" y="369697"/>
                  </a:lnTo>
                  <a:lnTo>
                    <a:pt x="736727" y="459867"/>
                  </a:lnTo>
                  <a:lnTo>
                    <a:pt x="770318" y="431673"/>
                  </a:lnTo>
                  <a:lnTo>
                    <a:pt x="800163" y="400685"/>
                  </a:lnTo>
                  <a:lnTo>
                    <a:pt x="822579" y="366903"/>
                  </a:lnTo>
                  <a:lnTo>
                    <a:pt x="841248" y="330200"/>
                  </a:lnTo>
                  <a:lnTo>
                    <a:pt x="856107" y="290830"/>
                  </a:lnTo>
                  <a:lnTo>
                    <a:pt x="863600" y="254127"/>
                  </a:lnTo>
                  <a:lnTo>
                    <a:pt x="863600" y="21463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1692" y="2077847"/>
              <a:ext cx="314325" cy="245110"/>
            </a:xfrm>
            <a:custGeom>
              <a:avLst/>
              <a:gdLst/>
              <a:ahLst/>
              <a:cxnLst/>
              <a:rect l="l" t="t" r="r" b="b"/>
              <a:pathLst>
                <a:path w="314325" h="245110">
                  <a:moveTo>
                    <a:pt x="52374" y="0"/>
                  </a:moveTo>
                  <a:lnTo>
                    <a:pt x="0" y="115316"/>
                  </a:lnTo>
                  <a:lnTo>
                    <a:pt x="29933" y="126619"/>
                  </a:lnTo>
                  <a:lnTo>
                    <a:pt x="56121" y="137795"/>
                  </a:lnTo>
                  <a:lnTo>
                    <a:pt x="101015" y="168782"/>
                  </a:lnTo>
                  <a:lnTo>
                    <a:pt x="134683" y="202564"/>
                  </a:lnTo>
                  <a:lnTo>
                    <a:pt x="145910" y="225044"/>
                  </a:lnTo>
                  <a:lnTo>
                    <a:pt x="157124" y="244728"/>
                  </a:lnTo>
                  <a:lnTo>
                    <a:pt x="314248" y="219455"/>
                  </a:lnTo>
                  <a:lnTo>
                    <a:pt x="299262" y="182879"/>
                  </a:lnTo>
                  <a:lnTo>
                    <a:pt x="276847" y="149098"/>
                  </a:lnTo>
                  <a:lnTo>
                    <a:pt x="250659" y="118109"/>
                  </a:lnTo>
                  <a:lnTo>
                    <a:pt x="220725" y="87122"/>
                  </a:lnTo>
                  <a:lnTo>
                    <a:pt x="183324" y="61849"/>
                  </a:lnTo>
                  <a:lnTo>
                    <a:pt x="142163" y="36575"/>
                  </a:lnTo>
                  <a:lnTo>
                    <a:pt x="101015" y="16891"/>
                  </a:lnTo>
                  <a:lnTo>
                    <a:pt x="523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6414" y="2539491"/>
              <a:ext cx="386080" cy="163195"/>
            </a:xfrm>
            <a:custGeom>
              <a:avLst/>
              <a:gdLst/>
              <a:ahLst/>
              <a:cxnLst/>
              <a:rect l="l" t="t" r="r" b="b"/>
              <a:pathLst>
                <a:path w="386080" h="163194">
                  <a:moveTo>
                    <a:pt x="48717" y="36575"/>
                  </a:moveTo>
                  <a:lnTo>
                    <a:pt x="0" y="152018"/>
                  </a:lnTo>
                  <a:lnTo>
                    <a:pt x="52463" y="160400"/>
                  </a:lnTo>
                  <a:lnTo>
                    <a:pt x="104927" y="163194"/>
                  </a:lnTo>
                  <a:lnTo>
                    <a:pt x="153657" y="163194"/>
                  </a:lnTo>
                  <a:lnTo>
                    <a:pt x="206120" y="157606"/>
                  </a:lnTo>
                  <a:lnTo>
                    <a:pt x="254850" y="146303"/>
                  </a:lnTo>
                  <a:lnTo>
                    <a:pt x="299821" y="132333"/>
                  </a:lnTo>
                  <a:lnTo>
                    <a:pt x="344792" y="112649"/>
                  </a:lnTo>
                  <a:lnTo>
                    <a:pt x="386016" y="90042"/>
                  </a:lnTo>
                  <a:lnTo>
                    <a:pt x="328377" y="42290"/>
                  </a:lnTo>
                  <a:lnTo>
                    <a:pt x="78701" y="42290"/>
                  </a:lnTo>
                  <a:lnTo>
                    <a:pt x="48717" y="36575"/>
                  </a:lnTo>
                  <a:close/>
                </a:path>
                <a:path w="386080" h="163194">
                  <a:moveTo>
                    <a:pt x="277329" y="0"/>
                  </a:moveTo>
                  <a:lnTo>
                    <a:pt x="224866" y="25400"/>
                  </a:lnTo>
                  <a:lnTo>
                    <a:pt x="168643" y="39497"/>
                  </a:lnTo>
                  <a:lnTo>
                    <a:pt x="138658" y="42290"/>
                  </a:lnTo>
                  <a:lnTo>
                    <a:pt x="328377" y="42290"/>
                  </a:lnTo>
                  <a:lnTo>
                    <a:pt x="277329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1714500"/>
              <a:ext cx="204825" cy="3286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7724" y="1714500"/>
              <a:ext cx="204825" cy="3286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7495">
              <a:lnSpc>
                <a:spcPct val="100000"/>
              </a:lnSpc>
              <a:spcBef>
                <a:spcPts val="95"/>
              </a:spcBef>
            </a:pPr>
            <a:r>
              <a:rPr sz="7900" spc="-10" dirty="0">
                <a:solidFill>
                  <a:srgbClr val="F79546"/>
                </a:solidFill>
                <a:latin typeface="Calibri"/>
                <a:cs typeface="Calibri"/>
              </a:rPr>
              <a:t>Outline</a:t>
            </a:r>
            <a:endParaRPr sz="7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4702" y="1919478"/>
            <a:ext cx="10064115" cy="596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indent="-180975">
              <a:lnSpc>
                <a:spcPct val="100000"/>
              </a:lnSpc>
              <a:spcBef>
                <a:spcPts val="100"/>
              </a:spcBef>
              <a:buSzPct val="97435"/>
              <a:buChar char="•"/>
              <a:tabLst>
                <a:tab pos="186055" algn="l"/>
              </a:tabLst>
            </a:pPr>
            <a:r>
              <a:rPr sz="3900" dirty="0">
                <a:latin typeface="Arial MT"/>
                <a:cs typeface="Arial MT"/>
              </a:rPr>
              <a:t>Types</a:t>
            </a:r>
            <a:r>
              <a:rPr sz="3900" spc="-7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of</a:t>
            </a:r>
            <a:r>
              <a:rPr sz="3900" spc="-50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malwares</a:t>
            </a:r>
            <a:endParaRPr sz="3900">
              <a:latin typeface="Arial MT"/>
              <a:cs typeface="Arial MT"/>
            </a:endParaRPr>
          </a:p>
          <a:p>
            <a:pPr marL="642620" lvl="1" indent="-180975">
              <a:lnSpc>
                <a:spcPct val="100000"/>
              </a:lnSpc>
              <a:buSzPct val="97435"/>
              <a:buChar char="•"/>
              <a:tabLst>
                <a:tab pos="642620" algn="l"/>
              </a:tabLst>
            </a:pPr>
            <a:r>
              <a:rPr sz="3900" dirty="0">
                <a:latin typeface="Arial MT"/>
                <a:cs typeface="Arial MT"/>
              </a:rPr>
              <a:t>Trap</a:t>
            </a:r>
            <a:r>
              <a:rPr sz="3900" spc="-90" dirty="0">
                <a:latin typeface="Arial MT"/>
                <a:cs typeface="Arial MT"/>
              </a:rPr>
              <a:t> </a:t>
            </a:r>
            <a:r>
              <a:rPr sz="3900" spc="-20" dirty="0">
                <a:latin typeface="Arial MT"/>
                <a:cs typeface="Arial MT"/>
              </a:rPr>
              <a:t>Doors</a:t>
            </a:r>
            <a:endParaRPr sz="3900">
              <a:latin typeface="Arial MT"/>
              <a:cs typeface="Arial MT"/>
            </a:endParaRPr>
          </a:p>
          <a:p>
            <a:pPr marL="642620" lvl="1" indent="-180975">
              <a:lnSpc>
                <a:spcPct val="100000"/>
              </a:lnSpc>
              <a:buSzPct val="97435"/>
              <a:buChar char="•"/>
              <a:tabLst>
                <a:tab pos="642620" algn="l"/>
              </a:tabLst>
            </a:pPr>
            <a:r>
              <a:rPr sz="3900" dirty="0">
                <a:latin typeface="Arial MT"/>
                <a:cs typeface="Arial MT"/>
              </a:rPr>
              <a:t>Logic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20" dirty="0">
                <a:latin typeface="Arial MT"/>
                <a:cs typeface="Arial MT"/>
              </a:rPr>
              <a:t>Bomb</a:t>
            </a:r>
            <a:endParaRPr sz="3900">
              <a:latin typeface="Arial MT"/>
              <a:cs typeface="Arial MT"/>
            </a:endParaRPr>
          </a:p>
          <a:p>
            <a:pPr marL="642620" lvl="1" indent="-180975">
              <a:lnSpc>
                <a:spcPct val="100000"/>
              </a:lnSpc>
              <a:buSzPct val="97435"/>
              <a:buChar char="•"/>
              <a:tabLst>
                <a:tab pos="642620" algn="l"/>
              </a:tabLst>
            </a:pPr>
            <a:r>
              <a:rPr sz="3900" dirty="0">
                <a:latin typeface="Arial MT"/>
                <a:cs typeface="Arial MT"/>
              </a:rPr>
              <a:t>Trojan</a:t>
            </a:r>
            <a:r>
              <a:rPr sz="3900" spc="-114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Horse</a:t>
            </a:r>
            <a:endParaRPr sz="3900">
              <a:latin typeface="Arial MT"/>
              <a:cs typeface="Arial MT"/>
            </a:endParaRPr>
          </a:p>
          <a:p>
            <a:pPr marL="186055" indent="-180975">
              <a:lnSpc>
                <a:spcPct val="100000"/>
              </a:lnSpc>
              <a:buSzPct val="97435"/>
              <a:buChar char="•"/>
              <a:tabLst>
                <a:tab pos="186055" algn="l"/>
              </a:tabLst>
            </a:pPr>
            <a:r>
              <a:rPr sz="3900" spc="-10" dirty="0">
                <a:latin typeface="Arial MT"/>
                <a:cs typeface="Arial MT"/>
              </a:rPr>
              <a:t>Viruses</a:t>
            </a:r>
            <a:endParaRPr sz="3900">
              <a:latin typeface="Arial MT"/>
              <a:cs typeface="Arial MT"/>
            </a:endParaRPr>
          </a:p>
          <a:p>
            <a:pPr marL="642620" lvl="1" indent="-180975">
              <a:lnSpc>
                <a:spcPct val="100000"/>
              </a:lnSpc>
              <a:buSzPct val="97435"/>
              <a:buChar char="•"/>
              <a:tabLst>
                <a:tab pos="642620" algn="l"/>
              </a:tabLst>
            </a:pPr>
            <a:r>
              <a:rPr sz="3900" dirty="0">
                <a:latin typeface="Arial MT"/>
                <a:cs typeface="Arial MT"/>
              </a:rPr>
              <a:t>Boot</a:t>
            </a:r>
            <a:r>
              <a:rPr sz="3900" spc="-9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Sector</a:t>
            </a:r>
            <a:r>
              <a:rPr sz="3900" spc="-85" dirty="0">
                <a:latin typeface="Arial MT"/>
                <a:cs typeface="Arial MT"/>
              </a:rPr>
              <a:t> </a:t>
            </a:r>
            <a:r>
              <a:rPr sz="3900" spc="-20" dirty="0">
                <a:latin typeface="Arial MT"/>
                <a:cs typeface="Arial MT"/>
              </a:rPr>
              <a:t>Virus</a:t>
            </a:r>
            <a:endParaRPr sz="3900">
              <a:latin typeface="Arial MT"/>
              <a:cs typeface="Arial MT"/>
            </a:endParaRPr>
          </a:p>
          <a:p>
            <a:pPr marL="642620" lvl="1" indent="-180975">
              <a:lnSpc>
                <a:spcPct val="100000"/>
              </a:lnSpc>
              <a:buSzPct val="97435"/>
              <a:buChar char="•"/>
              <a:tabLst>
                <a:tab pos="642620" algn="l"/>
              </a:tabLst>
            </a:pPr>
            <a:r>
              <a:rPr sz="3900" dirty="0">
                <a:latin typeface="Arial MT"/>
                <a:cs typeface="Arial MT"/>
              </a:rPr>
              <a:t>Macro</a:t>
            </a:r>
            <a:r>
              <a:rPr sz="3900" spc="-120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Virus</a:t>
            </a:r>
            <a:endParaRPr sz="3900">
              <a:latin typeface="Arial MT"/>
              <a:cs typeface="Arial MT"/>
            </a:endParaRPr>
          </a:p>
          <a:p>
            <a:pPr marL="642620" lvl="1" indent="-180975">
              <a:lnSpc>
                <a:spcPct val="100000"/>
              </a:lnSpc>
              <a:buSzPct val="97435"/>
              <a:buChar char="•"/>
              <a:tabLst>
                <a:tab pos="642620" algn="l"/>
              </a:tabLst>
            </a:pPr>
            <a:r>
              <a:rPr sz="3900" spc="-10" dirty="0">
                <a:latin typeface="Arial MT"/>
                <a:cs typeface="Arial MT"/>
              </a:rPr>
              <a:t>Rootkit</a:t>
            </a:r>
            <a:endParaRPr sz="3900">
              <a:latin typeface="Arial MT"/>
              <a:cs typeface="Arial MT"/>
            </a:endParaRPr>
          </a:p>
          <a:p>
            <a:pPr marL="642620" lvl="1" indent="-180975">
              <a:lnSpc>
                <a:spcPct val="100000"/>
              </a:lnSpc>
              <a:buSzPct val="97435"/>
              <a:buChar char="•"/>
              <a:tabLst>
                <a:tab pos="642620" algn="l"/>
              </a:tabLst>
            </a:pPr>
            <a:r>
              <a:rPr sz="3900" dirty="0">
                <a:latin typeface="Arial MT"/>
                <a:cs typeface="Arial MT"/>
              </a:rPr>
              <a:t>Internet</a:t>
            </a:r>
            <a:r>
              <a:rPr sz="3900" spc="-95" dirty="0">
                <a:latin typeface="Arial MT"/>
                <a:cs typeface="Arial MT"/>
              </a:rPr>
              <a:t> </a:t>
            </a:r>
            <a:r>
              <a:rPr sz="3900" spc="-20" dirty="0">
                <a:latin typeface="Arial MT"/>
                <a:cs typeface="Arial MT"/>
              </a:rPr>
              <a:t>worm</a:t>
            </a:r>
            <a:endParaRPr sz="3900">
              <a:latin typeface="Arial MT"/>
              <a:cs typeface="Arial MT"/>
            </a:endParaRPr>
          </a:p>
          <a:p>
            <a:pPr marL="186055" indent="-180975">
              <a:lnSpc>
                <a:spcPct val="100000"/>
              </a:lnSpc>
              <a:buSzPct val="97435"/>
              <a:buChar char="•"/>
              <a:tabLst>
                <a:tab pos="186055" algn="l"/>
                <a:tab pos="2195830" algn="l"/>
              </a:tabLst>
            </a:pPr>
            <a:r>
              <a:rPr sz="3900" spc="-10" dirty="0">
                <a:latin typeface="Arial MT"/>
                <a:cs typeface="Arial MT"/>
              </a:rPr>
              <a:t>Malware</a:t>
            </a:r>
            <a:r>
              <a:rPr sz="3900" dirty="0">
                <a:latin typeface="Arial MT"/>
                <a:cs typeface="Arial MT"/>
              </a:rPr>
              <a:t>	Detection</a:t>
            </a:r>
            <a:r>
              <a:rPr sz="3900" spc="-10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&amp;</a:t>
            </a:r>
            <a:r>
              <a:rPr sz="3900" spc="-114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Prevention</a:t>
            </a:r>
            <a:r>
              <a:rPr sz="3900" spc="-100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Approaches</a:t>
            </a:r>
            <a:endParaRPr sz="39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19200" y="800100"/>
            <a:ext cx="606425" cy="455295"/>
            <a:chOff x="1219200" y="800100"/>
            <a:chExt cx="606425" cy="455295"/>
          </a:xfrm>
        </p:grpSpPr>
        <p:sp>
          <p:nvSpPr>
            <p:cNvPr id="5" name="object 5"/>
            <p:cNvSpPr/>
            <p:nvPr/>
          </p:nvSpPr>
          <p:spPr>
            <a:xfrm>
              <a:off x="1329817" y="800100"/>
              <a:ext cx="271780" cy="115570"/>
            </a:xfrm>
            <a:custGeom>
              <a:avLst/>
              <a:gdLst/>
              <a:ahLst/>
              <a:cxnLst/>
              <a:rect l="l" t="t" r="r" b="b"/>
              <a:pathLst>
                <a:path w="271780" h="115569">
                  <a:moveTo>
                    <a:pt x="197485" y="0"/>
                  </a:moveTo>
                  <a:lnTo>
                    <a:pt x="179324" y="0"/>
                  </a:lnTo>
                  <a:lnTo>
                    <a:pt x="143764" y="2921"/>
                  </a:lnTo>
                  <a:lnTo>
                    <a:pt x="75692" y="17399"/>
                  </a:lnTo>
                  <a:lnTo>
                    <a:pt x="27813" y="35432"/>
                  </a:lnTo>
                  <a:lnTo>
                    <a:pt x="0" y="51307"/>
                  </a:lnTo>
                  <a:lnTo>
                    <a:pt x="75692" y="115570"/>
                  </a:lnTo>
                  <a:lnTo>
                    <a:pt x="92964" y="106172"/>
                  </a:lnTo>
                  <a:lnTo>
                    <a:pt x="111125" y="98298"/>
                  </a:lnTo>
                  <a:lnTo>
                    <a:pt x="130429" y="92455"/>
                  </a:lnTo>
                  <a:lnTo>
                    <a:pt x="150495" y="88900"/>
                  </a:lnTo>
                  <a:lnTo>
                    <a:pt x="171577" y="85978"/>
                  </a:lnTo>
                  <a:lnTo>
                    <a:pt x="192659" y="85217"/>
                  </a:lnTo>
                  <a:lnTo>
                    <a:pt x="238677" y="85217"/>
                  </a:lnTo>
                  <a:lnTo>
                    <a:pt x="271272" y="8000"/>
                  </a:lnTo>
                  <a:lnTo>
                    <a:pt x="253111" y="4318"/>
                  </a:lnTo>
                  <a:lnTo>
                    <a:pt x="233934" y="2158"/>
                  </a:lnTo>
                  <a:lnTo>
                    <a:pt x="216662" y="1397"/>
                  </a:lnTo>
                  <a:lnTo>
                    <a:pt x="197485" y="0"/>
                  </a:lnTo>
                  <a:close/>
                </a:path>
                <a:path w="271780" h="115569">
                  <a:moveTo>
                    <a:pt x="238677" y="85217"/>
                  </a:moveTo>
                  <a:lnTo>
                    <a:pt x="192659" y="85217"/>
                  </a:lnTo>
                  <a:lnTo>
                    <a:pt x="213741" y="86741"/>
                  </a:lnTo>
                  <a:lnTo>
                    <a:pt x="236855" y="89534"/>
                  </a:lnTo>
                  <a:lnTo>
                    <a:pt x="238677" y="85217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61413" y="991107"/>
              <a:ext cx="164465" cy="198755"/>
            </a:xfrm>
            <a:custGeom>
              <a:avLst/>
              <a:gdLst/>
              <a:ahLst/>
              <a:cxnLst/>
              <a:rect l="l" t="t" r="r" b="b"/>
              <a:pathLst>
                <a:path w="164464" h="198755">
                  <a:moveTo>
                    <a:pt x="161290" y="0"/>
                  </a:moveTo>
                  <a:lnTo>
                    <a:pt x="49656" y="18669"/>
                  </a:lnTo>
                  <a:lnTo>
                    <a:pt x="51562" y="33782"/>
                  </a:lnTo>
                  <a:lnTo>
                    <a:pt x="51562" y="49657"/>
                  </a:lnTo>
                  <a:lnTo>
                    <a:pt x="34417" y="96393"/>
                  </a:lnTo>
                  <a:lnTo>
                    <a:pt x="0" y="135127"/>
                  </a:lnTo>
                  <a:lnTo>
                    <a:pt x="75437" y="198500"/>
                  </a:lnTo>
                  <a:lnTo>
                    <a:pt x="109855" y="168275"/>
                  </a:lnTo>
                  <a:lnTo>
                    <a:pt x="136525" y="132969"/>
                  </a:lnTo>
                  <a:lnTo>
                    <a:pt x="155575" y="94234"/>
                  </a:lnTo>
                  <a:lnTo>
                    <a:pt x="158496" y="80518"/>
                  </a:lnTo>
                  <a:lnTo>
                    <a:pt x="162306" y="66801"/>
                  </a:lnTo>
                  <a:lnTo>
                    <a:pt x="164211" y="53848"/>
                  </a:lnTo>
                  <a:lnTo>
                    <a:pt x="164211" y="27305"/>
                  </a:lnTo>
                  <a:lnTo>
                    <a:pt x="163194" y="13589"/>
                  </a:lnTo>
                  <a:lnTo>
                    <a:pt x="16129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865377"/>
              <a:ext cx="231140" cy="37452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94484" y="815213"/>
              <a:ext cx="221615" cy="173355"/>
            </a:xfrm>
            <a:custGeom>
              <a:avLst/>
              <a:gdLst/>
              <a:ahLst/>
              <a:cxnLst/>
              <a:rect l="l" t="t" r="r" b="b"/>
              <a:pathLst>
                <a:path w="221614" h="173355">
                  <a:moveTo>
                    <a:pt x="34544" y="0"/>
                  </a:moveTo>
                  <a:lnTo>
                    <a:pt x="0" y="80898"/>
                  </a:lnTo>
                  <a:lnTo>
                    <a:pt x="19177" y="88137"/>
                  </a:lnTo>
                  <a:lnTo>
                    <a:pt x="37465" y="96773"/>
                  </a:lnTo>
                  <a:lnTo>
                    <a:pt x="69215" y="118490"/>
                  </a:lnTo>
                  <a:lnTo>
                    <a:pt x="101853" y="158114"/>
                  </a:lnTo>
                  <a:lnTo>
                    <a:pt x="108584" y="173354"/>
                  </a:lnTo>
                  <a:lnTo>
                    <a:pt x="221107" y="154558"/>
                  </a:lnTo>
                  <a:lnTo>
                    <a:pt x="202819" y="116966"/>
                  </a:lnTo>
                  <a:lnTo>
                    <a:pt x="175895" y="82295"/>
                  </a:lnTo>
                  <a:lnTo>
                    <a:pt x="166242" y="71500"/>
                  </a:lnTo>
                  <a:lnTo>
                    <a:pt x="153797" y="61340"/>
                  </a:lnTo>
                  <a:lnTo>
                    <a:pt x="141351" y="51307"/>
                  </a:lnTo>
                  <a:lnTo>
                    <a:pt x="128778" y="41909"/>
                  </a:lnTo>
                  <a:lnTo>
                    <a:pt x="114427" y="33908"/>
                  </a:lnTo>
                  <a:lnTo>
                    <a:pt x="99948" y="25272"/>
                  </a:lnTo>
                  <a:lnTo>
                    <a:pt x="69215" y="10794"/>
                  </a:lnTo>
                  <a:lnTo>
                    <a:pt x="51942" y="5079"/>
                  </a:lnTo>
                  <a:lnTo>
                    <a:pt x="34544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43736" y="1139316"/>
              <a:ext cx="271780" cy="115570"/>
            </a:xfrm>
            <a:custGeom>
              <a:avLst/>
              <a:gdLst/>
              <a:ahLst/>
              <a:cxnLst/>
              <a:rect l="l" t="t" r="r" b="b"/>
              <a:pathLst>
                <a:path w="271780" h="115569">
                  <a:moveTo>
                    <a:pt x="35432" y="26161"/>
                  </a:moveTo>
                  <a:lnTo>
                    <a:pt x="0" y="107568"/>
                  </a:lnTo>
                  <a:lnTo>
                    <a:pt x="18160" y="111251"/>
                  </a:lnTo>
                  <a:lnTo>
                    <a:pt x="36321" y="113410"/>
                  </a:lnTo>
                  <a:lnTo>
                    <a:pt x="54609" y="114934"/>
                  </a:lnTo>
                  <a:lnTo>
                    <a:pt x="72770" y="115569"/>
                  </a:lnTo>
                  <a:lnTo>
                    <a:pt x="91947" y="115569"/>
                  </a:lnTo>
                  <a:lnTo>
                    <a:pt x="109219" y="114934"/>
                  </a:lnTo>
                  <a:lnTo>
                    <a:pt x="143763" y="110489"/>
                  </a:lnTo>
                  <a:lnTo>
                    <a:pt x="162051" y="106933"/>
                  </a:lnTo>
                  <a:lnTo>
                    <a:pt x="178307" y="102488"/>
                  </a:lnTo>
                  <a:lnTo>
                    <a:pt x="195580" y="98932"/>
                  </a:lnTo>
                  <a:lnTo>
                    <a:pt x="210946" y="92328"/>
                  </a:lnTo>
                  <a:lnTo>
                    <a:pt x="228219" y="86486"/>
                  </a:lnTo>
                  <a:lnTo>
                    <a:pt x="242569" y="80009"/>
                  </a:lnTo>
                  <a:lnTo>
                    <a:pt x="271271" y="64007"/>
                  </a:lnTo>
                  <a:lnTo>
                    <a:pt x="230872" y="29844"/>
                  </a:lnTo>
                  <a:lnTo>
                    <a:pt x="78612" y="29844"/>
                  </a:lnTo>
                  <a:lnTo>
                    <a:pt x="56514" y="28321"/>
                  </a:lnTo>
                  <a:lnTo>
                    <a:pt x="35432" y="26161"/>
                  </a:lnTo>
                  <a:close/>
                </a:path>
                <a:path w="271780" h="115569">
                  <a:moveTo>
                    <a:pt x="195580" y="0"/>
                  </a:moveTo>
                  <a:lnTo>
                    <a:pt x="160147" y="16763"/>
                  </a:lnTo>
                  <a:lnTo>
                    <a:pt x="119760" y="26924"/>
                  </a:lnTo>
                  <a:lnTo>
                    <a:pt x="78612" y="29844"/>
                  </a:lnTo>
                  <a:lnTo>
                    <a:pt x="230872" y="29844"/>
                  </a:lnTo>
                  <a:lnTo>
                    <a:pt x="19558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6179800" y="8689213"/>
            <a:ext cx="1333500" cy="1471930"/>
            <a:chOff x="16179800" y="8689213"/>
            <a:chExt cx="1333500" cy="1471930"/>
          </a:xfrm>
        </p:grpSpPr>
        <p:sp>
          <p:nvSpPr>
            <p:cNvPr id="11" name="object 11"/>
            <p:cNvSpPr/>
            <p:nvPr/>
          </p:nvSpPr>
          <p:spPr>
            <a:xfrm>
              <a:off x="17075150" y="8689213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370713" y="3555"/>
                  </a:lnTo>
                  <a:lnTo>
                    <a:pt x="245617" y="32384"/>
                  </a:lnTo>
                  <a:lnTo>
                    <a:pt x="187832" y="53974"/>
                  </a:lnTo>
                  <a:lnTo>
                    <a:pt x="134873" y="82803"/>
                  </a:lnTo>
                  <a:lnTo>
                    <a:pt x="38480" y="147700"/>
                  </a:lnTo>
                  <a:lnTo>
                    <a:pt x="0" y="187324"/>
                  </a:lnTo>
                  <a:lnTo>
                    <a:pt x="183007" y="266699"/>
                  </a:lnTo>
                  <a:lnTo>
                    <a:pt x="207009" y="244982"/>
                  </a:lnTo>
                  <a:lnTo>
                    <a:pt x="231140" y="223392"/>
                  </a:lnTo>
                  <a:lnTo>
                    <a:pt x="293751" y="187324"/>
                  </a:lnTo>
                  <a:lnTo>
                    <a:pt x="361061" y="165734"/>
                  </a:lnTo>
                  <a:lnTo>
                    <a:pt x="399669" y="158495"/>
                  </a:lnTo>
                  <a:lnTo>
                    <a:pt x="438150" y="154939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989425" y="8912986"/>
              <a:ext cx="523875" cy="605155"/>
            </a:xfrm>
            <a:custGeom>
              <a:avLst/>
              <a:gdLst/>
              <a:ahLst/>
              <a:cxnLst/>
              <a:rect l="l" t="t" r="r" b="b"/>
              <a:pathLst>
                <a:path w="523875" h="605154">
                  <a:moveTo>
                    <a:pt x="241300" y="79883"/>
                  </a:moveTo>
                  <a:lnTo>
                    <a:pt x="62738" y="0"/>
                  </a:lnTo>
                  <a:lnTo>
                    <a:pt x="33782" y="43561"/>
                  </a:lnTo>
                  <a:lnTo>
                    <a:pt x="14478" y="90805"/>
                  </a:lnTo>
                  <a:lnTo>
                    <a:pt x="4826" y="141541"/>
                  </a:lnTo>
                  <a:lnTo>
                    <a:pt x="0" y="192341"/>
                  </a:lnTo>
                  <a:lnTo>
                    <a:pt x="4826" y="243141"/>
                  </a:lnTo>
                  <a:lnTo>
                    <a:pt x="14478" y="290322"/>
                  </a:lnTo>
                  <a:lnTo>
                    <a:pt x="33782" y="337489"/>
                  </a:lnTo>
                  <a:lnTo>
                    <a:pt x="62738" y="381038"/>
                  </a:lnTo>
                  <a:lnTo>
                    <a:pt x="241300" y="304838"/>
                  </a:lnTo>
                  <a:lnTo>
                    <a:pt x="226822" y="275805"/>
                  </a:lnTo>
                  <a:lnTo>
                    <a:pt x="217170" y="250405"/>
                  </a:lnTo>
                  <a:lnTo>
                    <a:pt x="207518" y="221373"/>
                  </a:lnTo>
                  <a:lnTo>
                    <a:pt x="207518" y="159689"/>
                  </a:lnTo>
                  <a:lnTo>
                    <a:pt x="217170" y="130657"/>
                  </a:lnTo>
                  <a:lnTo>
                    <a:pt x="226822" y="105257"/>
                  </a:lnTo>
                  <a:lnTo>
                    <a:pt x="241300" y="79883"/>
                  </a:lnTo>
                  <a:close/>
                </a:path>
                <a:path w="523875" h="605154">
                  <a:moveTo>
                    <a:pt x="523875" y="448513"/>
                  </a:moveTo>
                  <a:lnTo>
                    <a:pt x="485394" y="444881"/>
                  </a:lnTo>
                  <a:lnTo>
                    <a:pt x="446786" y="437603"/>
                  </a:lnTo>
                  <a:lnTo>
                    <a:pt x="379476" y="415785"/>
                  </a:lnTo>
                  <a:lnTo>
                    <a:pt x="345694" y="397598"/>
                  </a:lnTo>
                  <a:lnTo>
                    <a:pt x="292735" y="361238"/>
                  </a:lnTo>
                  <a:lnTo>
                    <a:pt x="268732" y="335788"/>
                  </a:lnTo>
                  <a:lnTo>
                    <a:pt x="85725" y="415785"/>
                  </a:lnTo>
                  <a:lnTo>
                    <a:pt x="124206" y="455777"/>
                  </a:lnTo>
                  <a:lnTo>
                    <a:pt x="220599" y="521233"/>
                  </a:lnTo>
                  <a:lnTo>
                    <a:pt x="273558" y="550329"/>
                  </a:lnTo>
                  <a:lnTo>
                    <a:pt x="331343" y="572147"/>
                  </a:lnTo>
                  <a:lnTo>
                    <a:pt x="456438" y="601230"/>
                  </a:lnTo>
                  <a:lnTo>
                    <a:pt x="523875" y="604875"/>
                  </a:lnTo>
                  <a:lnTo>
                    <a:pt x="523875" y="448513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430625" y="9332125"/>
              <a:ext cx="495300" cy="207645"/>
            </a:xfrm>
            <a:custGeom>
              <a:avLst/>
              <a:gdLst/>
              <a:ahLst/>
              <a:cxnLst/>
              <a:rect l="l" t="t" r="r" b="b"/>
              <a:pathLst>
                <a:path w="495300" h="207645">
                  <a:moveTo>
                    <a:pt x="360680" y="0"/>
                  </a:moveTo>
                  <a:lnTo>
                    <a:pt x="298196" y="0"/>
                  </a:lnTo>
                  <a:lnTo>
                    <a:pt x="230759" y="7264"/>
                  </a:lnTo>
                  <a:lnTo>
                    <a:pt x="168275" y="21805"/>
                  </a:lnTo>
                  <a:lnTo>
                    <a:pt x="110617" y="39979"/>
                  </a:lnTo>
                  <a:lnTo>
                    <a:pt x="52959" y="65417"/>
                  </a:lnTo>
                  <a:lnTo>
                    <a:pt x="0" y="90855"/>
                  </a:lnTo>
                  <a:lnTo>
                    <a:pt x="139446" y="207162"/>
                  </a:lnTo>
                  <a:lnTo>
                    <a:pt x="206755" y="178092"/>
                  </a:lnTo>
                  <a:lnTo>
                    <a:pt x="240411" y="167182"/>
                  </a:lnTo>
                  <a:lnTo>
                    <a:pt x="278892" y="159918"/>
                  </a:lnTo>
                  <a:lnTo>
                    <a:pt x="312546" y="156273"/>
                  </a:lnTo>
                  <a:lnTo>
                    <a:pt x="351028" y="152641"/>
                  </a:lnTo>
                  <a:lnTo>
                    <a:pt x="435943" y="152641"/>
                  </a:lnTo>
                  <a:lnTo>
                    <a:pt x="495300" y="14528"/>
                  </a:lnTo>
                  <a:lnTo>
                    <a:pt x="427990" y="3632"/>
                  </a:lnTo>
                  <a:lnTo>
                    <a:pt x="360680" y="0"/>
                  </a:lnTo>
                  <a:close/>
                </a:path>
                <a:path w="495300" h="207645">
                  <a:moveTo>
                    <a:pt x="435943" y="152641"/>
                  </a:moveTo>
                  <a:lnTo>
                    <a:pt x="351028" y="152641"/>
                  </a:lnTo>
                  <a:lnTo>
                    <a:pt x="394334" y="156273"/>
                  </a:lnTo>
                  <a:lnTo>
                    <a:pt x="432815" y="159918"/>
                  </a:lnTo>
                  <a:lnTo>
                    <a:pt x="435943" y="1526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227425" y="9451187"/>
              <a:ext cx="1108075" cy="683895"/>
            </a:xfrm>
            <a:custGeom>
              <a:avLst/>
              <a:gdLst/>
              <a:ahLst/>
              <a:cxnLst/>
              <a:rect l="l" t="t" r="r" b="b"/>
              <a:pathLst>
                <a:path w="1108075" h="683895">
                  <a:moveTo>
                    <a:pt x="304800" y="115824"/>
                  </a:moveTo>
                  <a:lnTo>
                    <a:pt x="164465" y="0"/>
                  </a:lnTo>
                  <a:lnTo>
                    <a:pt x="120904" y="36195"/>
                  </a:lnTo>
                  <a:lnTo>
                    <a:pt x="82296" y="76009"/>
                  </a:lnTo>
                  <a:lnTo>
                    <a:pt x="53213" y="119443"/>
                  </a:lnTo>
                  <a:lnTo>
                    <a:pt x="29083" y="166497"/>
                  </a:lnTo>
                  <a:lnTo>
                    <a:pt x="9652" y="213550"/>
                  </a:lnTo>
                  <a:lnTo>
                    <a:pt x="0" y="264223"/>
                  </a:lnTo>
                  <a:lnTo>
                    <a:pt x="0" y="314896"/>
                  </a:lnTo>
                  <a:lnTo>
                    <a:pt x="9652" y="361950"/>
                  </a:lnTo>
                  <a:lnTo>
                    <a:pt x="212852" y="329374"/>
                  </a:lnTo>
                  <a:lnTo>
                    <a:pt x="208026" y="300418"/>
                  </a:lnTo>
                  <a:lnTo>
                    <a:pt x="208026" y="271462"/>
                  </a:lnTo>
                  <a:lnTo>
                    <a:pt x="212852" y="242506"/>
                  </a:lnTo>
                  <a:lnTo>
                    <a:pt x="222504" y="213550"/>
                  </a:lnTo>
                  <a:lnTo>
                    <a:pt x="237109" y="188214"/>
                  </a:lnTo>
                  <a:lnTo>
                    <a:pt x="256413" y="159258"/>
                  </a:lnTo>
                  <a:lnTo>
                    <a:pt x="304800" y="115824"/>
                  </a:lnTo>
                  <a:close/>
                </a:path>
                <a:path w="1108075" h="683895">
                  <a:moveTo>
                    <a:pt x="419100" y="535279"/>
                  </a:moveTo>
                  <a:lnTo>
                    <a:pt x="351663" y="506374"/>
                  </a:lnTo>
                  <a:lnTo>
                    <a:pt x="293751" y="466636"/>
                  </a:lnTo>
                  <a:lnTo>
                    <a:pt x="250444" y="419671"/>
                  </a:lnTo>
                  <a:lnTo>
                    <a:pt x="221488" y="369087"/>
                  </a:lnTo>
                  <a:lnTo>
                    <a:pt x="19050" y="401599"/>
                  </a:lnTo>
                  <a:lnTo>
                    <a:pt x="38354" y="448576"/>
                  </a:lnTo>
                  <a:lnTo>
                    <a:pt x="67310" y="491921"/>
                  </a:lnTo>
                  <a:lnTo>
                    <a:pt x="100965" y="531672"/>
                  </a:lnTo>
                  <a:lnTo>
                    <a:pt x="139573" y="571411"/>
                  </a:lnTo>
                  <a:lnTo>
                    <a:pt x="235966" y="636447"/>
                  </a:lnTo>
                  <a:lnTo>
                    <a:pt x="293751" y="661733"/>
                  </a:lnTo>
                  <a:lnTo>
                    <a:pt x="356489" y="683412"/>
                  </a:lnTo>
                  <a:lnTo>
                    <a:pt x="419100" y="535279"/>
                  </a:lnTo>
                  <a:close/>
                </a:path>
                <a:path w="1108075" h="683895">
                  <a:moveTo>
                    <a:pt x="1108075" y="275653"/>
                  </a:moveTo>
                  <a:lnTo>
                    <a:pt x="1098550" y="228600"/>
                  </a:lnTo>
                  <a:lnTo>
                    <a:pt x="897382" y="261175"/>
                  </a:lnTo>
                  <a:lnTo>
                    <a:pt x="902208" y="290131"/>
                  </a:lnTo>
                  <a:lnTo>
                    <a:pt x="902208" y="319087"/>
                  </a:lnTo>
                  <a:lnTo>
                    <a:pt x="883031" y="376999"/>
                  </a:lnTo>
                  <a:lnTo>
                    <a:pt x="854329" y="427672"/>
                  </a:lnTo>
                  <a:lnTo>
                    <a:pt x="806450" y="474726"/>
                  </a:lnTo>
                  <a:lnTo>
                    <a:pt x="945261" y="590550"/>
                  </a:lnTo>
                  <a:lnTo>
                    <a:pt x="988441" y="554355"/>
                  </a:lnTo>
                  <a:lnTo>
                    <a:pt x="1026668" y="514540"/>
                  </a:lnTo>
                  <a:lnTo>
                    <a:pt x="1055370" y="471106"/>
                  </a:lnTo>
                  <a:lnTo>
                    <a:pt x="1079373" y="424065"/>
                  </a:lnTo>
                  <a:lnTo>
                    <a:pt x="1098550" y="373380"/>
                  </a:lnTo>
                  <a:lnTo>
                    <a:pt x="1108075" y="326326"/>
                  </a:lnTo>
                  <a:lnTo>
                    <a:pt x="1108075" y="275653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913225" y="9358312"/>
              <a:ext cx="403225" cy="314325"/>
            </a:xfrm>
            <a:custGeom>
              <a:avLst/>
              <a:gdLst/>
              <a:ahLst/>
              <a:cxnLst/>
              <a:rect l="l" t="t" r="r" b="b"/>
              <a:pathLst>
                <a:path w="403225" h="314325">
                  <a:moveTo>
                    <a:pt x="67182" y="0"/>
                  </a:moveTo>
                  <a:lnTo>
                    <a:pt x="0" y="148132"/>
                  </a:lnTo>
                  <a:lnTo>
                    <a:pt x="38353" y="162585"/>
                  </a:lnTo>
                  <a:lnTo>
                    <a:pt x="72009" y="177037"/>
                  </a:lnTo>
                  <a:lnTo>
                    <a:pt x="129667" y="216776"/>
                  </a:lnTo>
                  <a:lnTo>
                    <a:pt x="172846" y="260134"/>
                  </a:lnTo>
                  <a:lnTo>
                    <a:pt x="187198" y="289039"/>
                  </a:lnTo>
                  <a:lnTo>
                    <a:pt x="201676" y="314325"/>
                  </a:lnTo>
                  <a:lnTo>
                    <a:pt x="403225" y="281813"/>
                  </a:lnTo>
                  <a:lnTo>
                    <a:pt x="384048" y="234835"/>
                  </a:lnTo>
                  <a:lnTo>
                    <a:pt x="355219" y="191490"/>
                  </a:lnTo>
                  <a:lnTo>
                    <a:pt x="321563" y="151739"/>
                  </a:lnTo>
                  <a:lnTo>
                    <a:pt x="283209" y="112001"/>
                  </a:lnTo>
                  <a:lnTo>
                    <a:pt x="235203" y="79489"/>
                  </a:lnTo>
                  <a:lnTo>
                    <a:pt x="182371" y="46964"/>
                  </a:lnTo>
                  <a:lnTo>
                    <a:pt x="129667" y="21678"/>
                  </a:lnTo>
                  <a:lnTo>
                    <a:pt x="671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179800" y="8732011"/>
              <a:ext cx="952500" cy="1429385"/>
            </a:xfrm>
            <a:custGeom>
              <a:avLst/>
              <a:gdLst/>
              <a:ahLst/>
              <a:cxnLst/>
              <a:rect l="l" t="t" r="r" b="b"/>
              <a:pathLst>
                <a:path w="952500" h="1429384">
                  <a:moveTo>
                    <a:pt x="212725" y="240030"/>
                  </a:moveTo>
                  <a:lnTo>
                    <a:pt x="43561" y="164338"/>
                  </a:lnTo>
                  <a:lnTo>
                    <a:pt x="24130" y="193167"/>
                  </a:lnTo>
                  <a:lnTo>
                    <a:pt x="9652" y="225679"/>
                  </a:lnTo>
                  <a:lnTo>
                    <a:pt x="4826" y="261620"/>
                  </a:lnTo>
                  <a:lnTo>
                    <a:pt x="0" y="294119"/>
                  </a:lnTo>
                  <a:lnTo>
                    <a:pt x="4826" y="330161"/>
                  </a:lnTo>
                  <a:lnTo>
                    <a:pt x="9652" y="362610"/>
                  </a:lnTo>
                  <a:lnTo>
                    <a:pt x="24130" y="395058"/>
                  </a:lnTo>
                  <a:lnTo>
                    <a:pt x="43561" y="423887"/>
                  </a:lnTo>
                  <a:lnTo>
                    <a:pt x="212725" y="351790"/>
                  </a:lnTo>
                  <a:lnTo>
                    <a:pt x="203073" y="322961"/>
                  </a:lnTo>
                  <a:lnTo>
                    <a:pt x="198247" y="294119"/>
                  </a:lnTo>
                  <a:lnTo>
                    <a:pt x="203073" y="265303"/>
                  </a:lnTo>
                  <a:lnTo>
                    <a:pt x="212725" y="240030"/>
                  </a:lnTo>
                  <a:close/>
                </a:path>
                <a:path w="952500" h="1429384">
                  <a:moveTo>
                    <a:pt x="365125" y="438518"/>
                  </a:moveTo>
                  <a:lnTo>
                    <a:pt x="326644" y="431330"/>
                  </a:lnTo>
                  <a:lnTo>
                    <a:pt x="292862" y="420547"/>
                  </a:lnTo>
                  <a:lnTo>
                    <a:pt x="264033" y="402590"/>
                  </a:lnTo>
                  <a:lnTo>
                    <a:pt x="235204" y="381038"/>
                  </a:lnTo>
                  <a:lnTo>
                    <a:pt x="66675" y="456476"/>
                  </a:lnTo>
                  <a:lnTo>
                    <a:pt x="119634" y="506780"/>
                  </a:lnTo>
                  <a:lnTo>
                    <a:pt x="153289" y="528332"/>
                  </a:lnTo>
                  <a:lnTo>
                    <a:pt x="191770" y="546303"/>
                  </a:lnTo>
                  <a:lnTo>
                    <a:pt x="230378" y="560666"/>
                  </a:lnTo>
                  <a:lnTo>
                    <a:pt x="273685" y="575043"/>
                  </a:lnTo>
                  <a:lnTo>
                    <a:pt x="316992" y="582231"/>
                  </a:lnTo>
                  <a:lnTo>
                    <a:pt x="365125" y="585825"/>
                  </a:lnTo>
                  <a:lnTo>
                    <a:pt x="365125" y="438518"/>
                  </a:lnTo>
                  <a:close/>
                </a:path>
                <a:path w="952500" h="1429384">
                  <a:moveTo>
                    <a:pt x="365125" y="0"/>
                  </a:moveTo>
                  <a:lnTo>
                    <a:pt x="316992" y="3683"/>
                  </a:lnTo>
                  <a:lnTo>
                    <a:pt x="230378" y="25527"/>
                  </a:lnTo>
                  <a:lnTo>
                    <a:pt x="191770" y="40005"/>
                  </a:lnTo>
                  <a:lnTo>
                    <a:pt x="153289" y="58166"/>
                  </a:lnTo>
                  <a:lnTo>
                    <a:pt x="119634" y="80010"/>
                  </a:lnTo>
                  <a:lnTo>
                    <a:pt x="90805" y="105410"/>
                  </a:lnTo>
                  <a:lnTo>
                    <a:pt x="66675" y="130937"/>
                  </a:lnTo>
                  <a:lnTo>
                    <a:pt x="235204" y="207264"/>
                  </a:lnTo>
                  <a:lnTo>
                    <a:pt x="264033" y="185420"/>
                  </a:lnTo>
                  <a:lnTo>
                    <a:pt x="292862" y="167259"/>
                  </a:lnTo>
                  <a:lnTo>
                    <a:pt x="326644" y="156337"/>
                  </a:lnTo>
                  <a:lnTo>
                    <a:pt x="365125" y="149098"/>
                  </a:lnTo>
                  <a:lnTo>
                    <a:pt x="365125" y="0"/>
                  </a:lnTo>
                  <a:close/>
                </a:path>
                <a:path w="952500" h="1429384">
                  <a:moveTo>
                    <a:pt x="952500" y="1334846"/>
                  </a:moveTo>
                  <a:lnTo>
                    <a:pt x="878408" y="1273429"/>
                  </a:lnTo>
                  <a:lnTo>
                    <a:pt x="813054" y="1219238"/>
                  </a:lnTo>
                  <a:lnTo>
                    <a:pt x="779399" y="1237297"/>
                  </a:lnTo>
                  <a:lnTo>
                    <a:pt x="745744" y="1251750"/>
                  </a:lnTo>
                  <a:lnTo>
                    <a:pt x="712089" y="1262583"/>
                  </a:lnTo>
                  <a:lnTo>
                    <a:pt x="673608" y="1269809"/>
                  </a:lnTo>
                  <a:lnTo>
                    <a:pt x="635127" y="1273429"/>
                  </a:lnTo>
                  <a:lnTo>
                    <a:pt x="558165" y="1273429"/>
                  </a:lnTo>
                  <a:lnTo>
                    <a:pt x="519684" y="1266202"/>
                  </a:lnTo>
                  <a:lnTo>
                    <a:pt x="457200" y="1414335"/>
                  </a:lnTo>
                  <a:lnTo>
                    <a:pt x="524510" y="1425168"/>
                  </a:lnTo>
                  <a:lnTo>
                    <a:pt x="591820" y="1428788"/>
                  </a:lnTo>
                  <a:lnTo>
                    <a:pt x="654304" y="1428788"/>
                  </a:lnTo>
                  <a:lnTo>
                    <a:pt x="721741" y="1421561"/>
                  </a:lnTo>
                  <a:lnTo>
                    <a:pt x="784225" y="1407109"/>
                  </a:lnTo>
                  <a:lnTo>
                    <a:pt x="841883" y="1389037"/>
                  </a:lnTo>
                  <a:lnTo>
                    <a:pt x="899668" y="1363751"/>
                  </a:lnTo>
                  <a:lnTo>
                    <a:pt x="952500" y="133484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595725" y="8896349"/>
              <a:ext cx="365125" cy="421640"/>
            </a:xfrm>
            <a:custGeom>
              <a:avLst/>
              <a:gdLst/>
              <a:ahLst/>
              <a:cxnLst/>
              <a:rect l="l" t="t" r="r" b="b"/>
              <a:pathLst>
                <a:path w="365125" h="421640">
                  <a:moveTo>
                    <a:pt x="301625" y="292138"/>
                  </a:moveTo>
                  <a:lnTo>
                    <a:pt x="129286" y="216700"/>
                  </a:lnTo>
                  <a:lnTo>
                    <a:pt x="105283" y="238252"/>
                  </a:lnTo>
                  <a:lnTo>
                    <a:pt x="71755" y="256209"/>
                  </a:lnTo>
                  <a:lnTo>
                    <a:pt x="38354" y="266992"/>
                  </a:lnTo>
                  <a:lnTo>
                    <a:pt x="0" y="274180"/>
                  </a:lnTo>
                  <a:lnTo>
                    <a:pt x="0" y="421487"/>
                  </a:lnTo>
                  <a:lnTo>
                    <a:pt x="47879" y="417893"/>
                  </a:lnTo>
                  <a:lnTo>
                    <a:pt x="90932" y="410705"/>
                  </a:lnTo>
                  <a:lnTo>
                    <a:pt x="134112" y="396328"/>
                  </a:lnTo>
                  <a:lnTo>
                    <a:pt x="172339" y="381965"/>
                  </a:lnTo>
                  <a:lnTo>
                    <a:pt x="210693" y="363994"/>
                  </a:lnTo>
                  <a:lnTo>
                    <a:pt x="244221" y="342442"/>
                  </a:lnTo>
                  <a:lnTo>
                    <a:pt x="301625" y="292138"/>
                  </a:lnTo>
                  <a:close/>
                </a:path>
                <a:path w="365125" h="421640">
                  <a:moveTo>
                    <a:pt x="365125" y="97282"/>
                  </a:moveTo>
                  <a:lnTo>
                    <a:pt x="355473" y="61341"/>
                  </a:lnTo>
                  <a:lnTo>
                    <a:pt x="340995" y="28829"/>
                  </a:lnTo>
                  <a:lnTo>
                    <a:pt x="326390" y="0"/>
                  </a:lnTo>
                  <a:lnTo>
                    <a:pt x="152400" y="75692"/>
                  </a:lnTo>
                  <a:lnTo>
                    <a:pt x="166878" y="100965"/>
                  </a:lnTo>
                  <a:lnTo>
                    <a:pt x="166878" y="158623"/>
                  </a:lnTo>
                  <a:lnTo>
                    <a:pt x="152400" y="187452"/>
                  </a:lnTo>
                  <a:lnTo>
                    <a:pt x="326390" y="259549"/>
                  </a:lnTo>
                  <a:lnTo>
                    <a:pt x="340995" y="230720"/>
                  </a:lnTo>
                  <a:lnTo>
                    <a:pt x="355473" y="198272"/>
                  </a:lnTo>
                  <a:lnTo>
                    <a:pt x="365125" y="165823"/>
                  </a:lnTo>
                  <a:lnTo>
                    <a:pt x="365125" y="97282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595725" y="8732012"/>
              <a:ext cx="301625" cy="207645"/>
            </a:xfrm>
            <a:custGeom>
              <a:avLst/>
              <a:gdLst/>
              <a:ahLst/>
              <a:cxnLst/>
              <a:rect l="l" t="t" r="r" b="b"/>
              <a:pathLst>
                <a:path w="301625" h="207645">
                  <a:moveTo>
                    <a:pt x="0" y="0"/>
                  </a:moveTo>
                  <a:lnTo>
                    <a:pt x="0" y="149098"/>
                  </a:lnTo>
                  <a:lnTo>
                    <a:pt x="38353" y="156337"/>
                  </a:lnTo>
                  <a:lnTo>
                    <a:pt x="71755" y="167259"/>
                  </a:lnTo>
                  <a:lnTo>
                    <a:pt x="105282" y="185420"/>
                  </a:lnTo>
                  <a:lnTo>
                    <a:pt x="129286" y="207264"/>
                  </a:lnTo>
                  <a:lnTo>
                    <a:pt x="301625" y="130937"/>
                  </a:lnTo>
                  <a:lnTo>
                    <a:pt x="244221" y="80010"/>
                  </a:lnTo>
                  <a:lnTo>
                    <a:pt x="210692" y="58166"/>
                  </a:lnTo>
                  <a:lnTo>
                    <a:pt x="172338" y="40005"/>
                  </a:lnTo>
                  <a:lnTo>
                    <a:pt x="134111" y="25527"/>
                  </a:lnTo>
                  <a:lnTo>
                    <a:pt x="47878" y="3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17573626" y="8689213"/>
            <a:ext cx="523875" cy="828675"/>
          </a:xfrm>
          <a:custGeom>
            <a:avLst/>
            <a:gdLst/>
            <a:ahLst/>
            <a:cxnLst/>
            <a:rect l="l" t="t" r="r" b="b"/>
            <a:pathLst>
              <a:path w="523875" h="828675">
                <a:moveTo>
                  <a:pt x="438150" y="639559"/>
                </a:moveTo>
                <a:lnTo>
                  <a:pt x="255143" y="559562"/>
                </a:lnTo>
                <a:lnTo>
                  <a:pt x="235966" y="585012"/>
                </a:lnTo>
                <a:lnTo>
                  <a:pt x="178181" y="621372"/>
                </a:lnTo>
                <a:lnTo>
                  <a:pt x="144399" y="639559"/>
                </a:lnTo>
                <a:lnTo>
                  <a:pt x="77089" y="661377"/>
                </a:lnTo>
                <a:lnTo>
                  <a:pt x="38481" y="668655"/>
                </a:lnTo>
                <a:lnTo>
                  <a:pt x="0" y="672287"/>
                </a:lnTo>
                <a:lnTo>
                  <a:pt x="0" y="828649"/>
                </a:lnTo>
                <a:lnTo>
                  <a:pt x="67437" y="825004"/>
                </a:lnTo>
                <a:lnTo>
                  <a:pt x="192532" y="795921"/>
                </a:lnTo>
                <a:lnTo>
                  <a:pt x="250317" y="774103"/>
                </a:lnTo>
                <a:lnTo>
                  <a:pt x="303276" y="745007"/>
                </a:lnTo>
                <a:lnTo>
                  <a:pt x="356235" y="712279"/>
                </a:lnTo>
                <a:lnTo>
                  <a:pt x="399669" y="679551"/>
                </a:lnTo>
                <a:lnTo>
                  <a:pt x="438150" y="639559"/>
                </a:lnTo>
                <a:close/>
              </a:path>
              <a:path w="523875" h="828675">
                <a:moveTo>
                  <a:pt x="438150" y="187325"/>
                </a:moveTo>
                <a:lnTo>
                  <a:pt x="399669" y="147701"/>
                </a:lnTo>
                <a:lnTo>
                  <a:pt x="356235" y="115316"/>
                </a:lnTo>
                <a:lnTo>
                  <a:pt x="303276" y="82804"/>
                </a:lnTo>
                <a:lnTo>
                  <a:pt x="250317" y="53975"/>
                </a:lnTo>
                <a:lnTo>
                  <a:pt x="192532" y="32385"/>
                </a:lnTo>
                <a:lnTo>
                  <a:pt x="67437" y="3556"/>
                </a:lnTo>
                <a:lnTo>
                  <a:pt x="0" y="0"/>
                </a:lnTo>
                <a:lnTo>
                  <a:pt x="0" y="154940"/>
                </a:lnTo>
                <a:lnTo>
                  <a:pt x="38481" y="158496"/>
                </a:lnTo>
                <a:lnTo>
                  <a:pt x="77089" y="165735"/>
                </a:lnTo>
                <a:lnTo>
                  <a:pt x="144399" y="187325"/>
                </a:lnTo>
                <a:lnTo>
                  <a:pt x="178181" y="205359"/>
                </a:lnTo>
                <a:lnTo>
                  <a:pt x="235966" y="244983"/>
                </a:lnTo>
                <a:lnTo>
                  <a:pt x="255143" y="266700"/>
                </a:lnTo>
                <a:lnTo>
                  <a:pt x="438150" y="187325"/>
                </a:lnTo>
                <a:close/>
              </a:path>
              <a:path w="523875" h="828675">
                <a:moveTo>
                  <a:pt x="523875" y="416115"/>
                </a:moveTo>
                <a:lnTo>
                  <a:pt x="519049" y="365315"/>
                </a:lnTo>
                <a:lnTo>
                  <a:pt x="509397" y="314579"/>
                </a:lnTo>
                <a:lnTo>
                  <a:pt x="490093" y="267335"/>
                </a:lnTo>
                <a:lnTo>
                  <a:pt x="461137" y="223774"/>
                </a:lnTo>
                <a:lnTo>
                  <a:pt x="282575" y="303657"/>
                </a:lnTo>
                <a:lnTo>
                  <a:pt x="297053" y="329031"/>
                </a:lnTo>
                <a:lnTo>
                  <a:pt x="306705" y="354431"/>
                </a:lnTo>
                <a:lnTo>
                  <a:pt x="316357" y="383463"/>
                </a:lnTo>
                <a:lnTo>
                  <a:pt x="316357" y="445147"/>
                </a:lnTo>
                <a:lnTo>
                  <a:pt x="306705" y="474179"/>
                </a:lnTo>
                <a:lnTo>
                  <a:pt x="297053" y="499579"/>
                </a:lnTo>
                <a:lnTo>
                  <a:pt x="282575" y="528612"/>
                </a:lnTo>
                <a:lnTo>
                  <a:pt x="461137" y="604812"/>
                </a:lnTo>
                <a:lnTo>
                  <a:pt x="490093" y="561263"/>
                </a:lnTo>
                <a:lnTo>
                  <a:pt x="509397" y="514096"/>
                </a:lnTo>
                <a:lnTo>
                  <a:pt x="519049" y="466915"/>
                </a:lnTo>
                <a:lnTo>
                  <a:pt x="523875" y="416115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1832" rIns="0" bIns="0" rtlCol="0">
            <a:spAutoFit/>
          </a:bodyPr>
          <a:lstStyle/>
          <a:p>
            <a:pPr marL="630555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TyąeG</a:t>
            </a:r>
            <a:r>
              <a:rPr sz="4800" spc="590" dirty="0"/>
              <a:t> </a:t>
            </a:r>
            <a:r>
              <a:rPr sz="4800" spc="229" dirty="0"/>
              <a:t>o7</a:t>
            </a:r>
            <a:r>
              <a:rPr sz="4800" spc="605" dirty="0"/>
              <a:t> </a:t>
            </a:r>
            <a:r>
              <a:rPr sz="4800" spc="-270" dirty="0"/>
              <a:t>fia(ċcċoSG</a:t>
            </a:r>
            <a:r>
              <a:rPr sz="4800" spc="660" dirty="0"/>
              <a:t> </a:t>
            </a:r>
            <a:r>
              <a:rPr sz="4800" spc="125" dirty="0"/>
              <a:t>So7Cwase</a:t>
            </a:r>
            <a:r>
              <a:rPr sz="4800" spc="600" dirty="0"/>
              <a:t> </a:t>
            </a:r>
            <a:r>
              <a:rPr sz="4800" spc="55" dirty="0"/>
              <a:t>efia(wase)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5100954" y="3367785"/>
            <a:ext cx="54527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130" indent="-51943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532130" algn="l"/>
                <a:tab pos="3374390" algn="l"/>
              </a:tabLst>
            </a:pPr>
            <a:r>
              <a:rPr sz="4800" dirty="0">
                <a:solidFill>
                  <a:srgbClr val="6B9361"/>
                </a:solidFill>
                <a:latin typeface="Times New Roman"/>
                <a:cs typeface="Times New Roman"/>
              </a:rPr>
              <a:t>Needs</a:t>
            </a:r>
            <a:r>
              <a:rPr sz="4800" spc="-2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800" spc="-20" dirty="0">
                <a:solidFill>
                  <a:srgbClr val="6B9361"/>
                </a:solidFill>
                <a:latin typeface="Times New Roman"/>
                <a:cs typeface="Times New Roman"/>
              </a:rPr>
              <a:t>host</a:t>
            </a:r>
            <a:r>
              <a:rPr sz="4800" dirty="0">
                <a:solidFill>
                  <a:srgbClr val="6B9361"/>
                </a:solidFill>
                <a:latin typeface="Times New Roman"/>
                <a:cs typeface="Times New Roman"/>
              </a:rPr>
              <a:t>	</a:t>
            </a:r>
            <a:r>
              <a:rPr sz="4800" spc="-10" dirty="0">
                <a:solidFill>
                  <a:srgbClr val="6B9361"/>
                </a:solidFill>
                <a:latin typeface="Times New Roman"/>
                <a:cs typeface="Times New Roman"/>
              </a:rPr>
              <a:t>program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1296" y="6212840"/>
            <a:ext cx="35591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130" indent="-51943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532130" algn="l"/>
              </a:tabLst>
            </a:pPr>
            <a:r>
              <a:rPr sz="4800" spc="-10" dirty="0">
                <a:solidFill>
                  <a:srgbClr val="6B9361"/>
                </a:solidFill>
                <a:latin typeface="Times New Roman"/>
                <a:cs typeface="Times New Roman"/>
              </a:rPr>
              <a:t>Independent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000" y="2997199"/>
            <a:ext cx="14071600" cy="5841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1832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TyąeG</a:t>
            </a:r>
            <a:r>
              <a:rPr sz="4800" spc="590" dirty="0"/>
              <a:t> </a:t>
            </a:r>
            <a:r>
              <a:rPr sz="4800" spc="229" dirty="0"/>
              <a:t>o7</a:t>
            </a:r>
            <a:r>
              <a:rPr sz="4800" spc="605" dirty="0"/>
              <a:t> </a:t>
            </a:r>
            <a:r>
              <a:rPr sz="4800" spc="-270" dirty="0"/>
              <a:t>fia(ċcċoSG</a:t>
            </a:r>
            <a:r>
              <a:rPr sz="4800" spc="660" dirty="0"/>
              <a:t> </a:t>
            </a:r>
            <a:r>
              <a:rPr sz="4800" spc="125" dirty="0"/>
              <a:t>So7Cwase</a:t>
            </a:r>
            <a:r>
              <a:rPr sz="4800" spc="600" dirty="0"/>
              <a:t> </a:t>
            </a:r>
            <a:r>
              <a:rPr sz="4800" spc="55" dirty="0"/>
              <a:t>efia(wase)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1384553" y="2229357"/>
            <a:ext cx="66605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130" indent="-51943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532130" algn="l"/>
              </a:tabLst>
            </a:pPr>
            <a:r>
              <a:rPr sz="4800" spc="-30" dirty="0">
                <a:solidFill>
                  <a:srgbClr val="6B9361"/>
                </a:solidFill>
                <a:latin typeface="Tahoma"/>
                <a:cs typeface="Tahoma"/>
              </a:rPr>
              <a:t>NeedG</a:t>
            </a:r>
            <a:r>
              <a:rPr sz="4800" spc="300" dirty="0">
                <a:solidFill>
                  <a:srgbClr val="6B9361"/>
                </a:solidFill>
                <a:latin typeface="Tahoma"/>
                <a:cs typeface="Tahoma"/>
              </a:rPr>
              <a:t> </a:t>
            </a:r>
            <a:r>
              <a:rPr sz="4800" spc="-380" dirty="0">
                <a:solidFill>
                  <a:srgbClr val="6B9361"/>
                </a:solidFill>
                <a:latin typeface="Tahoma"/>
                <a:cs typeface="Tahoma"/>
              </a:rPr>
              <a:t>ftoGC</a:t>
            </a:r>
            <a:r>
              <a:rPr sz="4800" spc="305" dirty="0">
                <a:solidFill>
                  <a:srgbClr val="6B9361"/>
                </a:solidFill>
                <a:latin typeface="Tahoma"/>
                <a:cs typeface="Tahoma"/>
              </a:rPr>
              <a:t> </a:t>
            </a:r>
            <a:r>
              <a:rPr sz="4800" spc="-10" dirty="0">
                <a:solidFill>
                  <a:srgbClr val="6B9361"/>
                </a:solidFill>
                <a:latin typeface="Tahoma"/>
                <a:cs typeface="Tahoma"/>
              </a:rPr>
              <a:t>ąsogsam: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7811" y="5372227"/>
            <a:ext cx="27349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70" dirty="0">
                <a:latin typeface="Tahoma"/>
                <a:cs typeface="Tahoma"/>
              </a:rPr>
              <a:t>Tsaą</a:t>
            </a:r>
            <a:r>
              <a:rPr sz="4000" spc="545" dirty="0">
                <a:latin typeface="Tahoma"/>
                <a:cs typeface="Tahoma"/>
              </a:rPr>
              <a:t> </a:t>
            </a:r>
            <a:r>
              <a:rPr sz="4000" spc="-175" dirty="0">
                <a:latin typeface="Tahoma"/>
                <a:cs typeface="Tahoma"/>
              </a:rPr>
              <a:t>doosG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02473" y="5476747"/>
            <a:ext cx="2709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Tahoma"/>
                <a:cs typeface="Tahoma"/>
              </a:rPr>
              <a:t>Logċc</a:t>
            </a:r>
            <a:r>
              <a:rPr sz="3600" spc="-40" dirty="0">
                <a:latin typeface="Tahoma"/>
                <a:cs typeface="Tahoma"/>
              </a:rPr>
              <a:t> </a:t>
            </a:r>
            <a:r>
              <a:rPr sz="3600" spc="-60" dirty="0">
                <a:latin typeface="Tahoma"/>
                <a:cs typeface="Tahoma"/>
              </a:rPr>
              <a:t>bombG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41273" y="5710554"/>
            <a:ext cx="3088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85" dirty="0">
                <a:latin typeface="Tahoma"/>
                <a:cs typeface="Tahoma"/>
              </a:rPr>
              <a:t>Tsojan</a:t>
            </a:r>
            <a:r>
              <a:rPr sz="3600" spc="545" dirty="0">
                <a:latin typeface="Tahoma"/>
                <a:cs typeface="Tahoma"/>
              </a:rPr>
              <a:t> </a:t>
            </a:r>
            <a:r>
              <a:rPr sz="3600" spc="-285" dirty="0">
                <a:latin typeface="Tahoma"/>
                <a:cs typeface="Tahoma"/>
              </a:rPr>
              <a:t>ftosGeG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13593" y="7278028"/>
            <a:ext cx="4119879" cy="1415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2565">
              <a:lnSpc>
                <a:spcPct val="126600"/>
              </a:lnSpc>
              <a:spcBef>
                <a:spcPts val="100"/>
              </a:spcBef>
            </a:pPr>
            <a:r>
              <a:rPr sz="3600" dirty="0">
                <a:latin typeface="Tahoma"/>
                <a:cs typeface="Tahoma"/>
              </a:rPr>
              <a:t>BsowGes</a:t>
            </a:r>
            <a:r>
              <a:rPr sz="3600" spc="95" dirty="0">
                <a:latin typeface="Tahoma"/>
                <a:cs typeface="Tahoma"/>
              </a:rPr>
              <a:t> </a:t>
            </a:r>
            <a:r>
              <a:rPr sz="3600" spc="-100" dirty="0">
                <a:latin typeface="Tahoma"/>
                <a:cs typeface="Tahoma"/>
              </a:rPr>
              <a:t>ą(Sg-</a:t>
            </a:r>
            <a:r>
              <a:rPr sz="3600" spc="-470" dirty="0">
                <a:latin typeface="Tahoma"/>
                <a:cs typeface="Tahoma"/>
              </a:rPr>
              <a:t>ċnG, </a:t>
            </a:r>
            <a:r>
              <a:rPr sz="3600" spc="-190" dirty="0">
                <a:latin typeface="Tahoma"/>
                <a:cs typeface="Tahoma"/>
              </a:rPr>
              <a:t>exCenGċonG,</a:t>
            </a:r>
            <a:r>
              <a:rPr sz="3600" spc="50" dirty="0">
                <a:latin typeface="Tahoma"/>
                <a:cs typeface="Tahoma"/>
              </a:rPr>
              <a:t> </a:t>
            </a:r>
            <a:r>
              <a:rPr sz="3600" spc="-320" dirty="0">
                <a:latin typeface="Tahoma"/>
                <a:cs typeface="Tahoma"/>
              </a:rPr>
              <a:t>GcsċąCG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8160" y="8727440"/>
            <a:ext cx="15646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0" dirty="0">
                <a:latin typeface="Tahoma"/>
                <a:cs typeface="Tahoma"/>
              </a:rPr>
              <a:t>VċsSGeG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3318029"/>
            <a:ext cx="13868400" cy="39587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1832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TyąeG</a:t>
            </a:r>
            <a:r>
              <a:rPr sz="4800" spc="590" dirty="0"/>
              <a:t> </a:t>
            </a:r>
            <a:r>
              <a:rPr sz="4800" spc="229" dirty="0"/>
              <a:t>o7</a:t>
            </a:r>
            <a:r>
              <a:rPr sz="4800" spc="605" dirty="0"/>
              <a:t> </a:t>
            </a:r>
            <a:r>
              <a:rPr sz="4800" spc="-270" dirty="0"/>
              <a:t>fia(ċcċoSG</a:t>
            </a:r>
            <a:r>
              <a:rPr sz="4800" spc="660" dirty="0"/>
              <a:t> </a:t>
            </a:r>
            <a:r>
              <a:rPr sz="4800" spc="125" dirty="0"/>
              <a:t>So7Cwase</a:t>
            </a:r>
            <a:r>
              <a:rPr sz="4800" spc="600" dirty="0"/>
              <a:t> </a:t>
            </a:r>
            <a:r>
              <a:rPr sz="4800" spc="55" dirty="0"/>
              <a:t>efia(wase)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1384553" y="2229357"/>
            <a:ext cx="45262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130" indent="-51943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532130" algn="l"/>
              </a:tabLst>
            </a:pPr>
            <a:r>
              <a:rPr sz="4800" spc="105" dirty="0">
                <a:solidFill>
                  <a:srgbClr val="6B9361"/>
                </a:solidFill>
                <a:latin typeface="Tahoma"/>
                <a:cs typeface="Tahoma"/>
              </a:rPr>
              <a:t>IndeąendenC: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82517" y="6973316"/>
            <a:ext cx="14865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latin typeface="Tahoma"/>
                <a:cs typeface="Tahoma"/>
              </a:rPr>
              <a:t>WosmG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24052" y="7129398"/>
            <a:ext cx="1134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latin typeface="Tahoma"/>
                <a:cs typeface="Tahoma"/>
              </a:rPr>
              <a:t>APTG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61069" y="7358253"/>
            <a:ext cx="177736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Tahoma"/>
                <a:cs typeface="Tahoma"/>
              </a:rPr>
              <a:t>BoCneC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9600" y="2838449"/>
            <a:ext cx="5899150" cy="52387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5174615">
              <a:lnSpc>
                <a:spcPct val="100000"/>
              </a:lnSpc>
              <a:spcBef>
                <a:spcPts val="100"/>
              </a:spcBef>
            </a:pPr>
            <a:r>
              <a:rPr spc="405" dirty="0"/>
              <a:t>Tsaą</a:t>
            </a:r>
            <a:r>
              <a:rPr spc="825" dirty="0"/>
              <a:t> </a:t>
            </a:r>
            <a:r>
              <a:rPr spc="-500" dirty="0"/>
              <a:t>DoosG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2172" y="2536343"/>
            <a:ext cx="7079615" cy="564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5305" marR="1667510" indent="-510540">
              <a:lnSpc>
                <a:spcPct val="153500"/>
              </a:lnSpc>
              <a:spcBef>
                <a:spcPts val="100"/>
              </a:spcBef>
              <a:buFont typeface="Microsoft Sans Serif"/>
              <a:buChar char="●"/>
              <a:tabLst>
                <a:tab pos="535305" algn="l"/>
              </a:tabLst>
            </a:pPr>
            <a:r>
              <a:rPr sz="4000" spc="-30" dirty="0">
                <a:latin typeface="Times New Roman"/>
                <a:cs typeface="Times New Roman"/>
              </a:rPr>
              <a:t>A</a:t>
            </a:r>
            <a:r>
              <a:rPr sz="4000" spc="-22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secret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entry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point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spc="-50" dirty="0">
                <a:latin typeface="Times New Roman"/>
                <a:cs typeface="Times New Roman"/>
              </a:rPr>
              <a:t>a </a:t>
            </a:r>
            <a:r>
              <a:rPr sz="4000" dirty="0">
                <a:latin typeface="Times New Roman"/>
                <a:cs typeface="Times New Roman"/>
              </a:rPr>
              <a:t>program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or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system.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40"/>
              </a:spcBef>
              <a:buFont typeface="Microsoft Sans Serif"/>
              <a:buChar char="●"/>
            </a:pPr>
            <a:endParaRPr sz="4000">
              <a:latin typeface="Times New Roman"/>
              <a:cs typeface="Times New Roman"/>
            </a:endParaRPr>
          </a:p>
          <a:p>
            <a:pPr marL="534035" marR="17780" indent="-509270" algn="just">
              <a:lnSpc>
                <a:spcPct val="151900"/>
              </a:lnSpc>
              <a:buFont typeface="Microsoft Sans Serif"/>
              <a:buChar char="●"/>
              <a:tabLst>
                <a:tab pos="535305" algn="l"/>
              </a:tabLst>
            </a:pPr>
            <a:r>
              <a:rPr sz="4000" spc="-25" dirty="0">
                <a:latin typeface="Times New Roman"/>
                <a:cs typeface="Times New Roman"/>
              </a:rPr>
              <a:t>Typically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works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by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recognizing 	</a:t>
            </a:r>
            <a:r>
              <a:rPr sz="4000" dirty="0">
                <a:latin typeface="Times New Roman"/>
                <a:cs typeface="Times New Roman"/>
              </a:rPr>
              <a:t>some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special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sequence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inputs 	</a:t>
            </a:r>
            <a:r>
              <a:rPr sz="4000" dirty="0">
                <a:latin typeface="Times New Roman"/>
                <a:cs typeface="Times New Roman"/>
              </a:rPr>
              <a:t>or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special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user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ID.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5200" y="2641599"/>
            <a:ext cx="4775200" cy="5740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56578" y="650824"/>
            <a:ext cx="44824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Logċc</a:t>
            </a:r>
            <a:r>
              <a:rPr spc="-85" dirty="0"/>
              <a:t> </a:t>
            </a:r>
            <a:r>
              <a:rPr spc="-185" dirty="0"/>
              <a:t>BombG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35305" marR="779145" indent="-509905">
              <a:lnSpc>
                <a:spcPct val="153500"/>
              </a:lnSpc>
              <a:spcBef>
                <a:spcPts val="105"/>
              </a:spcBef>
              <a:buFont typeface="Microsoft Sans Serif"/>
              <a:buChar char="●"/>
              <a:tabLst>
                <a:tab pos="535305" algn="l"/>
              </a:tabLst>
            </a:pPr>
            <a:r>
              <a:rPr sz="4000" dirty="0"/>
              <a:t>Embedded</a:t>
            </a:r>
            <a:r>
              <a:rPr sz="4000" spc="-60" dirty="0"/>
              <a:t> </a:t>
            </a:r>
            <a:r>
              <a:rPr sz="4000" dirty="0"/>
              <a:t>in</a:t>
            </a:r>
            <a:r>
              <a:rPr sz="4000" spc="-60" dirty="0"/>
              <a:t> </a:t>
            </a:r>
            <a:r>
              <a:rPr sz="4000" dirty="0"/>
              <a:t>some</a:t>
            </a:r>
            <a:r>
              <a:rPr sz="4000" spc="-40" dirty="0"/>
              <a:t> </a:t>
            </a:r>
            <a:r>
              <a:rPr sz="4000" spc="-10" dirty="0"/>
              <a:t>legitimate Program</a:t>
            </a:r>
            <a:endParaRPr sz="4000"/>
          </a:p>
          <a:p>
            <a:pPr>
              <a:lnSpc>
                <a:spcPct val="100000"/>
              </a:lnSpc>
              <a:spcBef>
                <a:spcPts val="3035"/>
              </a:spcBef>
              <a:buFont typeface="Microsoft Sans Serif"/>
              <a:buChar char="●"/>
            </a:pPr>
            <a:endParaRPr sz="4000"/>
          </a:p>
          <a:p>
            <a:pPr marL="535305" marR="17780" indent="-509905">
              <a:lnSpc>
                <a:spcPct val="151900"/>
              </a:lnSpc>
              <a:buFont typeface="Microsoft Sans Serif"/>
              <a:buChar char="●"/>
              <a:tabLst>
                <a:tab pos="535305" algn="l"/>
              </a:tabLst>
            </a:pPr>
            <a:r>
              <a:rPr sz="4000" dirty="0"/>
              <a:t>“Explode”</a:t>
            </a:r>
            <a:r>
              <a:rPr sz="4000" spc="-105" dirty="0"/>
              <a:t> </a:t>
            </a:r>
            <a:r>
              <a:rPr sz="4000" dirty="0"/>
              <a:t>or</a:t>
            </a:r>
            <a:r>
              <a:rPr sz="4000" spc="-105" dirty="0"/>
              <a:t> </a:t>
            </a:r>
            <a:r>
              <a:rPr sz="4000" dirty="0"/>
              <a:t>perform</a:t>
            </a:r>
            <a:r>
              <a:rPr sz="4000" spc="-105" dirty="0"/>
              <a:t> </a:t>
            </a:r>
            <a:r>
              <a:rPr sz="4000" spc="-10" dirty="0"/>
              <a:t>malicious </a:t>
            </a:r>
            <a:r>
              <a:rPr sz="4000" dirty="0"/>
              <a:t>activities</a:t>
            </a:r>
            <a:r>
              <a:rPr sz="4000" spc="-110" dirty="0"/>
              <a:t> </a:t>
            </a:r>
            <a:r>
              <a:rPr sz="4000" dirty="0"/>
              <a:t>when</a:t>
            </a:r>
            <a:r>
              <a:rPr sz="4000" spc="-100" dirty="0"/>
              <a:t> </a:t>
            </a:r>
            <a:r>
              <a:rPr sz="4000" dirty="0"/>
              <a:t>certain</a:t>
            </a:r>
            <a:r>
              <a:rPr sz="4000" spc="-110" dirty="0"/>
              <a:t> </a:t>
            </a:r>
            <a:r>
              <a:rPr sz="4000" spc="-10" dirty="0"/>
              <a:t>conditions </a:t>
            </a:r>
            <a:r>
              <a:rPr sz="4000" dirty="0"/>
              <a:t>are</a:t>
            </a:r>
            <a:r>
              <a:rPr sz="4000" spc="-35" dirty="0"/>
              <a:t> </a:t>
            </a:r>
            <a:r>
              <a:rPr sz="4000" spc="-20" dirty="0"/>
              <a:t>met.</a:t>
            </a:r>
            <a:endParaRPr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28400" y="2793999"/>
            <a:ext cx="5638800" cy="5943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4184015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Tsojan</a:t>
            </a:r>
            <a:r>
              <a:rPr spc="840" dirty="0"/>
              <a:t> </a:t>
            </a:r>
            <a:r>
              <a:rPr spc="-405" dirty="0"/>
              <a:t>HosGeG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2426" y="2097677"/>
            <a:ext cx="10294620" cy="4819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707129" indent="304165">
              <a:lnSpc>
                <a:spcPct val="153500"/>
              </a:lnSpc>
              <a:spcBef>
                <a:spcPts val="95"/>
              </a:spcBef>
              <a:buFont typeface="Arial MT"/>
              <a:buChar char="•"/>
              <a:tabLst>
                <a:tab pos="316865" algn="l"/>
              </a:tabLst>
            </a:pPr>
            <a:r>
              <a:rPr sz="4000" dirty="0">
                <a:latin typeface="Times New Roman"/>
                <a:cs typeface="Times New Roman"/>
              </a:rPr>
              <a:t>Hidden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apparently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useful </a:t>
            </a:r>
            <a:r>
              <a:rPr sz="4000" dirty="0">
                <a:latin typeface="Times New Roman"/>
                <a:cs typeface="Times New Roman"/>
              </a:rPr>
              <a:t>host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program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0"/>
              </a:spcBef>
              <a:buFont typeface="Arial MT"/>
              <a:buChar char="•"/>
            </a:pPr>
            <a:endParaRPr sz="4000">
              <a:latin typeface="Times New Roman"/>
              <a:cs typeface="Times New Roman"/>
            </a:endParaRPr>
          </a:p>
          <a:p>
            <a:pPr marL="12700" marR="5080" indent="304165">
              <a:lnSpc>
                <a:spcPct val="153700"/>
              </a:lnSpc>
              <a:buFont typeface="Arial MT"/>
              <a:buChar char="•"/>
              <a:tabLst>
                <a:tab pos="316865" algn="l"/>
              </a:tabLst>
            </a:pPr>
            <a:r>
              <a:rPr sz="4000" dirty="0">
                <a:latin typeface="Times New Roman"/>
                <a:cs typeface="Times New Roman"/>
              </a:rPr>
              <a:t>Performs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some</a:t>
            </a:r>
            <a:r>
              <a:rPr sz="4000" spc="-114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unwanted/harmful</a:t>
            </a:r>
            <a:r>
              <a:rPr sz="4000" spc="-12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function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when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host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program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executed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2438399"/>
            <a:ext cx="6661150" cy="5594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5518785">
              <a:lnSpc>
                <a:spcPct val="100000"/>
              </a:lnSpc>
              <a:spcBef>
                <a:spcPts val="100"/>
              </a:spcBef>
            </a:pPr>
            <a:r>
              <a:rPr spc="-520" dirty="0"/>
              <a:t>VċsSGeG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12860" y="3045967"/>
            <a:ext cx="72142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2605" indent="-509905">
              <a:lnSpc>
                <a:spcPct val="100000"/>
              </a:lnSpc>
              <a:spcBef>
                <a:spcPts val="95"/>
              </a:spcBef>
              <a:buFont typeface="Microsoft Sans Serif"/>
              <a:buChar char="●"/>
              <a:tabLst>
                <a:tab pos="522605" algn="l"/>
              </a:tabLst>
            </a:pPr>
            <a:r>
              <a:rPr sz="4000" dirty="0">
                <a:latin typeface="Times New Roman"/>
                <a:cs typeface="Times New Roman"/>
              </a:rPr>
              <a:t>Infect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program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by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modifying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it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2860" y="5789422"/>
            <a:ext cx="80016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2605" indent="-509905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Font typeface="Microsoft Sans Serif"/>
              <a:buChar char="●"/>
              <a:tabLst>
                <a:tab pos="522605" algn="l"/>
              </a:tabLst>
            </a:pPr>
            <a:r>
              <a:rPr sz="4000" spc="-20" dirty="0">
                <a:solidFill>
                  <a:srgbClr val="6B9361"/>
                </a:solidFill>
                <a:latin typeface="Times New Roman"/>
                <a:cs typeface="Times New Roman"/>
              </a:rPr>
              <a:t>Self-</a:t>
            </a: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copy</a:t>
            </a:r>
            <a:r>
              <a:rPr sz="4000" spc="-7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into</a:t>
            </a:r>
            <a:r>
              <a:rPr sz="4000" spc="-6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the</a:t>
            </a:r>
            <a:r>
              <a:rPr sz="4000" spc="-6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program</a:t>
            </a:r>
            <a:r>
              <a:rPr sz="4000" spc="-6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to</a:t>
            </a:r>
            <a:r>
              <a:rPr sz="4000" spc="-3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6B9361"/>
                </a:solidFill>
                <a:latin typeface="Times New Roman"/>
                <a:cs typeface="Times New Roman"/>
              </a:rPr>
              <a:t>spread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0" y="558799"/>
            <a:ext cx="16668750" cy="69087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5518785">
              <a:lnSpc>
                <a:spcPct val="100000"/>
              </a:lnSpc>
              <a:spcBef>
                <a:spcPts val="100"/>
              </a:spcBef>
            </a:pPr>
            <a:r>
              <a:rPr spc="-520" dirty="0"/>
              <a:t>VċsSGeG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82013" y="1842338"/>
            <a:ext cx="10761980" cy="267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8302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9B37AA"/>
                </a:solidFill>
                <a:latin typeface="Tahoma"/>
                <a:cs typeface="Tahoma"/>
              </a:rPr>
              <a:t>FoSs</a:t>
            </a:r>
            <a:r>
              <a:rPr sz="4800" spc="380" dirty="0">
                <a:solidFill>
                  <a:srgbClr val="9B37AA"/>
                </a:solidFill>
                <a:latin typeface="Tahoma"/>
                <a:cs typeface="Tahoma"/>
              </a:rPr>
              <a:t> </a:t>
            </a:r>
            <a:r>
              <a:rPr sz="4800" dirty="0">
                <a:solidFill>
                  <a:srgbClr val="9B37AA"/>
                </a:solidFill>
                <a:latin typeface="Tahoma"/>
                <a:cs typeface="Tahoma"/>
              </a:rPr>
              <a:t>SCageG</a:t>
            </a:r>
            <a:r>
              <a:rPr sz="4800" spc="385" dirty="0">
                <a:solidFill>
                  <a:srgbClr val="9B37AA"/>
                </a:solidFill>
                <a:latin typeface="Tahoma"/>
                <a:cs typeface="Tahoma"/>
              </a:rPr>
              <a:t> </a:t>
            </a:r>
            <a:r>
              <a:rPr sz="4800" spc="229" dirty="0">
                <a:solidFill>
                  <a:srgbClr val="9B37AA"/>
                </a:solidFill>
                <a:latin typeface="Tahoma"/>
                <a:cs typeface="Tahoma"/>
              </a:rPr>
              <a:t>o7</a:t>
            </a:r>
            <a:r>
              <a:rPr sz="4800" spc="385" dirty="0">
                <a:solidFill>
                  <a:srgbClr val="9B37AA"/>
                </a:solidFill>
                <a:latin typeface="Tahoma"/>
                <a:cs typeface="Tahoma"/>
              </a:rPr>
              <a:t> </a:t>
            </a:r>
            <a:r>
              <a:rPr sz="4800" spc="-420" dirty="0">
                <a:solidFill>
                  <a:srgbClr val="9B37AA"/>
                </a:solidFill>
                <a:latin typeface="Tahoma"/>
                <a:cs typeface="Tahoma"/>
              </a:rPr>
              <a:t>VċsSGeG</a:t>
            </a:r>
            <a:endParaRPr sz="4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20"/>
              </a:spcBef>
            </a:pPr>
            <a:endParaRPr sz="4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4800" spc="-10" dirty="0">
                <a:solidFill>
                  <a:srgbClr val="6B9361"/>
                </a:solidFill>
                <a:latin typeface="Tahoma"/>
                <a:cs typeface="Tahoma"/>
              </a:rPr>
              <a:t>DosmanC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2013" y="4686680"/>
            <a:ext cx="16052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85" dirty="0">
                <a:solidFill>
                  <a:srgbClr val="6B9361"/>
                </a:solidFill>
                <a:latin typeface="Tahoma"/>
                <a:cs typeface="Tahoma"/>
              </a:rPr>
              <a:t>PftaGe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4373" y="5059171"/>
            <a:ext cx="34677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85" dirty="0">
                <a:solidFill>
                  <a:srgbClr val="6B9361"/>
                </a:solidFill>
                <a:latin typeface="Tahoma"/>
                <a:cs typeface="Tahoma"/>
              </a:rPr>
              <a:t>PsoąagaCċon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56172" y="5897371"/>
            <a:ext cx="16052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85" dirty="0">
                <a:solidFill>
                  <a:srgbClr val="6B9361"/>
                </a:solidFill>
                <a:latin typeface="Tahoma"/>
                <a:cs typeface="Tahoma"/>
              </a:rPr>
              <a:t>PftaGe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98634" y="6275019"/>
            <a:ext cx="31095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0" dirty="0">
                <a:solidFill>
                  <a:srgbClr val="6B9361"/>
                </a:solidFill>
                <a:latin typeface="Tahoma"/>
                <a:cs typeface="Tahoma"/>
              </a:rPr>
              <a:t>Tsċggesċng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51491" y="7113523"/>
            <a:ext cx="16052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85" dirty="0">
                <a:solidFill>
                  <a:srgbClr val="6B9361"/>
                </a:solidFill>
                <a:latin typeface="Tahoma"/>
                <a:cs typeface="Tahoma"/>
              </a:rPr>
              <a:t>PftaGe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76190" y="6828535"/>
            <a:ext cx="35725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1170" indent="-45847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471170" algn="l"/>
              </a:tabLst>
            </a:pPr>
            <a:r>
              <a:rPr sz="3000" dirty="0">
                <a:latin typeface="Tahoma"/>
                <a:cs typeface="Tahoma"/>
              </a:rPr>
              <a:t>E.g.</a:t>
            </a:r>
            <a:r>
              <a:rPr sz="3000" spc="180" dirty="0">
                <a:latin typeface="Tahoma"/>
                <a:cs typeface="Tahoma"/>
              </a:rPr>
              <a:t> </a:t>
            </a:r>
            <a:r>
              <a:rPr sz="3000" spc="-10" dirty="0">
                <a:latin typeface="Tahoma"/>
                <a:cs typeface="Tahoma"/>
              </a:rPr>
              <a:t>aCCacftmenC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27226" y="7392161"/>
            <a:ext cx="28054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10" dirty="0">
                <a:solidFill>
                  <a:srgbClr val="6B9361"/>
                </a:solidFill>
                <a:latin typeface="Tahoma"/>
                <a:cs typeface="Tahoma"/>
              </a:rPr>
              <a:t>ExecSCċon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127226" y="8321802"/>
            <a:ext cx="16052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85" dirty="0">
                <a:solidFill>
                  <a:srgbClr val="6B9361"/>
                </a:solidFill>
                <a:latin typeface="Tahoma"/>
                <a:cs typeface="Tahoma"/>
              </a:rPr>
              <a:t>PftaGe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34914" y="7352538"/>
            <a:ext cx="15690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ahoma"/>
                <a:cs typeface="Tahoma"/>
              </a:rPr>
              <a:t>Co</a:t>
            </a:r>
            <a:r>
              <a:rPr sz="3000" spc="340" dirty="0">
                <a:latin typeface="Tahoma"/>
                <a:cs typeface="Tahoma"/>
              </a:rPr>
              <a:t> </a:t>
            </a:r>
            <a:r>
              <a:rPr sz="3000" spc="-150" dirty="0">
                <a:latin typeface="Tahoma"/>
                <a:cs typeface="Tahoma"/>
              </a:rPr>
              <a:t>emaċ(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558799"/>
            <a:ext cx="15652750" cy="90995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3914775">
              <a:lnSpc>
                <a:spcPct val="100000"/>
              </a:lnSpc>
              <a:spcBef>
                <a:spcPts val="100"/>
              </a:spcBef>
            </a:pPr>
            <a:r>
              <a:rPr spc="-495" dirty="0"/>
              <a:t>VċsSG</a:t>
            </a:r>
            <a:r>
              <a:rPr spc="819" dirty="0"/>
              <a:t> </a:t>
            </a:r>
            <a:r>
              <a:rPr spc="-10" dirty="0"/>
              <a:t>SCsScCSse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12800" y="558799"/>
            <a:ext cx="4273550" cy="36131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3914775">
              <a:lnSpc>
                <a:spcPct val="100000"/>
              </a:lnSpc>
              <a:spcBef>
                <a:spcPts val="100"/>
              </a:spcBef>
            </a:pPr>
            <a:r>
              <a:rPr spc="-495" dirty="0"/>
              <a:t>VċsSG</a:t>
            </a:r>
            <a:r>
              <a:rPr spc="819" dirty="0"/>
              <a:t> </a:t>
            </a:r>
            <a:r>
              <a:rPr spc="-10" dirty="0"/>
              <a:t>SCsScCSse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2827" y="1798592"/>
            <a:ext cx="13247369" cy="7362825"/>
          </a:xfrm>
          <a:prstGeom prst="rect">
            <a:avLst/>
          </a:prstGeom>
        </p:spPr>
        <p:txBody>
          <a:bodyPr vert="horz" wrap="square" lIns="0" tIns="338455" rIns="0" bIns="0" rtlCol="0">
            <a:spAutoFit/>
          </a:bodyPr>
          <a:lstStyle/>
          <a:p>
            <a:pPr marL="598170" indent="-509270">
              <a:lnSpc>
                <a:spcPct val="100000"/>
              </a:lnSpc>
              <a:spcBef>
                <a:spcPts val="2665"/>
              </a:spcBef>
              <a:buClr>
                <a:srgbClr val="000000"/>
              </a:buClr>
              <a:buFont typeface="Microsoft Sans Serif"/>
              <a:buChar char="●"/>
              <a:tabLst>
                <a:tab pos="598170" algn="l"/>
              </a:tabLst>
            </a:pP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First</a:t>
            </a:r>
            <a:r>
              <a:rPr sz="4000" spc="-80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line:</a:t>
            </a:r>
            <a:r>
              <a:rPr sz="4000" spc="-90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go</a:t>
            </a:r>
            <a:r>
              <a:rPr sz="4000" spc="-9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to</a:t>
            </a:r>
            <a:r>
              <a:rPr sz="4000" spc="-9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“main”</a:t>
            </a:r>
            <a:r>
              <a:rPr sz="4000" spc="-90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of</a:t>
            </a:r>
            <a:r>
              <a:rPr sz="4000" spc="-9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virus</a:t>
            </a:r>
            <a:r>
              <a:rPr sz="4000" spc="-6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6B9361"/>
                </a:solidFill>
                <a:latin typeface="Calibri"/>
                <a:cs typeface="Calibri"/>
              </a:rPr>
              <a:t>program</a:t>
            </a:r>
            <a:endParaRPr sz="4000">
              <a:latin typeface="Calibri"/>
              <a:cs typeface="Calibri"/>
            </a:endParaRPr>
          </a:p>
          <a:p>
            <a:pPr marL="598170" indent="-509270">
              <a:lnSpc>
                <a:spcPct val="100000"/>
              </a:lnSpc>
              <a:spcBef>
                <a:spcPts val="2565"/>
              </a:spcBef>
              <a:buClr>
                <a:srgbClr val="000000"/>
              </a:buClr>
              <a:buFont typeface="Microsoft Sans Serif"/>
              <a:buChar char="●"/>
              <a:tabLst>
                <a:tab pos="598170" algn="l"/>
              </a:tabLst>
            </a:pP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Second</a:t>
            </a:r>
            <a:r>
              <a:rPr sz="4000" spc="-6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line:</a:t>
            </a:r>
            <a:r>
              <a:rPr sz="4000" spc="-5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a</a:t>
            </a:r>
            <a:r>
              <a:rPr sz="4000" spc="-80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special</a:t>
            </a:r>
            <a:r>
              <a:rPr sz="4000" spc="-7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flag</a:t>
            </a:r>
            <a:r>
              <a:rPr sz="4000" spc="-60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(infected</a:t>
            </a:r>
            <a:r>
              <a:rPr sz="4000" spc="-60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or</a:t>
            </a:r>
            <a:r>
              <a:rPr sz="4000" spc="-5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6B9361"/>
                </a:solidFill>
                <a:latin typeface="Calibri"/>
                <a:cs typeface="Calibri"/>
              </a:rPr>
              <a:t>not)</a:t>
            </a:r>
            <a:endParaRPr sz="4000">
              <a:latin typeface="Calibri"/>
              <a:cs typeface="Calibri"/>
            </a:endParaRPr>
          </a:p>
          <a:p>
            <a:pPr marL="598170" indent="-509270">
              <a:lnSpc>
                <a:spcPct val="100000"/>
              </a:lnSpc>
              <a:spcBef>
                <a:spcPts val="2405"/>
              </a:spcBef>
              <a:buClr>
                <a:srgbClr val="000000"/>
              </a:buClr>
              <a:buFont typeface="Microsoft Sans Serif"/>
              <a:buChar char="●"/>
              <a:tabLst>
                <a:tab pos="598170" algn="l"/>
              </a:tabLst>
            </a:pPr>
            <a:r>
              <a:rPr sz="4000" spc="-10" dirty="0">
                <a:solidFill>
                  <a:srgbClr val="6B9361"/>
                </a:solidFill>
                <a:latin typeface="Calibri"/>
                <a:cs typeface="Calibri"/>
              </a:rPr>
              <a:t>Main:</a:t>
            </a:r>
            <a:endParaRPr sz="4000">
              <a:latin typeface="Calibri"/>
              <a:cs typeface="Calibri"/>
            </a:endParaRPr>
          </a:p>
          <a:p>
            <a:pPr marL="1970405" lvl="1" indent="-387350">
              <a:lnSpc>
                <a:spcPct val="100000"/>
              </a:lnSpc>
              <a:spcBef>
                <a:spcPts val="2230"/>
              </a:spcBef>
              <a:buFont typeface="Arial"/>
              <a:buChar char="•"/>
              <a:tabLst>
                <a:tab pos="1970405" algn="l"/>
              </a:tabLst>
            </a:pPr>
            <a:r>
              <a:rPr sz="4000" dirty="0">
                <a:latin typeface="Calibri"/>
                <a:cs typeface="Calibri"/>
              </a:rPr>
              <a:t>Find</a:t>
            </a:r>
            <a:r>
              <a:rPr sz="4000" spc="-13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uninfected</a:t>
            </a:r>
            <a:r>
              <a:rPr sz="4000" spc="-12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programs</a:t>
            </a:r>
            <a:r>
              <a:rPr sz="4000" spc="-9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-</a:t>
            </a:r>
            <a:r>
              <a:rPr sz="4000" spc="-12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infect</a:t>
            </a:r>
            <a:r>
              <a:rPr sz="4000" spc="-145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them</a:t>
            </a:r>
            <a:endParaRPr sz="4000">
              <a:latin typeface="Calibri"/>
              <a:cs typeface="Calibri"/>
            </a:endParaRPr>
          </a:p>
          <a:p>
            <a:pPr marL="1970405" lvl="1" indent="-387350">
              <a:lnSpc>
                <a:spcPct val="100000"/>
              </a:lnSpc>
              <a:spcBef>
                <a:spcPts val="2400"/>
              </a:spcBef>
              <a:buFont typeface="Arial"/>
              <a:buChar char="•"/>
              <a:tabLst>
                <a:tab pos="1970405" algn="l"/>
              </a:tabLst>
            </a:pPr>
            <a:r>
              <a:rPr sz="4000" dirty="0">
                <a:latin typeface="Calibri"/>
                <a:cs typeface="Calibri"/>
              </a:rPr>
              <a:t>Do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something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damaging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to</a:t>
            </a:r>
            <a:r>
              <a:rPr sz="4000" spc="-9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the</a:t>
            </a:r>
            <a:r>
              <a:rPr sz="4000" spc="-11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system</a:t>
            </a:r>
            <a:endParaRPr sz="4000">
              <a:latin typeface="Calibri"/>
              <a:cs typeface="Calibri"/>
            </a:endParaRPr>
          </a:p>
          <a:p>
            <a:pPr marL="1970405" lvl="1" indent="-387350">
              <a:lnSpc>
                <a:spcPct val="100000"/>
              </a:lnSpc>
              <a:spcBef>
                <a:spcPts val="2405"/>
              </a:spcBef>
              <a:buFont typeface="Arial"/>
              <a:buChar char="•"/>
              <a:tabLst>
                <a:tab pos="1970405" algn="l"/>
              </a:tabLst>
            </a:pPr>
            <a:r>
              <a:rPr sz="4000" dirty="0">
                <a:latin typeface="Calibri"/>
                <a:cs typeface="Calibri"/>
              </a:rPr>
              <a:t>“Go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to“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first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line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of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the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host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program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-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do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normal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work</a:t>
            </a:r>
            <a:endParaRPr sz="4000">
              <a:latin typeface="Calibri"/>
              <a:cs typeface="Calibri"/>
            </a:endParaRPr>
          </a:p>
          <a:p>
            <a:pPr marL="598170" indent="-509270">
              <a:lnSpc>
                <a:spcPct val="100000"/>
              </a:lnSpc>
              <a:spcBef>
                <a:spcPts val="2400"/>
              </a:spcBef>
              <a:buClr>
                <a:srgbClr val="000000"/>
              </a:buClr>
              <a:buFont typeface="Microsoft Sans Serif"/>
              <a:buChar char="●"/>
              <a:tabLst>
                <a:tab pos="598170" algn="l"/>
              </a:tabLst>
            </a:pP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Avoid</a:t>
            </a:r>
            <a:r>
              <a:rPr sz="4000" spc="-10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detection</a:t>
            </a:r>
            <a:r>
              <a:rPr sz="4000" spc="-110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by</a:t>
            </a:r>
            <a:r>
              <a:rPr sz="4000" spc="-100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looking</a:t>
            </a:r>
            <a:r>
              <a:rPr sz="4000" spc="-9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at</a:t>
            </a:r>
            <a:r>
              <a:rPr sz="4000" spc="-100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size</a:t>
            </a:r>
            <a:r>
              <a:rPr sz="4000" spc="-120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of</a:t>
            </a:r>
            <a:r>
              <a:rPr sz="4000" spc="-8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6B9361"/>
                </a:solidFill>
                <a:latin typeface="Calibri"/>
                <a:cs typeface="Calibri"/>
              </a:rPr>
              <a:t>program</a:t>
            </a:r>
            <a:endParaRPr sz="4000">
              <a:latin typeface="Calibri"/>
              <a:cs typeface="Calibri"/>
            </a:endParaRPr>
          </a:p>
          <a:p>
            <a:pPr marL="1970405" lvl="1" indent="-387350">
              <a:lnSpc>
                <a:spcPct val="100000"/>
              </a:lnSpc>
              <a:spcBef>
                <a:spcPts val="2400"/>
              </a:spcBef>
              <a:buFont typeface="Arial"/>
              <a:buChar char="•"/>
              <a:tabLst>
                <a:tab pos="1970405" algn="l"/>
              </a:tabLst>
            </a:pPr>
            <a:r>
              <a:rPr sz="4000" spc="-20" dirty="0">
                <a:latin typeface="Calibri"/>
                <a:cs typeface="Calibri"/>
              </a:rPr>
              <a:t>Compress/decompress</a:t>
            </a:r>
            <a:r>
              <a:rPr sz="4000" spc="-6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the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host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program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366839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Types</a:t>
            </a:r>
            <a:r>
              <a:rPr spc="-1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1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Viruses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3627" y="2304668"/>
            <a:ext cx="14051280" cy="6448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7370" indent="-50927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Font typeface="Microsoft Sans Serif"/>
              <a:buChar char="●"/>
              <a:tabLst>
                <a:tab pos="547370" algn="l"/>
              </a:tabLst>
            </a:pPr>
            <a:r>
              <a:rPr sz="4000" spc="-10" dirty="0">
                <a:solidFill>
                  <a:srgbClr val="6B9361"/>
                </a:solidFill>
                <a:latin typeface="Calibri"/>
                <a:cs typeface="Calibri"/>
              </a:rPr>
              <a:t>Parasitic</a:t>
            </a:r>
            <a:r>
              <a:rPr sz="4000" spc="-14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virus</a:t>
            </a:r>
            <a:r>
              <a:rPr sz="4000" dirty="0">
                <a:latin typeface="Calibri"/>
                <a:cs typeface="Calibri"/>
              </a:rPr>
              <a:t>:</a:t>
            </a:r>
            <a:r>
              <a:rPr sz="4000" spc="-11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scan/infect</a:t>
            </a:r>
            <a:r>
              <a:rPr sz="4000" spc="-14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programs</a:t>
            </a:r>
            <a:endParaRPr sz="4000">
              <a:latin typeface="Calibri"/>
              <a:cs typeface="Calibri"/>
            </a:endParaRPr>
          </a:p>
          <a:p>
            <a:pPr marL="547370" indent="-509270">
              <a:lnSpc>
                <a:spcPct val="100000"/>
              </a:lnSpc>
              <a:spcBef>
                <a:spcPts val="4800"/>
              </a:spcBef>
              <a:buClr>
                <a:srgbClr val="000000"/>
              </a:buClr>
              <a:buFont typeface="Microsoft Sans Serif"/>
              <a:buChar char="●"/>
              <a:tabLst>
                <a:tab pos="547370" algn="l"/>
              </a:tabLst>
            </a:pPr>
            <a:r>
              <a:rPr sz="4000" spc="-25" dirty="0">
                <a:solidFill>
                  <a:srgbClr val="6B9361"/>
                </a:solidFill>
                <a:latin typeface="Calibri"/>
                <a:cs typeface="Calibri"/>
              </a:rPr>
              <a:t>Memory-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resident</a:t>
            </a:r>
            <a:r>
              <a:rPr sz="4000" spc="-12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virus:</a:t>
            </a:r>
            <a:r>
              <a:rPr sz="4000" spc="-9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infect</a:t>
            </a:r>
            <a:r>
              <a:rPr sz="4000" spc="-14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running</a:t>
            </a:r>
            <a:r>
              <a:rPr sz="4000" spc="-12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programs</a:t>
            </a:r>
            <a:endParaRPr sz="4000">
              <a:latin typeface="Calibri"/>
              <a:cs typeface="Calibri"/>
            </a:endParaRPr>
          </a:p>
          <a:p>
            <a:pPr marL="547370" indent="-509270">
              <a:lnSpc>
                <a:spcPct val="100000"/>
              </a:lnSpc>
              <a:spcBef>
                <a:spcPts val="4370"/>
              </a:spcBef>
              <a:buClr>
                <a:srgbClr val="000000"/>
              </a:buClr>
              <a:buFont typeface="Microsoft Sans Serif"/>
              <a:buChar char="●"/>
              <a:tabLst>
                <a:tab pos="547370" algn="l"/>
              </a:tabLst>
            </a:pP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Macro</a:t>
            </a:r>
            <a:r>
              <a:rPr sz="4000" spc="-13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virus:</a:t>
            </a:r>
            <a:r>
              <a:rPr sz="4000" spc="-12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embedded</a:t>
            </a:r>
            <a:r>
              <a:rPr sz="4000" spc="-12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in</a:t>
            </a:r>
            <a:r>
              <a:rPr sz="4000" spc="-13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documents,</a:t>
            </a:r>
            <a:r>
              <a:rPr sz="4000" spc="-13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run/spread</a:t>
            </a:r>
            <a:r>
              <a:rPr sz="4000" spc="-13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when</a:t>
            </a:r>
            <a:r>
              <a:rPr sz="4000" spc="-13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opened</a:t>
            </a:r>
            <a:endParaRPr sz="4000">
              <a:latin typeface="Calibri"/>
              <a:cs typeface="Calibri"/>
            </a:endParaRPr>
          </a:p>
          <a:p>
            <a:pPr marL="547370" indent="-509270">
              <a:lnSpc>
                <a:spcPct val="100000"/>
              </a:lnSpc>
              <a:spcBef>
                <a:spcPts val="4805"/>
              </a:spcBef>
              <a:buClr>
                <a:srgbClr val="000000"/>
              </a:buClr>
              <a:buFont typeface="Microsoft Sans Serif"/>
              <a:buChar char="●"/>
              <a:tabLst>
                <a:tab pos="547370" algn="l"/>
              </a:tabLst>
            </a:pP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Boot</a:t>
            </a:r>
            <a:r>
              <a:rPr sz="4000" spc="-9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sector</a:t>
            </a:r>
            <a:r>
              <a:rPr sz="4000" spc="-10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virus:</a:t>
            </a:r>
            <a:r>
              <a:rPr sz="4000" spc="-7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run/spread</a:t>
            </a:r>
            <a:r>
              <a:rPr sz="4000" spc="-9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whenever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the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system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is</a:t>
            </a:r>
            <a:r>
              <a:rPr sz="4000" spc="-9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booted</a:t>
            </a:r>
            <a:endParaRPr sz="4000">
              <a:latin typeface="Calibri"/>
              <a:cs typeface="Calibri"/>
            </a:endParaRPr>
          </a:p>
          <a:p>
            <a:pPr marL="548005" marR="30480" indent="-509905">
              <a:lnSpc>
                <a:spcPct val="153500"/>
              </a:lnSpc>
              <a:spcBef>
                <a:spcPts val="2660"/>
              </a:spcBef>
              <a:buClr>
                <a:srgbClr val="000000"/>
              </a:buClr>
              <a:buFont typeface="Microsoft Sans Serif"/>
              <a:buChar char="●"/>
              <a:tabLst>
                <a:tab pos="548005" algn="l"/>
                <a:tab pos="12786360" algn="l"/>
              </a:tabLst>
            </a:pPr>
            <a:r>
              <a:rPr sz="4000" spc="-10" dirty="0">
                <a:solidFill>
                  <a:srgbClr val="6B9361"/>
                </a:solidFill>
                <a:latin typeface="Calibri"/>
                <a:cs typeface="Calibri"/>
              </a:rPr>
              <a:t>Polymorphic</a:t>
            </a:r>
            <a:r>
              <a:rPr sz="4000" spc="-10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6B9361"/>
                </a:solidFill>
                <a:latin typeface="Calibri"/>
                <a:cs typeface="Calibri"/>
              </a:rPr>
              <a:t>virus:</a:t>
            </a:r>
            <a:r>
              <a:rPr sz="4000" spc="-75" dirty="0">
                <a:solidFill>
                  <a:srgbClr val="6B9361"/>
                </a:solidFill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encrypt</a:t>
            </a:r>
            <a:r>
              <a:rPr sz="4000" spc="-114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part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of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the</a:t>
            </a:r>
            <a:r>
              <a:rPr sz="4000" spc="-10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virus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program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using</a:t>
            </a:r>
            <a:r>
              <a:rPr sz="4000" dirty="0">
                <a:latin typeface="Calibri"/>
                <a:cs typeface="Calibri"/>
              </a:rPr>
              <a:t>	</a:t>
            </a:r>
            <a:r>
              <a:rPr sz="4000" spc="-50" dirty="0">
                <a:latin typeface="Calibri"/>
                <a:cs typeface="Calibri"/>
              </a:rPr>
              <a:t>a </a:t>
            </a:r>
            <a:r>
              <a:rPr sz="4000" spc="-10" dirty="0">
                <a:latin typeface="Calibri"/>
                <a:cs typeface="Calibri"/>
              </a:rPr>
              <a:t>randomly</a:t>
            </a:r>
            <a:r>
              <a:rPr sz="4000" spc="-15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generated</a:t>
            </a:r>
            <a:r>
              <a:rPr sz="4000" spc="-15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key</a:t>
            </a:r>
            <a:r>
              <a:rPr sz="4000" spc="-15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(avoids</a:t>
            </a:r>
            <a:r>
              <a:rPr sz="4000" spc="-15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detection</a:t>
            </a:r>
            <a:r>
              <a:rPr sz="4000" spc="-15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by</a:t>
            </a:r>
            <a:r>
              <a:rPr sz="4000" spc="-15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signature</a:t>
            </a:r>
            <a:r>
              <a:rPr sz="4000" spc="-15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matching)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800" y="558799"/>
            <a:ext cx="16973550" cy="9143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3518535">
              <a:lnSpc>
                <a:spcPct val="100000"/>
              </a:lnSpc>
              <a:spcBef>
                <a:spcPts val="100"/>
              </a:spcBef>
            </a:pPr>
            <a:r>
              <a:rPr dirty="0"/>
              <a:t>BooC</a:t>
            </a:r>
            <a:r>
              <a:rPr spc="575" dirty="0"/>
              <a:t> </a:t>
            </a:r>
            <a:r>
              <a:rPr dirty="0"/>
              <a:t>SecCos</a:t>
            </a:r>
            <a:r>
              <a:rPr spc="615" dirty="0"/>
              <a:t> </a:t>
            </a:r>
            <a:r>
              <a:rPr spc="-509" dirty="0"/>
              <a:t>VċsSG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1200" y="2031999"/>
            <a:ext cx="6451600" cy="523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4232275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fiacso</a:t>
            </a:r>
            <a:r>
              <a:rPr spc="844" dirty="0"/>
              <a:t> </a:t>
            </a:r>
            <a:r>
              <a:rPr spc="-495" dirty="0"/>
              <a:t>VċsSGeG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87727" y="3049666"/>
            <a:ext cx="9629775" cy="5166360"/>
          </a:xfrm>
          <a:prstGeom prst="rect">
            <a:avLst/>
          </a:prstGeom>
        </p:spPr>
        <p:txBody>
          <a:bodyPr vert="horz" wrap="square" lIns="0" tIns="443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90"/>
              </a:spcBef>
            </a:pPr>
            <a:r>
              <a:rPr sz="4800" spc="195" dirty="0">
                <a:solidFill>
                  <a:srgbClr val="6B9361"/>
                </a:solidFill>
                <a:latin typeface="Tahoma"/>
                <a:cs typeface="Tahoma"/>
              </a:rPr>
              <a:t>fiacso:</a:t>
            </a:r>
            <a:endParaRPr sz="4800">
              <a:latin typeface="Tahoma"/>
              <a:cs typeface="Tahoma"/>
            </a:endParaRPr>
          </a:p>
          <a:p>
            <a:pPr marL="927100" marR="394970" indent="-535940">
              <a:lnSpc>
                <a:spcPts val="7900"/>
              </a:lnSpc>
              <a:spcBef>
                <a:spcPts val="500"/>
              </a:spcBef>
              <a:buFont typeface="Microsoft Sans Serif"/>
              <a:buChar char="●"/>
              <a:tabLst>
                <a:tab pos="927100" algn="l"/>
              </a:tabLst>
            </a:pPr>
            <a:r>
              <a:rPr sz="4000" dirty="0">
                <a:latin typeface="Times New Roman"/>
                <a:cs typeface="Times New Roman"/>
              </a:rPr>
              <a:t>An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executable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program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(e.g.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instructions </a:t>
            </a:r>
            <a:r>
              <a:rPr sz="4000" dirty="0">
                <a:latin typeface="Times New Roman"/>
                <a:cs typeface="Times New Roman"/>
              </a:rPr>
              <a:t>opening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file,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starting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application)</a:t>
            </a:r>
            <a:endParaRPr sz="40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315"/>
              </a:spcBef>
            </a:pPr>
            <a:r>
              <a:rPr sz="4000" dirty="0">
                <a:latin typeface="Times New Roman"/>
                <a:cs typeface="Times New Roman"/>
              </a:rPr>
              <a:t>embedded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word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processing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document,</a:t>
            </a:r>
            <a:endParaRPr sz="40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110"/>
              </a:spcBef>
            </a:pPr>
            <a:r>
              <a:rPr sz="4000" dirty="0">
                <a:latin typeface="Times New Roman"/>
                <a:cs typeface="Times New Roman"/>
              </a:rPr>
              <a:t>e.g.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MS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Word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1200" y="548926"/>
            <a:ext cx="4927600" cy="3967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4232275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fiacso</a:t>
            </a:r>
            <a:r>
              <a:rPr spc="844" dirty="0"/>
              <a:t> </a:t>
            </a:r>
            <a:r>
              <a:rPr spc="-495" dirty="0"/>
              <a:t>VċsSGeG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0493" y="1848103"/>
            <a:ext cx="11278235" cy="67316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60" dirty="0">
                <a:solidFill>
                  <a:srgbClr val="6B9361"/>
                </a:solidFill>
                <a:latin typeface="Tahoma"/>
                <a:cs typeface="Tahoma"/>
              </a:rPr>
              <a:t>A</a:t>
            </a:r>
            <a:r>
              <a:rPr sz="4000" spc="320" dirty="0">
                <a:solidFill>
                  <a:srgbClr val="6B9361"/>
                </a:solidFill>
                <a:latin typeface="Tahoma"/>
                <a:cs typeface="Tahoma"/>
              </a:rPr>
              <a:t> </a:t>
            </a:r>
            <a:r>
              <a:rPr sz="4000" dirty="0">
                <a:solidFill>
                  <a:srgbClr val="6B9361"/>
                </a:solidFill>
                <a:latin typeface="Tahoma"/>
                <a:cs typeface="Tahoma"/>
              </a:rPr>
              <a:t>common</a:t>
            </a:r>
            <a:r>
              <a:rPr sz="4000" spc="340" dirty="0">
                <a:solidFill>
                  <a:srgbClr val="6B9361"/>
                </a:solidFill>
                <a:latin typeface="Tahoma"/>
                <a:cs typeface="Tahoma"/>
              </a:rPr>
              <a:t> </a:t>
            </a:r>
            <a:r>
              <a:rPr sz="4000" spc="-114" dirty="0">
                <a:solidFill>
                  <a:srgbClr val="6B9361"/>
                </a:solidFill>
                <a:latin typeface="Tahoma"/>
                <a:cs typeface="Tahoma"/>
              </a:rPr>
              <a:t>CecftnċqSe</a:t>
            </a:r>
            <a:r>
              <a:rPr sz="4000" spc="355" dirty="0">
                <a:solidFill>
                  <a:srgbClr val="6B9361"/>
                </a:solidFill>
                <a:latin typeface="Tahoma"/>
                <a:cs typeface="Tahoma"/>
              </a:rPr>
              <a:t> </a:t>
            </a:r>
            <a:r>
              <a:rPr sz="4000" spc="180" dirty="0">
                <a:solidFill>
                  <a:srgbClr val="6B9361"/>
                </a:solidFill>
                <a:latin typeface="Tahoma"/>
                <a:cs typeface="Tahoma"/>
              </a:rPr>
              <a:t>7os</a:t>
            </a:r>
            <a:r>
              <a:rPr sz="4000" spc="335" dirty="0">
                <a:solidFill>
                  <a:srgbClr val="6B9361"/>
                </a:solidFill>
                <a:latin typeface="Tahoma"/>
                <a:cs typeface="Tahoma"/>
              </a:rPr>
              <a:t> </a:t>
            </a:r>
            <a:r>
              <a:rPr sz="4000" spc="-10" dirty="0">
                <a:solidFill>
                  <a:srgbClr val="6B9361"/>
                </a:solidFill>
                <a:latin typeface="Tahoma"/>
                <a:cs typeface="Tahoma"/>
              </a:rPr>
              <a:t>Sąseadċng:</a:t>
            </a:r>
            <a:endParaRPr sz="4000">
              <a:latin typeface="Tahoma"/>
              <a:cs typeface="Tahoma"/>
            </a:endParaRPr>
          </a:p>
          <a:p>
            <a:pPr marL="262255" indent="-185420">
              <a:lnSpc>
                <a:spcPct val="100000"/>
              </a:lnSpc>
              <a:spcBef>
                <a:spcPts val="3704"/>
              </a:spcBef>
              <a:buSzPct val="97500"/>
              <a:buFont typeface="Arial MT"/>
              <a:buChar char="•"/>
              <a:tabLst>
                <a:tab pos="262255" algn="l"/>
              </a:tabLst>
            </a:pPr>
            <a:r>
              <a:rPr sz="4000" spc="-30" dirty="0">
                <a:latin typeface="Times New Roman"/>
                <a:cs typeface="Times New Roman"/>
              </a:rPr>
              <a:t>A</a:t>
            </a:r>
            <a:r>
              <a:rPr sz="4000" spc="-22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virus</a:t>
            </a:r>
            <a:r>
              <a:rPr sz="4000" spc="-13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macro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attached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spc="-55" dirty="0">
                <a:latin typeface="Times New Roman"/>
                <a:cs typeface="Times New Roman"/>
              </a:rPr>
              <a:t>Word </a:t>
            </a:r>
            <a:r>
              <a:rPr sz="4000" spc="-10" dirty="0">
                <a:latin typeface="Times New Roman"/>
                <a:cs typeface="Times New Roman"/>
              </a:rPr>
              <a:t>Document</a:t>
            </a:r>
            <a:endParaRPr sz="4000">
              <a:latin typeface="Times New Roman"/>
              <a:cs typeface="Times New Roman"/>
            </a:endParaRPr>
          </a:p>
          <a:p>
            <a:pPr marL="261620" indent="-185420">
              <a:lnSpc>
                <a:spcPct val="100000"/>
              </a:lnSpc>
              <a:spcBef>
                <a:spcPts val="3100"/>
              </a:spcBef>
              <a:buSzPct val="97500"/>
              <a:buFont typeface="Arial MT"/>
              <a:buChar char="•"/>
              <a:tabLst>
                <a:tab pos="261620" algn="l"/>
              </a:tabLst>
            </a:pPr>
            <a:r>
              <a:rPr sz="4000" dirty="0">
                <a:latin typeface="Times New Roman"/>
                <a:cs typeface="Times New Roman"/>
              </a:rPr>
              <a:t>Document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loaded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opened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host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system</a:t>
            </a:r>
            <a:endParaRPr sz="4000">
              <a:latin typeface="Times New Roman"/>
              <a:cs typeface="Times New Roman"/>
            </a:endParaRPr>
          </a:p>
          <a:p>
            <a:pPr marL="84455" marR="5080" indent="-7620">
              <a:lnSpc>
                <a:spcPts val="7909"/>
              </a:lnSpc>
              <a:spcBef>
                <a:spcPts val="765"/>
              </a:spcBef>
              <a:buSzPct val="97500"/>
              <a:buFont typeface="Arial MT"/>
              <a:buChar char="•"/>
              <a:tabLst>
                <a:tab pos="262255" algn="l"/>
              </a:tabLst>
            </a:pPr>
            <a:r>
              <a:rPr sz="4000" dirty="0">
                <a:latin typeface="Times New Roman"/>
                <a:cs typeface="Times New Roman"/>
              </a:rPr>
              <a:t>	When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macro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executes,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it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copies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itself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global </a:t>
            </a:r>
            <a:r>
              <a:rPr sz="4000" dirty="0">
                <a:latin typeface="Times New Roman"/>
                <a:cs typeface="Times New Roman"/>
              </a:rPr>
              <a:t>macro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file</a:t>
            </a:r>
            <a:endParaRPr sz="4000">
              <a:latin typeface="Times New Roman"/>
              <a:cs typeface="Times New Roman"/>
            </a:endParaRPr>
          </a:p>
          <a:p>
            <a:pPr marL="262255" indent="-185420">
              <a:lnSpc>
                <a:spcPct val="100000"/>
              </a:lnSpc>
              <a:spcBef>
                <a:spcPts val="2315"/>
              </a:spcBef>
              <a:buSzPct val="97500"/>
              <a:buFont typeface="Arial MT"/>
              <a:buChar char="•"/>
              <a:tabLst>
                <a:tab pos="262255" algn="l"/>
              </a:tabLst>
            </a:pP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global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macro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can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be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activated/spread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when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new</a:t>
            </a:r>
            <a:endParaRPr sz="4000">
              <a:latin typeface="Times New Roman"/>
              <a:cs typeface="Times New Roman"/>
            </a:endParaRPr>
          </a:p>
          <a:p>
            <a:pPr marL="84455">
              <a:lnSpc>
                <a:spcPct val="100000"/>
              </a:lnSpc>
              <a:spcBef>
                <a:spcPts val="3100"/>
              </a:spcBef>
            </a:pPr>
            <a:r>
              <a:rPr sz="4000" dirty="0">
                <a:latin typeface="Times New Roman"/>
                <a:cs typeface="Times New Roman"/>
              </a:rPr>
              <a:t>documents</a:t>
            </a:r>
            <a:r>
              <a:rPr sz="4000" spc="-11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are</a:t>
            </a:r>
            <a:r>
              <a:rPr sz="4000" spc="-11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opened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600" y="1981199"/>
            <a:ext cx="7112000" cy="5740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537464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RooCkċC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0986" y="2191402"/>
            <a:ext cx="6957695" cy="56451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521970" marR="544830" indent="-509905">
              <a:lnSpc>
                <a:spcPct val="151800"/>
              </a:lnSpc>
              <a:spcBef>
                <a:spcPts val="180"/>
              </a:spcBef>
              <a:buFont typeface="Microsoft Sans Serif"/>
              <a:buChar char="●"/>
              <a:tabLst>
                <a:tab pos="521970" algn="l"/>
              </a:tabLst>
            </a:pP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Resides</a:t>
            </a:r>
            <a:r>
              <a:rPr sz="4000" spc="-10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in</a:t>
            </a:r>
            <a:r>
              <a:rPr sz="4000" spc="-8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operating</a:t>
            </a:r>
            <a:r>
              <a:rPr sz="4000" spc="-12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6B9361"/>
                </a:solidFill>
                <a:latin typeface="Times New Roman"/>
                <a:cs typeface="Times New Roman"/>
              </a:rPr>
              <a:t>systems </a:t>
            </a:r>
            <a:r>
              <a:rPr sz="4000" dirty="0">
                <a:latin typeface="Times New Roman"/>
                <a:cs typeface="Times New Roman"/>
              </a:rPr>
              <a:t>Modifies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OS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code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data </a:t>
            </a:r>
            <a:r>
              <a:rPr sz="4000" spc="-10" dirty="0">
                <a:latin typeface="Times New Roman"/>
                <a:cs typeface="Times New Roman"/>
              </a:rPr>
              <a:t>Structure</a:t>
            </a:r>
            <a:endParaRPr sz="4000">
              <a:latin typeface="Times New Roman"/>
              <a:cs typeface="Times New Roman"/>
            </a:endParaRPr>
          </a:p>
          <a:p>
            <a:pPr marL="521970" marR="1037590" indent="-509905">
              <a:lnSpc>
                <a:spcPts val="7730"/>
              </a:lnSpc>
              <a:spcBef>
                <a:spcPts val="219"/>
              </a:spcBef>
              <a:buFont typeface="Microsoft Sans Serif"/>
              <a:buChar char="●"/>
              <a:tabLst>
                <a:tab pos="521970" algn="l"/>
              </a:tabLst>
            </a:pP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Helps</a:t>
            </a:r>
            <a:r>
              <a:rPr sz="4000" spc="-6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spc="-35" dirty="0">
                <a:solidFill>
                  <a:srgbClr val="6B9361"/>
                </a:solidFill>
                <a:latin typeface="Times New Roman"/>
                <a:cs typeface="Times New Roman"/>
              </a:rPr>
              <a:t>user-</a:t>
            </a: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level</a:t>
            </a:r>
            <a:r>
              <a:rPr sz="4000" spc="-6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6B9361"/>
                </a:solidFill>
                <a:latin typeface="Times New Roman"/>
                <a:cs typeface="Times New Roman"/>
              </a:rPr>
              <a:t>malware </a:t>
            </a:r>
            <a:r>
              <a:rPr sz="4000" dirty="0">
                <a:latin typeface="Times New Roman"/>
                <a:cs typeface="Times New Roman"/>
              </a:rPr>
              <a:t>E.g.,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hide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it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from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user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(not</a:t>
            </a:r>
            <a:endParaRPr sz="4000">
              <a:latin typeface="Times New Roman"/>
              <a:cs typeface="Times New Roman"/>
            </a:endParaRPr>
          </a:p>
          <a:p>
            <a:pPr marL="521970">
              <a:lnSpc>
                <a:spcPct val="100000"/>
              </a:lnSpc>
              <a:spcBef>
                <a:spcPts val="1830"/>
              </a:spcBef>
            </a:pPr>
            <a:r>
              <a:rPr sz="4000" dirty="0">
                <a:latin typeface="Times New Roman"/>
                <a:cs typeface="Times New Roman"/>
              </a:rPr>
              <a:t>listed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“ls”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or</a:t>
            </a:r>
            <a:r>
              <a:rPr sz="4000" spc="-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“ps”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command)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5200" y="704849"/>
            <a:ext cx="14224000" cy="92582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537464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RooCkċC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04269" y="5215521"/>
            <a:ext cx="5976620" cy="122428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162560" rIns="0" bIns="0" rtlCol="0">
            <a:spAutoFit/>
          </a:bodyPr>
          <a:lstStyle/>
          <a:p>
            <a:pPr marL="807085" marR="309880" indent="-490855">
              <a:lnSpc>
                <a:spcPct val="100000"/>
              </a:lnSpc>
              <a:spcBef>
                <a:spcPts val="1280"/>
              </a:spcBef>
              <a:tabLst>
                <a:tab pos="2893695" algn="l"/>
              </a:tabLst>
            </a:pPr>
            <a:r>
              <a:rPr sz="2800" b="1" dirty="0">
                <a:latin typeface="Calibri"/>
                <a:cs typeface="Calibri"/>
              </a:rPr>
              <a:t>Example</a:t>
            </a:r>
            <a:r>
              <a:rPr sz="2800" b="1" spc="-1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Rootkit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10" dirty="0">
                <a:latin typeface="Calibri"/>
                <a:cs typeface="Calibri"/>
              </a:rPr>
              <a:t>structure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based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on </a:t>
            </a:r>
            <a:r>
              <a:rPr sz="2800" b="1" dirty="0">
                <a:latin typeface="Calibri"/>
                <a:cs typeface="Calibri"/>
              </a:rPr>
              <a:t>the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Dir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operation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Windows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704849"/>
            <a:ext cx="14630400" cy="89534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537464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RooCkċC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806449"/>
            <a:ext cx="16154400" cy="90550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537464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RooCkċC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5950" y="704849"/>
            <a:ext cx="13303250" cy="92519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537464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RooCkċC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00" y="704849"/>
            <a:ext cx="15138400" cy="88963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537464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RooCkċC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0" y="1828799"/>
            <a:ext cx="4419600" cy="6102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74814" y="650824"/>
            <a:ext cx="246126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WosmG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5649" y="3084068"/>
            <a:ext cx="9075420" cy="1962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765" indent="-520065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532765" algn="l"/>
                <a:tab pos="1633855" algn="l"/>
              </a:tabLst>
            </a:pPr>
            <a:r>
              <a:rPr sz="4800" spc="-25" dirty="0">
                <a:latin typeface="Times New Roman"/>
                <a:cs typeface="Times New Roman"/>
              </a:rPr>
              <a:t>Use</a:t>
            </a:r>
            <a:r>
              <a:rPr sz="4800" dirty="0">
                <a:latin typeface="Times New Roman"/>
                <a:cs typeface="Times New Roman"/>
              </a:rPr>
              <a:t>	network</a:t>
            </a:r>
            <a:r>
              <a:rPr sz="4800" spc="-7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connections</a:t>
            </a:r>
            <a:r>
              <a:rPr sz="4800" spc="-5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to</a:t>
            </a:r>
            <a:r>
              <a:rPr sz="4800" spc="-45" dirty="0">
                <a:latin typeface="Times New Roman"/>
                <a:cs typeface="Times New Roman"/>
              </a:rPr>
              <a:t> </a:t>
            </a:r>
            <a:r>
              <a:rPr sz="4800" spc="-10" dirty="0">
                <a:latin typeface="Times New Roman"/>
                <a:cs typeface="Times New Roman"/>
              </a:rPr>
              <a:t>spread</a:t>
            </a:r>
            <a:endParaRPr sz="4800">
              <a:latin typeface="Times New Roman"/>
              <a:cs typeface="Times New Roman"/>
            </a:endParaRPr>
          </a:p>
          <a:p>
            <a:pPr marL="533400">
              <a:lnSpc>
                <a:spcPct val="100000"/>
              </a:lnSpc>
              <a:spcBef>
                <a:spcPts val="3729"/>
              </a:spcBef>
              <a:tabLst>
                <a:tab pos="1870710" algn="l"/>
              </a:tabLst>
            </a:pPr>
            <a:r>
              <a:rPr sz="4800" spc="-20" dirty="0">
                <a:latin typeface="Times New Roman"/>
                <a:cs typeface="Times New Roman"/>
              </a:rPr>
              <a:t>from</a:t>
            </a:r>
            <a:r>
              <a:rPr sz="4800" dirty="0">
                <a:latin typeface="Times New Roman"/>
                <a:cs typeface="Times New Roman"/>
              </a:rPr>
              <a:t>	system</a:t>
            </a:r>
            <a:r>
              <a:rPr sz="4800" spc="-6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to</a:t>
            </a:r>
            <a:r>
              <a:rPr sz="4800" spc="-55" dirty="0">
                <a:latin typeface="Times New Roman"/>
                <a:cs typeface="Times New Roman"/>
              </a:rPr>
              <a:t> </a:t>
            </a:r>
            <a:r>
              <a:rPr sz="4800" spc="-10" dirty="0">
                <a:latin typeface="Times New Roman"/>
                <a:cs typeface="Times New Roman"/>
              </a:rPr>
              <a:t>system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2336799"/>
            <a:ext cx="7213600" cy="67563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Tfte</a:t>
            </a:r>
            <a:r>
              <a:rPr spc="560" dirty="0"/>
              <a:t> </a:t>
            </a:r>
            <a:r>
              <a:rPr spc="375" dirty="0"/>
              <a:t>InCesneC</a:t>
            </a:r>
            <a:r>
              <a:rPr spc="560" dirty="0"/>
              <a:t> </a:t>
            </a:r>
            <a:r>
              <a:rPr dirty="0"/>
              <a:t>Wosm</a:t>
            </a:r>
            <a:r>
              <a:rPr spc="585" dirty="0"/>
              <a:t> </a:t>
            </a:r>
            <a:r>
              <a:rPr spc="-80" dirty="0"/>
              <a:t>efiossċG</a:t>
            </a:r>
            <a:r>
              <a:rPr spc="575" dirty="0"/>
              <a:t> </a:t>
            </a:r>
            <a:r>
              <a:rPr spc="-20" dirty="0"/>
              <a:t>Wosm)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1336" y="2476764"/>
            <a:ext cx="8053705" cy="5011420"/>
          </a:xfrm>
          <a:prstGeom prst="rect">
            <a:avLst/>
          </a:prstGeom>
        </p:spPr>
        <p:txBody>
          <a:bodyPr vert="horz" wrap="square" lIns="0" tIns="4438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495"/>
              </a:spcBef>
            </a:pPr>
            <a:r>
              <a:rPr sz="4800" dirty="0">
                <a:solidFill>
                  <a:srgbClr val="6B9361"/>
                </a:solidFill>
                <a:latin typeface="Tahoma"/>
                <a:cs typeface="Tahoma"/>
              </a:rPr>
              <a:t>WftaC</a:t>
            </a:r>
            <a:r>
              <a:rPr sz="4800" spc="335" dirty="0">
                <a:solidFill>
                  <a:srgbClr val="6B9361"/>
                </a:solidFill>
                <a:latin typeface="Tahoma"/>
                <a:cs typeface="Tahoma"/>
              </a:rPr>
              <a:t> </a:t>
            </a:r>
            <a:r>
              <a:rPr sz="4800" spc="-509" dirty="0">
                <a:solidFill>
                  <a:srgbClr val="6B9361"/>
                </a:solidFill>
                <a:latin typeface="Tahoma"/>
                <a:cs typeface="Tahoma"/>
              </a:rPr>
              <a:t>ċC</a:t>
            </a:r>
            <a:r>
              <a:rPr sz="4800" spc="340" dirty="0">
                <a:solidFill>
                  <a:srgbClr val="6B9361"/>
                </a:solidFill>
                <a:latin typeface="Tahoma"/>
                <a:cs typeface="Tahoma"/>
              </a:rPr>
              <a:t> </a:t>
            </a:r>
            <a:r>
              <a:rPr sz="4800" spc="-440" dirty="0">
                <a:solidFill>
                  <a:srgbClr val="6B9361"/>
                </a:solidFill>
                <a:latin typeface="Tahoma"/>
                <a:cs typeface="Tahoma"/>
              </a:rPr>
              <a:t>dċd:</a:t>
            </a:r>
            <a:endParaRPr sz="4800">
              <a:latin typeface="Tahoma"/>
              <a:cs typeface="Tahoma"/>
            </a:endParaRPr>
          </a:p>
          <a:p>
            <a:pPr marL="1396365" indent="-534670">
              <a:lnSpc>
                <a:spcPct val="100000"/>
              </a:lnSpc>
              <a:spcBef>
                <a:spcPts val="2820"/>
              </a:spcBef>
              <a:buFont typeface="Microsoft Sans Serif"/>
              <a:buChar char="●"/>
              <a:tabLst>
                <a:tab pos="1396365" algn="l"/>
              </a:tabLst>
            </a:pPr>
            <a:r>
              <a:rPr sz="4000" dirty="0">
                <a:latin typeface="Times New Roman"/>
                <a:cs typeface="Times New Roman"/>
              </a:rPr>
              <a:t>Determine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where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it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could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spread</a:t>
            </a:r>
            <a:endParaRPr sz="4000">
              <a:latin typeface="Times New Roman"/>
              <a:cs typeface="Times New Roman"/>
            </a:endParaRPr>
          </a:p>
          <a:p>
            <a:pPr marL="1396365" indent="-528320">
              <a:lnSpc>
                <a:spcPct val="100000"/>
              </a:lnSpc>
              <a:spcBef>
                <a:spcPts val="3100"/>
              </a:spcBef>
              <a:buFont typeface="Microsoft Sans Serif"/>
              <a:buChar char="●"/>
              <a:tabLst>
                <a:tab pos="1396365" algn="l"/>
              </a:tabLst>
            </a:pPr>
            <a:r>
              <a:rPr sz="4000" dirty="0">
                <a:latin typeface="Times New Roman"/>
                <a:cs typeface="Times New Roman"/>
              </a:rPr>
              <a:t>Spread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its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infection</a:t>
            </a:r>
            <a:endParaRPr sz="4000">
              <a:latin typeface="Times New Roman"/>
              <a:cs typeface="Times New Roman"/>
            </a:endParaRPr>
          </a:p>
          <a:p>
            <a:pPr marL="1397000" marR="1374775" indent="-528955">
              <a:lnSpc>
                <a:spcPct val="150100"/>
              </a:lnSpc>
              <a:spcBef>
                <a:spcPts val="175"/>
              </a:spcBef>
              <a:buFont typeface="Microsoft Sans Serif"/>
              <a:buChar char="●"/>
              <a:tabLst>
                <a:tab pos="1397000" algn="l"/>
              </a:tabLst>
            </a:pPr>
            <a:r>
              <a:rPr sz="4000" dirty="0">
                <a:latin typeface="Times New Roman"/>
                <a:cs typeface="Times New Roman"/>
              </a:rPr>
              <a:t>Remain</a:t>
            </a:r>
            <a:r>
              <a:rPr sz="4000" spc="-1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undiscovered</a:t>
            </a:r>
            <a:r>
              <a:rPr sz="4000" spc="-175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and </a:t>
            </a:r>
            <a:r>
              <a:rPr sz="4000" spc="-10" dirty="0">
                <a:latin typeface="Times New Roman"/>
                <a:cs typeface="Times New Roman"/>
              </a:rPr>
              <a:t>undiscoverable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71600" y="507999"/>
            <a:ext cx="3308350" cy="3124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31750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Tfte</a:t>
            </a:r>
            <a:r>
              <a:rPr spc="830" dirty="0"/>
              <a:t> </a:t>
            </a:r>
            <a:r>
              <a:rPr spc="375" dirty="0"/>
              <a:t>InCesneC</a:t>
            </a:r>
            <a:r>
              <a:rPr spc="840" dirty="0"/>
              <a:t> </a:t>
            </a:r>
            <a:r>
              <a:rPr spc="-20" dirty="0"/>
              <a:t>Wosm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84730" y="3319983"/>
            <a:ext cx="13890625" cy="379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204" dirty="0">
                <a:solidFill>
                  <a:srgbClr val="6B9361"/>
                </a:solidFill>
                <a:latin typeface="Tahoma"/>
                <a:cs typeface="Tahoma"/>
              </a:rPr>
              <a:t>E77ecC:</a:t>
            </a:r>
            <a:endParaRPr sz="4800">
              <a:latin typeface="Tahoma"/>
              <a:cs typeface="Tahoma"/>
            </a:endParaRPr>
          </a:p>
          <a:p>
            <a:pPr marL="190500" indent="-185420">
              <a:lnSpc>
                <a:spcPct val="100000"/>
              </a:lnSpc>
              <a:spcBef>
                <a:spcPts val="3334"/>
              </a:spcBef>
              <a:buSzPct val="97500"/>
              <a:buFont typeface="Arial MT"/>
              <a:buChar char="•"/>
              <a:tabLst>
                <a:tab pos="190500" algn="l"/>
              </a:tabLst>
            </a:pPr>
            <a:r>
              <a:rPr sz="4000" dirty="0">
                <a:latin typeface="Times New Roman"/>
                <a:cs typeface="Times New Roman"/>
              </a:rPr>
              <a:t>Resource</a:t>
            </a:r>
            <a:r>
              <a:rPr sz="4000" spc="-114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exhaustion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-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repeated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infection</a:t>
            </a:r>
            <a:r>
              <a:rPr sz="4000" spc="-114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due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-114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programming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bug</a:t>
            </a:r>
            <a:endParaRPr sz="4000">
              <a:latin typeface="Times New Roman"/>
              <a:cs typeface="Times New Roman"/>
            </a:endParaRPr>
          </a:p>
          <a:p>
            <a:pPr marL="12700" marR="5080" indent="-8255">
              <a:lnSpc>
                <a:spcPct val="164500"/>
              </a:lnSpc>
              <a:spcBef>
                <a:spcPts val="10"/>
              </a:spcBef>
              <a:buSzPct val="97500"/>
              <a:buFont typeface="Arial MT"/>
              <a:buChar char="•"/>
              <a:tabLst>
                <a:tab pos="189865" algn="l"/>
              </a:tabLst>
            </a:pPr>
            <a:r>
              <a:rPr sz="4000" dirty="0">
                <a:latin typeface="Times New Roman"/>
                <a:cs typeface="Times New Roman"/>
              </a:rPr>
              <a:t>	Servers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are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disconnected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from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Internet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by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system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admin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stop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infection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28800" y="507999"/>
            <a:ext cx="3352800" cy="3124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31750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Tfte</a:t>
            </a:r>
            <a:r>
              <a:rPr spc="830" dirty="0"/>
              <a:t> </a:t>
            </a:r>
            <a:r>
              <a:rPr spc="375" dirty="0"/>
              <a:t>InCesneC</a:t>
            </a:r>
            <a:r>
              <a:rPr spc="840" dirty="0"/>
              <a:t> </a:t>
            </a:r>
            <a:r>
              <a:rPr spc="-20" dirty="0"/>
              <a:t>Wosm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0951" y="1876684"/>
            <a:ext cx="11582400" cy="6583045"/>
          </a:xfrm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573405" indent="-509905">
              <a:lnSpc>
                <a:spcPct val="100000"/>
              </a:lnSpc>
              <a:spcBef>
                <a:spcPts val="2495"/>
              </a:spcBef>
              <a:buFont typeface="Microsoft Sans Serif"/>
              <a:buChar char="●"/>
              <a:tabLst>
                <a:tab pos="573405" algn="l"/>
              </a:tabLst>
            </a:pPr>
            <a:r>
              <a:rPr sz="4000" spc="-160" dirty="0">
                <a:solidFill>
                  <a:srgbClr val="6B9361"/>
                </a:solidFill>
                <a:latin typeface="Tahoma"/>
                <a:cs typeface="Tahoma"/>
              </a:rPr>
              <a:t>Exą(oċC</a:t>
            </a:r>
            <a:r>
              <a:rPr sz="4000" spc="-5" dirty="0">
                <a:solidFill>
                  <a:srgbClr val="6B9361"/>
                </a:solidFill>
                <a:latin typeface="Tahoma"/>
                <a:cs typeface="Tahoma"/>
              </a:rPr>
              <a:t> </a:t>
            </a:r>
            <a:r>
              <a:rPr sz="4000" spc="-140" dirty="0">
                <a:solidFill>
                  <a:srgbClr val="6B9361"/>
                </a:solidFill>
                <a:latin typeface="Tahoma"/>
                <a:cs typeface="Tahoma"/>
              </a:rPr>
              <a:t>GecSsċCy</a:t>
            </a:r>
            <a:r>
              <a:rPr sz="4000" spc="10" dirty="0">
                <a:solidFill>
                  <a:srgbClr val="6B9361"/>
                </a:solidFill>
                <a:latin typeface="Tahoma"/>
                <a:cs typeface="Tahoma"/>
              </a:rPr>
              <a:t> </a:t>
            </a:r>
            <a:r>
              <a:rPr sz="4000" spc="-10" dirty="0">
                <a:solidFill>
                  <a:srgbClr val="6B9361"/>
                </a:solidFill>
                <a:latin typeface="Tahoma"/>
                <a:cs typeface="Tahoma"/>
              </a:rPr>
              <a:t>7(awG</a:t>
            </a:r>
            <a:endParaRPr sz="4000">
              <a:latin typeface="Tahoma"/>
              <a:cs typeface="Tahoma"/>
            </a:endParaRPr>
          </a:p>
          <a:p>
            <a:pPr marL="1487805" lvl="1" indent="-535305">
              <a:lnSpc>
                <a:spcPct val="100000"/>
              </a:lnSpc>
              <a:spcBef>
                <a:spcPts val="2405"/>
              </a:spcBef>
              <a:buFont typeface="Microsoft Sans Serif"/>
              <a:buChar char="●"/>
              <a:tabLst>
                <a:tab pos="1487805" algn="l"/>
              </a:tabLst>
            </a:pPr>
            <a:r>
              <a:rPr sz="4000" dirty="0">
                <a:latin typeface="Times New Roman"/>
                <a:cs typeface="Times New Roman"/>
              </a:rPr>
              <a:t>Guess</a:t>
            </a:r>
            <a:r>
              <a:rPr sz="4000" spc="-11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password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(encrypted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passwd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file</a:t>
            </a:r>
            <a:r>
              <a:rPr sz="4000" spc="-11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readable)</a:t>
            </a:r>
            <a:endParaRPr sz="4000">
              <a:latin typeface="Times New Roman"/>
              <a:cs typeface="Times New Roman"/>
            </a:endParaRPr>
          </a:p>
          <a:p>
            <a:pPr marL="1487805" lvl="1" indent="-535305">
              <a:lnSpc>
                <a:spcPct val="100000"/>
              </a:lnSpc>
              <a:spcBef>
                <a:spcPts val="2565"/>
              </a:spcBef>
              <a:buFont typeface="Microsoft Sans Serif"/>
              <a:buChar char="●"/>
              <a:tabLst>
                <a:tab pos="1487805" algn="l"/>
              </a:tabLst>
            </a:pPr>
            <a:r>
              <a:rPr sz="4000" dirty="0">
                <a:latin typeface="Times New Roman"/>
                <a:cs typeface="Times New Roman"/>
              </a:rPr>
              <a:t>fingerd:</a:t>
            </a:r>
            <a:r>
              <a:rPr sz="4000" spc="-1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buffer</a:t>
            </a:r>
            <a:r>
              <a:rPr sz="4000" spc="-13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overflow</a:t>
            </a:r>
            <a:endParaRPr sz="4000">
              <a:latin typeface="Times New Roman"/>
              <a:cs typeface="Times New Roman"/>
            </a:endParaRPr>
          </a:p>
          <a:p>
            <a:pPr marL="1487805" lvl="1" indent="-535305">
              <a:lnSpc>
                <a:spcPct val="100000"/>
              </a:lnSpc>
              <a:spcBef>
                <a:spcPts val="2405"/>
              </a:spcBef>
              <a:buFont typeface="Microsoft Sans Serif"/>
              <a:buChar char="●"/>
              <a:tabLst>
                <a:tab pos="1487805" algn="l"/>
              </a:tabLst>
            </a:pPr>
            <a:r>
              <a:rPr sz="4000" dirty="0">
                <a:latin typeface="Times New Roman"/>
                <a:cs typeface="Times New Roman"/>
              </a:rPr>
              <a:t>sendmail: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trapdoor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(accepts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shell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commands)</a:t>
            </a:r>
            <a:endParaRPr sz="4000">
              <a:latin typeface="Times New Roman"/>
              <a:cs typeface="Times New Roman"/>
            </a:endParaRPr>
          </a:p>
          <a:p>
            <a:pPr marL="571500" indent="-508000">
              <a:lnSpc>
                <a:spcPct val="100000"/>
              </a:lnSpc>
              <a:spcBef>
                <a:spcPts val="1985"/>
              </a:spcBef>
              <a:buFont typeface="Microsoft Sans Serif"/>
              <a:buChar char="●"/>
              <a:tabLst>
                <a:tab pos="571500" algn="l"/>
              </a:tabLst>
            </a:pPr>
            <a:r>
              <a:rPr sz="4000" spc="-10" dirty="0">
                <a:solidFill>
                  <a:srgbClr val="6B9361"/>
                </a:solidFill>
                <a:latin typeface="Tahoma"/>
                <a:cs typeface="Tahoma"/>
              </a:rPr>
              <a:t>Sąsead</a:t>
            </a:r>
            <a:endParaRPr sz="4000">
              <a:latin typeface="Tahoma"/>
              <a:cs typeface="Tahoma"/>
            </a:endParaRPr>
          </a:p>
          <a:p>
            <a:pPr marL="1435100" lvl="1" indent="-431165">
              <a:lnSpc>
                <a:spcPct val="100000"/>
              </a:lnSpc>
              <a:spcBef>
                <a:spcPts val="3710"/>
              </a:spcBef>
              <a:buFont typeface="Microsoft Sans Serif"/>
              <a:buChar char="●"/>
              <a:tabLst>
                <a:tab pos="1435100" algn="l"/>
              </a:tabLst>
            </a:pPr>
            <a:r>
              <a:rPr sz="4000" dirty="0">
                <a:latin typeface="Times New Roman"/>
                <a:cs typeface="Times New Roman"/>
              </a:rPr>
              <a:t>Bootstrap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loader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target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machine,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then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fetch</a:t>
            </a:r>
            <a:endParaRPr sz="4000">
              <a:latin typeface="Times New Roman"/>
              <a:cs typeface="Times New Roman"/>
            </a:endParaRPr>
          </a:p>
          <a:p>
            <a:pPr marL="1435100" lvl="1" indent="-431165">
              <a:lnSpc>
                <a:spcPct val="100000"/>
              </a:lnSpc>
              <a:spcBef>
                <a:spcPts val="2570"/>
              </a:spcBef>
              <a:buFont typeface="Microsoft Sans Serif"/>
              <a:buChar char="●"/>
              <a:tabLst>
                <a:tab pos="1435100" algn="l"/>
              </a:tabLst>
            </a:pPr>
            <a:r>
              <a:rPr sz="4000" dirty="0">
                <a:latin typeface="Times New Roman"/>
                <a:cs typeface="Times New Roman"/>
              </a:rPr>
              <a:t>rest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code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(password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authenticated)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71600" y="507999"/>
            <a:ext cx="3308350" cy="3124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383" rIns="0" bIns="0" rtlCol="0">
            <a:spAutoFit/>
          </a:bodyPr>
          <a:lstStyle/>
          <a:p>
            <a:pPr marL="31750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Tfte</a:t>
            </a:r>
            <a:r>
              <a:rPr spc="830" dirty="0"/>
              <a:t> </a:t>
            </a:r>
            <a:r>
              <a:rPr spc="375" dirty="0"/>
              <a:t>InCesneC</a:t>
            </a:r>
            <a:r>
              <a:rPr spc="840" dirty="0"/>
              <a:t> </a:t>
            </a:r>
            <a:r>
              <a:rPr spc="-20" dirty="0"/>
              <a:t>Wosm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04163" y="2242591"/>
            <a:ext cx="10269855" cy="5857240"/>
          </a:xfrm>
          <a:prstGeom prst="rect">
            <a:avLst/>
          </a:prstGeom>
        </p:spPr>
        <p:txBody>
          <a:bodyPr vert="horz" wrap="square" lIns="0" tIns="317500" rIns="0" bIns="0" rtlCol="0">
            <a:spAutoFit/>
          </a:bodyPr>
          <a:lstStyle/>
          <a:p>
            <a:pPr marL="534670" indent="-509270">
              <a:lnSpc>
                <a:spcPct val="100000"/>
              </a:lnSpc>
              <a:spcBef>
                <a:spcPts val="2500"/>
              </a:spcBef>
              <a:buFont typeface="Microsoft Sans Serif"/>
              <a:buChar char="●"/>
              <a:tabLst>
                <a:tab pos="534670" algn="l"/>
              </a:tabLst>
            </a:pPr>
            <a:r>
              <a:rPr sz="4000" dirty="0">
                <a:solidFill>
                  <a:srgbClr val="6B9361"/>
                </a:solidFill>
                <a:latin typeface="Tahoma"/>
                <a:cs typeface="Tahoma"/>
              </a:rPr>
              <a:t>Remaċn</a:t>
            </a:r>
            <a:r>
              <a:rPr sz="4000" spc="330" dirty="0">
                <a:solidFill>
                  <a:srgbClr val="6B9361"/>
                </a:solidFill>
                <a:latin typeface="Tahoma"/>
                <a:cs typeface="Tahoma"/>
              </a:rPr>
              <a:t> </a:t>
            </a:r>
            <a:r>
              <a:rPr sz="4000" spc="105" dirty="0">
                <a:solidFill>
                  <a:srgbClr val="6B9361"/>
                </a:solidFill>
                <a:latin typeface="Tahoma"/>
                <a:cs typeface="Tahoma"/>
              </a:rPr>
              <a:t>Sn-</a:t>
            </a:r>
            <a:r>
              <a:rPr sz="4000" spc="-50" dirty="0">
                <a:solidFill>
                  <a:srgbClr val="6B9361"/>
                </a:solidFill>
                <a:latin typeface="Tahoma"/>
                <a:cs typeface="Tahoma"/>
              </a:rPr>
              <a:t>dċGcovesab(e</a:t>
            </a:r>
            <a:endParaRPr sz="4000">
              <a:latin typeface="Tahoma"/>
              <a:cs typeface="Tahoma"/>
            </a:endParaRPr>
          </a:p>
          <a:p>
            <a:pPr marL="1449705" lvl="1" indent="-535305">
              <a:lnSpc>
                <a:spcPct val="100000"/>
              </a:lnSpc>
              <a:spcBef>
                <a:spcPts val="2405"/>
              </a:spcBef>
              <a:buFont typeface="Microsoft Sans Serif"/>
              <a:buChar char="●"/>
              <a:tabLst>
                <a:tab pos="1449705" algn="l"/>
              </a:tabLst>
            </a:pPr>
            <a:r>
              <a:rPr sz="4000" dirty="0">
                <a:latin typeface="Times New Roman"/>
                <a:cs typeface="Times New Roman"/>
              </a:rPr>
              <a:t>Load</a:t>
            </a:r>
            <a:r>
              <a:rPr sz="4000" spc="-11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code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spc="-30" dirty="0">
                <a:latin typeface="Times New Roman"/>
                <a:cs typeface="Times New Roman"/>
              </a:rPr>
              <a:t>memory,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encrypt,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remove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file</a:t>
            </a:r>
            <a:endParaRPr sz="4000">
              <a:latin typeface="Times New Roman"/>
              <a:cs typeface="Times New Roman"/>
            </a:endParaRPr>
          </a:p>
          <a:p>
            <a:pPr marL="1449705" lvl="1" indent="-535305">
              <a:lnSpc>
                <a:spcPct val="100000"/>
              </a:lnSpc>
              <a:spcBef>
                <a:spcPts val="2565"/>
              </a:spcBef>
              <a:buFont typeface="Microsoft Sans Serif"/>
              <a:buChar char="●"/>
              <a:tabLst>
                <a:tab pos="1449705" algn="l"/>
              </a:tabLst>
            </a:pPr>
            <a:r>
              <a:rPr sz="4000" dirty="0">
                <a:latin typeface="Times New Roman"/>
                <a:cs typeface="Times New Roman"/>
              </a:rPr>
              <a:t>Periodically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changed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name</a:t>
            </a:r>
            <a:r>
              <a:rPr sz="4000" spc="-114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-12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process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ID</a:t>
            </a:r>
            <a:endParaRPr sz="4000">
              <a:latin typeface="Times New Roman"/>
              <a:cs typeface="Times New Roman"/>
            </a:endParaRPr>
          </a:p>
          <a:p>
            <a:pPr marL="594360" indent="-568960">
              <a:lnSpc>
                <a:spcPct val="100000"/>
              </a:lnSpc>
              <a:spcBef>
                <a:spcPts val="3470"/>
              </a:spcBef>
              <a:buFont typeface="Microsoft Sans Serif"/>
              <a:buChar char="●"/>
              <a:tabLst>
                <a:tab pos="594360" algn="l"/>
              </a:tabLst>
            </a:pPr>
            <a:r>
              <a:rPr sz="4000" dirty="0">
                <a:solidFill>
                  <a:srgbClr val="6B9361"/>
                </a:solidFill>
                <a:latin typeface="Tahoma"/>
                <a:cs typeface="Tahoma"/>
              </a:rPr>
              <a:t>WftaC</a:t>
            </a:r>
            <a:r>
              <a:rPr sz="4000" spc="270" dirty="0">
                <a:solidFill>
                  <a:srgbClr val="6B9361"/>
                </a:solidFill>
                <a:latin typeface="Tahoma"/>
                <a:cs typeface="Tahoma"/>
              </a:rPr>
              <a:t> </a:t>
            </a:r>
            <a:r>
              <a:rPr sz="4000" dirty="0">
                <a:solidFill>
                  <a:srgbClr val="6B9361"/>
                </a:solidFill>
                <a:latin typeface="Tahoma"/>
                <a:cs typeface="Tahoma"/>
              </a:rPr>
              <a:t>we</a:t>
            </a:r>
            <a:r>
              <a:rPr sz="4000" spc="275" dirty="0">
                <a:solidFill>
                  <a:srgbClr val="6B9361"/>
                </a:solidFill>
                <a:latin typeface="Tahoma"/>
                <a:cs typeface="Tahoma"/>
              </a:rPr>
              <a:t> </a:t>
            </a:r>
            <a:r>
              <a:rPr sz="4000" spc="-10" dirty="0">
                <a:solidFill>
                  <a:srgbClr val="6B9361"/>
                </a:solidFill>
                <a:latin typeface="Tahoma"/>
                <a:cs typeface="Tahoma"/>
              </a:rPr>
              <a:t>(easned:</a:t>
            </a:r>
            <a:endParaRPr sz="4000">
              <a:latin typeface="Tahoma"/>
              <a:cs typeface="Tahoma"/>
            </a:endParaRPr>
          </a:p>
          <a:p>
            <a:pPr marL="1459230" lvl="1" indent="-576580">
              <a:lnSpc>
                <a:spcPct val="100000"/>
              </a:lnSpc>
              <a:spcBef>
                <a:spcPts val="3704"/>
              </a:spcBef>
              <a:buFont typeface="Microsoft Sans Serif"/>
              <a:buChar char="●"/>
              <a:tabLst>
                <a:tab pos="1459230" algn="l"/>
              </a:tabLst>
            </a:pPr>
            <a:r>
              <a:rPr sz="4000" dirty="0">
                <a:latin typeface="Times New Roman"/>
                <a:cs typeface="Times New Roman"/>
              </a:rPr>
              <a:t>Security</a:t>
            </a:r>
            <a:r>
              <a:rPr sz="4000" spc="-11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scanning</a:t>
            </a:r>
            <a:r>
              <a:rPr sz="4000" spc="-11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-11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patching</a:t>
            </a:r>
            <a:endParaRPr sz="4000">
              <a:latin typeface="Times New Roman"/>
              <a:cs typeface="Times New Roman"/>
            </a:endParaRPr>
          </a:p>
          <a:p>
            <a:pPr marL="1459230" lvl="1" indent="-576580">
              <a:lnSpc>
                <a:spcPct val="100000"/>
              </a:lnSpc>
              <a:spcBef>
                <a:spcPts val="2575"/>
              </a:spcBef>
              <a:buFont typeface="Microsoft Sans Serif"/>
              <a:buChar char="●"/>
              <a:tabLst>
                <a:tab pos="1459230" algn="l"/>
              </a:tabLst>
            </a:pPr>
            <a:r>
              <a:rPr sz="4000" dirty="0">
                <a:latin typeface="Times New Roman"/>
                <a:cs typeface="Times New Roman"/>
              </a:rPr>
              <a:t>Computer</a:t>
            </a:r>
            <a:r>
              <a:rPr sz="4000" spc="-1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Emergency</a:t>
            </a:r>
            <a:r>
              <a:rPr sz="4000" spc="-1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Response</a:t>
            </a:r>
            <a:r>
              <a:rPr sz="4000" spc="-245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Team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000" y="4622799"/>
            <a:ext cx="3606800" cy="47307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0003" rIns="0" bIns="0" rtlCol="0">
            <a:spAutoFit/>
          </a:bodyPr>
          <a:lstStyle/>
          <a:p>
            <a:pPr marL="3235960">
              <a:lnSpc>
                <a:spcPct val="100000"/>
              </a:lnSpc>
              <a:spcBef>
                <a:spcPts val="100"/>
              </a:spcBef>
            </a:pPr>
            <a:r>
              <a:rPr spc="275" dirty="0"/>
              <a:t>fia(wase</a:t>
            </a:r>
            <a:r>
              <a:rPr spc="409" dirty="0"/>
              <a:t> </a:t>
            </a:r>
            <a:r>
              <a:rPr spc="-45" dirty="0"/>
              <a:t>PsevenCċon</a:t>
            </a:r>
            <a:r>
              <a:rPr spc="400" dirty="0"/>
              <a:t> </a:t>
            </a:r>
            <a:r>
              <a:rPr spc="310" dirty="0"/>
              <a:t>&amp;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25854" y="1961133"/>
            <a:ext cx="11135995" cy="5798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6600" algn="ctr">
              <a:lnSpc>
                <a:spcPct val="100000"/>
              </a:lnSpc>
              <a:spcBef>
                <a:spcPts val="100"/>
              </a:spcBef>
            </a:pPr>
            <a:r>
              <a:rPr sz="6000" spc="-260" dirty="0">
                <a:solidFill>
                  <a:srgbClr val="9B37AA"/>
                </a:solidFill>
                <a:latin typeface="Tahoma"/>
                <a:cs typeface="Tahoma"/>
              </a:rPr>
              <a:t>DeCecCċon</a:t>
            </a:r>
            <a:r>
              <a:rPr sz="6000" spc="865" dirty="0">
                <a:solidFill>
                  <a:srgbClr val="9B37AA"/>
                </a:solidFill>
                <a:latin typeface="Tahoma"/>
                <a:cs typeface="Tahoma"/>
              </a:rPr>
              <a:t> </a:t>
            </a:r>
            <a:r>
              <a:rPr sz="6000" spc="-110" dirty="0">
                <a:solidFill>
                  <a:srgbClr val="9B37AA"/>
                </a:solidFill>
                <a:latin typeface="Tahoma"/>
                <a:cs typeface="Tahoma"/>
              </a:rPr>
              <a:t>AąąsoacfteG</a:t>
            </a:r>
            <a:endParaRPr sz="6000">
              <a:latin typeface="Tahoma"/>
              <a:cs typeface="Tahoma"/>
            </a:endParaRPr>
          </a:p>
          <a:p>
            <a:pPr marL="547370" indent="-509270">
              <a:lnSpc>
                <a:spcPct val="100000"/>
              </a:lnSpc>
              <a:spcBef>
                <a:spcPts val="6280"/>
              </a:spcBef>
              <a:buFont typeface="Microsoft Sans Serif"/>
              <a:buChar char="●"/>
              <a:tabLst>
                <a:tab pos="547370" algn="l"/>
              </a:tabLst>
            </a:pP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Prevention:</a:t>
            </a:r>
            <a:r>
              <a:rPr sz="4000" spc="-10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Limit</a:t>
            </a:r>
            <a:r>
              <a:rPr sz="4000" spc="-10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contact</a:t>
            </a:r>
            <a:r>
              <a:rPr sz="4000" spc="-10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to</a:t>
            </a:r>
            <a:r>
              <a:rPr sz="4000" spc="-10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outside</a:t>
            </a:r>
            <a:r>
              <a:rPr sz="4000" spc="-114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6B9361"/>
                </a:solidFill>
                <a:latin typeface="Times New Roman"/>
                <a:cs typeface="Times New Roman"/>
              </a:rPr>
              <a:t>world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70"/>
              </a:spcBef>
              <a:buFont typeface="Microsoft Sans Serif"/>
              <a:buChar char="●"/>
            </a:pPr>
            <a:endParaRPr sz="4000">
              <a:latin typeface="Times New Roman"/>
              <a:cs typeface="Times New Roman"/>
            </a:endParaRPr>
          </a:p>
          <a:p>
            <a:pPr marL="547370" indent="-509270">
              <a:lnSpc>
                <a:spcPct val="100000"/>
              </a:lnSpc>
              <a:buFont typeface="Microsoft Sans Serif"/>
              <a:buChar char="●"/>
              <a:tabLst>
                <a:tab pos="547370" algn="l"/>
              </a:tabLst>
            </a:pP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Detection</a:t>
            </a:r>
            <a:r>
              <a:rPr sz="4000" spc="-114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6B9361"/>
                </a:solidFill>
                <a:latin typeface="Times New Roman"/>
                <a:cs typeface="Times New Roman"/>
              </a:rPr>
              <a:t>and</a:t>
            </a:r>
            <a:r>
              <a:rPr sz="4000" spc="-9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6B9361"/>
                </a:solidFill>
                <a:latin typeface="Times New Roman"/>
                <a:cs typeface="Times New Roman"/>
              </a:rPr>
              <a:t>Identification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Microsoft Sans Serif"/>
              <a:buChar char="●"/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Font typeface="Microsoft Sans Serif"/>
              <a:buChar char="●"/>
            </a:pPr>
            <a:endParaRPr sz="4000">
              <a:latin typeface="Times New Roman"/>
              <a:cs typeface="Times New Roman"/>
            </a:endParaRPr>
          </a:p>
          <a:p>
            <a:pPr marL="547370" indent="-509270">
              <a:lnSpc>
                <a:spcPct val="100000"/>
              </a:lnSpc>
              <a:buFont typeface="Microsoft Sans Serif"/>
              <a:buChar char="●"/>
              <a:tabLst>
                <a:tab pos="547370" algn="l"/>
              </a:tabLst>
            </a:pPr>
            <a:r>
              <a:rPr sz="4000" spc="-10" dirty="0">
                <a:solidFill>
                  <a:srgbClr val="6B9361"/>
                </a:solidFill>
                <a:latin typeface="Times New Roman"/>
                <a:cs typeface="Times New Roman"/>
              </a:rPr>
              <a:t>Removal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79600" y="603249"/>
            <a:ext cx="2184400" cy="29590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00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5" dirty="0"/>
              <a:t>fia(wase</a:t>
            </a:r>
            <a:r>
              <a:rPr spc="409" dirty="0"/>
              <a:t> </a:t>
            </a:r>
            <a:r>
              <a:rPr spc="-45" dirty="0"/>
              <a:t>PsevenCċon</a:t>
            </a:r>
            <a:r>
              <a:rPr spc="400" dirty="0"/>
              <a:t> </a:t>
            </a:r>
            <a:r>
              <a:rPr spc="310" dirty="0"/>
              <a:t>&amp;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78558" y="1961133"/>
            <a:ext cx="11551285" cy="7328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0" spc="-260" dirty="0">
                <a:solidFill>
                  <a:srgbClr val="9B37AA"/>
                </a:solidFill>
                <a:latin typeface="Tahoma"/>
                <a:cs typeface="Tahoma"/>
              </a:rPr>
              <a:t>DeCecCċon</a:t>
            </a:r>
            <a:r>
              <a:rPr sz="6000" spc="865" dirty="0">
                <a:solidFill>
                  <a:srgbClr val="9B37AA"/>
                </a:solidFill>
                <a:latin typeface="Tahoma"/>
                <a:cs typeface="Tahoma"/>
              </a:rPr>
              <a:t> </a:t>
            </a:r>
            <a:r>
              <a:rPr sz="6000" spc="-75" dirty="0">
                <a:solidFill>
                  <a:srgbClr val="9B37AA"/>
                </a:solidFill>
                <a:latin typeface="Tahoma"/>
                <a:cs typeface="Tahoma"/>
              </a:rPr>
              <a:t>AąąsoacfteG</a:t>
            </a:r>
            <a:endParaRPr sz="6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480"/>
              </a:spcBef>
              <a:tabLst>
                <a:tab pos="437515" algn="l"/>
                <a:tab pos="3354704" algn="l"/>
                <a:tab pos="3932554" algn="l"/>
              </a:tabLst>
            </a:pPr>
            <a:r>
              <a:rPr sz="4200" b="1" spc="-50" dirty="0">
                <a:latin typeface="Times New Roman"/>
                <a:cs typeface="Times New Roman"/>
              </a:rPr>
              <a:t>4</a:t>
            </a:r>
            <a:r>
              <a:rPr sz="4200" b="1" dirty="0">
                <a:latin typeface="Times New Roman"/>
                <a:cs typeface="Times New Roman"/>
              </a:rPr>
              <a:t>	</a:t>
            </a:r>
            <a:r>
              <a:rPr sz="4200" b="1" spc="-10" dirty="0">
                <a:latin typeface="Times New Roman"/>
                <a:cs typeface="Times New Roman"/>
              </a:rPr>
              <a:t>Generations</a:t>
            </a:r>
            <a:r>
              <a:rPr sz="4200" b="1" dirty="0">
                <a:latin typeface="Times New Roman"/>
                <a:cs typeface="Times New Roman"/>
              </a:rPr>
              <a:t>	</a:t>
            </a:r>
            <a:r>
              <a:rPr sz="4200" b="1" spc="-25" dirty="0">
                <a:latin typeface="Times New Roman"/>
                <a:cs typeface="Times New Roman"/>
              </a:rPr>
              <a:t>of</a:t>
            </a:r>
            <a:r>
              <a:rPr sz="4200" b="1" dirty="0">
                <a:latin typeface="Times New Roman"/>
                <a:cs typeface="Times New Roman"/>
              </a:rPr>
              <a:t>	antivirus</a:t>
            </a:r>
            <a:r>
              <a:rPr sz="4200" b="1" spc="-70" dirty="0">
                <a:latin typeface="Times New Roman"/>
                <a:cs typeface="Times New Roman"/>
              </a:rPr>
              <a:t> </a:t>
            </a:r>
            <a:r>
              <a:rPr sz="4200" b="1" spc="-10" dirty="0">
                <a:latin typeface="Times New Roman"/>
                <a:cs typeface="Times New Roman"/>
              </a:rPr>
              <a:t>software:</a:t>
            </a:r>
            <a:endParaRPr sz="4200">
              <a:latin typeface="Times New Roman"/>
              <a:cs typeface="Times New Roman"/>
            </a:endParaRPr>
          </a:p>
          <a:p>
            <a:pPr marL="1409065" indent="-519430">
              <a:lnSpc>
                <a:spcPct val="100000"/>
              </a:lnSpc>
              <a:spcBef>
                <a:spcPts val="1945"/>
              </a:spcBef>
              <a:buFont typeface="Microsoft Sans Serif"/>
              <a:buChar char="●"/>
              <a:tabLst>
                <a:tab pos="1409065" algn="l"/>
              </a:tabLst>
            </a:pPr>
            <a:r>
              <a:rPr sz="3800" dirty="0">
                <a:solidFill>
                  <a:srgbClr val="6B9361"/>
                </a:solidFill>
                <a:latin typeface="Times New Roman"/>
                <a:cs typeface="Times New Roman"/>
              </a:rPr>
              <a:t>Simple</a:t>
            </a:r>
            <a:r>
              <a:rPr sz="3800" spc="-3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6B9361"/>
                </a:solidFill>
                <a:latin typeface="Times New Roman"/>
                <a:cs typeface="Times New Roman"/>
              </a:rPr>
              <a:t>scanners:</a:t>
            </a:r>
            <a:r>
              <a:rPr sz="3800" spc="-5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Use</a:t>
            </a:r>
            <a:r>
              <a:rPr sz="3800" spc="-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“signatures”</a:t>
            </a:r>
            <a:r>
              <a:rPr sz="3800" spc="-50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of</a:t>
            </a:r>
            <a:r>
              <a:rPr sz="3800" spc="-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known</a:t>
            </a:r>
            <a:r>
              <a:rPr sz="3800" spc="-35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Times New Roman"/>
                <a:cs typeface="Times New Roman"/>
              </a:rPr>
              <a:t>viruses</a:t>
            </a:r>
            <a:endParaRPr sz="3800">
              <a:latin typeface="Times New Roman"/>
              <a:cs typeface="Times New Roman"/>
            </a:endParaRPr>
          </a:p>
          <a:p>
            <a:pPr marL="1409700" marR="504190" indent="-520065">
              <a:lnSpc>
                <a:spcPct val="149200"/>
              </a:lnSpc>
              <a:spcBef>
                <a:spcPts val="170"/>
              </a:spcBef>
              <a:buFont typeface="Microsoft Sans Serif"/>
              <a:buChar char="●"/>
              <a:tabLst>
                <a:tab pos="1409700" algn="l"/>
              </a:tabLst>
            </a:pPr>
            <a:r>
              <a:rPr sz="3800" dirty="0">
                <a:solidFill>
                  <a:srgbClr val="6B9361"/>
                </a:solidFill>
                <a:latin typeface="Times New Roman"/>
                <a:cs typeface="Times New Roman"/>
              </a:rPr>
              <a:t>Heuristic</a:t>
            </a:r>
            <a:r>
              <a:rPr sz="3800" spc="-4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6B9361"/>
                </a:solidFill>
                <a:latin typeface="Times New Roman"/>
                <a:cs typeface="Times New Roman"/>
              </a:rPr>
              <a:t>scanners:</a:t>
            </a:r>
            <a:r>
              <a:rPr sz="3800" spc="-5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Integrity</a:t>
            </a:r>
            <a:r>
              <a:rPr sz="3800" spc="-1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checking:</a:t>
            </a:r>
            <a:r>
              <a:rPr sz="3800" spc="-55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Times New Roman"/>
                <a:cs typeface="Times New Roman"/>
              </a:rPr>
              <a:t>checksum, </a:t>
            </a:r>
            <a:r>
              <a:rPr sz="3800" dirty="0">
                <a:latin typeface="Times New Roman"/>
                <a:cs typeface="Times New Roman"/>
              </a:rPr>
              <a:t>encrypted</a:t>
            </a:r>
            <a:r>
              <a:rPr sz="3800" spc="-35" dirty="0">
                <a:latin typeface="Times New Roman"/>
                <a:cs typeface="Times New Roman"/>
              </a:rPr>
              <a:t> </a:t>
            </a:r>
            <a:r>
              <a:rPr sz="3800" spc="-25" dirty="0">
                <a:latin typeface="Times New Roman"/>
                <a:cs typeface="Times New Roman"/>
              </a:rPr>
              <a:t>has</a:t>
            </a:r>
            <a:endParaRPr sz="3800">
              <a:latin typeface="Times New Roman"/>
              <a:cs typeface="Times New Roman"/>
            </a:endParaRPr>
          </a:p>
          <a:p>
            <a:pPr marL="1409065" indent="-519430">
              <a:lnSpc>
                <a:spcPct val="100000"/>
              </a:lnSpc>
              <a:spcBef>
                <a:spcPts val="2140"/>
              </a:spcBef>
              <a:buFont typeface="Microsoft Sans Serif"/>
              <a:buChar char="●"/>
              <a:tabLst>
                <a:tab pos="1409065" algn="l"/>
              </a:tabLst>
            </a:pPr>
            <a:r>
              <a:rPr sz="3800" dirty="0">
                <a:solidFill>
                  <a:srgbClr val="6B9361"/>
                </a:solidFill>
                <a:latin typeface="Times New Roman"/>
                <a:cs typeface="Times New Roman"/>
              </a:rPr>
              <a:t>Activity</a:t>
            </a:r>
            <a:r>
              <a:rPr sz="3800" spc="-10" dirty="0">
                <a:solidFill>
                  <a:srgbClr val="6B9361"/>
                </a:solidFill>
                <a:latin typeface="Times New Roman"/>
                <a:cs typeface="Times New Roman"/>
              </a:rPr>
              <a:t> traps</a:t>
            </a:r>
            <a:endParaRPr sz="3800">
              <a:latin typeface="Times New Roman"/>
              <a:cs typeface="Times New Roman"/>
            </a:endParaRPr>
          </a:p>
          <a:p>
            <a:pPr marL="1409700" marR="311785" indent="-520065">
              <a:lnSpc>
                <a:spcPts val="6970"/>
              </a:lnSpc>
              <a:spcBef>
                <a:spcPts val="290"/>
              </a:spcBef>
              <a:buFont typeface="Microsoft Sans Serif"/>
              <a:buChar char="●"/>
              <a:tabLst>
                <a:tab pos="1409700" algn="l"/>
              </a:tabLst>
            </a:pPr>
            <a:r>
              <a:rPr sz="3800" spc="-10" dirty="0">
                <a:solidFill>
                  <a:srgbClr val="6B9361"/>
                </a:solidFill>
                <a:latin typeface="Times New Roman"/>
                <a:cs typeface="Times New Roman"/>
              </a:rPr>
              <a:t>Full-</a:t>
            </a:r>
            <a:r>
              <a:rPr sz="3800" dirty="0">
                <a:solidFill>
                  <a:srgbClr val="6B9361"/>
                </a:solidFill>
                <a:latin typeface="Times New Roman"/>
                <a:cs typeface="Times New Roman"/>
              </a:rPr>
              <a:t>featured</a:t>
            </a:r>
            <a:r>
              <a:rPr sz="3800" spc="-3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6B9361"/>
                </a:solidFill>
                <a:latin typeface="Times New Roman"/>
                <a:cs typeface="Times New Roman"/>
              </a:rPr>
              <a:t>analysis:</a:t>
            </a:r>
            <a:r>
              <a:rPr sz="3800" spc="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Times New Roman"/>
                <a:cs typeface="Times New Roman"/>
              </a:rPr>
              <a:t>Host-</a:t>
            </a:r>
            <a:r>
              <a:rPr sz="3800" dirty="0">
                <a:latin typeface="Times New Roman"/>
                <a:cs typeface="Times New Roman"/>
              </a:rPr>
              <a:t>based,</a:t>
            </a:r>
            <a:r>
              <a:rPr sz="3800" spc="-20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network-</a:t>
            </a:r>
            <a:r>
              <a:rPr sz="3800" spc="-10" dirty="0">
                <a:latin typeface="Times New Roman"/>
                <a:cs typeface="Times New Roman"/>
              </a:rPr>
              <a:t>based, </a:t>
            </a:r>
            <a:r>
              <a:rPr sz="3800" dirty="0">
                <a:latin typeface="Times New Roman"/>
                <a:cs typeface="Times New Roman"/>
              </a:rPr>
              <a:t>sandboxing-</a:t>
            </a:r>
            <a:r>
              <a:rPr sz="3800" spc="-10" dirty="0">
                <a:latin typeface="Times New Roman"/>
                <a:cs typeface="Times New Roman"/>
              </a:rPr>
              <a:t>based</a:t>
            </a:r>
            <a:endParaRPr sz="3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60263" y="3791839"/>
            <a:ext cx="6971030" cy="199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900" dirty="0">
                <a:solidFill>
                  <a:srgbClr val="014069"/>
                </a:solidFill>
                <a:latin typeface="Calibri"/>
                <a:cs typeface="Calibri"/>
              </a:rPr>
              <a:t>Thank</a:t>
            </a:r>
            <a:r>
              <a:rPr sz="12900" spc="20" dirty="0">
                <a:solidFill>
                  <a:srgbClr val="014069"/>
                </a:solidFill>
                <a:latin typeface="Calibri"/>
                <a:cs typeface="Calibri"/>
              </a:rPr>
              <a:t> </a:t>
            </a:r>
            <a:r>
              <a:rPr sz="12900" spc="-25" dirty="0">
                <a:solidFill>
                  <a:srgbClr val="014069"/>
                </a:solidFill>
                <a:latin typeface="Calibri"/>
                <a:cs typeface="Calibri"/>
              </a:rPr>
              <a:t>You</a:t>
            </a:r>
            <a:endParaRPr sz="12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19200" y="800100"/>
            <a:ext cx="606425" cy="455295"/>
            <a:chOff x="1219200" y="800100"/>
            <a:chExt cx="606425" cy="455295"/>
          </a:xfrm>
        </p:grpSpPr>
        <p:sp>
          <p:nvSpPr>
            <p:cNvPr id="4" name="object 4"/>
            <p:cNvSpPr/>
            <p:nvPr/>
          </p:nvSpPr>
          <p:spPr>
            <a:xfrm>
              <a:off x="1329817" y="800100"/>
              <a:ext cx="271780" cy="115570"/>
            </a:xfrm>
            <a:custGeom>
              <a:avLst/>
              <a:gdLst/>
              <a:ahLst/>
              <a:cxnLst/>
              <a:rect l="l" t="t" r="r" b="b"/>
              <a:pathLst>
                <a:path w="271780" h="115569">
                  <a:moveTo>
                    <a:pt x="197485" y="0"/>
                  </a:moveTo>
                  <a:lnTo>
                    <a:pt x="179324" y="0"/>
                  </a:lnTo>
                  <a:lnTo>
                    <a:pt x="143764" y="2921"/>
                  </a:lnTo>
                  <a:lnTo>
                    <a:pt x="75692" y="17399"/>
                  </a:lnTo>
                  <a:lnTo>
                    <a:pt x="27813" y="35432"/>
                  </a:lnTo>
                  <a:lnTo>
                    <a:pt x="0" y="51307"/>
                  </a:lnTo>
                  <a:lnTo>
                    <a:pt x="75692" y="115570"/>
                  </a:lnTo>
                  <a:lnTo>
                    <a:pt x="92964" y="106172"/>
                  </a:lnTo>
                  <a:lnTo>
                    <a:pt x="111125" y="98298"/>
                  </a:lnTo>
                  <a:lnTo>
                    <a:pt x="130429" y="92455"/>
                  </a:lnTo>
                  <a:lnTo>
                    <a:pt x="150495" y="88900"/>
                  </a:lnTo>
                  <a:lnTo>
                    <a:pt x="171577" y="85978"/>
                  </a:lnTo>
                  <a:lnTo>
                    <a:pt x="192659" y="85217"/>
                  </a:lnTo>
                  <a:lnTo>
                    <a:pt x="238677" y="85217"/>
                  </a:lnTo>
                  <a:lnTo>
                    <a:pt x="271272" y="8000"/>
                  </a:lnTo>
                  <a:lnTo>
                    <a:pt x="253111" y="4318"/>
                  </a:lnTo>
                  <a:lnTo>
                    <a:pt x="233934" y="2158"/>
                  </a:lnTo>
                  <a:lnTo>
                    <a:pt x="216662" y="1397"/>
                  </a:lnTo>
                  <a:lnTo>
                    <a:pt x="197485" y="0"/>
                  </a:lnTo>
                  <a:close/>
                </a:path>
                <a:path w="271780" h="115569">
                  <a:moveTo>
                    <a:pt x="238677" y="85217"/>
                  </a:moveTo>
                  <a:lnTo>
                    <a:pt x="192659" y="85217"/>
                  </a:lnTo>
                  <a:lnTo>
                    <a:pt x="213741" y="86741"/>
                  </a:lnTo>
                  <a:lnTo>
                    <a:pt x="236855" y="89534"/>
                  </a:lnTo>
                  <a:lnTo>
                    <a:pt x="238677" y="85217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61413" y="991107"/>
              <a:ext cx="164465" cy="198755"/>
            </a:xfrm>
            <a:custGeom>
              <a:avLst/>
              <a:gdLst/>
              <a:ahLst/>
              <a:cxnLst/>
              <a:rect l="l" t="t" r="r" b="b"/>
              <a:pathLst>
                <a:path w="164464" h="198755">
                  <a:moveTo>
                    <a:pt x="161290" y="0"/>
                  </a:moveTo>
                  <a:lnTo>
                    <a:pt x="49656" y="18669"/>
                  </a:lnTo>
                  <a:lnTo>
                    <a:pt x="51562" y="33782"/>
                  </a:lnTo>
                  <a:lnTo>
                    <a:pt x="51562" y="49657"/>
                  </a:lnTo>
                  <a:lnTo>
                    <a:pt x="34417" y="96393"/>
                  </a:lnTo>
                  <a:lnTo>
                    <a:pt x="0" y="135127"/>
                  </a:lnTo>
                  <a:lnTo>
                    <a:pt x="75437" y="198500"/>
                  </a:lnTo>
                  <a:lnTo>
                    <a:pt x="109855" y="168275"/>
                  </a:lnTo>
                  <a:lnTo>
                    <a:pt x="136525" y="132969"/>
                  </a:lnTo>
                  <a:lnTo>
                    <a:pt x="155575" y="94234"/>
                  </a:lnTo>
                  <a:lnTo>
                    <a:pt x="158496" y="80518"/>
                  </a:lnTo>
                  <a:lnTo>
                    <a:pt x="162306" y="66801"/>
                  </a:lnTo>
                  <a:lnTo>
                    <a:pt x="164211" y="53848"/>
                  </a:lnTo>
                  <a:lnTo>
                    <a:pt x="164211" y="27305"/>
                  </a:lnTo>
                  <a:lnTo>
                    <a:pt x="163194" y="13589"/>
                  </a:lnTo>
                  <a:lnTo>
                    <a:pt x="16129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865377"/>
              <a:ext cx="231140" cy="3745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94484" y="815213"/>
              <a:ext cx="221615" cy="173355"/>
            </a:xfrm>
            <a:custGeom>
              <a:avLst/>
              <a:gdLst/>
              <a:ahLst/>
              <a:cxnLst/>
              <a:rect l="l" t="t" r="r" b="b"/>
              <a:pathLst>
                <a:path w="221614" h="173355">
                  <a:moveTo>
                    <a:pt x="34544" y="0"/>
                  </a:moveTo>
                  <a:lnTo>
                    <a:pt x="0" y="80898"/>
                  </a:lnTo>
                  <a:lnTo>
                    <a:pt x="19177" y="88137"/>
                  </a:lnTo>
                  <a:lnTo>
                    <a:pt x="37465" y="96773"/>
                  </a:lnTo>
                  <a:lnTo>
                    <a:pt x="69215" y="118490"/>
                  </a:lnTo>
                  <a:lnTo>
                    <a:pt x="101853" y="158114"/>
                  </a:lnTo>
                  <a:lnTo>
                    <a:pt x="108584" y="173354"/>
                  </a:lnTo>
                  <a:lnTo>
                    <a:pt x="221107" y="154558"/>
                  </a:lnTo>
                  <a:lnTo>
                    <a:pt x="202819" y="116966"/>
                  </a:lnTo>
                  <a:lnTo>
                    <a:pt x="175895" y="82295"/>
                  </a:lnTo>
                  <a:lnTo>
                    <a:pt x="166242" y="71500"/>
                  </a:lnTo>
                  <a:lnTo>
                    <a:pt x="153797" y="61340"/>
                  </a:lnTo>
                  <a:lnTo>
                    <a:pt x="141351" y="51307"/>
                  </a:lnTo>
                  <a:lnTo>
                    <a:pt x="128778" y="41909"/>
                  </a:lnTo>
                  <a:lnTo>
                    <a:pt x="114427" y="33908"/>
                  </a:lnTo>
                  <a:lnTo>
                    <a:pt x="99948" y="25272"/>
                  </a:lnTo>
                  <a:lnTo>
                    <a:pt x="69215" y="10794"/>
                  </a:lnTo>
                  <a:lnTo>
                    <a:pt x="51942" y="5079"/>
                  </a:lnTo>
                  <a:lnTo>
                    <a:pt x="34544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43736" y="1139316"/>
              <a:ext cx="271780" cy="115570"/>
            </a:xfrm>
            <a:custGeom>
              <a:avLst/>
              <a:gdLst/>
              <a:ahLst/>
              <a:cxnLst/>
              <a:rect l="l" t="t" r="r" b="b"/>
              <a:pathLst>
                <a:path w="271780" h="115569">
                  <a:moveTo>
                    <a:pt x="35432" y="26161"/>
                  </a:moveTo>
                  <a:lnTo>
                    <a:pt x="0" y="107568"/>
                  </a:lnTo>
                  <a:lnTo>
                    <a:pt x="18160" y="111251"/>
                  </a:lnTo>
                  <a:lnTo>
                    <a:pt x="36321" y="113410"/>
                  </a:lnTo>
                  <a:lnTo>
                    <a:pt x="54609" y="114934"/>
                  </a:lnTo>
                  <a:lnTo>
                    <a:pt x="72770" y="115569"/>
                  </a:lnTo>
                  <a:lnTo>
                    <a:pt x="91947" y="115569"/>
                  </a:lnTo>
                  <a:lnTo>
                    <a:pt x="109219" y="114934"/>
                  </a:lnTo>
                  <a:lnTo>
                    <a:pt x="143763" y="110489"/>
                  </a:lnTo>
                  <a:lnTo>
                    <a:pt x="162051" y="106933"/>
                  </a:lnTo>
                  <a:lnTo>
                    <a:pt x="178307" y="102488"/>
                  </a:lnTo>
                  <a:lnTo>
                    <a:pt x="195580" y="98932"/>
                  </a:lnTo>
                  <a:lnTo>
                    <a:pt x="210946" y="92328"/>
                  </a:lnTo>
                  <a:lnTo>
                    <a:pt x="228219" y="86486"/>
                  </a:lnTo>
                  <a:lnTo>
                    <a:pt x="242569" y="80009"/>
                  </a:lnTo>
                  <a:lnTo>
                    <a:pt x="271271" y="64007"/>
                  </a:lnTo>
                  <a:lnTo>
                    <a:pt x="230872" y="29844"/>
                  </a:lnTo>
                  <a:lnTo>
                    <a:pt x="78612" y="29844"/>
                  </a:lnTo>
                  <a:lnTo>
                    <a:pt x="56514" y="28321"/>
                  </a:lnTo>
                  <a:lnTo>
                    <a:pt x="35432" y="26161"/>
                  </a:lnTo>
                  <a:close/>
                </a:path>
                <a:path w="271780" h="115569">
                  <a:moveTo>
                    <a:pt x="195580" y="0"/>
                  </a:moveTo>
                  <a:lnTo>
                    <a:pt x="160147" y="16763"/>
                  </a:lnTo>
                  <a:lnTo>
                    <a:pt x="119760" y="26924"/>
                  </a:lnTo>
                  <a:lnTo>
                    <a:pt x="78612" y="29844"/>
                  </a:lnTo>
                  <a:lnTo>
                    <a:pt x="230872" y="29844"/>
                  </a:lnTo>
                  <a:lnTo>
                    <a:pt x="19558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179800" y="8689213"/>
            <a:ext cx="1333500" cy="1471930"/>
            <a:chOff x="16179800" y="8689213"/>
            <a:chExt cx="1333500" cy="1471930"/>
          </a:xfrm>
        </p:grpSpPr>
        <p:sp>
          <p:nvSpPr>
            <p:cNvPr id="10" name="object 10"/>
            <p:cNvSpPr/>
            <p:nvPr/>
          </p:nvSpPr>
          <p:spPr>
            <a:xfrm>
              <a:off x="17075150" y="8689213"/>
              <a:ext cx="438150" cy="266700"/>
            </a:xfrm>
            <a:custGeom>
              <a:avLst/>
              <a:gdLst/>
              <a:ahLst/>
              <a:cxnLst/>
              <a:rect l="l" t="t" r="r" b="b"/>
              <a:pathLst>
                <a:path w="438150" h="266700">
                  <a:moveTo>
                    <a:pt x="438150" y="0"/>
                  </a:moveTo>
                  <a:lnTo>
                    <a:pt x="370713" y="3555"/>
                  </a:lnTo>
                  <a:lnTo>
                    <a:pt x="245617" y="32384"/>
                  </a:lnTo>
                  <a:lnTo>
                    <a:pt x="187832" y="53974"/>
                  </a:lnTo>
                  <a:lnTo>
                    <a:pt x="134873" y="82803"/>
                  </a:lnTo>
                  <a:lnTo>
                    <a:pt x="38480" y="147700"/>
                  </a:lnTo>
                  <a:lnTo>
                    <a:pt x="0" y="187324"/>
                  </a:lnTo>
                  <a:lnTo>
                    <a:pt x="183007" y="266699"/>
                  </a:lnTo>
                  <a:lnTo>
                    <a:pt x="207009" y="244982"/>
                  </a:lnTo>
                  <a:lnTo>
                    <a:pt x="231140" y="223392"/>
                  </a:lnTo>
                  <a:lnTo>
                    <a:pt x="293751" y="187324"/>
                  </a:lnTo>
                  <a:lnTo>
                    <a:pt x="361061" y="165734"/>
                  </a:lnTo>
                  <a:lnTo>
                    <a:pt x="399669" y="158495"/>
                  </a:lnTo>
                  <a:lnTo>
                    <a:pt x="438150" y="154939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989425" y="8912986"/>
              <a:ext cx="523875" cy="605155"/>
            </a:xfrm>
            <a:custGeom>
              <a:avLst/>
              <a:gdLst/>
              <a:ahLst/>
              <a:cxnLst/>
              <a:rect l="l" t="t" r="r" b="b"/>
              <a:pathLst>
                <a:path w="523875" h="605154">
                  <a:moveTo>
                    <a:pt x="241300" y="79883"/>
                  </a:moveTo>
                  <a:lnTo>
                    <a:pt x="62738" y="0"/>
                  </a:lnTo>
                  <a:lnTo>
                    <a:pt x="33782" y="43561"/>
                  </a:lnTo>
                  <a:lnTo>
                    <a:pt x="14478" y="90805"/>
                  </a:lnTo>
                  <a:lnTo>
                    <a:pt x="4826" y="141541"/>
                  </a:lnTo>
                  <a:lnTo>
                    <a:pt x="0" y="192341"/>
                  </a:lnTo>
                  <a:lnTo>
                    <a:pt x="4826" y="243141"/>
                  </a:lnTo>
                  <a:lnTo>
                    <a:pt x="14478" y="290322"/>
                  </a:lnTo>
                  <a:lnTo>
                    <a:pt x="33782" y="337489"/>
                  </a:lnTo>
                  <a:lnTo>
                    <a:pt x="62738" y="381038"/>
                  </a:lnTo>
                  <a:lnTo>
                    <a:pt x="241300" y="304838"/>
                  </a:lnTo>
                  <a:lnTo>
                    <a:pt x="226822" y="275805"/>
                  </a:lnTo>
                  <a:lnTo>
                    <a:pt x="217170" y="250405"/>
                  </a:lnTo>
                  <a:lnTo>
                    <a:pt x="207518" y="221373"/>
                  </a:lnTo>
                  <a:lnTo>
                    <a:pt x="207518" y="159689"/>
                  </a:lnTo>
                  <a:lnTo>
                    <a:pt x="217170" y="130657"/>
                  </a:lnTo>
                  <a:lnTo>
                    <a:pt x="226822" y="105257"/>
                  </a:lnTo>
                  <a:lnTo>
                    <a:pt x="241300" y="79883"/>
                  </a:lnTo>
                  <a:close/>
                </a:path>
                <a:path w="523875" h="605154">
                  <a:moveTo>
                    <a:pt x="523875" y="448513"/>
                  </a:moveTo>
                  <a:lnTo>
                    <a:pt x="485394" y="444881"/>
                  </a:lnTo>
                  <a:lnTo>
                    <a:pt x="446786" y="437603"/>
                  </a:lnTo>
                  <a:lnTo>
                    <a:pt x="379476" y="415785"/>
                  </a:lnTo>
                  <a:lnTo>
                    <a:pt x="345694" y="397598"/>
                  </a:lnTo>
                  <a:lnTo>
                    <a:pt x="292735" y="361238"/>
                  </a:lnTo>
                  <a:lnTo>
                    <a:pt x="268732" y="335788"/>
                  </a:lnTo>
                  <a:lnTo>
                    <a:pt x="85725" y="415785"/>
                  </a:lnTo>
                  <a:lnTo>
                    <a:pt x="124206" y="455777"/>
                  </a:lnTo>
                  <a:lnTo>
                    <a:pt x="220599" y="521233"/>
                  </a:lnTo>
                  <a:lnTo>
                    <a:pt x="273558" y="550329"/>
                  </a:lnTo>
                  <a:lnTo>
                    <a:pt x="331343" y="572147"/>
                  </a:lnTo>
                  <a:lnTo>
                    <a:pt x="456438" y="601230"/>
                  </a:lnTo>
                  <a:lnTo>
                    <a:pt x="523875" y="604875"/>
                  </a:lnTo>
                  <a:lnTo>
                    <a:pt x="523875" y="448513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430625" y="9332125"/>
              <a:ext cx="495300" cy="207645"/>
            </a:xfrm>
            <a:custGeom>
              <a:avLst/>
              <a:gdLst/>
              <a:ahLst/>
              <a:cxnLst/>
              <a:rect l="l" t="t" r="r" b="b"/>
              <a:pathLst>
                <a:path w="495300" h="207645">
                  <a:moveTo>
                    <a:pt x="360680" y="0"/>
                  </a:moveTo>
                  <a:lnTo>
                    <a:pt x="298196" y="0"/>
                  </a:lnTo>
                  <a:lnTo>
                    <a:pt x="230759" y="7264"/>
                  </a:lnTo>
                  <a:lnTo>
                    <a:pt x="168275" y="21805"/>
                  </a:lnTo>
                  <a:lnTo>
                    <a:pt x="110617" y="39979"/>
                  </a:lnTo>
                  <a:lnTo>
                    <a:pt x="52959" y="65417"/>
                  </a:lnTo>
                  <a:lnTo>
                    <a:pt x="0" y="90855"/>
                  </a:lnTo>
                  <a:lnTo>
                    <a:pt x="139446" y="207162"/>
                  </a:lnTo>
                  <a:lnTo>
                    <a:pt x="206755" y="178092"/>
                  </a:lnTo>
                  <a:lnTo>
                    <a:pt x="240411" y="167182"/>
                  </a:lnTo>
                  <a:lnTo>
                    <a:pt x="278892" y="159918"/>
                  </a:lnTo>
                  <a:lnTo>
                    <a:pt x="312546" y="156273"/>
                  </a:lnTo>
                  <a:lnTo>
                    <a:pt x="351028" y="152641"/>
                  </a:lnTo>
                  <a:lnTo>
                    <a:pt x="435943" y="152641"/>
                  </a:lnTo>
                  <a:lnTo>
                    <a:pt x="495300" y="14528"/>
                  </a:lnTo>
                  <a:lnTo>
                    <a:pt x="427990" y="3632"/>
                  </a:lnTo>
                  <a:lnTo>
                    <a:pt x="360680" y="0"/>
                  </a:lnTo>
                  <a:close/>
                </a:path>
                <a:path w="495300" h="207645">
                  <a:moveTo>
                    <a:pt x="435943" y="152641"/>
                  </a:moveTo>
                  <a:lnTo>
                    <a:pt x="351028" y="152641"/>
                  </a:lnTo>
                  <a:lnTo>
                    <a:pt x="394334" y="156273"/>
                  </a:lnTo>
                  <a:lnTo>
                    <a:pt x="432815" y="159918"/>
                  </a:lnTo>
                  <a:lnTo>
                    <a:pt x="435943" y="1526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227425" y="9451187"/>
              <a:ext cx="1108075" cy="683895"/>
            </a:xfrm>
            <a:custGeom>
              <a:avLst/>
              <a:gdLst/>
              <a:ahLst/>
              <a:cxnLst/>
              <a:rect l="l" t="t" r="r" b="b"/>
              <a:pathLst>
                <a:path w="1108075" h="683895">
                  <a:moveTo>
                    <a:pt x="304800" y="115824"/>
                  </a:moveTo>
                  <a:lnTo>
                    <a:pt x="164465" y="0"/>
                  </a:lnTo>
                  <a:lnTo>
                    <a:pt x="120904" y="36195"/>
                  </a:lnTo>
                  <a:lnTo>
                    <a:pt x="82296" y="76009"/>
                  </a:lnTo>
                  <a:lnTo>
                    <a:pt x="53213" y="119443"/>
                  </a:lnTo>
                  <a:lnTo>
                    <a:pt x="29083" y="166497"/>
                  </a:lnTo>
                  <a:lnTo>
                    <a:pt x="9652" y="213550"/>
                  </a:lnTo>
                  <a:lnTo>
                    <a:pt x="0" y="264223"/>
                  </a:lnTo>
                  <a:lnTo>
                    <a:pt x="0" y="314896"/>
                  </a:lnTo>
                  <a:lnTo>
                    <a:pt x="9652" y="361950"/>
                  </a:lnTo>
                  <a:lnTo>
                    <a:pt x="212852" y="329374"/>
                  </a:lnTo>
                  <a:lnTo>
                    <a:pt x="208026" y="300418"/>
                  </a:lnTo>
                  <a:lnTo>
                    <a:pt x="208026" y="271462"/>
                  </a:lnTo>
                  <a:lnTo>
                    <a:pt x="212852" y="242506"/>
                  </a:lnTo>
                  <a:lnTo>
                    <a:pt x="222504" y="213550"/>
                  </a:lnTo>
                  <a:lnTo>
                    <a:pt x="237109" y="188214"/>
                  </a:lnTo>
                  <a:lnTo>
                    <a:pt x="256413" y="159258"/>
                  </a:lnTo>
                  <a:lnTo>
                    <a:pt x="304800" y="115824"/>
                  </a:lnTo>
                  <a:close/>
                </a:path>
                <a:path w="1108075" h="683895">
                  <a:moveTo>
                    <a:pt x="419100" y="535279"/>
                  </a:moveTo>
                  <a:lnTo>
                    <a:pt x="351663" y="506374"/>
                  </a:lnTo>
                  <a:lnTo>
                    <a:pt x="293751" y="466636"/>
                  </a:lnTo>
                  <a:lnTo>
                    <a:pt x="250444" y="419671"/>
                  </a:lnTo>
                  <a:lnTo>
                    <a:pt x="221488" y="369087"/>
                  </a:lnTo>
                  <a:lnTo>
                    <a:pt x="19050" y="401599"/>
                  </a:lnTo>
                  <a:lnTo>
                    <a:pt x="38354" y="448576"/>
                  </a:lnTo>
                  <a:lnTo>
                    <a:pt x="67310" y="491921"/>
                  </a:lnTo>
                  <a:lnTo>
                    <a:pt x="100965" y="531672"/>
                  </a:lnTo>
                  <a:lnTo>
                    <a:pt x="139573" y="571411"/>
                  </a:lnTo>
                  <a:lnTo>
                    <a:pt x="235966" y="636447"/>
                  </a:lnTo>
                  <a:lnTo>
                    <a:pt x="293751" y="661733"/>
                  </a:lnTo>
                  <a:lnTo>
                    <a:pt x="356489" y="683412"/>
                  </a:lnTo>
                  <a:lnTo>
                    <a:pt x="419100" y="535279"/>
                  </a:lnTo>
                  <a:close/>
                </a:path>
                <a:path w="1108075" h="683895">
                  <a:moveTo>
                    <a:pt x="1108075" y="275653"/>
                  </a:moveTo>
                  <a:lnTo>
                    <a:pt x="1098550" y="228600"/>
                  </a:lnTo>
                  <a:lnTo>
                    <a:pt x="897382" y="261175"/>
                  </a:lnTo>
                  <a:lnTo>
                    <a:pt x="902208" y="290131"/>
                  </a:lnTo>
                  <a:lnTo>
                    <a:pt x="902208" y="319087"/>
                  </a:lnTo>
                  <a:lnTo>
                    <a:pt x="883031" y="376999"/>
                  </a:lnTo>
                  <a:lnTo>
                    <a:pt x="854329" y="427672"/>
                  </a:lnTo>
                  <a:lnTo>
                    <a:pt x="806450" y="474726"/>
                  </a:lnTo>
                  <a:lnTo>
                    <a:pt x="945261" y="590550"/>
                  </a:lnTo>
                  <a:lnTo>
                    <a:pt x="988441" y="554355"/>
                  </a:lnTo>
                  <a:lnTo>
                    <a:pt x="1026668" y="514540"/>
                  </a:lnTo>
                  <a:lnTo>
                    <a:pt x="1055370" y="471106"/>
                  </a:lnTo>
                  <a:lnTo>
                    <a:pt x="1079373" y="424065"/>
                  </a:lnTo>
                  <a:lnTo>
                    <a:pt x="1098550" y="373380"/>
                  </a:lnTo>
                  <a:lnTo>
                    <a:pt x="1108075" y="326326"/>
                  </a:lnTo>
                  <a:lnTo>
                    <a:pt x="1108075" y="275653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913225" y="9358312"/>
              <a:ext cx="403225" cy="314325"/>
            </a:xfrm>
            <a:custGeom>
              <a:avLst/>
              <a:gdLst/>
              <a:ahLst/>
              <a:cxnLst/>
              <a:rect l="l" t="t" r="r" b="b"/>
              <a:pathLst>
                <a:path w="403225" h="314325">
                  <a:moveTo>
                    <a:pt x="67182" y="0"/>
                  </a:moveTo>
                  <a:lnTo>
                    <a:pt x="0" y="148132"/>
                  </a:lnTo>
                  <a:lnTo>
                    <a:pt x="38353" y="162585"/>
                  </a:lnTo>
                  <a:lnTo>
                    <a:pt x="72009" y="177037"/>
                  </a:lnTo>
                  <a:lnTo>
                    <a:pt x="129667" y="216776"/>
                  </a:lnTo>
                  <a:lnTo>
                    <a:pt x="172846" y="260134"/>
                  </a:lnTo>
                  <a:lnTo>
                    <a:pt x="187198" y="289039"/>
                  </a:lnTo>
                  <a:lnTo>
                    <a:pt x="201676" y="314325"/>
                  </a:lnTo>
                  <a:lnTo>
                    <a:pt x="403225" y="281813"/>
                  </a:lnTo>
                  <a:lnTo>
                    <a:pt x="384048" y="234835"/>
                  </a:lnTo>
                  <a:lnTo>
                    <a:pt x="355219" y="191490"/>
                  </a:lnTo>
                  <a:lnTo>
                    <a:pt x="321563" y="151739"/>
                  </a:lnTo>
                  <a:lnTo>
                    <a:pt x="283209" y="112001"/>
                  </a:lnTo>
                  <a:lnTo>
                    <a:pt x="235203" y="79489"/>
                  </a:lnTo>
                  <a:lnTo>
                    <a:pt x="182371" y="46964"/>
                  </a:lnTo>
                  <a:lnTo>
                    <a:pt x="129667" y="21678"/>
                  </a:lnTo>
                  <a:lnTo>
                    <a:pt x="671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179800" y="8732011"/>
              <a:ext cx="952500" cy="1429385"/>
            </a:xfrm>
            <a:custGeom>
              <a:avLst/>
              <a:gdLst/>
              <a:ahLst/>
              <a:cxnLst/>
              <a:rect l="l" t="t" r="r" b="b"/>
              <a:pathLst>
                <a:path w="952500" h="1429384">
                  <a:moveTo>
                    <a:pt x="212725" y="240030"/>
                  </a:moveTo>
                  <a:lnTo>
                    <a:pt x="43561" y="164338"/>
                  </a:lnTo>
                  <a:lnTo>
                    <a:pt x="24130" y="193167"/>
                  </a:lnTo>
                  <a:lnTo>
                    <a:pt x="9652" y="225679"/>
                  </a:lnTo>
                  <a:lnTo>
                    <a:pt x="4826" y="261620"/>
                  </a:lnTo>
                  <a:lnTo>
                    <a:pt x="0" y="294119"/>
                  </a:lnTo>
                  <a:lnTo>
                    <a:pt x="4826" y="330161"/>
                  </a:lnTo>
                  <a:lnTo>
                    <a:pt x="9652" y="362610"/>
                  </a:lnTo>
                  <a:lnTo>
                    <a:pt x="24130" y="395058"/>
                  </a:lnTo>
                  <a:lnTo>
                    <a:pt x="43561" y="423887"/>
                  </a:lnTo>
                  <a:lnTo>
                    <a:pt x="212725" y="351790"/>
                  </a:lnTo>
                  <a:lnTo>
                    <a:pt x="203073" y="322961"/>
                  </a:lnTo>
                  <a:lnTo>
                    <a:pt x="198247" y="294119"/>
                  </a:lnTo>
                  <a:lnTo>
                    <a:pt x="203073" y="265303"/>
                  </a:lnTo>
                  <a:lnTo>
                    <a:pt x="212725" y="240030"/>
                  </a:lnTo>
                  <a:close/>
                </a:path>
                <a:path w="952500" h="1429384">
                  <a:moveTo>
                    <a:pt x="365125" y="438518"/>
                  </a:moveTo>
                  <a:lnTo>
                    <a:pt x="326644" y="431330"/>
                  </a:lnTo>
                  <a:lnTo>
                    <a:pt x="292862" y="420547"/>
                  </a:lnTo>
                  <a:lnTo>
                    <a:pt x="264033" y="402590"/>
                  </a:lnTo>
                  <a:lnTo>
                    <a:pt x="235204" y="381038"/>
                  </a:lnTo>
                  <a:lnTo>
                    <a:pt x="66675" y="456476"/>
                  </a:lnTo>
                  <a:lnTo>
                    <a:pt x="119634" y="506780"/>
                  </a:lnTo>
                  <a:lnTo>
                    <a:pt x="153289" y="528332"/>
                  </a:lnTo>
                  <a:lnTo>
                    <a:pt x="191770" y="546303"/>
                  </a:lnTo>
                  <a:lnTo>
                    <a:pt x="230378" y="560666"/>
                  </a:lnTo>
                  <a:lnTo>
                    <a:pt x="273685" y="575043"/>
                  </a:lnTo>
                  <a:lnTo>
                    <a:pt x="316992" y="582231"/>
                  </a:lnTo>
                  <a:lnTo>
                    <a:pt x="365125" y="585825"/>
                  </a:lnTo>
                  <a:lnTo>
                    <a:pt x="365125" y="438518"/>
                  </a:lnTo>
                  <a:close/>
                </a:path>
                <a:path w="952500" h="1429384">
                  <a:moveTo>
                    <a:pt x="365125" y="0"/>
                  </a:moveTo>
                  <a:lnTo>
                    <a:pt x="316992" y="3683"/>
                  </a:lnTo>
                  <a:lnTo>
                    <a:pt x="230378" y="25527"/>
                  </a:lnTo>
                  <a:lnTo>
                    <a:pt x="191770" y="40005"/>
                  </a:lnTo>
                  <a:lnTo>
                    <a:pt x="153289" y="58166"/>
                  </a:lnTo>
                  <a:lnTo>
                    <a:pt x="119634" y="80010"/>
                  </a:lnTo>
                  <a:lnTo>
                    <a:pt x="90805" y="105410"/>
                  </a:lnTo>
                  <a:lnTo>
                    <a:pt x="66675" y="130937"/>
                  </a:lnTo>
                  <a:lnTo>
                    <a:pt x="235204" y="207264"/>
                  </a:lnTo>
                  <a:lnTo>
                    <a:pt x="264033" y="185420"/>
                  </a:lnTo>
                  <a:lnTo>
                    <a:pt x="292862" y="167259"/>
                  </a:lnTo>
                  <a:lnTo>
                    <a:pt x="326644" y="156337"/>
                  </a:lnTo>
                  <a:lnTo>
                    <a:pt x="365125" y="149098"/>
                  </a:lnTo>
                  <a:lnTo>
                    <a:pt x="365125" y="0"/>
                  </a:lnTo>
                  <a:close/>
                </a:path>
                <a:path w="952500" h="1429384">
                  <a:moveTo>
                    <a:pt x="952500" y="1334846"/>
                  </a:moveTo>
                  <a:lnTo>
                    <a:pt x="878408" y="1273429"/>
                  </a:lnTo>
                  <a:lnTo>
                    <a:pt x="813054" y="1219238"/>
                  </a:lnTo>
                  <a:lnTo>
                    <a:pt x="779399" y="1237297"/>
                  </a:lnTo>
                  <a:lnTo>
                    <a:pt x="745744" y="1251750"/>
                  </a:lnTo>
                  <a:lnTo>
                    <a:pt x="712089" y="1262583"/>
                  </a:lnTo>
                  <a:lnTo>
                    <a:pt x="673608" y="1269809"/>
                  </a:lnTo>
                  <a:lnTo>
                    <a:pt x="635127" y="1273429"/>
                  </a:lnTo>
                  <a:lnTo>
                    <a:pt x="558165" y="1273429"/>
                  </a:lnTo>
                  <a:lnTo>
                    <a:pt x="519684" y="1266202"/>
                  </a:lnTo>
                  <a:lnTo>
                    <a:pt x="457200" y="1414335"/>
                  </a:lnTo>
                  <a:lnTo>
                    <a:pt x="524510" y="1425168"/>
                  </a:lnTo>
                  <a:lnTo>
                    <a:pt x="591820" y="1428788"/>
                  </a:lnTo>
                  <a:lnTo>
                    <a:pt x="654304" y="1428788"/>
                  </a:lnTo>
                  <a:lnTo>
                    <a:pt x="721741" y="1421561"/>
                  </a:lnTo>
                  <a:lnTo>
                    <a:pt x="784225" y="1407109"/>
                  </a:lnTo>
                  <a:lnTo>
                    <a:pt x="841883" y="1389037"/>
                  </a:lnTo>
                  <a:lnTo>
                    <a:pt x="899668" y="1363751"/>
                  </a:lnTo>
                  <a:lnTo>
                    <a:pt x="952500" y="133484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595725" y="8896349"/>
              <a:ext cx="365125" cy="421640"/>
            </a:xfrm>
            <a:custGeom>
              <a:avLst/>
              <a:gdLst/>
              <a:ahLst/>
              <a:cxnLst/>
              <a:rect l="l" t="t" r="r" b="b"/>
              <a:pathLst>
                <a:path w="365125" h="421640">
                  <a:moveTo>
                    <a:pt x="301625" y="292138"/>
                  </a:moveTo>
                  <a:lnTo>
                    <a:pt x="129286" y="216700"/>
                  </a:lnTo>
                  <a:lnTo>
                    <a:pt x="105283" y="238252"/>
                  </a:lnTo>
                  <a:lnTo>
                    <a:pt x="71755" y="256209"/>
                  </a:lnTo>
                  <a:lnTo>
                    <a:pt x="38354" y="266992"/>
                  </a:lnTo>
                  <a:lnTo>
                    <a:pt x="0" y="274180"/>
                  </a:lnTo>
                  <a:lnTo>
                    <a:pt x="0" y="421487"/>
                  </a:lnTo>
                  <a:lnTo>
                    <a:pt x="47879" y="417893"/>
                  </a:lnTo>
                  <a:lnTo>
                    <a:pt x="90932" y="410705"/>
                  </a:lnTo>
                  <a:lnTo>
                    <a:pt x="134112" y="396328"/>
                  </a:lnTo>
                  <a:lnTo>
                    <a:pt x="172339" y="381965"/>
                  </a:lnTo>
                  <a:lnTo>
                    <a:pt x="210693" y="363994"/>
                  </a:lnTo>
                  <a:lnTo>
                    <a:pt x="244221" y="342442"/>
                  </a:lnTo>
                  <a:lnTo>
                    <a:pt x="301625" y="292138"/>
                  </a:lnTo>
                  <a:close/>
                </a:path>
                <a:path w="365125" h="421640">
                  <a:moveTo>
                    <a:pt x="365125" y="97282"/>
                  </a:moveTo>
                  <a:lnTo>
                    <a:pt x="355473" y="61341"/>
                  </a:lnTo>
                  <a:lnTo>
                    <a:pt x="340995" y="28829"/>
                  </a:lnTo>
                  <a:lnTo>
                    <a:pt x="326390" y="0"/>
                  </a:lnTo>
                  <a:lnTo>
                    <a:pt x="152400" y="75692"/>
                  </a:lnTo>
                  <a:lnTo>
                    <a:pt x="166878" y="100965"/>
                  </a:lnTo>
                  <a:lnTo>
                    <a:pt x="166878" y="158623"/>
                  </a:lnTo>
                  <a:lnTo>
                    <a:pt x="152400" y="187452"/>
                  </a:lnTo>
                  <a:lnTo>
                    <a:pt x="326390" y="259549"/>
                  </a:lnTo>
                  <a:lnTo>
                    <a:pt x="340995" y="230720"/>
                  </a:lnTo>
                  <a:lnTo>
                    <a:pt x="355473" y="198272"/>
                  </a:lnTo>
                  <a:lnTo>
                    <a:pt x="365125" y="165823"/>
                  </a:lnTo>
                  <a:lnTo>
                    <a:pt x="365125" y="97282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595725" y="8732012"/>
              <a:ext cx="301625" cy="207645"/>
            </a:xfrm>
            <a:custGeom>
              <a:avLst/>
              <a:gdLst/>
              <a:ahLst/>
              <a:cxnLst/>
              <a:rect l="l" t="t" r="r" b="b"/>
              <a:pathLst>
                <a:path w="301625" h="207645">
                  <a:moveTo>
                    <a:pt x="0" y="0"/>
                  </a:moveTo>
                  <a:lnTo>
                    <a:pt x="0" y="149098"/>
                  </a:lnTo>
                  <a:lnTo>
                    <a:pt x="38353" y="156337"/>
                  </a:lnTo>
                  <a:lnTo>
                    <a:pt x="71755" y="167259"/>
                  </a:lnTo>
                  <a:lnTo>
                    <a:pt x="105282" y="185420"/>
                  </a:lnTo>
                  <a:lnTo>
                    <a:pt x="129286" y="207264"/>
                  </a:lnTo>
                  <a:lnTo>
                    <a:pt x="301625" y="130937"/>
                  </a:lnTo>
                  <a:lnTo>
                    <a:pt x="244221" y="80010"/>
                  </a:lnTo>
                  <a:lnTo>
                    <a:pt x="210692" y="58166"/>
                  </a:lnTo>
                  <a:lnTo>
                    <a:pt x="172338" y="40005"/>
                  </a:lnTo>
                  <a:lnTo>
                    <a:pt x="134111" y="25527"/>
                  </a:lnTo>
                  <a:lnTo>
                    <a:pt x="47878" y="3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17573626" y="8689213"/>
            <a:ext cx="523875" cy="828675"/>
          </a:xfrm>
          <a:custGeom>
            <a:avLst/>
            <a:gdLst/>
            <a:ahLst/>
            <a:cxnLst/>
            <a:rect l="l" t="t" r="r" b="b"/>
            <a:pathLst>
              <a:path w="523875" h="828675">
                <a:moveTo>
                  <a:pt x="438150" y="639559"/>
                </a:moveTo>
                <a:lnTo>
                  <a:pt x="255143" y="559562"/>
                </a:lnTo>
                <a:lnTo>
                  <a:pt x="235966" y="585012"/>
                </a:lnTo>
                <a:lnTo>
                  <a:pt x="178181" y="621372"/>
                </a:lnTo>
                <a:lnTo>
                  <a:pt x="144399" y="639559"/>
                </a:lnTo>
                <a:lnTo>
                  <a:pt x="77089" y="661377"/>
                </a:lnTo>
                <a:lnTo>
                  <a:pt x="38481" y="668655"/>
                </a:lnTo>
                <a:lnTo>
                  <a:pt x="0" y="672287"/>
                </a:lnTo>
                <a:lnTo>
                  <a:pt x="0" y="828649"/>
                </a:lnTo>
                <a:lnTo>
                  <a:pt x="67437" y="825004"/>
                </a:lnTo>
                <a:lnTo>
                  <a:pt x="192532" y="795921"/>
                </a:lnTo>
                <a:lnTo>
                  <a:pt x="250317" y="774103"/>
                </a:lnTo>
                <a:lnTo>
                  <a:pt x="303276" y="745007"/>
                </a:lnTo>
                <a:lnTo>
                  <a:pt x="356235" y="712279"/>
                </a:lnTo>
                <a:lnTo>
                  <a:pt x="399669" y="679551"/>
                </a:lnTo>
                <a:lnTo>
                  <a:pt x="438150" y="639559"/>
                </a:lnTo>
                <a:close/>
              </a:path>
              <a:path w="523875" h="828675">
                <a:moveTo>
                  <a:pt x="438150" y="187325"/>
                </a:moveTo>
                <a:lnTo>
                  <a:pt x="399669" y="147701"/>
                </a:lnTo>
                <a:lnTo>
                  <a:pt x="356235" y="115316"/>
                </a:lnTo>
                <a:lnTo>
                  <a:pt x="303276" y="82804"/>
                </a:lnTo>
                <a:lnTo>
                  <a:pt x="250317" y="53975"/>
                </a:lnTo>
                <a:lnTo>
                  <a:pt x="192532" y="32385"/>
                </a:lnTo>
                <a:lnTo>
                  <a:pt x="67437" y="3556"/>
                </a:lnTo>
                <a:lnTo>
                  <a:pt x="0" y="0"/>
                </a:lnTo>
                <a:lnTo>
                  <a:pt x="0" y="154940"/>
                </a:lnTo>
                <a:lnTo>
                  <a:pt x="38481" y="158496"/>
                </a:lnTo>
                <a:lnTo>
                  <a:pt x="77089" y="165735"/>
                </a:lnTo>
                <a:lnTo>
                  <a:pt x="144399" y="187325"/>
                </a:lnTo>
                <a:lnTo>
                  <a:pt x="178181" y="205359"/>
                </a:lnTo>
                <a:lnTo>
                  <a:pt x="235966" y="244983"/>
                </a:lnTo>
                <a:lnTo>
                  <a:pt x="255143" y="266700"/>
                </a:lnTo>
                <a:lnTo>
                  <a:pt x="438150" y="187325"/>
                </a:lnTo>
                <a:close/>
              </a:path>
              <a:path w="523875" h="828675">
                <a:moveTo>
                  <a:pt x="523875" y="416115"/>
                </a:moveTo>
                <a:lnTo>
                  <a:pt x="519049" y="365315"/>
                </a:lnTo>
                <a:lnTo>
                  <a:pt x="509397" y="314579"/>
                </a:lnTo>
                <a:lnTo>
                  <a:pt x="490093" y="267335"/>
                </a:lnTo>
                <a:lnTo>
                  <a:pt x="461137" y="223774"/>
                </a:lnTo>
                <a:lnTo>
                  <a:pt x="282575" y="303657"/>
                </a:lnTo>
                <a:lnTo>
                  <a:pt x="297053" y="329031"/>
                </a:lnTo>
                <a:lnTo>
                  <a:pt x="306705" y="354431"/>
                </a:lnTo>
                <a:lnTo>
                  <a:pt x="316357" y="383463"/>
                </a:lnTo>
                <a:lnTo>
                  <a:pt x="316357" y="445147"/>
                </a:lnTo>
                <a:lnTo>
                  <a:pt x="306705" y="474179"/>
                </a:lnTo>
                <a:lnTo>
                  <a:pt x="297053" y="499579"/>
                </a:lnTo>
                <a:lnTo>
                  <a:pt x="282575" y="528612"/>
                </a:lnTo>
                <a:lnTo>
                  <a:pt x="461137" y="604812"/>
                </a:lnTo>
                <a:lnTo>
                  <a:pt x="490093" y="561263"/>
                </a:lnTo>
                <a:lnTo>
                  <a:pt x="509397" y="514096"/>
                </a:lnTo>
                <a:lnTo>
                  <a:pt x="519049" y="466915"/>
                </a:lnTo>
                <a:lnTo>
                  <a:pt x="523875" y="416115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691</Words>
  <Application>Microsoft Office PowerPoint</Application>
  <PresentationFormat>Custom</PresentationFormat>
  <Paragraphs>141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 MT</vt:lpstr>
      <vt:lpstr>Calibri</vt:lpstr>
      <vt:lpstr>Microsoft Sans Serif</vt:lpstr>
      <vt:lpstr>Tahoma</vt:lpstr>
      <vt:lpstr>Times New Roman</vt:lpstr>
      <vt:lpstr>Office Theme</vt:lpstr>
      <vt:lpstr>Cyber Security &amp; Digital Forensics CSE - 4207</vt:lpstr>
      <vt:lpstr>Outline</vt:lpstr>
      <vt:lpstr>TyąeG o7 fia(ċcċoSG So7Cwase efia(wase)</vt:lpstr>
      <vt:lpstr>TyąeG o7 fia(ċcċoSG So7Cwase efia(wase)</vt:lpstr>
      <vt:lpstr>TyąeG o7 fia(ċcċoSG So7Cwase efia(wase)</vt:lpstr>
      <vt:lpstr>Tsaą DoosG</vt:lpstr>
      <vt:lpstr>Logċc BombG</vt:lpstr>
      <vt:lpstr>Tsojan HosGeG</vt:lpstr>
      <vt:lpstr>VċsSGeG</vt:lpstr>
      <vt:lpstr>VċsSGeG</vt:lpstr>
      <vt:lpstr>VċsSG SCsScCSse</vt:lpstr>
      <vt:lpstr>VċsSG SCsScCSse</vt:lpstr>
      <vt:lpstr>Types of Viruses</vt:lpstr>
      <vt:lpstr>BooC SecCos VċsSG</vt:lpstr>
      <vt:lpstr>fiacso VċsSGeG</vt:lpstr>
      <vt:lpstr>fiacso VċsSGeG</vt:lpstr>
      <vt:lpstr>RooCkċC</vt:lpstr>
      <vt:lpstr>RooCkċC</vt:lpstr>
      <vt:lpstr>RooCkċC</vt:lpstr>
      <vt:lpstr>RooCkċC</vt:lpstr>
      <vt:lpstr>RooCkċC</vt:lpstr>
      <vt:lpstr>RooCkċC</vt:lpstr>
      <vt:lpstr>WosmG</vt:lpstr>
      <vt:lpstr>Tfte InCesneC Wosm efiossċG Wosm)</vt:lpstr>
      <vt:lpstr>Tfte InCesneC Wosm</vt:lpstr>
      <vt:lpstr>Tfte InCesneC Wosm</vt:lpstr>
      <vt:lpstr>Tfte InCesneC Wosm</vt:lpstr>
      <vt:lpstr>fia(wase PsevenCċon &amp;</vt:lpstr>
      <vt:lpstr>fia(wase PsevenCċon &amp;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tanzir</dc:creator>
  <cp:lastModifiedBy>Home</cp:lastModifiedBy>
  <cp:revision>1</cp:revision>
  <dcterms:created xsi:type="dcterms:W3CDTF">2026-03-02T17:22:05Z</dcterms:created>
  <dcterms:modified xsi:type="dcterms:W3CDTF">2026-03-02T17:25:43Z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2023-10-29T00:00:00Z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2026-03-02T00:00:00Z</vt:filetime>
  </property>
  <property fmtid="{D5CDD505-2E9C-101B-9397-08002B2CF9AE}" pid="5" name="Producer">
    <vt:lpwstr>Microsoft® PowerPoint® 2010</vt:lpwstr>
  </property>
</Properties>
</file>