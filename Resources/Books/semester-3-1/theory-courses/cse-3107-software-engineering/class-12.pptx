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8"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E90B4-8CD3-4264-A56D-F9E04D08AD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0B2B4A-D275-44B7-9B6B-BF36180721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2F0CA4-0383-4303-8BB3-6F4CA7594430}"/>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5" name="Footer Placeholder 4">
            <a:extLst>
              <a:ext uri="{FF2B5EF4-FFF2-40B4-BE49-F238E27FC236}">
                <a16:creationId xmlns:a16="http://schemas.microsoft.com/office/drawing/2014/main" id="{22C55B05-4006-4FD1-94BF-FD2441EFC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9B57F3-22B5-4CE8-AEFC-FEDFE5360DE3}"/>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3839739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818D-57EB-4F8F-9546-2F5644B5F1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71F25D-3BE4-4265-92FF-41D405506A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ED9348-A40D-433A-8409-B6C5DE9C5849}"/>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5" name="Footer Placeholder 4">
            <a:extLst>
              <a:ext uri="{FF2B5EF4-FFF2-40B4-BE49-F238E27FC236}">
                <a16:creationId xmlns:a16="http://schemas.microsoft.com/office/drawing/2014/main" id="{4A5F8962-5C61-4A99-B4DD-7CC87EB1FE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E90022-46ED-4D59-934A-27456B092157}"/>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2754464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FE844-5770-4A9D-BF42-E8CA12CA39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4B27F9-F471-4759-845C-57CF321010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7EA044-BB86-4488-BDBF-A8461D70EFA6}"/>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5" name="Footer Placeholder 4">
            <a:extLst>
              <a:ext uri="{FF2B5EF4-FFF2-40B4-BE49-F238E27FC236}">
                <a16:creationId xmlns:a16="http://schemas.microsoft.com/office/drawing/2014/main" id="{4404E95E-03EC-41B6-840A-08E749CD4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07D65-782E-4B84-8604-AA2C43233BD9}"/>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2148983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CFF26-A172-4927-92B8-5E4746AE89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F6DEE5-FD00-4306-8069-3FD566A10D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DD46B3-1AE0-43E5-B0E9-2C5FA4A041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FB5DC5-2FB1-480F-96F3-6D250158994D}"/>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6" name="Footer Placeholder 5">
            <a:extLst>
              <a:ext uri="{FF2B5EF4-FFF2-40B4-BE49-F238E27FC236}">
                <a16:creationId xmlns:a16="http://schemas.microsoft.com/office/drawing/2014/main" id="{E0F0415F-08FD-4E7A-9A54-8415E1098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85C989-77A8-4188-9725-098E6883DB41}"/>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4116212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C315A-4EF6-4D5B-B23D-7C4AE2EEB6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1C8004-76C9-4945-870F-97FD82225D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F8B39-3A28-42B8-9458-710D442BD1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305AA7-7110-4BC5-BFFF-383840CD1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75B98D-8A95-4D03-8B06-4A3E420D24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013A6-13DB-476E-AF9A-867BA9B9775D}"/>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8" name="Footer Placeholder 7">
            <a:extLst>
              <a:ext uri="{FF2B5EF4-FFF2-40B4-BE49-F238E27FC236}">
                <a16:creationId xmlns:a16="http://schemas.microsoft.com/office/drawing/2014/main" id="{FC1F98C2-C023-442D-97C5-83173FD24D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55DAE3-7AE7-431E-B6D6-8905CFE73EC4}"/>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1628034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E5CD-AB86-441B-A698-72F5BF3B47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F61624-3DD1-4161-9B3D-3FD730B5A139}"/>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4" name="Footer Placeholder 3">
            <a:extLst>
              <a:ext uri="{FF2B5EF4-FFF2-40B4-BE49-F238E27FC236}">
                <a16:creationId xmlns:a16="http://schemas.microsoft.com/office/drawing/2014/main" id="{1DB305B6-FC2E-4263-A5B5-E043E843D1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B565E5-81A3-43E2-9B02-16FB267E0E96}"/>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2194062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488711-FDA8-4A4F-AF3E-8680923CAC78}"/>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3" name="Footer Placeholder 2">
            <a:extLst>
              <a:ext uri="{FF2B5EF4-FFF2-40B4-BE49-F238E27FC236}">
                <a16:creationId xmlns:a16="http://schemas.microsoft.com/office/drawing/2014/main" id="{85B5709E-4616-498E-8F50-F8913E4A59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F6CF76-8903-4A95-802E-DC3546C665D8}"/>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796797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8490-9CCB-4D0C-B4F2-23A789A0A1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A6C993-3467-496B-B4A5-D5BBAD35A5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101206-16F0-45B3-A98E-4811A1CCD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9BE98B-1F4B-4C19-901C-00A37A80215C}"/>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6" name="Footer Placeholder 5">
            <a:extLst>
              <a:ext uri="{FF2B5EF4-FFF2-40B4-BE49-F238E27FC236}">
                <a16:creationId xmlns:a16="http://schemas.microsoft.com/office/drawing/2014/main" id="{056E8734-5854-43CC-BA3D-C0DDA3354D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3C177-6907-47E1-96F6-602D6ACA024C}"/>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2415368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B849C-329E-459F-BE1A-DAF96B850B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4ECFF7-F1D9-44D6-95DC-97B5B4B37C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EC84DF-22B6-4C1D-BC83-D0530D8B2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1A3225-BE43-4FE3-9221-CB939C591456}"/>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6" name="Footer Placeholder 5">
            <a:extLst>
              <a:ext uri="{FF2B5EF4-FFF2-40B4-BE49-F238E27FC236}">
                <a16:creationId xmlns:a16="http://schemas.microsoft.com/office/drawing/2014/main" id="{0869E97D-96CE-40A3-A96E-F4CA7DA307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B69FD-CBD7-422F-9E9C-BC28593A0B97}"/>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736473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9F76-0F9F-4812-B8B8-1CC5704CD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FAA4F0-9AAE-473A-9A74-6265C8D5DC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EAA1B-876F-499C-9AB0-5E2FC3CD7325}"/>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5" name="Footer Placeholder 4">
            <a:extLst>
              <a:ext uri="{FF2B5EF4-FFF2-40B4-BE49-F238E27FC236}">
                <a16:creationId xmlns:a16="http://schemas.microsoft.com/office/drawing/2014/main" id="{B21CC0CD-E93A-455D-AB6F-0954D6AD34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52755-3ACB-4802-BD91-0BB6FB07042F}"/>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18347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18E96-0240-45B7-B4D2-1EBFAF6F42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A3144D-2125-40A6-8CF1-108B2C95A5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5A771-831E-4296-A93E-14D6BF48EC3D}"/>
              </a:ext>
            </a:extLst>
          </p:cNvPr>
          <p:cNvSpPr>
            <a:spLocks noGrp="1"/>
          </p:cNvSpPr>
          <p:nvPr>
            <p:ph type="dt" sz="half" idx="10"/>
          </p:nvPr>
        </p:nvSpPr>
        <p:spPr/>
        <p:txBody>
          <a:bodyPr/>
          <a:lstStyle/>
          <a:p>
            <a:fld id="{100A1487-7D5B-4403-A350-243355A7A71B}" type="datetimeFigureOut">
              <a:rPr lang="en-US" smtClean="0"/>
              <a:t>7/29/2025</a:t>
            </a:fld>
            <a:endParaRPr lang="en-US"/>
          </a:p>
        </p:txBody>
      </p:sp>
      <p:sp>
        <p:nvSpPr>
          <p:cNvPr id="5" name="Footer Placeholder 4">
            <a:extLst>
              <a:ext uri="{FF2B5EF4-FFF2-40B4-BE49-F238E27FC236}">
                <a16:creationId xmlns:a16="http://schemas.microsoft.com/office/drawing/2014/main" id="{52998F8D-D0FE-44CD-8955-0CD29725E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2741E9-E297-45FF-9660-8EA59836155F}"/>
              </a:ext>
            </a:extLst>
          </p:cNvPr>
          <p:cNvSpPr>
            <a:spLocks noGrp="1"/>
          </p:cNvSpPr>
          <p:nvPr>
            <p:ph type="sldNum" sz="quarter" idx="12"/>
          </p:nvPr>
        </p:nvSpPr>
        <p:spPr/>
        <p:txBody>
          <a:bodyPr/>
          <a:lstStyle/>
          <a:p>
            <a:fld id="{D58A0ED3-AA57-4D38-8DFB-700B5AEAC85B}" type="slidenum">
              <a:rPr lang="en-US" smtClean="0"/>
              <a:t>‹#›</a:t>
            </a:fld>
            <a:endParaRPr lang="en-US"/>
          </a:p>
        </p:txBody>
      </p:sp>
    </p:spTree>
    <p:extLst>
      <p:ext uri="{BB962C8B-B14F-4D97-AF65-F5344CB8AC3E}">
        <p14:creationId xmlns:p14="http://schemas.microsoft.com/office/powerpoint/2010/main" val="257210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967E38-2AD0-4AE3-92A1-DDD5EC04AA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425C05-A367-425F-9B09-8EC3555AC3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403E0-C128-4D73-A519-A4B1E5142E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0A1487-7D5B-4403-A350-243355A7A71B}" type="datetimeFigureOut">
              <a:rPr lang="en-US" smtClean="0"/>
              <a:t>7/29/2025</a:t>
            </a:fld>
            <a:endParaRPr lang="en-US"/>
          </a:p>
        </p:txBody>
      </p:sp>
      <p:sp>
        <p:nvSpPr>
          <p:cNvPr id="5" name="Footer Placeholder 4">
            <a:extLst>
              <a:ext uri="{FF2B5EF4-FFF2-40B4-BE49-F238E27FC236}">
                <a16:creationId xmlns:a16="http://schemas.microsoft.com/office/drawing/2014/main" id="{79C9B4D2-D6E1-4335-9CA0-22D2170639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BACC9EE-DFCD-4A9C-B0E5-C206C50582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8A0ED3-AA57-4D38-8DFB-700B5AEAC85B}" type="slidenum">
              <a:rPr lang="en-US" smtClean="0"/>
              <a:t>‹#›</a:t>
            </a:fld>
            <a:endParaRPr lang="en-US"/>
          </a:p>
        </p:txBody>
      </p:sp>
    </p:spTree>
    <p:extLst>
      <p:ext uri="{BB962C8B-B14F-4D97-AF65-F5344CB8AC3E}">
        <p14:creationId xmlns:p14="http://schemas.microsoft.com/office/powerpoint/2010/main" val="2285968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708B8-EC1C-4664-8C9E-6AA766657BD7}"/>
              </a:ext>
            </a:extLst>
          </p:cNvPr>
          <p:cNvSpPr>
            <a:spLocks noGrp="1"/>
          </p:cNvSpPr>
          <p:nvPr>
            <p:ph type="ctrTitle"/>
          </p:nvPr>
        </p:nvSpPr>
        <p:spPr/>
        <p:txBody>
          <a:bodyPr/>
          <a:lstStyle/>
          <a:p>
            <a:r>
              <a:rPr lang="en-GB" dirty="0"/>
              <a:t>Software Project Management</a:t>
            </a:r>
            <a:endParaRPr lang="en-US" dirty="0"/>
          </a:p>
        </p:txBody>
      </p:sp>
      <p:sp>
        <p:nvSpPr>
          <p:cNvPr id="3" name="Subtitle 2">
            <a:extLst>
              <a:ext uri="{FF2B5EF4-FFF2-40B4-BE49-F238E27FC236}">
                <a16:creationId xmlns:a16="http://schemas.microsoft.com/office/drawing/2014/main" id="{03242CA3-D3A3-4544-A2F4-0FB944A12076}"/>
              </a:ext>
            </a:extLst>
          </p:cNvPr>
          <p:cNvSpPr>
            <a:spLocks noGrp="1"/>
          </p:cNvSpPr>
          <p:nvPr>
            <p:ph type="subTitle" idx="1"/>
          </p:nvPr>
        </p:nvSpPr>
        <p:spPr/>
        <p:txBody>
          <a:bodyPr/>
          <a:lstStyle/>
          <a:p>
            <a:r>
              <a:rPr lang="en-GB" dirty="0" err="1"/>
              <a:t>Dr.</a:t>
            </a:r>
            <a:r>
              <a:rPr lang="en-GB" dirty="0"/>
              <a:t> Md. Nasim Adnan</a:t>
            </a:r>
            <a:endParaRPr lang="en-US" dirty="0"/>
          </a:p>
        </p:txBody>
      </p:sp>
    </p:spTree>
    <p:extLst>
      <p:ext uri="{BB962C8B-B14F-4D97-AF65-F5344CB8AC3E}">
        <p14:creationId xmlns:p14="http://schemas.microsoft.com/office/powerpoint/2010/main" val="196908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D634-DF60-4CAD-8EBF-3E5A026C8A4A}"/>
              </a:ext>
            </a:extLst>
          </p:cNvPr>
          <p:cNvSpPr>
            <a:spLocks noGrp="1"/>
          </p:cNvSpPr>
          <p:nvPr>
            <p:ph type="title"/>
          </p:nvPr>
        </p:nvSpPr>
        <p:spPr/>
        <p:txBody>
          <a:bodyPr/>
          <a:lstStyle/>
          <a:p>
            <a:r>
              <a:rPr lang="en-US" dirty="0"/>
              <a:t>What is a Project</a:t>
            </a:r>
          </a:p>
        </p:txBody>
      </p:sp>
      <p:sp>
        <p:nvSpPr>
          <p:cNvPr id="3" name="Content Placeholder 2">
            <a:extLst>
              <a:ext uri="{FF2B5EF4-FFF2-40B4-BE49-F238E27FC236}">
                <a16:creationId xmlns:a16="http://schemas.microsoft.com/office/drawing/2014/main" id="{D279B1A2-E09B-4AF4-8D3D-F36D1D61EC16}"/>
              </a:ext>
            </a:extLst>
          </p:cNvPr>
          <p:cNvSpPr>
            <a:spLocks noGrp="1"/>
          </p:cNvSpPr>
          <p:nvPr>
            <p:ph idx="1"/>
          </p:nvPr>
        </p:nvSpPr>
        <p:spPr/>
        <p:txBody>
          <a:bodyPr>
            <a:normAutofit/>
          </a:bodyPr>
          <a:lstStyle/>
          <a:p>
            <a:pPr algn="just"/>
            <a:r>
              <a:rPr lang="en-GB" dirty="0"/>
              <a:t>Project Management Institute (2004) defines a project as a temporary </a:t>
            </a:r>
            <a:r>
              <a:rPr lang="en-GB" dirty="0" err="1"/>
              <a:t>endeavor</a:t>
            </a:r>
            <a:r>
              <a:rPr lang="en-GB" dirty="0"/>
              <a:t> undertaken to create a unique product or service.</a:t>
            </a:r>
          </a:p>
          <a:p>
            <a:pPr algn="just"/>
            <a:r>
              <a:rPr lang="en-GB" dirty="0"/>
              <a:t>The definition entails five important characteristics of a project, some explicitly mentioned and some following as a consequence. </a:t>
            </a:r>
          </a:p>
          <a:p>
            <a:pPr algn="just"/>
            <a:r>
              <a:rPr lang="en-GB" b="1" dirty="0"/>
              <a:t>The first characteristic</a:t>
            </a:r>
            <a:r>
              <a:rPr lang="en-GB" dirty="0"/>
              <a:t> is that a project is temporary, that is, it has a beginning and an end.</a:t>
            </a:r>
          </a:p>
          <a:p>
            <a:pPr algn="just"/>
            <a:r>
              <a:rPr lang="en-GB" dirty="0"/>
              <a:t>In many cases, determining the start and the end is easy. Consider the following examples: a contract sign-off, a formal authorization to proceed from senior management, a system going in </a:t>
            </a:r>
            <a:r>
              <a:rPr lang="en-US" dirty="0"/>
              <a:t>production…</a:t>
            </a:r>
          </a:p>
        </p:txBody>
      </p:sp>
    </p:spTree>
    <p:extLst>
      <p:ext uri="{BB962C8B-B14F-4D97-AF65-F5344CB8AC3E}">
        <p14:creationId xmlns:p14="http://schemas.microsoft.com/office/powerpoint/2010/main" val="1974232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6D10-2CDD-4569-84E0-33C249F57F0E}"/>
              </a:ext>
            </a:extLst>
          </p:cNvPr>
          <p:cNvSpPr>
            <a:spLocks noGrp="1"/>
          </p:cNvSpPr>
          <p:nvPr>
            <p:ph type="title"/>
          </p:nvPr>
        </p:nvSpPr>
        <p:spPr/>
        <p:txBody>
          <a:bodyPr/>
          <a:lstStyle/>
          <a:p>
            <a:r>
              <a:rPr lang="en-US" dirty="0"/>
              <a:t>What is a Project</a:t>
            </a:r>
          </a:p>
        </p:txBody>
      </p:sp>
      <p:sp>
        <p:nvSpPr>
          <p:cNvPr id="3" name="Content Placeholder 2">
            <a:extLst>
              <a:ext uri="{FF2B5EF4-FFF2-40B4-BE49-F238E27FC236}">
                <a16:creationId xmlns:a16="http://schemas.microsoft.com/office/drawing/2014/main" id="{A097678F-B8E6-420A-8E73-D7AB9C6A06C8}"/>
              </a:ext>
            </a:extLst>
          </p:cNvPr>
          <p:cNvSpPr>
            <a:spLocks noGrp="1"/>
          </p:cNvSpPr>
          <p:nvPr>
            <p:ph idx="1"/>
          </p:nvPr>
        </p:nvSpPr>
        <p:spPr/>
        <p:txBody>
          <a:bodyPr>
            <a:normAutofit/>
          </a:bodyPr>
          <a:lstStyle/>
          <a:p>
            <a:pPr algn="just"/>
            <a:r>
              <a:rPr lang="en-GB" dirty="0"/>
              <a:t>In practice, however, many projects begin by slowly building up resources and interest, while the official start happens sometime after the resources and work have been invested.</a:t>
            </a:r>
          </a:p>
          <a:p>
            <a:pPr algn="just"/>
            <a:r>
              <a:rPr lang="en-GB" dirty="0"/>
              <a:t>Others have residual work and activities going on after the official end, for instance to follow up on defects and problems found in project outputs.</a:t>
            </a:r>
          </a:p>
          <a:p>
            <a:pPr algn="just"/>
            <a:r>
              <a:rPr lang="en-GB" dirty="0"/>
              <a:t>In all cases, however, projects officially have a start and a conclusion.</a:t>
            </a:r>
            <a:endParaRPr lang="en-US" dirty="0"/>
          </a:p>
        </p:txBody>
      </p:sp>
    </p:spTree>
    <p:extLst>
      <p:ext uri="{BB962C8B-B14F-4D97-AF65-F5344CB8AC3E}">
        <p14:creationId xmlns:p14="http://schemas.microsoft.com/office/powerpoint/2010/main" val="2304673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054F-CA0A-40AD-A70B-B95F566D98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C6579B-5909-433A-8B91-7748011A4980}"/>
              </a:ext>
            </a:extLst>
          </p:cNvPr>
          <p:cNvSpPr>
            <a:spLocks noGrp="1"/>
          </p:cNvSpPr>
          <p:nvPr>
            <p:ph idx="1"/>
          </p:nvPr>
        </p:nvSpPr>
        <p:spPr/>
        <p:txBody>
          <a:bodyPr>
            <a:normAutofit lnSpcReduction="10000"/>
          </a:bodyPr>
          <a:lstStyle/>
          <a:p>
            <a:pPr algn="just"/>
            <a:r>
              <a:rPr lang="en-GB" dirty="0"/>
              <a:t>The fact that a project is temporary has a natural consequence. Every project will, in fact, have:</a:t>
            </a:r>
          </a:p>
          <a:p>
            <a:pPr marL="914400" lvl="1" indent="-457200" algn="just">
              <a:buFont typeface="+mj-lt"/>
              <a:buAutoNum type="arabicPeriod"/>
            </a:pPr>
            <a:r>
              <a:rPr lang="en-GB" dirty="0"/>
              <a:t>An </a:t>
            </a:r>
            <a:r>
              <a:rPr lang="en-GB" b="1" dirty="0"/>
              <a:t>initiating</a:t>
            </a:r>
            <a:r>
              <a:rPr lang="en-GB" dirty="0"/>
              <a:t> phase, during which the project infrastructure and the project’s goals are drafted.</a:t>
            </a:r>
          </a:p>
          <a:p>
            <a:pPr marL="914400" lvl="1" indent="-457200" algn="just">
              <a:buFont typeface="+mj-lt"/>
              <a:buAutoNum type="arabicPeriod"/>
            </a:pPr>
            <a:r>
              <a:rPr lang="en-GB" dirty="0"/>
              <a:t>A </a:t>
            </a:r>
            <a:r>
              <a:rPr lang="en-GB" b="1" dirty="0"/>
              <a:t>planning</a:t>
            </a:r>
            <a:r>
              <a:rPr lang="en-GB" dirty="0"/>
              <a:t> phase, during which project goals are refined, activities identified and scheduled, and many other support activities are properly planned.</a:t>
            </a:r>
          </a:p>
          <a:p>
            <a:pPr marL="914400" lvl="1" indent="-457200" algn="just">
              <a:buFont typeface="+mj-lt"/>
              <a:buAutoNum type="arabicPeriod"/>
            </a:pPr>
            <a:r>
              <a:rPr lang="en-GB" dirty="0"/>
              <a:t> An </a:t>
            </a:r>
            <a:r>
              <a:rPr lang="en-GB" b="1" dirty="0"/>
              <a:t>executing</a:t>
            </a:r>
            <a:r>
              <a:rPr lang="en-GB" dirty="0"/>
              <a:t> phase, during which the actual work takes place. Running in parallel, a </a:t>
            </a:r>
            <a:r>
              <a:rPr lang="en-GB" b="1" dirty="0"/>
              <a:t>monitoring</a:t>
            </a:r>
            <a:r>
              <a:rPr lang="en-GB" dirty="0"/>
              <a:t> phase measures the progress and raises flags when plans and reality disagree.</a:t>
            </a:r>
          </a:p>
          <a:p>
            <a:pPr marL="914400" lvl="1" indent="-457200" algn="just">
              <a:buFont typeface="+mj-lt"/>
              <a:buAutoNum type="arabicPeriod"/>
            </a:pPr>
            <a:r>
              <a:rPr lang="en-GB" dirty="0"/>
              <a:t>A final </a:t>
            </a:r>
            <a:r>
              <a:rPr lang="en-GB" b="1" dirty="0"/>
              <a:t>closing</a:t>
            </a:r>
            <a:r>
              <a:rPr lang="en-GB" dirty="0"/>
              <a:t> phase, where the project outputs are handed out and the project is closed.</a:t>
            </a:r>
            <a:endParaRPr lang="en-US" dirty="0"/>
          </a:p>
        </p:txBody>
      </p:sp>
    </p:spTree>
    <p:extLst>
      <p:ext uri="{BB962C8B-B14F-4D97-AF65-F5344CB8AC3E}">
        <p14:creationId xmlns:p14="http://schemas.microsoft.com/office/powerpoint/2010/main" val="1038407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45E7-0956-42AE-B2F8-9F3672EBDA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9FBFCF-B90A-4A01-8FB6-4E3DC8764762}"/>
              </a:ext>
            </a:extLst>
          </p:cNvPr>
          <p:cNvSpPr>
            <a:spLocks noGrp="1"/>
          </p:cNvSpPr>
          <p:nvPr>
            <p:ph idx="1"/>
          </p:nvPr>
        </p:nvSpPr>
        <p:spPr/>
        <p:txBody>
          <a:bodyPr/>
          <a:lstStyle/>
          <a:p>
            <a:pPr algn="just"/>
            <a:r>
              <a:rPr lang="en-GB" dirty="0"/>
              <a:t>The amount and intensity of work in a project change according to the project phase.</a:t>
            </a:r>
          </a:p>
          <a:p>
            <a:pPr algn="just"/>
            <a:r>
              <a:rPr lang="en-GB" dirty="0"/>
              <a:t>The </a:t>
            </a:r>
            <a:r>
              <a:rPr lang="en-GB" b="1" dirty="0"/>
              <a:t>initiating</a:t>
            </a:r>
            <a:r>
              <a:rPr lang="en-GB" dirty="0"/>
              <a:t> and </a:t>
            </a:r>
            <a:r>
              <a:rPr lang="en-GB" b="1" dirty="0"/>
              <a:t>planning</a:t>
            </a:r>
            <a:r>
              <a:rPr lang="en-GB" dirty="0"/>
              <a:t> phases will require a relatively small amount of work.</a:t>
            </a:r>
          </a:p>
          <a:p>
            <a:pPr algn="just"/>
            <a:r>
              <a:rPr lang="en-GB" dirty="0"/>
              <a:t>Work will accumulate fast during the execution phase, many of which are running in parallel. As the project gets near to its conclusion, work will reduce and stop, of course, when the project </a:t>
            </a:r>
            <a:r>
              <a:rPr lang="en-US" dirty="0"/>
              <a:t>delivers its outputs.</a:t>
            </a:r>
          </a:p>
          <a:p>
            <a:pPr algn="just"/>
            <a:endParaRPr lang="en-US" dirty="0"/>
          </a:p>
        </p:txBody>
      </p:sp>
    </p:spTree>
    <p:extLst>
      <p:ext uri="{BB962C8B-B14F-4D97-AF65-F5344CB8AC3E}">
        <p14:creationId xmlns:p14="http://schemas.microsoft.com/office/powerpoint/2010/main" val="1353251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5B159-0894-4AF7-9878-2FA8C458035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70D8FC6-1813-44A3-A4C3-EA3A2C2B02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1924844"/>
            <a:ext cx="7467600" cy="4152900"/>
          </a:xfrm>
        </p:spPr>
      </p:pic>
    </p:spTree>
    <p:extLst>
      <p:ext uri="{BB962C8B-B14F-4D97-AF65-F5344CB8AC3E}">
        <p14:creationId xmlns:p14="http://schemas.microsoft.com/office/powerpoint/2010/main" val="1067877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0C66A-0D96-49C1-A473-CEE65A4C38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C1D057-1817-45FD-B999-99D9C5793BF8}"/>
              </a:ext>
            </a:extLst>
          </p:cNvPr>
          <p:cNvSpPr>
            <a:spLocks noGrp="1"/>
          </p:cNvSpPr>
          <p:nvPr>
            <p:ph idx="1"/>
          </p:nvPr>
        </p:nvSpPr>
        <p:spPr/>
        <p:txBody>
          <a:bodyPr/>
          <a:lstStyle/>
          <a:p>
            <a:pPr algn="just"/>
            <a:r>
              <a:rPr lang="en-GB" b="1" dirty="0"/>
              <a:t>The second characteristic</a:t>
            </a:r>
            <a:r>
              <a:rPr lang="en-GB" dirty="0"/>
              <a:t> is that a project delivers an output in the form of a product, a service, or a capability. The outputs are tangible, and often their properties are also measurable.</a:t>
            </a:r>
          </a:p>
          <a:p>
            <a:pPr algn="just"/>
            <a:r>
              <a:rPr lang="en-GB" dirty="0"/>
              <a:t>Thus, a project can be set up and organized, starting from the description and the characteristics of the outputs it delivers.</a:t>
            </a:r>
          </a:p>
          <a:p>
            <a:pPr algn="just"/>
            <a:r>
              <a:rPr lang="en-GB" dirty="0"/>
              <a:t>Such description, in fact, entails the work that has to be done to build the outputs.</a:t>
            </a:r>
          </a:p>
          <a:p>
            <a:pPr algn="just"/>
            <a:r>
              <a:rPr lang="en-GB" dirty="0"/>
              <a:t>The description of the project outputs also defines the project completion criteria: </a:t>
            </a:r>
            <a:r>
              <a:rPr lang="en-US" dirty="0"/>
              <a:t>the project </a:t>
            </a:r>
            <a:r>
              <a:rPr lang="en-GB" dirty="0"/>
              <a:t>ends when the outputs are delivered as specified.</a:t>
            </a:r>
            <a:endParaRPr lang="en-US" dirty="0"/>
          </a:p>
        </p:txBody>
      </p:sp>
    </p:spTree>
    <p:extLst>
      <p:ext uri="{BB962C8B-B14F-4D97-AF65-F5344CB8AC3E}">
        <p14:creationId xmlns:p14="http://schemas.microsoft.com/office/powerpoint/2010/main" val="907500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E6FED-7794-47B8-805F-DF8736A9BC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218828-4648-4F37-B86A-A7009662AC33}"/>
              </a:ext>
            </a:extLst>
          </p:cNvPr>
          <p:cNvSpPr>
            <a:spLocks noGrp="1"/>
          </p:cNvSpPr>
          <p:nvPr>
            <p:ph idx="1"/>
          </p:nvPr>
        </p:nvSpPr>
        <p:spPr/>
        <p:txBody>
          <a:bodyPr>
            <a:normAutofit/>
          </a:bodyPr>
          <a:lstStyle/>
          <a:p>
            <a:pPr algn="just"/>
            <a:r>
              <a:rPr lang="en-GB" dirty="0"/>
              <a:t>Things are not always so simple, however. Many projects have a clear output, but the way in which this is achieved might not be clear.</a:t>
            </a:r>
          </a:p>
          <a:p>
            <a:pPr algn="just"/>
            <a:r>
              <a:rPr lang="en-GB" dirty="0"/>
              <a:t>Consider, for instance, a situation in which we want to improve the performances of a software system.</a:t>
            </a:r>
          </a:p>
          <a:p>
            <a:pPr algn="just"/>
            <a:r>
              <a:rPr lang="en-GB" dirty="0"/>
              <a:t>The goal is clear, but the means to achieve it might not. In other situations, the outputs might not be completely clear or well spelled out.</a:t>
            </a:r>
          </a:p>
          <a:p>
            <a:pPr algn="just"/>
            <a:r>
              <a:rPr lang="en-GB" dirty="0"/>
              <a:t>This is quite common in software development, where coming out with a complete and unambiguous description of a system is not always easy.</a:t>
            </a:r>
            <a:endParaRPr lang="en-US" dirty="0"/>
          </a:p>
        </p:txBody>
      </p:sp>
    </p:spTree>
    <p:extLst>
      <p:ext uri="{BB962C8B-B14F-4D97-AF65-F5344CB8AC3E}">
        <p14:creationId xmlns:p14="http://schemas.microsoft.com/office/powerpoint/2010/main" val="15914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67753-4C32-48E0-8826-B1CF04AF6A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D76F19-1BA9-4424-A225-0F74B6C3BC0C}"/>
              </a:ext>
            </a:extLst>
          </p:cNvPr>
          <p:cNvSpPr>
            <a:spLocks noGrp="1"/>
          </p:cNvSpPr>
          <p:nvPr>
            <p:ph idx="1"/>
          </p:nvPr>
        </p:nvSpPr>
        <p:spPr/>
        <p:txBody>
          <a:bodyPr>
            <a:normAutofit/>
          </a:bodyPr>
          <a:lstStyle/>
          <a:p>
            <a:pPr algn="just"/>
            <a:r>
              <a:rPr lang="en-GB" b="1" dirty="0"/>
              <a:t>The third characteristic </a:t>
            </a:r>
            <a:r>
              <a:rPr lang="en-GB" dirty="0"/>
              <a:t>is that projects are resource constrained. A limited time is available to build the project outputs.</a:t>
            </a:r>
          </a:p>
          <a:p>
            <a:pPr algn="just"/>
            <a:r>
              <a:rPr lang="en-GB" dirty="0"/>
              <a:t>Also limited will be other project resources, such as the budget and the team.</a:t>
            </a:r>
          </a:p>
          <a:p>
            <a:pPr algn="just"/>
            <a:r>
              <a:rPr lang="en-GB" dirty="0"/>
              <a:t>An important consequence is that the project manager and the team have to find an achievable solution, while respecting all project constraints.</a:t>
            </a:r>
          </a:p>
          <a:p>
            <a:pPr algn="just"/>
            <a:r>
              <a:rPr lang="en-GB" dirty="0"/>
              <a:t>Thus, the output of a project is seldom the best possible solution but rather the best solution given the constraints.</a:t>
            </a:r>
            <a:endParaRPr lang="en-US" dirty="0"/>
          </a:p>
        </p:txBody>
      </p:sp>
    </p:spTree>
    <p:extLst>
      <p:ext uri="{BB962C8B-B14F-4D97-AF65-F5344CB8AC3E}">
        <p14:creationId xmlns:p14="http://schemas.microsoft.com/office/powerpoint/2010/main" val="1499851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EAC2F-7499-4429-A019-8824C63DAD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A3EADB-CE91-4416-BC96-E4C2414B8E51}"/>
              </a:ext>
            </a:extLst>
          </p:cNvPr>
          <p:cNvSpPr>
            <a:spLocks noGrp="1"/>
          </p:cNvSpPr>
          <p:nvPr>
            <p:ph idx="1"/>
          </p:nvPr>
        </p:nvSpPr>
        <p:spPr/>
        <p:txBody>
          <a:bodyPr>
            <a:normAutofit/>
          </a:bodyPr>
          <a:lstStyle/>
          <a:p>
            <a:pPr algn="just"/>
            <a:r>
              <a:rPr lang="en-GB" b="1" dirty="0"/>
              <a:t>The fourth characteristic</a:t>
            </a:r>
            <a:r>
              <a:rPr lang="en-GB" dirty="0"/>
              <a:t> is that a project requires a progressive elaboration to build the project outputs.</a:t>
            </a:r>
          </a:p>
          <a:p>
            <a:pPr algn="just"/>
            <a:r>
              <a:rPr lang="en-GB" dirty="0"/>
              <a:t>At the beginning, different ways are possible to achieve the project goals. As we move along, many project activities require to take choices, which reduce the degrees of freedom.</a:t>
            </a:r>
          </a:p>
          <a:p>
            <a:pPr algn="just"/>
            <a:r>
              <a:rPr lang="en-GB" dirty="0"/>
              <a:t>Thus, the cost of changes increases as a project progresses, since the amount of rework necessary to implement a change increases as we reduce our degrees of freedom.</a:t>
            </a:r>
            <a:endParaRPr lang="en-US" dirty="0"/>
          </a:p>
        </p:txBody>
      </p:sp>
    </p:spTree>
    <p:extLst>
      <p:ext uri="{BB962C8B-B14F-4D97-AF65-F5344CB8AC3E}">
        <p14:creationId xmlns:p14="http://schemas.microsoft.com/office/powerpoint/2010/main" val="2532644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F39B9C-C0B6-4F8E-9BAD-B4DDEC508956}"/>
              </a:ext>
            </a:extLst>
          </p:cNvPr>
          <p:cNvSpPr>
            <a:spLocks noGrp="1"/>
          </p:cNvSpPr>
          <p:nvPr>
            <p:ph idx="1"/>
          </p:nvPr>
        </p:nvSpPr>
        <p:spPr>
          <a:xfrm>
            <a:off x="838200" y="693683"/>
            <a:ext cx="10515600" cy="5483280"/>
          </a:xfrm>
        </p:spPr>
        <p:txBody>
          <a:bodyPr>
            <a:normAutofit/>
          </a:bodyPr>
          <a:lstStyle/>
          <a:p>
            <a:pPr algn="just"/>
            <a:r>
              <a:rPr lang="en-GB" b="1" dirty="0"/>
              <a:t>The fifth and final characteristic</a:t>
            </a:r>
            <a:r>
              <a:rPr lang="en-GB" dirty="0"/>
              <a:t> is that a project delivers a unique output. Thus, what a project delivers has some novelty, one way or the other.</a:t>
            </a:r>
          </a:p>
          <a:p>
            <a:pPr algn="just"/>
            <a:r>
              <a:rPr lang="en-GB" dirty="0"/>
              <a:t>This allows us to introduce the last important characteristic, namely, that a project always has some risk coming in the form of menaces or opportunities.</a:t>
            </a:r>
          </a:p>
          <a:p>
            <a:pPr algn="just"/>
            <a:r>
              <a:rPr lang="en-GB" b="1" dirty="0"/>
              <a:t>Risks come from the unique characteristics of the project outputs, which sometimes are not fully understood or not clear when a project starts. </a:t>
            </a:r>
          </a:p>
          <a:p>
            <a:pPr algn="just"/>
            <a:r>
              <a:rPr lang="en-GB" dirty="0"/>
              <a:t>Having seen the main qualities of a project, we need to mention that not all work is a project. Work that is not a project is called operational, even though one might still call it a project.</a:t>
            </a:r>
          </a:p>
        </p:txBody>
      </p:sp>
    </p:spTree>
    <p:extLst>
      <p:ext uri="{BB962C8B-B14F-4D97-AF65-F5344CB8AC3E}">
        <p14:creationId xmlns:p14="http://schemas.microsoft.com/office/powerpoint/2010/main" val="1917387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0427B-9F4A-46BC-A2C1-CE6A286EBE49}"/>
              </a:ext>
            </a:extLst>
          </p:cNvPr>
          <p:cNvSpPr>
            <a:spLocks noGrp="1"/>
          </p:cNvSpPr>
          <p:nvPr>
            <p:ph type="title"/>
          </p:nvPr>
        </p:nvSpPr>
        <p:spPr/>
        <p:txBody>
          <a:bodyPr/>
          <a:lstStyle/>
          <a:p>
            <a:r>
              <a:rPr lang="en-US" dirty="0"/>
              <a:t>Programs, Subprojects, and Portfolios</a:t>
            </a:r>
          </a:p>
        </p:txBody>
      </p:sp>
      <p:sp>
        <p:nvSpPr>
          <p:cNvPr id="3" name="Content Placeholder 2">
            <a:extLst>
              <a:ext uri="{FF2B5EF4-FFF2-40B4-BE49-F238E27FC236}">
                <a16:creationId xmlns:a16="http://schemas.microsoft.com/office/drawing/2014/main" id="{8C36634F-F9E8-474F-8D38-4279E8A389D4}"/>
              </a:ext>
            </a:extLst>
          </p:cNvPr>
          <p:cNvSpPr>
            <a:spLocks noGrp="1"/>
          </p:cNvSpPr>
          <p:nvPr>
            <p:ph idx="1"/>
          </p:nvPr>
        </p:nvSpPr>
        <p:spPr/>
        <p:txBody>
          <a:bodyPr>
            <a:normAutofit/>
          </a:bodyPr>
          <a:lstStyle/>
          <a:p>
            <a:pPr algn="just"/>
            <a:r>
              <a:rPr lang="en-GB" dirty="0"/>
              <a:t>Projects come in different sizes. Small projects might require the work of a few people for a few weeks or a few months. Larger projects might involve the work of thousands of people for years.</a:t>
            </a:r>
          </a:p>
          <a:p>
            <a:pPr algn="just"/>
            <a:r>
              <a:rPr lang="en-GB" dirty="0"/>
              <a:t>Consider, for instance, the development of the F22 fighter aircraft. The development started in 1986 with a first phase to build two prototypes, which lasted 50 months.</a:t>
            </a:r>
          </a:p>
          <a:p>
            <a:pPr algn="just"/>
            <a:r>
              <a:rPr lang="en-GB" dirty="0"/>
              <a:t>After the demonstration of the prototypes and the selection of the best model, the actual development started in 1991, with the first production aircraft delivered in 2003. The total costs of the project are estimated at 67.3 USD billion, in then-year dollars.</a:t>
            </a:r>
            <a:endParaRPr lang="en-US" dirty="0"/>
          </a:p>
        </p:txBody>
      </p:sp>
    </p:spTree>
    <p:extLst>
      <p:ext uri="{BB962C8B-B14F-4D97-AF65-F5344CB8AC3E}">
        <p14:creationId xmlns:p14="http://schemas.microsoft.com/office/powerpoint/2010/main" val="222786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11C9C-DB9E-42D5-B7B8-D125E97207D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E061B4B-842D-429A-AC44-96A43B95EA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5323" y="262760"/>
            <a:ext cx="9848193" cy="6306206"/>
          </a:xfrm>
        </p:spPr>
      </p:pic>
    </p:spTree>
    <p:extLst>
      <p:ext uri="{BB962C8B-B14F-4D97-AF65-F5344CB8AC3E}">
        <p14:creationId xmlns:p14="http://schemas.microsoft.com/office/powerpoint/2010/main" val="2674643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5DEEA-BFCF-4C1F-92BA-B17B5EA01B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F6B6DB-D392-4903-B254-35DA9821A54E}"/>
              </a:ext>
            </a:extLst>
          </p:cNvPr>
          <p:cNvSpPr>
            <a:spLocks noGrp="1"/>
          </p:cNvSpPr>
          <p:nvPr>
            <p:ph idx="1"/>
          </p:nvPr>
        </p:nvSpPr>
        <p:spPr/>
        <p:txBody>
          <a:bodyPr/>
          <a:lstStyle/>
          <a:p>
            <a:pPr algn="just"/>
            <a:r>
              <a:rPr lang="en-GB" dirty="0"/>
              <a:t>Although in principle the development of the F22 could be organized as a single project, a more practical approach organizes its construction at different levels of abstraction and granularity.</a:t>
            </a:r>
          </a:p>
          <a:p>
            <a:pPr algn="just"/>
            <a:r>
              <a:rPr lang="en-GB" dirty="0"/>
              <a:t>Projects are thus often organized and combined to achieve objectives larger than those of any single initiative.</a:t>
            </a:r>
          </a:p>
          <a:p>
            <a:pPr algn="just"/>
            <a:r>
              <a:rPr lang="en-GB" dirty="0"/>
              <a:t>A common classification distinguishes among portfolios, subprojects, and programs.</a:t>
            </a:r>
            <a:endParaRPr lang="en-US" dirty="0"/>
          </a:p>
        </p:txBody>
      </p:sp>
    </p:spTree>
    <p:extLst>
      <p:ext uri="{BB962C8B-B14F-4D97-AF65-F5344CB8AC3E}">
        <p14:creationId xmlns:p14="http://schemas.microsoft.com/office/powerpoint/2010/main" val="884440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DA37-FDBC-40F1-925E-F5FCAF0E0E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674273-AE07-4EC9-A829-22CAE0985E36}"/>
              </a:ext>
            </a:extLst>
          </p:cNvPr>
          <p:cNvSpPr>
            <a:spLocks noGrp="1"/>
          </p:cNvSpPr>
          <p:nvPr>
            <p:ph idx="1"/>
          </p:nvPr>
        </p:nvSpPr>
        <p:spPr/>
        <p:txBody>
          <a:bodyPr>
            <a:normAutofit/>
          </a:bodyPr>
          <a:lstStyle/>
          <a:p>
            <a:pPr algn="just"/>
            <a:r>
              <a:rPr lang="en-GB" b="1" dirty="0"/>
              <a:t>Programs</a:t>
            </a:r>
            <a:r>
              <a:rPr lang="en-GB" dirty="0"/>
              <a:t>: A program is a set of related projects managed in a coordinated way. The underlying motivation is that coordination allows one to achieve additional benefits.</a:t>
            </a:r>
          </a:p>
          <a:p>
            <a:pPr algn="just"/>
            <a:r>
              <a:rPr lang="en-GB" dirty="0"/>
              <a:t>The most famous program is probably the U.S. manned space program, which culminated with men landing on the moon.</a:t>
            </a:r>
          </a:p>
          <a:p>
            <a:pPr algn="just"/>
            <a:r>
              <a:rPr lang="en-GB" b="1" dirty="0"/>
              <a:t>Subprojects</a:t>
            </a:r>
            <a:r>
              <a:rPr lang="en-GB" dirty="0"/>
              <a:t>: Complex projects for which program management is an overkill can be organized and broken down into subprojects.</a:t>
            </a:r>
          </a:p>
          <a:p>
            <a:pPr algn="just"/>
            <a:r>
              <a:rPr lang="en-GB" dirty="0"/>
              <a:t>A subproject is thus the way in which one can organize the implementation of some specific objectives of a larger project.</a:t>
            </a:r>
            <a:endParaRPr lang="en-US" dirty="0"/>
          </a:p>
        </p:txBody>
      </p:sp>
    </p:spTree>
    <p:extLst>
      <p:ext uri="{BB962C8B-B14F-4D97-AF65-F5344CB8AC3E}">
        <p14:creationId xmlns:p14="http://schemas.microsoft.com/office/powerpoint/2010/main" val="3761153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55EC-2A53-4FC1-ADC6-B8D432E462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231211-7269-44B2-9B11-C8B87E034DD7}"/>
              </a:ext>
            </a:extLst>
          </p:cNvPr>
          <p:cNvSpPr>
            <a:spLocks noGrp="1"/>
          </p:cNvSpPr>
          <p:nvPr>
            <p:ph idx="1"/>
          </p:nvPr>
        </p:nvSpPr>
        <p:spPr/>
        <p:txBody>
          <a:bodyPr/>
          <a:lstStyle/>
          <a:p>
            <a:pPr algn="just"/>
            <a:r>
              <a:rPr lang="en-GB" dirty="0"/>
              <a:t> </a:t>
            </a:r>
            <a:r>
              <a:rPr lang="en-GB" b="1" dirty="0"/>
              <a:t>Portfolios</a:t>
            </a:r>
            <a:r>
              <a:rPr lang="en-GB" dirty="0"/>
              <a:t>: Organizations often use projects to develop similar systems.</a:t>
            </a:r>
          </a:p>
          <a:p>
            <a:pPr algn="just"/>
            <a:r>
              <a:rPr lang="en-GB" dirty="0"/>
              <a:t>The term portfolio management thus identifies a situation in which a set of independent projects are coordinated to achieve better results.</a:t>
            </a:r>
            <a:endParaRPr lang="en-US" dirty="0"/>
          </a:p>
        </p:txBody>
      </p:sp>
    </p:spTree>
    <p:extLst>
      <p:ext uri="{BB962C8B-B14F-4D97-AF65-F5344CB8AC3E}">
        <p14:creationId xmlns:p14="http://schemas.microsoft.com/office/powerpoint/2010/main" val="3833912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C0A15-E9E2-41E4-876E-B2425251DAD5}"/>
              </a:ext>
            </a:extLst>
          </p:cNvPr>
          <p:cNvSpPr>
            <a:spLocks noGrp="1"/>
          </p:cNvSpPr>
          <p:nvPr>
            <p:ph type="title"/>
          </p:nvPr>
        </p:nvSpPr>
        <p:spPr/>
        <p:txBody>
          <a:bodyPr/>
          <a:lstStyle/>
          <a:p>
            <a:r>
              <a:rPr lang="en-GB" dirty="0"/>
              <a:t>What is a Software Project</a:t>
            </a:r>
            <a:endParaRPr lang="en-US" dirty="0"/>
          </a:p>
        </p:txBody>
      </p:sp>
      <p:sp>
        <p:nvSpPr>
          <p:cNvPr id="3" name="Content Placeholder 2">
            <a:extLst>
              <a:ext uri="{FF2B5EF4-FFF2-40B4-BE49-F238E27FC236}">
                <a16:creationId xmlns:a16="http://schemas.microsoft.com/office/drawing/2014/main" id="{9EF3AEA6-BDAB-4920-A463-1F62CDA6B8C2}"/>
              </a:ext>
            </a:extLst>
          </p:cNvPr>
          <p:cNvSpPr>
            <a:spLocks noGrp="1"/>
          </p:cNvSpPr>
          <p:nvPr>
            <p:ph idx="1"/>
          </p:nvPr>
        </p:nvSpPr>
        <p:spPr/>
        <p:txBody>
          <a:bodyPr/>
          <a:lstStyle/>
          <a:p>
            <a:pPr algn="just"/>
            <a:r>
              <a:rPr lang="en-GB" dirty="0"/>
              <a:t>When we think about software projects, probably the first thing that comes to mind is developing applications. Even when the main goal is developing an application, coding is just one of many activities…</a:t>
            </a:r>
          </a:p>
          <a:p>
            <a:pPr algn="just"/>
            <a:r>
              <a:rPr lang="en-GB" dirty="0"/>
              <a:t>In the following, we look at the main types of software-related projects.</a:t>
            </a:r>
            <a:endParaRPr lang="en-US" dirty="0"/>
          </a:p>
        </p:txBody>
      </p:sp>
    </p:spTree>
    <p:extLst>
      <p:ext uri="{BB962C8B-B14F-4D97-AF65-F5344CB8AC3E}">
        <p14:creationId xmlns:p14="http://schemas.microsoft.com/office/powerpoint/2010/main" val="2002730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135C0-B094-40F1-90FC-6417F1C44A53}"/>
              </a:ext>
            </a:extLst>
          </p:cNvPr>
          <p:cNvSpPr>
            <a:spLocks noGrp="1"/>
          </p:cNvSpPr>
          <p:nvPr>
            <p:ph type="title"/>
          </p:nvPr>
        </p:nvSpPr>
        <p:spPr/>
        <p:txBody>
          <a:bodyPr/>
          <a:lstStyle/>
          <a:p>
            <a:r>
              <a:rPr lang="en-US" dirty="0"/>
              <a:t>Application Development</a:t>
            </a:r>
          </a:p>
        </p:txBody>
      </p:sp>
      <p:sp>
        <p:nvSpPr>
          <p:cNvPr id="3" name="Content Placeholder 2">
            <a:extLst>
              <a:ext uri="{FF2B5EF4-FFF2-40B4-BE49-F238E27FC236}">
                <a16:creationId xmlns:a16="http://schemas.microsoft.com/office/drawing/2014/main" id="{3AA818EF-7E17-414F-8D3C-D416686F18B4}"/>
              </a:ext>
            </a:extLst>
          </p:cNvPr>
          <p:cNvSpPr>
            <a:spLocks noGrp="1"/>
          </p:cNvSpPr>
          <p:nvPr>
            <p:ph idx="1"/>
          </p:nvPr>
        </p:nvSpPr>
        <p:spPr/>
        <p:txBody>
          <a:bodyPr>
            <a:normAutofit fontScale="92500" lnSpcReduction="20000"/>
          </a:bodyPr>
          <a:lstStyle/>
          <a:p>
            <a:pPr algn="just"/>
            <a:r>
              <a:rPr lang="en-GB" dirty="0"/>
              <a:t>From the project management point of view, we can distinguish the following types of applications:</a:t>
            </a:r>
          </a:p>
          <a:p>
            <a:pPr algn="just"/>
            <a:r>
              <a:rPr lang="en-GB" b="1" dirty="0"/>
              <a:t>One-offs</a:t>
            </a:r>
            <a:r>
              <a:rPr lang="en-GB" dirty="0"/>
              <a:t> or </a:t>
            </a:r>
            <a:r>
              <a:rPr lang="en-GB" b="1" dirty="0"/>
              <a:t>bespoke systems</a:t>
            </a:r>
            <a:r>
              <a:rPr lang="en-GB" dirty="0"/>
              <a:t> that are software systems specifically created for a customer.</a:t>
            </a:r>
          </a:p>
          <a:p>
            <a:pPr algn="just"/>
            <a:r>
              <a:rPr lang="en-GB" dirty="0"/>
              <a:t>A bespoke system often implements a specific need of a customer, although in some cases the customer base of the final product could be large.</a:t>
            </a:r>
          </a:p>
          <a:p>
            <a:pPr algn="just"/>
            <a:r>
              <a:rPr lang="en-GB" dirty="0"/>
              <a:t>Some examples of bespoke systems include a luggage tracking software, a compiler for a specific hardware platform, and a system to monitor a fleet of trucks.</a:t>
            </a:r>
          </a:p>
          <a:p>
            <a:pPr algn="just"/>
            <a:r>
              <a:rPr lang="en-GB" dirty="0"/>
              <a:t>For bespoke systems, the specification of the application to develop (more in general of the project goals) will have to be agreed with the customer.</a:t>
            </a:r>
            <a:endParaRPr lang="en-US" dirty="0"/>
          </a:p>
        </p:txBody>
      </p:sp>
    </p:spTree>
    <p:extLst>
      <p:ext uri="{BB962C8B-B14F-4D97-AF65-F5344CB8AC3E}">
        <p14:creationId xmlns:p14="http://schemas.microsoft.com/office/powerpoint/2010/main" val="4017038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531C8-76D1-448A-BA48-5AE35BAB2D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12CEEF-7788-4BFA-A170-EEC056F77463}"/>
              </a:ext>
            </a:extLst>
          </p:cNvPr>
          <p:cNvSpPr>
            <a:spLocks noGrp="1"/>
          </p:cNvSpPr>
          <p:nvPr>
            <p:ph idx="1"/>
          </p:nvPr>
        </p:nvSpPr>
        <p:spPr/>
        <p:txBody>
          <a:bodyPr>
            <a:normAutofit fontScale="92500"/>
          </a:bodyPr>
          <a:lstStyle/>
          <a:p>
            <a:pPr algn="just"/>
            <a:r>
              <a:rPr lang="en-GB" b="1" dirty="0"/>
              <a:t>Off-the-shelf applications</a:t>
            </a:r>
            <a:r>
              <a:rPr lang="en-GB" dirty="0"/>
              <a:t> are software systems implementing a function which is useful to many different users.</a:t>
            </a:r>
          </a:p>
          <a:p>
            <a:pPr algn="just"/>
            <a:r>
              <a:rPr lang="en-GB" dirty="0"/>
              <a:t>It is the software we buy from marketplaces or stores and it is the equivalent of a Toyota Corolla: one size fits all.</a:t>
            </a:r>
          </a:p>
          <a:p>
            <a:pPr algn="just"/>
            <a:r>
              <a:rPr lang="en-GB" dirty="0"/>
              <a:t>The goals and functions of the applications, in this case, come from the company developing the system, which sometimes conducts user surveys, to better understand needs and features that are most useful.</a:t>
            </a:r>
          </a:p>
          <a:p>
            <a:pPr algn="just"/>
            <a:r>
              <a:rPr lang="en-GB" dirty="0"/>
              <a:t>The main characteristic is that the system is the same for each user and that the company developing the system sets the roadmap, choosing when to upgrade, what functions to add, and when to do maintenance.</a:t>
            </a:r>
            <a:endParaRPr lang="en-US" dirty="0"/>
          </a:p>
        </p:txBody>
      </p:sp>
    </p:spTree>
    <p:extLst>
      <p:ext uri="{BB962C8B-B14F-4D97-AF65-F5344CB8AC3E}">
        <p14:creationId xmlns:p14="http://schemas.microsoft.com/office/powerpoint/2010/main" val="252099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84AF-82A0-454E-B894-17F1C81688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D7B6B8-CD51-4FA9-A65F-F2B307017A87}"/>
              </a:ext>
            </a:extLst>
          </p:cNvPr>
          <p:cNvSpPr>
            <a:spLocks noGrp="1"/>
          </p:cNvSpPr>
          <p:nvPr>
            <p:ph idx="1"/>
          </p:nvPr>
        </p:nvSpPr>
        <p:spPr/>
        <p:txBody>
          <a:bodyPr>
            <a:normAutofit fontScale="92500" lnSpcReduction="10000"/>
          </a:bodyPr>
          <a:lstStyle/>
          <a:p>
            <a:pPr algn="just"/>
            <a:r>
              <a:rPr lang="en-GB" dirty="0"/>
              <a:t>Finally, a </a:t>
            </a:r>
            <a:r>
              <a:rPr lang="en-GB" b="1" dirty="0"/>
              <a:t>customized off-the-shelf application</a:t>
            </a:r>
            <a:r>
              <a:rPr lang="en-GB" dirty="0"/>
              <a:t> sits somewhere between the two other types of applications.</a:t>
            </a:r>
          </a:p>
          <a:p>
            <a:pPr algn="just"/>
            <a:r>
              <a:rPr lang="en-GB" dirty="0"/>
              <a:t>They are systems that are developed similar to off-the-shelf applications. However, they need to (or can) be customized to fit the customer needs. </a:t>
            </a:r>
          </a:p>
          <a:p>
            <a:pPr algn="just"/>
            <a:r>
              <a:rPr lang="en-GB" dirty="0"/>
              <a:t>An example of a customized off-the-shelf application is an Enterprise Resource Planning (ERP) system. An ERP system helps plan the resources of an organization and automate information management.</a:t>
            </a:r>
          </a:p>
          <a:p>
            <a:pPr algn="just"/>
            <a:r>
              <a:rPr lang="en-GB" dirty="0"/>
              <a:t>While the engine of many ERPs is generic (and developed as an off-the-shelf application), many other characteristics (modules to use, what data has to be stored, how information flows) need to be customized for each client.</a:t>
            </a:r>
            <a:endParaRPr lang="en-US" dirty="0"/>
          </a:p>
        </p:txBody>
      </p:sp>
    </p:spTree>
    <p:extLst>
      <p:ext uri="{BB962C8B-B14F-4D97-AF65-F5344CB8AC3E}">
        <p14:creationId xmlns:p14="http://schemas.microsoft.com/office/powerpoint/2010/main" val="3646501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2D715-112F-488D-A028-2559DC0D2F79}"/>
              </a:ext>
            </a:extLst>
          </p:cNvPr>
          <p:cNvSpPr>
            <a:spLocks noGrp="1"/>
          </p:cNvSpPr>
          <p:nvPr>
            <p:ph type="title"/>
          </p:nvPr>
        </p:nvSpPr>
        <p:spPr/>
        <p:txBody>
          <a:bodyPr/>
          <a:lstStyle/>
          <a:p>
            <a:r>
              <a:rPr lang="en-US" dirty="0"/>
              <a:t>Software Project Management</a:t>
            </a:r>
          </a:p>
        </p:txBody>
      </p:sp>
      <p:sp>
        <p:nvSpPr>
          <p:cNvPr id="3" name="Content Placeholder 2">
            <a:extLst>
              <a:ext uri="{FF2B5EF4-FFF2-40B4-BE49-F238E27FC236}">
                <a16:creationId xmlns:a16="http://schemas.microsoft.com/office/drawing/2014/main" id="{0194DEE6-3564-45BF-8E25-1B4A5886792B}"/>
              </a:ext>
            </a:extLst>
          </p:cNvPr>
          <p:cNvSpPr>
            <a:spLocks noGrp="1"/>
          </p:cNvSpPr>
          <p:nvPr>
            <p:ph idx="1"/>
          </p:nvPr>
        </p:nvSpPr>
        <p:spPr/>
        <p:txBody>
          <a:bodyPr>
            <a:normAutofit/>
          </a:bodyPr>
          <a:lstStyle/>
          <a:p>
            <a:pPr algn="just"/>
            <a:r>
              <a:rPr lang="en-GB" dirty="0"/>
              <a:t>Software project management is the integration of management techniques into software development.</a:t>
            </a:r>
          </a:p>
          <a:p>
            <a:pPr algn="just"/>
            <a:r>
              <a:rPr lang="en-GB" dirty="0"/>
              <a:t>The need for such integration has its root in the 1960s, in the days of the “software crisis,” when practitioners recognized the increasing complexity of delivering software products meeting the specifications.</a:t>
            </a:r>
          </a:p>
          <a:p>
            <a:pPr algn="just"/>
            <a:r>
              <a:rPr lang="en-GB" dirty="0"/>
              <a:t>A number of works started then to improve the software development practices, detailing and structuring technical activities more rationally.</a:t>
            </a:r>
            <a:endParaRPr lang="en-US" dirty="0"/>
          </a:p>
        </p:txBody>
      </p:sp>
    </p:spTree>
    <p:extLst>
      <p:ext uri="{BB962C8B-B14F-4D97-AF65-F5344CB8AC3E}">
        <p14:creationId xmlns:p14="http://schemas.microsoft.com/office/powerpoint/2010/main" val="4133227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C424-6432-4B1F-AFBC-D056BDF507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8E0B6F-87D8-48DF-899A-90F8E737A6D9}"/>
              </a:ext>
            </a:extLst>
          </p:cNvPr>
          <p:cNvSpPr>
            <a:spLocks noGrp="1"/>
          </p:cNvSpPr>
          <p:nvPr>
            <p:ph idx="1"/>
          </p:nvPr>
        </p:nvSpPr>
        <p:spPr/>
        <p:txBody>
          <a:bodyPr>
            <a:normAutofit/>
          </a:bodyPr>
          <a:lstStyle/>
          <a:p>
            <a:pPr algn="just"/>
            <a:r>
              <a:rPr lang="en-GB" dirty="0"/>
              <a:t>Similar to system engineering, software engineering shares many concerns that can be dealt with by sound management practices.</a:t>
            </a:r>
          </a:p>
          <a:p>
            <a:pPr algn="just"/>
            <a:r>
              <a:rPr lang="en-GB" dirty="0"/>
              <a:t>As software engineering matured as a discipline, more interest grew in the systematic integration of management activities in the software production process.</a:t>
            </a:r>
          </a:p>
          <a:p>
            <a:pPr algn="just"/>
            <a:r>
              <a:rPr lang="en-GB" dirty="0"/>
              <a:t>Software development and project management thus started to be integrated more tightly. This is exactly what we start doing in this course.</a:t>
            </a:r>
            <a:endParaRPr lang="en-US" dirty="0"/>
          </a:p>
        </p:txBody>
      </p:sp>
    </p:spTree>
    <p:extLst>
      <p:ext uri="{BB962C8B-B14F-4D97-AF65-F5344CB8AC3E}">
        <p14:creationId xmlns:p14="http://schemas.microsoft.com/office/powerpoint/2010/main" val="2851702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5A69-A6FA-4E52-9390-C764758D65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7A3FD9-17CA-461E-8A2E-A122EEAD115D}"/>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A201C288-1B3A-47E3-A1B9-002CBCF85FDF}"/>
              </a:ext>
            </a:extLst>
          </p:cNvPr>
          <p:cNvPicPr>
            <a:picLocks noGrp="1" noChangeAspect="1"/>
          </p:cNvPicPr>
          <p:nvPr/>
        </p:nvPicPr>
        <p:blipFill>
          <a:blip r:embed="rId2" cstate="print"/>
          <a:stretch>
            <a:fillRect/>
          </a:stretch>
        </p:blipFill>
        <p:spPr>
          <a:xfrm>
            <a:off x="3802846" y="1166019"/>
            <a:ext cx="4586308" cy="4525962"/>
          </a:xfrm>
          <a:prstGeom prst="rect">
            <a:avLst/>
          </a:prstGeom>
        </p:spPr>
      </p:pic>
    </p:spTree>
    <p:extLst>
      <p:ext uri="{BB962C8B-B14F-4D97-AF65-F5344CB8AC3E}">
        <p14:creationId xmlns:p14="http://schemas.microsoft.com/office/powerpoint/2010/main" val="3408105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4746</TotalTime>
  <Words>1735</Words>
  <Application>Microsoft Office PowerPoint</Application>
  <PresentationFormat>Widescreen</PresentationFormat>
  <Paragraphs>75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Software Project Management</vt:lpstr>
      <vt:lpstr>What is a Project</vt:lpstr>
      <vt:lpstr>What is a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Programs, Subprojects, and Portfolios</vt:lpstr>
      <vt:lpstr>PowerPoint Presentation</vt:lpstr>
      <vt:lpstr>PowerPoint Presentation</vt:lpstr>
      <vt:lpstr>PowerPoint Presentation</vt:lpstr>
      <vt:lpstr>PowerPoint Presentation</vt:lpstr>
      <vt:lpstr>What is a Software Project</vt:lpstr>
      <vt:lpstr>Application Development</vt:lpstr>
      <vt:lpstr>PowerPoint Presentation</vt:lpstr>
      <vt:lpstr>PowerPoint Presentation</vt:lpstr>
      <vt:lpstr>Software Project Management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Nasim Adnan</dc:creator>
  <cp:lastModifiedBy>Md. Nasim Adnan</cp:lastModifiedBy>
  <cp:revision>42</cp:revision>
  <dcterms:created xsi:type="dcterms:W3CDTF">2024-01-14T07:49:13Z</dcterms:created>
  <dcterms:modified xsi:type="dcterms:W3CDTF">2025-07-29T09:07:42Z</dcterms:modified>
</cp:coreProperties>
</file>