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2" r:id="rId37"/>
    <p:sldId id="291" r:id="rId38"/>
    <p:sldId id="293" r:id="rId39"/>
    <p:sldId id="294" r:id="rId40"/>
    <p:sldId id="295" r:id="rId41"/>
    <p:sldId id="296" r:id="rId42"/>
    <p:sldId id="297"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152CB4-FFDB-4F55-AA88-169F044B9046}" type="doc">
      <dgm:prSet loTypeId="urn:microsoft.com/office/officeart/2005/8/layout/cycle8" loCatId="cycle" qsTypeId="urn:microsoft.com/office/officeart/2005/8/quickstyle/simple1" qsCatId="simple" csTypeId="urn:microsoft.com/office/officeart/2005/8/colors/accent1_2" csCatId="accent1" phldr="1"/>
      <dgm:spPr/>
    </dgm:pt>
    <dgm:pt modelId="{B891FC5D-2B13-4605-B851-3D18E23F5BD2}">
      <dgm:prSet phldrT="[Text]" custT="1"/>
      <dgm:spPr/>
      <dgm:t>
        <a:bodyPr/>
        <a:lstStyle/>
        <a:p>
          <a:r>
            <a:rPr lang="en-US" sz="4400" dirty="0" smtClean="0"/>
            <a:t>Events</a:t>
          </a:r>
          <a:endParaRPr lang="en-US" sz="4400" dirty="0"/>
        </a:p>
      </dgm:t>
    </dgm:pt>
    <dgm:pt modelId="{46056C38-6581-4D8C-B711-351A45B1201F}" type="parTrans" cxnId="{FEE14B97-CC58-4B51-B5EC-BD3238D2AAAB}">
      <dgm:prSet/>
      <dgm:spPr/>
    </dgm:pt>
    <dgm:pt modelId="{7694FB8D-2906-4837-B82E-36929A27E3D6}" type="sibTrans" cxnId="{FEE14B97-CC58-4B51-B5EC-BD3238D2AAAB}">
      <dgm:prSet/>
      <dgm:spPr/>
    </dgm:pt>
    <dgm:pt modelId="{EF2C7AD7-6F85-4ADC-942E-4BD5899737BA}">
      <dgm:prSet phldrT="[Text]" custT="1"/>
      <dgm:spPr/>
      <dgm:t>
        <a:bodyPr/>
        <a:lstStyle/>
        <a:p>
          <a:r>
            <a:rPr lang="en-US" sz="4000" dirty="0" smtClean="0"/>
            <a:t>Agents(Entities)</a:t>
          </a:r>
          <a:endParaRPr lang="en-US" sz="4000" dirty="0"/>
        </a:p>
      </dgm:t>
    </dgm:pt>
    <dgm:pt modelId="{EFBF8DA0-88EC-4E22-8B0B-9578FC5EB8CE}" type="parTrans" cxnId="{6C8589AD-C35A-4F0C-8724-A766003A7C38}">
      <dgm:prSet/>
      <dgm:spPr/>
    </dgm:pt>
    <dgm:pt modelId="{3CE913FF-DC4D-4AFB-B56F-038577CCDE92}" type="sibTrans" cxnId="{6C8589AD-C35A-4F0C-8724-A766003A7C38}">
      <dgm:prSet/>
      <dgm:spPr/>
    </dgm:pt>
    <dgm:pt modelId="{BD8149C3-93A7-4534-B4B4-22F83123614C}">
      <dgm:prSet phldrT="[Text]" custT="1"/>
      <dgm:spPr/>
      <dgm:t>
        <a:bodyPr/>
        <a:lstStyle/>
        <a:p>
          <a:r>
            <a:rPr lang="en-US" sz="4400" dirty="0" smtClean="0"/>
            <a:t>Resources</a:t>
          </a:r>
          <a:endParaRPr lang="en-US" sz="4400" dirty="0"/>
        </a:p>
      </dgm:t>
    </dgm:pt>
    <dgm:pt modelId="{3B66B19F-3933-42FC-9278-40F26B693644}" type="parTrans" cxnId="{99F06B7C-5EAC-47EA-AF44-94C70CE8AE80}">
      <dgm:prSet/>
      <dgm:spPr/>
    </dgm:pt>
    <dgm:pt modelId="{8293BAE6-84EB-4AF3-80B9-B68C24B53812}" type="sibTrans" cxnId="{99F06B7C-5EAC-47EA-AF44-94C70CE8AE80}">
      <dgm:prSet/>
      <dgm:spPr/>
    </dgm:pt>
    <dgm:pt modelId="{BE00A366-5BD4-4D87-A868-F598D34D788B}" type="pres">
      <dgm:prSet presAssocID="{E1152CB4-FFDB-4F55-AA88-169F044B9046}" presName="compositeShape" presStyleCnt="0">
        <dgm:presLayoutVars>
          <dgm:chMax val="7"/>
          <dgm:dir/>
          <dgm:resizeHandles val="exact"/>
        </dgm:presLayoutVars>
      </dgm:prSet>
      <dgm:spPr/>
    </dgm:pt>
    <dgm:pt modelId="{62E0195B-16FB-45FB-8BB2-D9D0C1D79DAB}" type="pres">
      <dgm:prSet presAssocID="{E1152CB4-FFDB-4F55-AA88-169F044B9046}" presName="wedge1" presStyleLbl="node1" presStyleIdx="0" presStyleCnt="3" custScaleX="200321" custScaleY="126153"/>
      <dgm:spPr/>
    </dgm:pt>
    <dgm:pt modelId="{A8C359DD-9359-42BF-B804-13441BC0412C}" type="pres">
      <dgm:prSet presAssocID="{E1152CB4-FFDB-4F55-AA88-169F044B9046}" presName="dummy1a" presStyleCnt="0"/>
      <dgm:spPr/>
    </dgm:pt>
    <dgm:pt modelId="{B3D36C5F-4994-4D2C-B672-88890F990290}" type="pres">
      <dgm:prSet presAssocID="{E1152CB4-FFDB-4F55-AA88-169F044B9046}" presName="dummy1b" presStyleCnt="0"/>
      <dgm:spPr/>
    </dgm:pt>
    <dgm:pt modelId="{36EE482B-FDD9-488A-B7ED-ABAD01B57489}" type="pres">
      <dgm:prSet presAssocID="{E1152CB4-FFDB-4F55-AA88-169F044B9046}" presName="wedge1Tx" presStyleLbl="node1" presStyleIdx="0" presStyleCnt="3">
        <dgm:presLayoutVars>
          <dgm:chMax val="0"/>
          <dgm:chPref val="0"/>
          <dgm:bulletEnabled val="1"/>
        </dgm:presLayoutVars>
      </dgm:prSet>
      <dgm:spPr/>
    </dgm:pt>
    <dgm:pt modelId="{1A201BFB-CB3A-43E3-BB59-27C8DFDCFF0D}" type="pres">
      <dgm:prSet presAssocID="{E1152CB4-FFDB-4F55-AA88-169F044B9046}" presName="wedge2" presStyleLbl="node1" presStyleIdx="1" presStyleCnt="3" custScaleX="180388" custScaleY="130636"/>
      <dgm:spPr/>
      <dgm:t>
        <a:bodyPr/>
        <a:lstStyle/>
        <a:p>
          <a:endParaRPr lang="en-US"/>
        </a:p>
      </dgm:t>
    </dgm:pt>
    <dgm:pt modelId="{77832496-325C-4299-86F2-4A9DF237A2D9}" type="pres">
      <dgm:prSet presAssocID="{E1152CB4-FFDB-4F55-AA88-169F044B9046}" presName="dummy2a" presStyleCnt="0"/>
      <dgm:spPr/>
    </dgm:pt>
    <dgm:pt modelId="{FFE2A5B2-8264-44EC-A6FF-09B2B102FEBC}" type="pres">
      <dgm:prSet presAssocID="{E1152CB4-FFDB-4F55-AA88-169F044B9046}" presName="dummy2b" presStyleCnt="0"/>
      <dgm:spPr/>
    </dgm:pt>
    <dgm:pt modelId="{C3BAB207-DE1F-4509-9CF8-43EAC2CF6EBE}" type="pres">
      <dgm:prSet presAssocID="{E1152CB4-FFDB-4F55-AA88-169F044B9046}" presName="wedge2Tx" presStyleLbl="node1" presStyleIdx="1" presStyleCnt="3">
        <dgm:presLayoutVars>
          <dgm:chMax val="0"/>
          <dgm:chPref val="0"/>
          <dgm:bulletEnabled val="1"/>
        </dgm:presLayoutVars>
      </dgm:prSet>
      <dgm:spPr/>
      <dgm:t>
        <a:bodyPr/>
        <a:lstStyle/>
        <a:p>
          <a:endParaRPr lang="en-US"/>
        </a:p>
      </dgm:t>
    </dgm:pt>
    <dgm:pt modelId="{603A871B-779E-4889-B3C5-B08DDBE069F5}" type="pres">
      <dgm:prSet presAssocID="{E1152CB4-FFDB-4F55-AA88-169F044B9046}" presName="wedge3" presStyleLbl="node1" presStyleIdx="2" presStyleCnt="3" custScaleX="184286" custScaleY="127939"/>
      <dgm:spPr/>
    </dgm:pt>
    <dgm:pt modelId="{575118BB-ABA6-45EC-866B-E68888903123}" type="pres">
      <dgm:prSet presAssocID="{E1152CB4-FFDB-4F55-AA88-169F044B9046}" presName="dummy3a" presStyleCnt="0"/>
      <dgm:spPr/>
    </dgm:pt>
    <dgm:pt modelId="{C7CDAEEE-227F-4F55-98D6-9059E57C6DEC}" type="pres">
      <dgm:prSet presAssocID="{E1152CB4-FFDB-4F55-AA88-169F044B9046}" presName="dummy3b" presStyleCnt="0"/>
      <dgm:spPr/>
    </dgm:pt>
    <dgm:pt modelId="{3B3C3AF8-515C-44DF-94DA-B60F245E9009}" type="pres">
      <dgm:prSet presAssocID="{E1152CB4-FFDB-4F55-AA88-169F044B9046}" presName="wedge3Tx" presStyleLbl="node1" presStyleIdx="2" presStyleCnt="3">
        <dgm:presLayoutVars>
          <dgm:chMax val="0"/>
          <dgm:chPref val="0"/>
          <dgm:bulletEnabled val="1"/>
        </dgm:presLayoutVars>
      </dgm:prSet>
      <dgm:spPr/>
    </dgm:pt>
    <dgm:pt modelId="{9FF7A030-24B6-4608-8134-42CAD17EB639}" type="pres">
      <dgm:prSet presAssocID="{7694FB8D-2906-4837-B82E-36929A27E3D6}" presName="arrowWedge1" presStyleLbl="fgSibTrans2D1" presStyleIdx="0" presStyleCnt="3" custLinFactNeighborX="27654" custLinFactNeighborY="-2422"/>
      <dgm:spPr/>
    </dgm:pt>
    <dgm:pt modelId="{C5E472BE-C969-44CC-BD84-B5F131587592}" type="pres">
      <dgm:prSet presAssocID="{3CE913FF-DC4D-4AFB-B56F-038577CCDE92}" presName="arrowWedge2" presStyleLbl="fgSibTrans2D1" presStyleIdx="1" presStyleCnt="3" custLinFactNeighborX="2506" custLinFactNeighborY="17621"/>
      <dgm:spPr/>
    </dgm:pt>
    <dgm:pt modelId="{3C50955C-AE90-4C56-B69B-A00B40023405}" type="pres">
      <dgm:prSet presAssocID="{8293BAE6-84EB-4AF3-80B9-B68C24B53812}" presName="arrowWedge3" presStyleLbl="fgSibTrans2D1" presStyleIdx="2" presStyleCnt="3" custLinFactNeighborX="-22363" custLinFactNeighborY="-627"/>
      <dgm:spPr/>
    </dgm:pt>
  </dgm:ptLst>
  <dgm:cxnLst>
    <dgm:cxn modelId="{97B2AD19-9E34-4EB7-A1FA-28873B5DC029}" type="presOf" srcId="{B891FC5D-2B13-4605-B851-3D18E23F5BD2}" destId="{36EE482B-FDD9-488A-B7ED-ABAD01B57489}" srcOrd="1" destOrd="0" presId="urn:microsoft.com/office/officeart/2005/8/layout/cycle8"/>
    <dgm:cxn modelId="{6D88867E-A068-4FA7-A2EE-0DDBEC417870}" type="presOf" srcId="{E1152CB4-FFDB-4F55-AA88-169F044B9046}" destId="{BE00A366-5BD4-4D87-A868-F598D34D788B}" srcOrd="0" destOrd="0" presId="urn:microsoft.com/office/officeart/2005/8/layout/cycle8"/>
    <dgm:cxn modelId="{470CFAFE-F6E4-4F7D-BA6F-641B6ABD6497}" type="presOf" srcId="{BD8149C3-93A7-4534-B4B4-22F83123614C}" destId="{603A871B-779E-4889-B3C5-B08DDBE069F5}" srcOrd="0" destOrd="0" presId="urn:microsoft.com/office/officeart/2005/8/layout/cycle8"/>
    <dgm:cxn modelId="{CE225BA0-7ABE-493C-8504-C645576C4DAC}" type="presOf" srcId="{EF2C7AD7-6F85-4ADC-942E-4BD5899737BA}" destId="{1A201BFB-CB3A-43E3-BB59-27C8DFDCFF0D}" srcOrd="0" destOrd="0" presId="urn:microsoft.com/office/officeart/2005/8/layout/cycle8"/>
    <dgm:cxn modelId="{91028212-F31E-49C2-A236-700001C3B117}" type="presOf" srcId="{BD8149C3-93A7-4534-B4B4-22F83123614C}" destId="{3B3C3AF8-515C-44DF-94DA-B60F245E9009}" srcOrd="1" destOrd="0" presId="urn:microsoft.com/office/officeart/2005/8/layout/cycle8"/>
    <dgm:cxn modelId="{FEE14B97-CC58-4B51-B5EC-BD3238D2AAAB}" srcId="{E1152CB4-FFDB-4F55-AA88-169F044B9046}" destId="{B891FC5D-2B13-4605-B851-3D18E23F5BD2}" srcOrd="0" destOrd="0" parTransId="{46056C38-6581-4D8C-B711-351A45B1201F}" sibTransId="{7694FB8D-2906-4837-B82E-36929A27E3D6}"/>
    <dgm:cxn modelId="{99F06B7C-5EAC-47EA-AF44-94C70CE8AE80}" srcId="{E1152CB4-FFDB-4F55-AA88-169F044B9046}" destId="{BD8149C3-93A7-4534-B4B4-22F83123614C}" srcOrd="2" destOrd="0" parTransId="{3B66B19F-3933-42FC-9278-40F26B693644}" sibTransId="{8293BAE6-84EB-4AF3-80B9-B68C24B53812}"/>
    <dgm:cxn modelId="{951A9EBF-4318-432F-BAF4-D04524ECFE10}" type="presOf" srcId="{B891FC5D-2B13-4605-B851-3D18E23F5BD2}" destId="{62E0195B-16FB-45FB-8BB2-D9D0C1D79DAB}" srcOrd="0" destOrd="0" presId="urn:microsoft.com/office/officeart/2005/8/layout/cycle8"/>
    <dgm:cxn modelId="{6C8589AD-C35A-4F0C-8724-A766003A7C38}" srcId="{E1152CB4-FFDB-4F55-AA88-169F044B9046}" destId="{EF2C7AD7-6F85-4ADC-942E-4BD5899737BA}" srcOrd="1" destOrd="0" parTransId="{EFBF8DA0-88EC-4E22-8B0B-9578FC5EB8CE}" sibTransId="{3CE913FF-DC4D-4AFB-B56F-038577CCDE92}"/>
    <dgm:cxn modelId="{74BEF9EA-0D2D-487F-B88B-2D8C9A966504}" type="presOf" srcId="{EF2C7AD7-6F85-4ADC-942E-4BD5899737BA}" destId="{C3BAB207-DE1F-4509-9CF8-43EAC2CF6EBE}" srcOrd="1" destOrd="0" presId="urn:microsoft.com/office/officeart/2005/8/layout/cycle8"/>
    <dgm:cxn modelId="{CDE50A69-8275-42D2-A27A-ACFADD2F6508}" type="presParOf" srcId="{BE00A366-5BD4-4D87-A868-F598D34D788B}" destId="{62E0195B-16FB-45FB-8BB2-D9D0C1D79DAB}" srcOrd="0" destOrd="0" presId="urn:microsoft.com/office/officeart/2005/8/layout/cycle8"/>
    <dgm:cxn modelId="{3C885794-7F6F-4776-8D51-A0F73A480CE0}" type="presParOf" srcId="{BE00A366-5BD4-4D87-A868-F598D34D788B}" destId="{A8C359DD-9359-42BF-B804-13441BC0412C}" srcOrd="1" destOrd="0" presId="urn:microsoft.com/office/officeart/2005/8/layout/cycle8"/>
    <dgm:cxn modelId="{DD4266BF-66E6-41AD-B827-54E5ADD42C42}" type="presParOf" srcId="{BE00A366-5BD4-4D87-A868-F598D34D788B}" destId="{B3D36C5F-4994-4D2C-B672-88890F990290}" srcOrd="2" destOrd="0" presId="urn:microsoft.com/office/officeart/2005/8/layout/cycle8"/>
    <dgm:cxn modelId="{95E3E5A6-9FF8-4B4E-BAB8-698989BF7EC2}" type="presParOf" srcId="{BE00A366-5BD4-4D87-A868-F598D34D788B}" destId="{36EE482B-FDD9-488A-B7ED-ABAD01B57489}" srcOrd="3" destOrd="0" presId="urn:microsoft.com/office/officeart/2005/8/layout/cycle8"/>
    <dgm:cxn modelId="{D60ABA1B-6C23-4FF1-91A1-76E3766B14EC}" type="presParOf" srcId="{BE00A366-5BD4-4D87-A868-F598D34D788B}" destId="{1A201BFB-CB3A-43E3-BB59-27C8DFDCFF0D}" srcOrd="4" destOrd="0" presId="urn:microsoft.com/office/officeart/2005/8/layout/cycle8"/>
    <dgm:cxn modelId="{9FC976D1-3000-463F-9CE9-EA9D3B46BDB1}" type="presParOf" srcId="{BE00A366-5BD4-4D87-A868-F598D34D788B}" destId="{77832496-325C-4299-86F2-4A9DF237A2D9}" srcOrd="5" destOrd="0" presId="urn:microsoft.com/office/officeart/2005/8/layout/cycle8"/>
    <dgm:cxn modelId="{268D3DB1-FE1E-431A-9F76-4913A4E0C673}" type="presParOf" srcId="{BE00A366-5BD4-4D87-A868-F598D34D788B}" destId="{FFE2A5B2-8264-44EC-A6FF-09B2B102FEBC}" srcOrd="6" destOrd="0" presId="urn:microsoft.com/office/officeart/2005/8/layout/cycle8"/>
    <dgm:cxn modelId="{21887565-716A-4354-AFC7-4AC218159D51}" type="presParOf" srcId="{BE00A366-5BD4-4D87-A868-F598D34D788B}" destId="{C3BAB207-DE1F-4509-9CF8-43EAC2CF6EBE}" srcOrd="7" destOrd="0" presId="urn:microsoft.com/office/officeart/2005/8/layout/cycle8"/>
    <dgm:cxn modelId="{A4F4BBE3-0BE2-4141-AD16-E8459BA6192D}" type="presParOf" srcId="{BE00A366-5BD4-4D87-A868-F598D34D788B}" destId="{603A871B-779E-4889-B3C5-B08DDBE069F5}" srcOrd="8" destOrd="0" presId="urn:microsoft.com/office/officeart/2005/8/layout/cycle8"/>
    <dgm:cxn modelId="{8F71ADE5-6EC2-4F26-9FD6-530AF7BB2671}" type="presParOf" srcId="{BE00A366-5BD4-4D87-A868-F598D34D788B}" destId="{575118BB-ABA6-45EC-866B-E68888903123}" srcOrd="9" destOrd="0" presId="urn:microsoft.com/office/officeart/2005/8/layout/cycle8"/>
    <dgm:cxn modelId="{2D707DD3-D3D7-4DE2-A5B8-506BB0BE333D}" type="presParOf" srcId="{BE00A366-5BD4-4D87-A868-F598D34D788B}" destId="{C7CDAEEE-227F-4F55-98D6-9059E57C6DEC}" srcOrd="10" destOrd="0" presId="urn:microsoft.com/office/officeart/2005/8/layout/cycle8"/>
    <dgm:cxn modelId="{84188AB0-B3D9-48DC-BF05-A7538AB1C43A}" type="presParOf" srcId="{BE00A366-5BD4-4D87-A868-F598D34D788B}" destId="{3B3C3AF8-515C-44DF-94DA-B60F245E9009}" srcOrd="11" destOrd="0" presId="urn:microsoft.com/office/officeart/2005/8/layout/cycle8"/>
    <dgm:cxn modelId="{0B797C82-2EBD-4C0A-92B2-3354E994416B}" type="presParOf" srcId="{BE00A366-5BD4-4D87-A868-F598D34D788B}" destId="{9FF7A030-24B6-4608-8134-42CAD17EB639}" srcOrd="12" destOrd="0" presId="urn:microsoft.com/office/officeart/2005/8/layout/cycle8"/>
    <dgm:cxn modelId="{E9D191BF-30AC-4B9F-BDE2-A242F6FC6C33}" type="presParOf" srcId="{BE00A366-5BD4-4D87-A868-F598D34D788B}" destId="{C5E472BE-C969-44CC-BD84-B5F131587592}" srcOrd="13" destOrd="0" presId="urn:microsoft.com/office/officeart/2005/8/layout/cycle8"/>
    <dgm:cxn modelId="{EF3A067F-AAD1-449A-9370-291907518624}" type="presParOf" srcId="{BE00A366-5BD4-4D87-A868-F598D34D788B}" destId="{3C50955C-AE90-4C56-B69B-A00B40023405}"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E0195B-16FB-45FB-8BB2-D9D0C1D79DAB}">
      <dsp:nvSpPr>
        <dsp:cNvPr id="0" name=""/>
        <dsp:cNvSpPr/>
      </dsp:nvSpPr>
      <dsp:spPr>
        <a:xfrm>
          <a:off x="306889" y="-228589"/>
          <a:ext cx="7615821" cy="4796096"/>
        </a:xfrm>
        <a:prstGeom prst="pie">
          <a:avLst>
            <a:gd name="adj1" fmla="val 16200000"/>
            <a:gd name="adj2" fmla="val 18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r>
            <a:rPr lang="en-US" sz="4400" kern="1200" dirty="0" smtClean="0"/>
            <a:t>Events</a:t>
          </a:r>
          <a:endParaRPr lang="en-US" sz="4400" kern="1200" dirty="0"/>
        </a:p>
      </dsp:txBody>
      <dsp:txXfrm>
        <a:off x="4320608" y="787725"/>
        <a:ext cx="2719936" cy="1427409"/>
      </dsp:txXfrm>
    </dsp:sp>
    <dsp:sp modelId="{1A201BFB-CB3A-43E3-BB59-27C8DFDCFF0D}">
      <dsp:nvSpPr>
        <dsp:cNvPr id="0" name=""/>
        <dsp:cNvSpPr/>
      </dsp:nvSpPr>
      <dsp:spPr>
        <a:xfrm>
          <a:off x="607497" y="-178028"/>
          <a:ext cx="6858007" cy="4966531"/>
        </a:xfrm>
        <a:prstGeom prst="pie">
          <a:avLst>
            <a:gd name="adj1" fmla="val 1800000"/>
            <a:gd name="adj2" fmla="val 90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lvl="0" algn="ctr" defTabSz="1778000">
            <a:lnSpc>
              <a:spcPct val="90000"/>
            </a:lnSpc>
            <a:spcBef>
              <a:spcPct val="0"/>
            </a:spcBef>
            <a:spcAft>
              <a:spcPct val="35000"/>
            </a:spcAft>
          </a:pPr>
          <a:r>
            <a:rPr lang="en-US" sz="4000" kern="1200" dirty="0" smtClean="0"/>
            <a:t>Agents(Entities)</a:t>
          </a:r>
          <a:endParaRPr lang="en-US" sz="4000" kern="1200" dirty="0"/>
        </a:p>
      </dsp:txBody>
      <dsp:txXfrm>
        <a:off x="2240356" y="3044304"/>
        <a:ext cx="3673932" cy="1300758"/>
      </dsp:txXfrm>
    </dsp:sp>
    <dsp:sp modelId="{603A871B-779E-4889-B3C5-B08DDBE069F5}">
      <dsp:nvSpPr>
        <dsp:cNvPr id="0" name=""/>
        <dsp:cNvSpPr/>
      </dsp:nvSpPr>
      <dsp:spPr>
        <a:xfrm>
          <a:off x="455100" y="-262539"/>
          <a:ext cx="7006201" cy="4863996"/>
        </a:xfrm>
        <a:prstGeom prst="pie">
          <a:avLst>
            <a:gd name="adj1" fmla="val 90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lvl="0" algn="ctr" defTabSz="1955800">
            <a:lnSpc>
              <a:spcPct val="90000"/>
            </a:lnSpc>
            <a:spcBef>
              <a:spcPct val="0"/>
            </a:spcBef>
            <a:spcAft>
              <a:spcPct val="35000"/>
            </a:spcAft>
          </a:pPr>
          <a:r>
            <a:rPr lang="en-US" sz="4400" kern="1200" dirty="0" smtClean="0"/>
            <a:t>Resources</a:t>
          </a:r>
          <a:endParaRPr lang="en-US" sz="4400" kern="1200" dirty="0"/>
        </a:p>
      </dsp:txBody>
      <dsp:txXfrm>
        <a:off x="1266652" y="768164"/>
        <a:ext cx="2502214" cy="1447617"/>
      </dsp:txXfrm>
    </dsp:sp>
    <dsp:sp modelId="{9FF7A030-24B6-4608-8134-42CAD17EB639}">
      <dsp:nvSpPr>
        <dsp:cNvPr id="0" name=""/>
        <dsp:cNvSpPr/>
      </dsp:nvSpPr>
      <dsp:spPr>
        <a:xfrm>
          <a:off x="3124205" y="-76215"/>
          <a:ext cx="4272509" cy="4272509"/>
        </a:xfrm>
        <a:prstGeom prst="circularArrow">
          <a:avLst>
            <a:gd name="adj1" fmla="val 5085"/>
            <a:gd name="adj2" fmla="val 327528"/>
            <a:gd name="adj3" fmla="val 1472472"/>
            <a:gd name="adj4" fmla="val 1619943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5E472BE-C969-44CC-BD84-B5F131587592}">
      <dsp:nvSpPr>
        <dsp:cNvPr id="0" name=""/>
        <dsp:cNvSpPr/>
      </dsp:nvSpPr>
      <dsp:spPr>
        <a:xfrm>
          <a:off x="1981213" y="914397"/>
          <a:ext cx="4272509" cy="4272509"/>
        </a:xfrm>
        <a:prstGeom prst="circularArrow">
          <a:avLst>
            <a:gd name="adj1" fmla="val 5085"/>
            <a:gd name="adj2" fmla="val 327528"/>
            <a:gd name="adj3" fmla="val 8671970"/>
            <a:gd name="adj4" fmla="val 1800502"/>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50955C-AE90-4C56-B69B-A00B40023405}">
      <dsp:nvSpPr>
        <dsp:cNvPr id="0" name=""/>
        <dsp:cNvSpPr/>
      </dsp:nvSpPr>
      <dsp:spPr>
        <a:xfrm>
          <a:off x="838213" y="-18"/>
          <a:ext cx="4272509" cy="4272509"/>
        </a:xfrm>
        <a:prstGeom prst="circularArrow">
          <a:avLst>
            <a:gd name="adj1" fmla="val 5085"/>
            <a:gd name="adj2" fmla="val 327528"/>
            <a:gd name="adj3" fmla="val 15873039"/>
            <a:gd name="adj4" fmla="val 90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geeksforgeeks.org/dbm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geeksforgeeks.org/basic-crud-create-read-update-delete-in-asp-net-mvc-using-c-sharp-and-entity-framework/"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t>DATABASE SYSTEMS </a:t>
            </a:r>
            <a:endParaRPr lang="en-US" sz="4800"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Database </a:t>
            </a:r>
            <a:r>
              <a:rPr lang="en-US" dirty="0" smtClean="0"/>
              <a:t>Systems:</a:t>
            </a:r>
          </a:p>
          <a:p>
            <a:pPr marL="0" indent="0" algn="just">
              <a:buNone/>
            </a:pPr>
            <a:r>
              <a:rPr lang="en-US" dirty="0"/>
              <a:t>Over the past 50 years, a number of different approaches or models have represented accounting information systems. Each new model evolved because of the shortcomings and limitations of its predecessor. An interesting feature in this evolution is that the newest technique does not immediately replace older models. Thus, at any point in time, various generations of systems exist across different organizations and may even coexist within a single enterprise.  </a:t>
            </a:r>
          </a:p>
        </p:txBody>
      </p:sp>
    </p:spTree>
    <p:extLst>
      <p:ext uri="{BB962C8B-B14F-4D97-AF65-F5344CB8AC3E}">
        <p14:creationId xmlns:p14="http://schemas.microsoft.com/office/powerpoint/2010/main" val="4288246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Systems</a:t>
            </a:r>
          </a:p>
        </p:txBody>
      </p:sp>
      <p:sp>
        <p:nvSpPr>
          <p:cNvPr id="3" name="Content Placeholder 2"/>
          <p:cNvSpPr>
            <a:spLocks noGrp="1"/>
          </p:cNvSpPr>
          <p:nvPr>
            <p:ph idx="1"/>
          </p:nvPr>
        </p:nvSpPr>
        <p:spPr/>
        <p:txBody>
          <a:bodyPr/>
          <a:lstStyle/>
          <a:p>
            <a:pPr marL="0" indent="0">
              <a:buNone/>
            </a:pPr>
            <a:r>
              <a:rPr lang="en-US" dirty="0"/>
              <a:t>The modern auditor needs to be familiar with the operational features of all AIS approaches that he or she is likely to encounter. This chapter deals with four such models: </a:t>
            </a:r>
            <a:endParaRPr lang="en-US" dirty="0" smtClean="0"/>
          </a:p>
          <a:p>
            <a:pPr>
              <a:buFont typeface="Wingdings" pitchFamily="2" charset="2"/>
              <a:buChar char="v"/>
            </a:pPr>
            <a:r>
              <a:rPr lang="en-US" dirty="0" smtClean="0"/>
              <a:t>  The Manual </a:t>
            </a:r>
            <a:r>
              <a:rPr lang="en-US" dirty="0"/>
              <a:t>processes, </a:t>
            </a:r>
            <a:endParaRPr lang="en-US" dirty="0" smtClean="0"/>
          </a:p>
          <a:p>
            <a:pPr>
              <a:buFont typeface="Wingdings" pitchFamily="2" charset="2"/>
              <a:buChar char="v"/>
            </a:pPr>
            <a:r>
              <a:rPr lang="en-US" dirty="0"/>
              <a:t> </a:t>
            </a:r>
            <a:r>
              <a:rPr lang="en-US" dirty="0" smtClean="0"/>
              <a:t> The Flat-file </a:t>
            </a:r>
            <a:r>
              <a:rPr lang="en-US" dirty="0"/>
              <a:t>systems, </a:t>
            </a:r>
            <a:endParaRPr lang="en-US" dirty="0" smtClean="0"/>
          </a:p>
          <a:p>
            <a:pPr>
              <a:buFont typeface="Wingdings" pitchFamily="2" charset="2"/>
              <a:buChar char="v"/>
            </a:pPr>
            <a:r>
              <a:rPr lang="en-US" dirty="0"/>
              <a:t> </a:t>
            </a:r>
            <a:r>
              <a:rPr lang="en-US" dirty="0" smtClean="0"/>
              <a:t> The </a:t>
            </a:r>
            <a:r>
              <a:rPr lang="en-US" dirty="0"/>
              <a:t>database approach, </a:t>
            </a:r>
            <a:endParaRPr lang="en-US" dirty="0" smtClean="0"/>
          </a:p>
          <a:p>
            <a:pPr>
              <a:buFont typeface="Wingdings" pitchFamily="2" charset="2"/>
              <a:buChar char="v"/>
            </a:pPr>
            <a:r>
              <a:rPr lang="en-US" dirty="0"/>
              <a:t> </a:t>
            </a:r>
            <a:r>
              <a:rPr lang="en-US" dirty="0" smtClean="0"/>
              <a:t> The </a:t>
            </a:r>
            <a:r>
              <a:rPr lang="en-US" dirty="0"/>
              <a:t>database management system.</a:t>
            </a:r>
          </a:p>
        </p:txBody>
      </p:sp>
    </p:spTree>
    <p:extLst>
      <p:ext uri="{BB962C8B-B14F-4D97-AF65-F5344CB8AC3E}">
        <p14:creationId xmlns:p14="http://schemas.microsoft.com/office/powerpoint/2010/main" val="1793636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The Manual </a:t>
            </a:r>
            <a:r>
              <a:rPr lang="en-US" dirty="0" smtClean="0"/>
              <a:t>process model</a:t>
            </a:r>
            <a:endParaRPr lang="en-US" dirty="0"/>
          </a:p>
        </p:txBody>
      </p:sp>
      <p:sp>
        <p:nvSpPr>
          <p:cNvPr id="3" name="Content Placeholder 2"/>
          <p:cNvSpPr>
            <a:spLocks noGrp="1"/>
          </p:cNvSpPr>
          <p:nvPr>
            <p:ph idx="1"/>
          </p:nvPr>
        </p:nvSpPr>
        <p:spPr>
          <a:xfrm>
            <a:off x="457200" y="1143000"/>
            <a:ext cx="8229600" cy="5334000"/>
          </a:xfrm>
        </p:spPr>
        <p:txBody>
          <a:bodyPr>
            <a:noAutofit/>
          </a:bodyPr>
          <a:lstStyle/>
          <a:p>
            <a:pPr marL="0" indent="0" algn="just">
              <a:buNone/>
            </a:pPr>
            <a:r>
              <a:rPr lang="en-US" sz="2800" dirty="0"/>
              <a:t>The manual process model is the oldest and most traditional form of accounting systems. Manual systems constitute the physical events, resources, and personnel that characterize many business processes. This includes such tasks as order-taking, warehousing materials, manufacturing goods for sale, shipping goods to customers, and placing orders with vendors</a:t>
            </a:r>
            <a:r>
              <a:rPr lang="en-US" sz="2800" dirty="0" smtClean="0"/>
              <a:t>.</a:t>
            </a:r>
          </a:p>
          <a:p>
            <a:pPr marL="0" indent="0" algn="just">
              <a:buNone/>
            </a:pPr>
            <a:r>
              <a:rPr lang="en-US" sz="2800" dirty="0"/>
              <a:t>This model also includes the physical task of record keeping that is manually. Manual procedures facilitate to understand the internal control activities, including segregation of functions, supervision, independent verification, audit trails, and access controls.</a:t>
            </a:r>
          </a:p>
        </p:txBody>
      </p:sp>
    </p:spTree>
    <p:extLst>
      <p:ext uri="{BB962C8B-B14F-4D97-AF65-F5344CB8AC3E}">
        <p14:creationId xmlns:p14="http://schemas.microsoft.com/office/powerpoint/2010/main" val="33863174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The Flat-File Model</a:t>
            </a:r>
          </a:p>
        </p:txBody>
      </p:sp>
      <p:sp>
        <p:nvSpPr>
          <p:cNvPr id="3" name="Content Placeholder 2"/>
          <p:cNvSpPr>
            <a:spLocks noGrp="1"/>
          </p:cNvSpPr>
          <p:nvPr>
            <p:ph idx="1"/>
          </p:nvPr>
        </p:nvSpPr>
        <p:spPr>
          <a:xfrm>
            <a:off x="457200" y="1219200"/>
            <a:ext cx="8229600" cy="5257800"/>
          </a:xfrm>
        </p:spPr>
        <p:txBody>
          <a:bodyPr>
            <a:normAutofit lnSpcReduction="10000"/>
          </a:bodyPr>
          <a:lstStyle/>
          <a:p>
            <a:pPr marL="0" indent="0">
              <a:buNone/>
            </a:pPr>
            <a:r>
              <a:rPr lang="en-US" dirty="0"/>
              <a:t>The flat-file approach is most often associated with so-called legacy systems (outdated systems). These are large mainframe systems that were implemented in the late 1960s through the 1980s</a:t>
            </a:r>
            <a:r>
              <a:rPr lang="en-US" dirty="0" smtClean="0"/>
              <a:t>.</a:t>
            </a:r>
          </a:p>
          <a:p>
            <a:pPr marL="0" indent="0">
              <a:buNone/>
            </a:pPr>
            <a:r>
              <a:rPr lang="en-US" dirty="0"/>
              <a:t>Organizations today still use these systems extensively. The flat-file model describes an environment in which individual data files are not related to other files. End users in this environment own their data files rather than share them with other users.</a:t>
            </a:r>
          </a:p>
        </p:txBody>
      </p:sp>
    </p:spTree>
    <p:extLst>
      <p:ext uri="{BB962C8B-B14F-4D97-AF65-F5344CB8AC3E}">
        <p14:creationId xmlns:p14="http://schemas.microsoft.com/office/powerpoint/2010/main" val="549567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fontScale="92500" lnSpcReduction="20000"/>
          </a:bodyPr>
          <a:lstStyle/>
          <a:p>
            <a:pPr marL="0" indent="0" algn="just">
              <a:buNone/>
            </a:pPr>
            <a:r>
              <a:rPr lang="en-US" dirty="0"/>
              <a:t>Many so-called legacy (outdated) systems are characterized by the flat-file approach to data management. In this environment, users own their data files. Exclusive ownership of data is a natural consequence of two problems associated with the legacy-system era</a:t>
            </a:r>
            <a:r>
              <a:rPr lang="en-US" dirty="0" smtClean="0"/>
              <a:t>.</a:t>
            </a:r>
          </a:p>
          <a:p>
            <a:pPr algn="just">
              <a:buFont typeface="Wingdings" pitchFamily="2" charset="2"/>
              <a:buChar char="Ø"/>
            </a:pPr>
            <a:r>
              <a:rPr lang="en-US" dirty="0" smtClean="0"/>
              <a:t>  The </a:t>
            </a:r>
            <a:r>
              <a:rPr lang="en-US" dirty="0"/>
              <a:t>first is a business culture that erects barriers between organizational units that inhibit entity-wide integration of data. </a:t>
            </a:r>
            <a:endParaRPr lang="en-US" dirty="0" smtClean="0"/>
          </a:p>
          <a:p>
            <a:pPr algn="just">
              <a:buFont typeface="Wingdings" pitchFamily="2" charset="2"/>
              <a:buChar char="Ø"/>
            </a:pPr>
            <a:r>
              <a:rPr lang="en-US" dirty="0"/>
              <a:t> </a:t>
            </a:r>
            <a:r>
              <a:rPr lang="en-US" dirty="0" smtClean="0"/>
              <a:t>  The </a:t>
            </a:r>
            <a:r>
              <a:rPr lang="en-US" dirty="0"/>
              <a:t>second problem stems from limitations in flat-file management technology that require data files to be structured to the unique needs of the primary user.</a:t>
            </a:r>
          </a:p>
        </p:txBody>
      </p:sp>
    </p:spTree>
    <p:extLst>
      <p:ext uri="{BB962C8B-B14F-4D97-AF65-F5344CB8AC3E}">
        <p14:creationId xmlns:p14="http://schemas.microsoft.com/office/powerpoint/2010/main" val="1371214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Figure: </a:t>
            </a:r>
            <a:r>
              <a:rPr lang="en-US" dirty="0"/>
              <a:t>Flat-File Data Management </a:t>
            </a:r>
          </a:p>
        </p:txBody>
      </p:sp>
      <p:pic>
        <p:nvPicPr>
          <p:cNvPr id="1026" name="Picture 2" descr="C:\Users\user\Downloads\4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95400" y="1905000"/>
            <a:ext cx="6477000"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09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Flat-File Data Management</a:t>
            </a:r>
          </a:p>
        </p:txBody>
      </p:sp>
      <p:sp>
        <p:nvSpPr>
          <p:cNvPr id="3" name="Content Placeholder 2"/>
          <p:cNvSpPr>
            <a:spLocks noGrp="1"/>
          </p:cNvSpPr>
          <p:nvPr>
            <p:ph idx="1"/>
          </p:nvPr>
        </p:nvSpPr>
        <p:spPr>
          <a:xfrm>
            <a:off x="457200" y="1219200"/>
            <a:ext cx="8229600" cy="5181600"/>
          </a:xfrm>
        </p:spPr>
        <p:txBody>
          <a:bodyPr>
            <a:normAutofit fontScale="85000" lnSpcReduction="10000"/>
          </a:bodyPr>
          <a:lstStyle/>
          <a:p>
            <a:pPr marL="0" indent="0" algn="just">
              <a:buNone/>
            </a:pPr>
            <a:r>
              <a:rPr lang="en-US" dirty="0"/>
              <a:t>In the above figure, the file contents are represented conceptually with letters. Each letter could signify a single data attribute (field), a record, or an entire file. Note also that data element B is present in all user files. This is called data redundancy and is the cause of three types of data management problems: </a:t>
            </a:r>
            <a:endParaRPr lang="en-US" dirty="0" smtClean="0"/>
          </a:p>
          <a:p>
            <a:pPr marL="0" indent="0" algn="just">
              <a:buNone/>
            </a:pPr>
            <a:r>
              <a:rPr lang="en-US" dirty="0"/>
              <a:t> </a:t>
            </a:r>
            <a:r>
              <a:rPr lang="en-US" dirty="0" smtClean="0"/>
              <a:t>  (1) Data </a:t>
            </a:r>
            <a:r>
              <a:rPr lang="en-US" dirty="0"/>
              <a:t>storage, </a:t>
            </a:r>
            <a:endParaRPr lang="en-US" dirty="0" smtClean="0"/>
          </a:p>
          <a:p>
            <a:pPr marL="0" indent="0" algn="just">
              <a:buNone/>
            </a:pPr>
            <a:r>
              <a:rPr lang="en-US" dirty="0" smtClean="0"/>
              <a:t>   (2) Data </a:t>
            </a:r>
            <a:r>
              <a:rPr lang="en-US" dirty="0"/>
              <a:t>updating, and </a:t>
            </a:r>
            <a:endParaRPr lang="en-US" dirty="0" smtClean="0"/>
          </a:p>
          <a:p>
            <a:pPr marL="0" indent="0" algn="just">
              <a:buNone/>
            </a:pPr>
            <a:r>
              <a:rPr lang="en-US" dirty="0" smtClean="0"/>
              <a:t>   (3) Currency </a:t>
            </a:r>
            <a:r>
              <a:rPr lang="en-US" dirty="0"/>
              <a:t>of information. </a:t>
            </a:r>
            <a:endParaRPr lang="en-US" dirty="0" smtClean="0"/>
          </a:p>
          <a:p>
            <a:pPr marL="0" indent="0" algn="just">
              <a:buNone/>
            </a:pPr>
            <a:r>
              <a:rPr lang="en-US" dirty="0" smtClean="0"/>
              <a:t>Each </a:t>
            </a:r>
            <a:r>
              <a:rPr lang="en-US" dirty="0"/>
              <a:t>of these, as well as a fourth problem, </a:t>
            </a:r>
            <a:r>
              <a:rPr lang="en-US" b="1" dirty="0">
                <a:solidFill>
                  <a:srgbClr val="FF0000"/>
                </a:solidFill>
              </a:rPr>
              <a:t>task-data dependency,</a:t>
            </a:r>
            <a:r>
              <a:rPr lang="en-US" dirty="0"/>
              <a:t> which is not directly related to data redundancy will be examined next.</a:t>
            </a:r>
          </a:p>
        </p:txBody>
      </p:sp>
    </p:spTree>
    <p:extLst>
      <p:ext uri="{BB962C8B-B14F-4D97-AF65-F5344CB8AC3E}">
        <p14:creationId xmlns:p14="http://schemas.microsoft.com/office/powerpoint/2010/main" val="4220360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The Database Approach</a:t>
            </a:r>
          </a:p>
        </p:txBody>
      </p:sp>
      <p:sp>
        <p:nvSpPr>
          <p:cNvPr id="3" name="Content Placeholder 2"/>
          <p:cNvSpPr>
            <a:spLocks noGrp="1"/>
          </p:cNvSpPr>
          <p:nvPr>
            <p:ph idx="1"/>
          </p:nvPr>
        </p:nvSpPr>
        <p:spPr>
          <a:xfrm>
            <a:off x="457200" y="1219200"/>
            <a:ext cx="8229600" cy="5105400"/>
          </a:xfrm>
        </p:spPr>
        <p:txBody>
          <a:bodyPr>
            <a:normAutofit fontScale="92500" lnSpcReduction="10000"/>
          </a:bodyPr>
          <a:lstStyle/>
          <a:p>
            <a:pPr marL="0" indent="0" algn="just">
              <a:buNone/>
            </a:pPr>
            <a:r>
              <a:rPr lang="en-US" dirty="0"/>
              <a:t>The most obvious change from the flat-file model is the pooling of data into a common database that is shared by all the users. Thus flat-file problems solved, because data sharing (the absence of ownership) is the central concept of the database approach. The followings are characteristics of database</a:t>
            </a:r>
            <a:r>
              <a:rPr lang="en-US" dirty="0" smtClean="0"/>
              <a:t>:</a:t>
            </a:r>
          </a:p>
          <a:p>
            <a:pPr algn="just">
              <a:buFont typeface="Wingdings" pitchFamily="2" charset="2"/>
              <a:buChar char="§"/>
            </a:pPr>
            <a:r>
              <a:rPr lang="en-US" dirty="0"/>
              <a:t> No data </a:t>
            </a:r>
            <a:r>
              <a:rPr lang="en-US" dirty="0" smtClean="0"/>
              <a:t>redundancy</a:t>
            </a:r>
          </a:p>
          <a:p>
            <a:pPr algn="just">
              <a:buFont typeface="Wingdings" pitchFamily="2" charset="2"/>
              <a:buChar char="§"/>
            </a:pPr>
            <a:r>
              <a:rPr lang="en-US" dirty="0"/>
              <a:t> Single </a:t>
            </a:r>
            <a:r>
              <a:rPr lang="en-US" dirty="0" smtClean="0"/>
              <a:t>update</a:t>
            </a:r>
          </a:p>
          <a:p>
            <a:pPr algn="just">
              <a:buFont typeface="Wingdings" pitchFamily="2" charset="2"/>
              <a:buChar char="§"/>
            </a:pPr>
            <a:r>
              <a:rPr lang="en-US" dirty="0"/>
              <a:t> Current </a:t>
            </a:r>
            <a:r>
              <a:rPr lang="en-US" dirty="0" smtClean="0"/>
              <a:t>values</a:t>
            </a:r>
          </a:p>
          <a:p>
            <a:pPr algn="just">
              <a:buFont typeface="Wingdings" pitchFamily="2" charset="2"/>
              <a:buChar char="§"/>
            </a:pPr>
            <a:r>
              <a:rPr lang="en-US" dirty="0"/>
              <a:t> Task-data independence</a:t>
            </a:r>
          </a:p>
        </p:txBody>
      </p:sp>
    </p:spTree>
    <p:extLst>
      <p:ext uri="{BB962C8B-B14F-4D97-AF65-F5344CB8AC3E}">
        <p14:creationId xmlns:p14="http://schemas.microsoft.com/office/powerpoint/2010/main" val="2053487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The Database Management System</a:t>
            </a:r>
          </a:p>
        </p:txBody>
      </p:sp>
      <p:sp>
        <p:nvSpPr>
          <p:cNvPr id="3" name="Content Placeholder 2"/>
          <p:cNvSpPr>
            <a:spLocks noGrp="1"/>
          </p:cNvSpPr>
          <p:nvPr>
            <p:ph idx="1"/>
          </p:nvPr>
        </p:nvSpPr>
        <p:spPr/>
        <p:txBody>
          <a:bodyPr>
            <a:normAutofit lnSpcReduction="10000"/>
          </a:bodyPr>
          <a:lstStyle/>
          <a:p>
            <a:pPr marL="0" indent="0" algn="just">
              <a:buNone/>
            </a:pPr>
            <a:r>
              <a:rPr lang="en-US" dirty="0"/>
              <a:t>The purpose of the DBMS is to provide controlled access to the database. The DBMS is a special software system that is programmed to know which data elements each user is authorized to access. The user’s program sends requests for data to the DBMS, which validates and authorizes access to the database in accordance with the user’s level of authority. The DBMS will deny requests for data that the user is unauthorized to access.</a:t>
            </a:r>
          </a:p>
        </p:txBody>
      </p:sp>
    </p:spTree>
    <p:extLst>
      <p:ext uri="{BB962C8B-B14F-4D97-AF65-F5344CB8AC3E}">
        <p14:creationId xmlns:p14="http://schemas.microsoft.com/office/powerpoint/2010/main" val="370119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user\Downloads\Captureh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1" y="1066800"/>
            <a:ext cx="6625062" cy="3887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23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just"/>
            <a:r>
              <a:rPr lang="en-US" sz="3800" dirty="0"/>
              <a:t>Difference between File system &amp; DBMS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86536114"/>
              </p:ext>
            </p:extLst>
          </p:nvPr>
        </p:nvGraphicFramePr>
        <p:xfrm>
          <a:off x="381000" y="1143000"/>
          <a:ext cx="8534400" cy="5447624"/>
        </p:xfrm>
        <a:graphic>
          <a:graphicData uri="http://schemas.openxmlformats.org/drawingml/2006/table">
            <a:tbl>
              <a:tblPr firstRow="1" bandRow="1">
                <a:tableStyleId>{5940675A-B579-460E-94D1-54222C63F5DA}</a:tableStyleId>
              </a:tblPr>
              <a:tblGrid>
                <a:gridCol w="4724400"/>
                <a:gridCol w="3810000"/>
              </a:tblGrid>
              <a:tr h="358816">
                <a:tc>
                  <a:txBody>
                    <a:bodyPr/>
                    <a:lstStyle/>
                    <a:p>
                      <a:pPr algn="ctr"/>
                      <a:r>
                        <a:rPr lang="en-US" sz="2000" b="1" dirty="0" smtClean="0"/>
                        <a:t>File system </a:t>
                      </a:r>
                      <a:endParaRPr lang="en-US" sz="2000" b="1" dirty="0"/>
                    </a:p>
                  </a:txBody>
                  <a:tcPr/>
                </a:tc>
                <a:tc>
                  <a:txBody>
                    <a:bodyPr/>
                    <a:lstStyle/>
                    <a:p>
                      <a:pPr algn="ctr"/>
                      <a:r>
                        <a:rPr lang="en-US" sz="2000" b="1" dirty="0" smtClean="0"/>
                        <a:t>DBMS</a:t>
                      </a:r>
                      <a:endParaRPr lang="en-US" sz="2000" b="1" dirty="0"/>
                    </a:p>
                  </a:txBody>
                  <a:tcPr/>
                </a:tc>
              </a:tr>
              <a:tr h="5051384">
                <a:tc>
                  <a:txBody>
                    <a:bodyPr/>
                    <a:lstStyle/>
                    <a:p>
                      <a:pPr marL="342900" indent="-342900">
                        <a:buAutoNum type="arabicPeriod"/>
                      </a:pPr>
                      <a:r>
                        <a:rPr lang="en-US" dirty="0" smtClean="0"/>
                        <a:t>File system is a collection of data. Any management with the file system, user has to write the procedures </a:t>
                      </a:r>
                    </a:p>
                    <a:p>
                      <a:pPr marL="342900" indent="-342900">
                        <a:buAutoNum type="arabicPeriod"/>
                      </a:pPr>
                      <a:r>
                        <a:rPr lang="en-US" dirty="0" smtClean="0"/>
                        <a:t>File system gives the details of the data representation and Storage of data. </a:t>
                      </a:r>
                    </a:p>
                    <a:p>
                      <a:pPr marL="342900" indent="-342900">
                        <a:buAutoNum type="arabicPeriod"/>
                      </a:pPr>
                      <a:r>
                        <a:rPr lang="en-US" dirty="0" smtClean="0"/>
                        <a:t>In File system storing and retrieving of data cannot be done efficiently. </a:t>
                      </a:r>
                    </a:p>
                    <a:p>
                      <a:pPr marL="342900" indent="-342900">
                        <a:buAutoNum type="arabicPeriod"/>
                      </a:pPr>
                      <a:r>
                        <a:rPr lang="en-US" dirty="0" smtClean="0"/>
                        <a:t>Concurrent access to the data in the file system has many problems like a. Reading the file while other deleting some information, updating some information </a:t>
                      </a:r>
                    </a:p>
                    <a:p>
                      <a:pPr marL="342900" indent="-342900">
                        <a:buAutoNum type="arabicPeriod"/>
                      </a:pPr>
                      <a:r>
                        <a:rPr lang="en-US" dirty="0" smtClean="0"/>
                        <a:t>File system doesn’t provide crash recovery mechanism. </a:t>
                      </a:r>
                      <a:r>
                        <a:rPr lang="en-US" dirty="0" err="1" smtClean="0"/>
                        <a:t>Eg</a:t>
                      </a:r>
                      <a:r>
                        <a:rPr lang="en-US" dirty="0" smtClean="0"/>
                        <a:t>. While we are entering some data into the file if System crashes then content of the file is lost. </a:t>
                      </a:r>
                    </a:p>
                    <a:p>
                      <a:pPr marL="342900" indent="-342900">
                        <a:buAutoNum type="arabicPeriod"/>
                      </a:pPr>
                      <a:r>
                        <a:rPr lang="en-US" dirty="0" smtClean="0"/>
                        <a:t>Protecting a file under file system is very difficult</a:t>
                      </a:r>
                    </a:p>
                  </a:txBody>
                  <a:tcPr/>
                </a:tc>
                <a:tc>
                  <a:txBody>
                    <a:bodyPr/>
                    <a:lstStyle/>
                    <a:p>
                      <a:pPr marL="342900" indent="-342900">
                        <a:buAutoNum type="arabicPeriod"/>
                      </a:pPr>
                      <a:r>
                        <a:rPr lang="en-US" dirty="0" smtClean="0"/>
                        <a:t>DBMS is a collection of data and user is not required to write the procedures for managing the database. </a:t>
                      </a:r>
                    </a:p>
                    <a:p>
                      <a:pPr marL="342900" indent="-342900">
                        <a:buAutoNum type="arabicPeriod"/>
                      </a:pPr>
                      <a:r>
                        <a:rPr lang="en-US" dirty="0" smtClean="0"/>
                        <a:t> DBMS provides an abstract view of data that hides the details. </a:t>
                      </a:r>
                    </a:p>
                    <a:p>
                      <a:pPr marL="342900" indent="-342900">
                        <a:buAutoNum type="arabicPeriod"/>
                      </a:pPr>
                      <a:r>
                        <a:rPr lang="en-US" dirty="0" smtClean="0"/>
                        <a:t>DBMS is efficient to use since there are wide varieties of sophisticated techniques to store and retrieve the data. </a:t>
                      </a:r>
                    </a:p>
                    <a:p>
                      <a:pPr marL="342900" indent="-342900">
                        <a:buAutoNum type="arabicPeriod"/>
                      </a:pPr>
                      <a:r>
                        <a:rPr lang="en-US" dirty="0" smtClean="0"/>
                        <a:t> DBMS takes care of Concurrent access using some form of locking. </a:t>
                      </a:r>
                    </a:p>
                    <a:p>
                      <a:pPr marL="342900" indent="-342900">
                        <a:buAutoNum type="arabicPeriod"/>
                      </a:pPr>
                      <a:r>
                        <a:rPr lang="en-US" dirty="0" smtClean="0"/>
                        <a:t>DBMS has crash recovery mechanism, DBMS protects user from the effects of system failures. </a:t>
                      </a:r>
                    </a:p>
                    <a:p>
                      <a:pPr marL="342900" indent="-342900">
                        <a:buAutoNum type="arabicPeriod"/>
                      </a:pPr>
                      <a:r>
                        <a:rPr lang="en-US" dirty="0" smtClean="0"/>
                        <a:t>DBMS has a good protection mechanism. </a:t>
                      </a:r>
                      <a:endParaRPr lang="en-US" dirty="0"/>
                    </a:p>
                  </a:txBody>
                  <a:tcPr/>
                </a:tc>
              </a:tr>
            </a:tbl>
          </a:graphicData>
        </a:graphic>
      </p:graphicFrame>
    </p:spTree>
    <p:extLst>
      <p:ext uri="{BB962C8B-B14F-4D97-AF65-F5344CB8AC3E}">
        <p14:creationId xmlns:p14="http://schemas.microsoft.com/office/powerpoint/2010/main" val="1851570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Data Independence </a:t>
            </a:r>
          </a:p>
        </p:txBody>
      </p:sp>
      <p:sp>
        <p:nvSpPr>
          <p:cNvPr id="3" name="Content Placeholder 2"/>
          <p:cNvSpPr>
            <a:spLocks noGrp="1"/>
          </p:cNvSpPr>
          <p:nvPr>
            <p:ph idx="1"/>
          </p:nvPr>
        </p:nvSpPr>
        <p:spPr>
          <a:xfrm>
            <a:off x="457200" y="1295400"/>
            <a:ext cx="8229600" cy="5029200"/>
          </a:xfrm>
        </p:spPr>
        <p:txBody>
          <a:bodyPr>
            <a:normAutofit fontScale="92500" lnSpcReduction="20000"/>
          </a:bodyPr>
          <a:lstStyle/>
          <a:p>
            <a:pPr marL="0" indent="0" algn="just">
              <a:buNone/>
            </a:pPr>
            <a:r>
              <a:rPr lang="en-US" dirty="0"/>
              <a:t>Data independence can be defined as the capacity to change the schema at one level without changing the schema at next higher level. There are two types of data Independence. They are </a:t>
            </a:r>
            <a:r>
              <a:rPr lang="en-US" dirty="0" smtClean="0"/>
              <a:t>:</a:t>
            </a:r>
          </a:p>
          <a:p>
            <a:pPr marL="514350" indent="-514350" algn="just">
              <a:buAutoNum type="arabicPeriod"/>
            </a:pPr>
            <a:r>
              <a:rPr lang="en-US" dirty="0" smtClean="0"/>
              <a:t>Logical </a:t>
            </a:r>
            <a:r>
              <a:rPr lang="en-US" dirty="0"/>
              <a:t>data independence. </a:t>
            </a:r>
            <a:endParaRPr lang="en-US" dirty="0" smtClean="0"/>
          </a:p>
          <a:p>
            <a:pPr marL="514350" indent="-514350" algn="just">
              <a:buAutoNum type="arabicPeriod"/>
            </a:pPr>
            <a:r>
              <a:rPr lang="en-US" dirty="0" smtClean="0"/>
              <a:t>Physical </a:t>
            </a:r>
            <a:r>
              <a:rPr lang="en-US" dirty="0"/>
              <a:t>data independence. </a:t>
            </a:r>
          </a:p>
          <a:p>
            <a:pPr algn="just">
              <a:buFont typeface="Wingdings" pitchFamily="2" charset="2"/>
              <a:buChar char="v"/>
            </a:pPr>
            <a:r>
              <a:rPr lang="en-US" dirty="0" smtClean="0"/>
              <a:t> Logical </a:t>
            </a:r>
            <a:r>
              <a:rPr lang="en-US" dirty="0"/>
              <a:t>data independence is the capacity to change the conceptual schema without having to change the external schema. </a:t>
            </a:r>
          </a:p>
          <a:p>
            <a:pPr algn="just">
              <a:buFont typeface="Wingdings" pitchFamily="2" charset="2"/>
              <a:buChar char="v"/>
            </a:pPr>
            <a:r>
              <a:rPr lang="en-US" dirty="0" smtClean="0"/>
              <a:t> Physical </a:t>
            </a:r>
            <a:r>
              <a:rPr lang="en-US" dirty="0"/>
              <a:t>data independence is the capacity to change the internal schema without changing the conceptual schema. </a:t>
            </a:r>
          </a:p>
        </p:txBody>
      </p:sp>
    </p:spTree>
    <p:extLst>
      <p:ext uri="{BB962C8B-B14F-4D97-AF65-F5344CB8AC3E}">
        <p14:creationId xmlns:p14="http://schemas.microsoft.com/office/powerpoint/2010/main" val="344538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When not to use a DBMS</a:t>
            </a:r>
          </a:p>
        </p:txBody>
      </p:sp>
      <p:sp>
        <p:nvSpPr>
          <p:cNvPr id="3" name="Content Placeholder 2"/>
          <p:cNvSpPr>
            <a:spLocks noGrp="1"/>
          </p:cNvSpPr>
          <p:nvPr>
            <p:ph idx="1"/>
          </p:nvPr>
        </p:nvSpPr>
        <p:spPr>
          <a:xfrm>
            <a:off x="457200" y="1219200"/>
            <a:ext cx="8229600" cy="5257800"/>
          </a:xfrm>
        </p:spPr>
        <p:txBody>
          <a:bodyPr>
            <a:normAutofit fontScale="77500" lnSpcReduction="20000"/>
          </a:bodyPr>
          <a:lstStyle/>
          <a:p>
            <a:pPr>
              <a:buFont typeface="Wingdings" pitchFamily="2" charset="2"/>
              <a:buChar char="§"/>
            </a:pPr>
            <a:r>
              <a:rPr lang="en-US" dirty="0"/>
              <a:t>Main inhibitors (costs) of using a </a:t>
            </a:r>
            <a:r>
              <a:rPr lang="en-US" dirty="0" smtClean="0"/>
              <a:t>DBMS</a:t>
            </a:r>
          </a:p>
          <a:p>
            <a:pPr>
              <a:buFont typeface="Wingdings" pitchFamily="2" charset="2"/>
              <a:buChar char="§"/>
            </a:pPr>
            <a:r>
              <a:rPr lang="en-US" dirty="0" smtClean="0"/>
              <a:t>High </a:t>
            </a:r>
            <a:r>
              <a:rPr lang="en-US" dirty="0"/>
              <a:t>initial investment and possible need for additional hardware. </a:t>
            </a:r>
          </a:p>
          <a:p>
            <a:pPr>
              <a:buFont typeface="Wingdings" pitchFamily="2" charset="2"/>
              <a:buChar char="§"/>
            </a:pPr>
            <a:r>
              <a:rPr lang="en-US" dirty="0" smtClean="0"/>
              <a:t>Overhead </a:t>
            </a:r>
            <a:r>
              <a:rPr lang="en-US" dirty="0"/>
              <a:t>for providing generality, security, concurrency control, recovery, and integrity </a:t>
            </a:r>
            <a:r>
              <a:rPr lang="en-US" dirty="0" smtClean="0"/>
              <a:t>functions </a:t>
            </a:r>
            <a:r>
              <a:rPr lang="en-US" dirty="0"/>
              <a:t>When a DBMS may be </a:t>
            </a:r>
            <a:r>
              <a:rPr lang="en-US" dirty="0" smtClean="0"/>
              <a:t>unnecessary</a:t>
            </a:r>
          </a:p>
          <a:p>
            <a:pPr>
              <a:buFont typeface="Wingdings" pitchFamily="2" charset="2"/>
              <a:buChar char="§"/>
            </a:pPr>
            <a:r>
              <a:rPr lang="en-US" dirty="0"/>
              <a:t>If the database and applications are simple, well defined and not expected to change. </a:t>
            </a:r>
          </a:p>
          <a:p>
            <a:pPr>
              <a:buFont typeface="Wingdings" pitchFamily="2" charset="2"/>
              <a:buChar char="§"/>
            </a:pPr>
            <a:r>
              <a:rPr lang="en-US" dirty="0" smtClean="0"/>
              <a:t>If </a:t>
            </a:r>
            <a:r>
              <a:rPr lang="en-US" dirty="0"/>
              <a:t>there are stringent real-time requirements that may not be met because of DBMS overhead. </a:t>
            </a:r>
            <a:endParaRPr lang="en-US" dirty="0" smtClean="0"/>
          </a:p>
          <a:p>
            <a:pPr>
              <a:buFont typeface="Wingdings" pitchFamily="2" charset="2"/>
              <a:buChar char="§"/>
            </a:pPr>
            <a:r>
              <a:rPr lang="en-US" dirty="0" smtClean="0"/>
              <a:t>If </a:t>
            </a:r>
            <a:r>
              <a:rPr lang="en-US" dirty="0"/>
              <a:t>access to data by multiple users is not required. </a:t>
            </a:r>
          </a:p>
          <a:p>
            <a:pPr>
              <a:buFont typeface="Wingdings" pitchFamily="2" charset="2"/>
              <a:buChar char="§"/>
            </a:pPr>
            <a:r>
              <a:rPr lang="en-US" dirty="0" smtClean="0"/>
              <a:t>If </a:t>
            </a:r>
            <a:r>
              <a:rPr lang="en-US" dirty="0"/>
              <a:t>the database system is not able to handle the complexity of data because of modeling limitations </a:t>
            </a:r>
            <a:endParaRPr lang="en-US" dirty="0" smtClean="0"/>
          </a:p>
          <a:p>
            <a:pPr>
              <a:buFont typeface="Wingdings" pitchFamily="2" charset="2"/>
              <a:buChar char="§"/>
            </a:pPr>
            <a:r>
              <a:rPr lang="en-US" dirty="0" smtClean="0"/>
              <a:t>If </a:t>
            </a:r>
            <a:r>
              <a:rPr lang="en-US" dirty="0"/>
              <a:t>the database users need special operations not supported by the DBMS.</a:t>
            </a:r>
          </a:p>
        </p:txBody>
      </p:sp>
    </p:spTree>
    <p:extLst>
      <p:ext uri="{BB962C8B-B14F-4D97-AF65-F5344CB8AC3E}">
        <p14:creationId xmlns:p14="http://schemas.microsoft.com/office/powerpoint/2010/main" val="2101363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Autofit/>
          </a:bodyPr>
          <a:lstStyle/>
          <a:p>
            <a:pPr algn="just"/>
            <a:r>
              <a:rPr lang="en-US" sz="3200" b="1" dirty="0"/>
              <a:t>Types of Databases and Database Applications</a:t>
            </a:r>
          </a:p>
        </p:txBody>
      </p:sp>
      <p:sp>
        <p:nvSpPr>
          <p:cNvPr id="3" name="Content Placeholder 2"/>
          <p:cNvSpPr>
            <a:spLocks noGrp="1"/>
          </p:cNvSpPr>
          <p:nvPr>
            <p:ph idx="1"/>
          </p:nvPr>
        </p:nvSpPr>
        <p:spPr>
          <a:xfrm>
            <a:off x="457200" y="1219200"/>
            <a:ext cx="8229600" cy="4906963"/>
          </a:xfrm>
        </p:spPr>
        <p:txBody>
          <a:bodyPr/>
          <a:lstStyle/>
          <a:p>
            <a:pPr>
              <a:buFont typeface="Wingdings" pitchFamily="2" charset="2"/>
              <a:buChar char="q"/>
            </a:pPr>
            <a:r>
              <a:rPr lang="en-US" dirty="0" smtClean="0"/>
              <a:t>  Traditional </a:t>
            </a:r>
            <a:r>
              <a:rPr lang="en-US" dirty="0"/>
              <a:t>Applications: </a:t>
            </a:r>
            <a:endParaRPr lang="en-US" dirty="0" smtClean="0"/>
          </a:p>
          <a:p>
            <a:pPr marL="0" indent="0">
              <a:buNone/>
            </a:pPr>
            <a:r>
              <a:rPr lang="en-US" dirty="0"/>
              <a:t> </a:t>
            </a:r>
            <a:r>
              <a:rPr lang="en-US" dirty="0" smtClean="0"/>
              <a:t>     Numeric </a:t>
            </a:r>
            <a:r>
              <a:rPr lang="en-US" dirty="0"/>
              <a:t>and Textual Databases </a:t>
            </a:r>
            <a:endParaRPr lang="en-US" dirty="0" smtClean="0"/>
          </a:p>
          <a:p>
            <a:pPr>
              <a:buFont typeface="Wingdings" pitchFamily="2" charset="2"/>
              <a:buChar char="q"/>
            </a:pPr>
            <a:r>
              <a:rPr lang="en-US" dirty="0"/>
              <a:t> </a:t>
            </a:r>
            <a:r>
              <a:rPr lang="en-US" dirty="0" smtClean="0"/>
              <a:t> More </a:t>
            </a:r>
            <a:r>
              <a:rPr lang="en-US" dirty="0"/>
              <a:t>Recent Applications: </a:t>
            </a:r>
          </a:p>
          <a:p>
            <a:pPr marL="0" indent="0">
              <a:buNone/>
            </a:pPr>
            <a:r>
              <a:rPr lang="en-US" dirty="0"/>
              <a:t> </a:t>
            </a:r>
            <a:r>
              <a:rPr lang="en-US" dirty="0" smtClean="0"/>
              <a:t>         Multimedia </a:t>
            </a:r>
            <a:r>
              <a:rPr lang="en-US" dirty="0"/>
              <a:t>Databases </a:t>
            </a:r>
            <a:endParaRPr lang="en-US" dirty="0" smtClean="0"/>
          </a:p>
          <a:p>
            <a:pPr marL="0" indent="0">
              <a:buNone/>
            </a:pPr>
            <a:r>
              <a:rPr lang="en-US" dirty="0"/>
              <a:t> </a:t>
            </a:r>
            <a:r>
              <a:rPr lang="en-US" dirty="0" smtClean="0"/>
              <a:t>         Geographic </a:t>
            </a:r>
            <a:r>
              <a:rPr lang="en-US" dirty="0"/>
              <a:t>Information Systems (GIS) </a:t>
            </a:r>
            <a:endParaRPr lang="en-US" dirty="0" smtClean="0"/>
          </a:p>
          <a:p>
            <a:pPr marL="0" indent="0">
              <a:buNone/>
            </a:pPr>
            <a:r>
              <a:rPr lang="en-US" dirty="0"/>
              <a:t> </a:t>
            </a:r>
            <a:r>
              <a:rPr lang="en-US" dirty="0" smtClean="0"/>
              <a:t>         Data </a:t>
            </a:r>
            <a:r>
              <a:rPr lang="en-US" dirty="0"/>
              <a:t>Warehouses </a:t>
            </a:r>
            <a:endParaRPr lang="en-US" dirty="0" smtClean="0"/>
          </a:p>
          <a:p>
            <a:pPr marL="0" indent="0">
              <a:buNone/>
            </a:pPr>
            <a:r>
              <a:rPr lang="en-US" dirty="0"/>
              <a:t> </a:t>
            </a:r>
            <a:r>
              <a:rPr lang="en-US" dirty="0" smtClean="0"/>
              <a:t>        Real-time </a:t>
            </a:r>
            <a:r>
              <a:rPr lang="en-US" dirty="0"/>
              <a:t>and Active Databases </a:t>
            </a:r>
            <a:endParaRPr lang="en-US" dirty="0" smtClean="0"/>
          </a:p>
          <a:p>
            <a:pPr marL="0" indent="0">
              <a:buNone/>
            </a:pPr>
            <a:r>
              <a:rPr lang="en-US" dirty="0"/>
              <a:t> </a:t>
            </a:r>
            <a:r>
              <a:rPr lang="en-US" dirty="0" smtClean="0"/>
              <a:t>         Many </a:t>
            </a:r>
            <a:r>
              <a:rPr lang="en-US" dirty="0"/>
              <a:t>other applications </a:t>
            </a:r>
          </a:p>
        </p:txBody>
      </p:sp>
    </p:spTree>
    <p:extLst>
      <p:ext uri="{BB962C8B-B14F-4D97-AF65-F5344CB8AC3E}">
        <p14:creationId xmlns:p14="http://schemas.microsoft.com/office/powerpoint/2010/main" val="2886219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Data Model </a:t>
            </a:r>
          </a:p>
        </p:txBody>
      </p:sp>
      <p:sp>
        <p:nvSpPr>
          <p:cNvPr id="3" name="Content Placeholder 2"/>
          <p:cNvSpPr>
            <a:spLocks noGrp="1"/>
          </p:cNvSpPr>
          <p:nvPr>
            <p:ph idx="1"/>
          </p:nvPr>
        </p:nvSpPr>
        <p:spPr/>
        <p:txBody>
          <a:bodyPr>
            <a:normAutofit/>
          </a:bodyPr>
          <a:lstStyle/>
          <a:p>
            <a:pPr marL="0" indent="0" algn="just">
              <a:buNone/>
            </a:pPr>
            <a:r>
              <a:rPr lang="en-US" dirty="0"/>
              <a:t>A model is an abstraction process that hides superfluous details. Data modeling is used for representing entities of interest and their relationship in the database. Data model is a collection of concepts that can be used to describe the structure of a database which provides the necessary means to achieve the abstraction. The structure of a database means that holds the </a:t>
            </a:r>
            <a:r>
              <a:rPr lang="en-US" dirty="0" smtClean="0"/>
              <a:t>data.</a:t>
            </a:r>
          </a:p>
          <a:p>
            <a:pPr marL="0" indent="0">
              <a:buNone/>
            </a:pPr>
            <a:endParaRPr lang="en-US" dirty="0"/>
          </a:p>
        </p:txBody>
      </p:sp>
    </p:spTree>
    <p:extLst>
      <p:ext uri="{BB962C8B-B14F-4D97-AF65-F5344CB8AC3E}">
        <p14:creationId xmlns:p14="http://schemas.microsoft.com/office/powerpoint/2010/main" val="636287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Types of Data Models</a:t>
            </a:r>
          </a:p>
        </p:txBody>
      </p:sp>
      <p:sp>
        <p:nvSpPr>
          <p:cNvPr id="3" name="Content Placeholder 2"/>
          <p:cNvSpPr>
            <a:spLocks noGrp="1"/>
          </p:cNvSpPr>
          <p:nvPr>
            <p:ph idx="1"/>
          </p:nvPr>
        </p:nvSpPr>
        <p:spPr/>
        <p:txBody>
          <a:bodyPr/>
          <a:lstStyle/>
          <a:p>
            <a:pPr marL="514350" indent="-514350">
              <a:buFont typeface="+mj-lt"/>
              <a:buAutoNum type="arabicPeriod"/>
            </a:pPr>
            <a:r>
              <a:rPr lang="en-US" dirty="0" smtClean="0"/>
              <a:t>   High </a:t>
            </a:r>
            <a:r>
              <a:rPr lang="en-US" dirty="0"/>
              <a:t>Level- Conceptual data model</a:t>
            </a:r>
            <a:r>
              <a:rPr lang="en-US" dirty="0" smtClean="0"/>
              <a:t>.</a:t>
            </a:r>
          </a:p>
          <a:p>
            <a:pPr marL="514350" indent="-514350">
              <a:buFont typeface="+mj-lt"/>
              <a:buAutoNum type="arabicPeriod"/>
            </a:pPr>
            <a:r>
              <a:rPr lang="en-US" dirty="0"/>
              <a:t> </a:t>
            </a:r>
            <a:r>
              <a:rPr lang="en-US" dirty="0" smtClean="0"/>
              <a:t>  </a:t>
            </a:r>
            <a:r>
              <a:rPr lang="en-US" dirty="0"/>
              <a:t>Low Level – Physical data model. </a:t>
            </a:r>
          </a:p>
          <a:p>
            <a:pPr marL="514350" indent="-514350">
              <a:buFont typeface="+mj-lt"/>
              <a:buAutoNum type="arabicPeriod"/>
            </a:pPr>
            <a:r>
              <a:rPr lang="en-US" dirty="0" smtClean="0"/>
              <a:t>   Relational </a:t>
            </a:r>
            <a:r>
              <a:rPr lang="en-US" dirty="0"/>
              <a:t>or Representational </a:t>
            </a:r>
          </a:p>
          <a:p>
            <a:pPr marL="514350" indent="-514350">
              <a:buFont typeface="+mj-lt"/>
              <a:buAutoNum type="arabicPeriod"/>
            </a:pPr>
            <a:r>
              <a:rPr lang="en-US" dirty="0" smtClean="0"/>
              <a:t>   Object-oriented </a:t>
            </a:r>
            <a:r>
              <a:rPr lang="en-US" dirty="0"/>
              <a:t>Data </a:t>
            </a:r>
            <a:r>
              <a:rPr lang="en-US" dirty="0" smtClean="0"/>
              <a:t>Models </a:t>
            </a:r>
            <a:endParaRPr lang="en-US" dirty="0"/>
          </a:p>
          <a:p>
            <a:pPr marL="514350" indent="-514350">
              <a:buFont typeface="+mj-lt"/>
              <a:buAutoNum type="arabicPeriod"/>
            </a:pPr>
            <a:r>
              <a:rPr lang="en-US" dirty="0" smtClean="0"/>
              <a:t>   Object-Relational Models</a:t>
            </a:r>
            <a:endParaRPr lang="en-US" dirty="0"/>
          </a:p>
        </p:txBody>
      </p:sp>
    </p:spTree>
    <p:extLst>
      <p:ext uri="{BB962C8B-B14F-4D97-AF65-F5344CB8AC3E}">
        <p14:creationId xmlns:p14="http://schemas.microsoft.com/office/powerpoint/2010/main" val="1159741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70000" lnSpcReduction="20000"/>
          </a:bodyPr>
          <a:lstStyle/>
          <a:p>
            <a:pPr algn="just">
              <a:buFont typeface="Wingdings" pitchFamily="2" charset="2"/>
              <a:buChar char="Ø"/>
            </a:pPr>
            <a:r>
              <a:rPr lang="en-US" dirty="0" smtClean="0"/>
              <a:t>  High </a:t>
            </a:r>
            <a:r>
              <a:rPr lang="en-US" dirty="0"/>
              <a:t>Level-conceptual data model: User level data model is the high level or conceptual model. This provides concepts that are close to the way that many users perceive data. </a:t>
            </a:r>
            <a:endParaRPr lang="en-US" dirty="0" smtClean="0"/>
          </a:p>
          <a:p>
            <a:pPr algn="just">
              <a:buFont typeface="Wingdings" pitchFamily="2" charset="2"/>
              <a:buChar char="Ø"/>
            </a:pPr>
            <a:r>
              <a:rPr lang="en-US" dirty="0" smtClean="0"/>
              <a:t>  Low </a:t>
            </a:r>
            <a:r>
              <a:rPr lang="en-US" dirty="0"/>
              <a:t>level-Physical data model : provides concepts that describe the details of how data is stored in the computer model. Low level data model is only for Computer specialists not for end-user. </a:t>
            </a:r>
            <a:endParaRPr lang="en-US" dirty="0" smtClean="0"/>
          </a:p>
          <a:p>
            <a:pPr algn="just">
              <a:buFont typeface="Wingdings" pitchFamily="2" charset="2"/>
              <a:buChar char="Ø"/>
            </a:pPr>
            <a:r>
              <a:rPr lang="en-US" dirty="0" smtClean="0"/>
              <a:t>  Representation </a:t>
            </a:r>
            <a:r>
              <a:rPr lang="en-US" dirty="0"/>
              <a:t>data model: It is between High level &amp; Low level data model Which provides concepts that may be understood by end-user but that are not too far removed from the way data is organized by within the computer. </a:t>
            </a:r>
            <a:endParaRPr lang="en-US" dirty="0" smtClean="0"/>
          </a:p>
          <a:p>
            <a:pPr algn="just">
              <a:buFont typeface="Wingdings" pitchFamily="2" charset="2"/>
              <a:buChar char="Ø"/>
            </a:pPr>
            <a:r>
              <a:rPr lang="en-US" dirty="0"/>
              <a:t> </a:t>
            </a:r>
            <a:r>
              <a:rPr lang="en-US" dirty="0"/>
              <a:t>In Object Oriented Data Model, data and their relationships are contained in a single structure which is referred as object in this data model. In this, real world problems are represented as objects with different attributes</a:t>
            </a:r>
            <a:r>
              <a:rPr lang="en-US" dirty="0" smtClean="0"/>
              <a:t>.</a:t>
            </a:r>
          </a:p>
          <a:p>
            <a:pPr algn="just">
              <a:buFont typeface="Wingdings" pitchFamily="2" charset="2"/>
              <a:buChar char="Ø"/>
            </a:pPr>
            <a:r>
              <a:rPr lang="en-US" dirty="0"/>
              <a:t> </a:t>
            </a:r>
            <a:r>
              <a:rPr lang="en-US" dirty="0"/>
              <a:t>The Object-Relational data model refers to a combination of a Relational database model and an Object-Oriented database model. As a result, it supports classes, objects, inheritance, and other features found in Object-Oriented models, as well as data types, tabular structures, and other features found in Relational Data Models.</a:t>
            </a:r>
            <a:endParaRPr lang="en-US" dirty="0"/>
          </a:p>
        </p:txBody>
      </p:sp>
    </p:spTree>
    <p:extLst>
      <p:ext uri="{BB962C8B-B14F-4D97-AF65-F5344CB8AC3E}">
        <p14:creationId xmlns:p14="http://schemas.microsoft.com/office/powerpoint/2010/main" val="2392872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t>Schemas versus Instances</a:t>
            </a:r>
          </a:p>
        </p:txBody>
      </p:sp>
      <p:sp>
        <p:nvSpPr>
          <p:cNvPr id="3" name="Content Placeholder 2"/>
          <p:cNvSpPr>
            <a:spLocks noGrp="1"/>
          </p:cNvSpPr>
          <p:nvPr>
            <p:ph idx="1"/>
          </p:nvPr>
        </p:nvSpPr>
        <p:spPr>
          <a:xfrm>
            <a:off x="381000" y="1371600"/>
            <a:ext cx="8229600" cy="5105400"/>
          </a:xfrm>
        </p:spPr>
        <p:txBody>
          <a:bodyPr>
            <a:normAutofit fontScale="77500" lnSpcReduction="20000"/>
          </a:bodyPr>
          <a:lstStyle/>
          <a:p>
            <a:pPr marL="0" indent="0" algn="just">
              <a:buNone/>
            </a:pPr>
            <a:r>
              <a:rPr lang="en-US" b="1" dirty="0"/>
              <a:t>“Schema”</a:t>
            </a:r>
            <a:r>
              <a:rPr lang="en-US" dirty="0"/>
              <a:t> and </a:t>
            </a:r>
            <a:r>
              <a:rPr lang="en-US" b="1" dirty="0"/>
              <a:t>“Instance”</a:t>
            </a:r>
            <a:r>
              <a:rPr lang="en-US" dirty="0"/>
              <a:t> are key ideas in a database management system (DBMS) that help organize and manage data. A schema can be referred to as the blueprint of the database while an instance is the actual contents of the database at a given point of time. </a:t>
            </a:r>
            <a:endParaRPr lang="en-US" dirty="0" smtClean="0"/>
          </a:p>
          <a:p>
            <a:pPr marL="0" indent="0" algn="just" fontAlgn="base">
              <a:buNone/>
            </a:pPr>
            <a:endParaRPr lang="en-US" b="1" dirty="0" smtClean="0"/>
          </a:p>
          <a:p>
            <a:pPr marL="0" indent="0" algn="just" fontAlgn="base">
              <a:buNone/>
            </a:pPr>
            <a:r>
              <a:rPr lang="en-US" b="1" dirty="0" smtClean="0"/>
              <a:t>What </a:t>
            </a:r>
            <a:r>
              <a:rPr lang="en-US" b="1" dirty="0"/>
              <a:t>is Schema?</a:t>
            </a:r>
          </a:p>
          <a:p>
            <a:pPr marL="0" indent="0" algn="just" fontAlgn="base">
              <a:buNone/>
            </a:pPr>
            <a:r>
              <a:rPr lang="en-US" dirty="0"/>
              <a:t>Schema is the overall description of the database. The basic structure of how the data will be stored in the database is called schema. In DBMS, the term schema refers to the architecture of the database which describes how it will appear or will be constructed. It describes the organization of data such as tables, relationships as well as constraints. A schema is a template that dictates how data items in a database will be stored, arranged, and accessed.</a:t>
            </a:r>
          </a:p>
          <a:p>
            <a:pPr marL="0" indent="0">
              <a:buNone/>
            </a:pPr>
            <a:endParaRPr lang="en-US" dirty="0"/>
          </a:p>
        </p:txBody>
      </p:sp>
    </p:spTree>
    <p:extLst>
      <p:ext uri="{BB962C8B-B14F-4D97-AF65-F5344CB8AC3E}">
        <p14:creationId xmlns:p14="http://schemas.microsoft.com/office/powerpoint/2010/main" val="1047751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pPr marL="0" indent="0" fontAlgn="base">
              <a:buNone/>
            </a:pPr>
            <a:r>
              <a:rPr lang="en-US" dirty="0"/>
              <a:t>Let’s say a table teacher in our database named school, the teacher table requires the name, dob, and </a:t>
            </a:r>
            <a:r>
              <a:rPr lang="en-US" dirty="0" err="1"/>
              <a:t>doj</a:t>
            </a:r>
            <a:r>
              <a:rPr lang="en-US" dirty="0"/>
              <a:t> in their table so we design a structure as:  </a:t>
            </a:r>
          </a:p>
          <a:p>
            <a:pPr marL="0" indent="0">
              <a:buNone/>
            </a:pPr>
            <a:r>
              <a:rPr lang="en-US" b="1" dirty="0"/>
              <a:t>Teacher table</a:t>
            </a:r>
            <a:r>
              <a:rPr lang="en-US" dirty="0"/>
              <a:t> </a:t>
            </a:r>
            <a:endParaRPr lang="en-US" dirty="0" smtClean="0"/>
          </a:p>
          <a:p>
            <a:pPr marL="0" indent="0">
              <a:buNone/>
            </a:pPr>
            <a:r>
              <a:rPr lang="en-US" dirty="0">
                <a:effectLst>
                  <a:outerShdw blurRad="38100" dist="38100" dir="2700000" algn="tl">
                    <a:srgbClr val="000000">
                      <a:alpha val="43137"/>
                    </a:srgbClr>
                  </a:outerShdw>
                </a:effectLst>
              </a:rPr>
              <a:t>N</a:t>
            </a:r>
            <a:r>
              <a:rPr lang="en-US" dirty="0" smtClean="0">
                <a:effectLst>
                  <a:outerShdw blurRad="38100" dist="38100" dir="2700000" algn="tl">
                    <a:srgbClr val="000000">
                      <a:alpha val="43137"/>
                    </a:srgbClr>
                  </a:outerShdw>
                </a:effectLst>
              </a:rPr>
              <a:t>ame</a:t>
            </a:r>
            <a:r>
              <a:rPr lang="en-US" dirty="0">
                <a:effectLst>
                  <a:outerShdw blurRad="38100" dist="38100" dir="2700000" algn="tl">
                    <a:srgbClr val="000000">
                      <a:alpha val="43137"/>
                    </a:srgbClr>
                  </a:outerShdw>
                </a:effectLst>
              </a:rPr>
              <a:t>: </a:t>
            </a:r>
            <a:r>
              <a:rPr lang="en-US" dirty="0" smtClean="0">
                <a:effectLst>
                  <a:outerShdw blurRad="38100" dist="38100" dir="2700000" algn="tl">
                    <a:srgbClr val="000000">
                      <a:alpha val="43137"/>
                    </a:srgbClr>
                  </a:outerShdw>
                </a:effectLst>
              </a:rPr>
              <a:t>String </a:t>
            </a:r>
          </a:p>
          <a:p>
            <a:pPr marL="0" indent="0">
              <a:buNone/>
            </a:pPr>
            <a:r>
              <a:rPr lang="en-US" dirty="0" err="1">
                <a:effectLst>
                  <a:outerShdw blurRad="38100" dist="38100" dir="2700000" algn="tl">
                    <a:srgbClr val="000000">
                      <a:alpha val="43137"/>
                    </a:srgbClr>
                  </a:outerShdw>
                </a:effectLst>
              </a:rPr>
              <a:t>D</a:t>
            </a:r>
            <a:r>
              <a:rPr lang="en-US" dirty="0" err="1" smtClean="0">
                <a:effectLst>
                  <a:outerShdw blurRad="38100" dist="38100" dir="2700000" algn="tl">
                    <a:srgbClr val="000000">
                      <a:alpha val="43137"/>
                    </a:srgbClr>
                  </a:outerShdw>
                </a:effectLst>
              </a:rPr>
              <a:t>oj</a:t>
            </a:r>
            <a:r>
              <a:rPr lang="en-US" dirty="0">
                <a:effectLst>
                  <a:outerShdw blurRad="38100" dist="38100" dir="2700000" algn="tl">
                    <a:srgbClr val="000000">
                      <a:alpha val="43137"/>
                    </a:srgbClr>
                  </a:outerShdw>
                </a:effectLst>
              </a:rPr>
              <a:t>: </a:t>
            </a:r>
            <a:r>
              <a:rPr lang="en-US" dirty="0" smtClean="0">
                <a:effectLst>
                  <a:outerShdw blurRad="38100" dist="38100" dir="2700000" algn="tl">
                    <a:srgbClr val="000000">
                      <a:alpha val="43137"/>
                    </a:srgbClr>
                  </a:outerShdw>
                </a:effectLst>
              </a:rPr>
              <a:t>date </a:t>
            </a:r>
          </a:p>
          <a:p>
            <a:pPr marL="0" indent="0">
              <a:buNone/>
            </a:pPr>
            <a:r>
              <a:rPr lang="en-US" dirty="0">
                <a:effectLst>
                  <a:outerShdw blurRad="38100" dist="38100" dir="2700000" algn="tl">
                    <a:srgbClr val="000000">
                      <a:alpha val="43137"/>
                    </a:srgbClr>
                  </a:outerShdw>
                </a:effectLst>
              </a:rPr>
              <a:t>D</a:t>
            </a:r>
            <a:r>
              <a:rPr lang="en-US" dirty="0" smtClean="0">
                <a:effectLst>
                  <a:outerShdw blurRad="38100" dist="38100" dir="2700000" algn="tl">
                    <a:srgbClr val="000000">
                      <a:alpha val="43137"/>
                    </a:srgbClr>
                  </a:outerShdw>
                </a:effectLst>
              </a:rPr>
              <a:t>ob</a:t>
            </a:r>
            <a:r>
              <a:rPr lang="en-US" dirty="0">
                <a:effectLst>
                  <a:outerShdw blurRad="38100" dist="38100" dir="2700000" algn="tl">
                    <a:srgbClr val="000000">
                      <a:alpha val="43137"/>
                    </a:srgbClr>
                  </a:outerShdw>
                </a:effectLst>
              </a:rPr>
              <a:t>: </a:t>
            </a:r>
            <a:r>
              <a:rPr lang="en-US" dirty="0" smtClean="0">
                <a:effectLst>
                  <a:outerShdw blurRad="38100" dist="38100" dir="2700000" algn="tl">
                    <a:srgbClr val="000000">
                      <a:alpha val="43137"/>
                    </a:srgbClr>
                  </a:outerShdw>
                </a:effectLst>
              </a:rPr>
              <a:t>date </a:t>
            </a:r>
            <a:endParaRPr lang="en-U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572903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Schema</a:t>
            </a:r>
            <a:endParaRPr lang="en-US" dirty="0"/>
          </a:p>
        </p:txBody>
      </p:sp>
      <p:sp>
        <p:nvSpPr>
          <p:cNvPr id="3" name="Content Placeholder 2"/>
          <p:cNvSpPr>
            <a:spLocks noGrp="1"/>
          </p:cNvSpPr>
          <p:nvPr>
            <p:ph idx="1"/>
          </p:nvPr>
        </p:nvSpPr>
        <p:spPr>
          <a:xfrm>
            <a:off x="457200" y="1828800"/>
            <a:ext cx="8229600" cy="4297363"/>
          </a:xfrm>
        </p:spPr>
        <p:txBody>
          <a:bodyPr/>
          <a:lstStyle/>
          <a:p>
            <a:pPr marL="0" indent="0" algn="just">
              <a:buNone/>
            </a:pPr>
            <a:r>
              <a:rPr lang="en-US" dirty="0"/>
              <a:t>Schema is of three types: Logical Schema, Physical Schema and view Schema</a:t>
            </a:r>
            <a:r>
              <a:rPr lang="en-US" dirty="0" smtClean="0"/>
              <a:t>.</a:t>
            </a:r>
          </a:p>
          <a:p>
            <a:pPr algn="just" fontAlgn="base"/>
            <a:r>
              <a:rPr lang="en-US" b="1" dirty="0"/>
              <a:t>Logical Schema –</a:t>
            </a:r>
            <a:r>
              <a:rPr lang="en-US" dirty="0"/>
              <a:t> It describes the database designed at a logical level.</a:t>
            </a:r>
          </a:p>
          <a:p>
            <a:pPr algn="just" fontAlgn="base"/>
            <a:r>
              <a:rPr lang="en-US" b="1" dirty="0"/>
              <a:t>Physical Schema –</a:t>
            </a:r>
            <a:r>
              <a:rPr lang="en-US" dirty="0"/>
              <a:t> It describes the database designed at the physical level.</a:t>
            </a:r>
          </a:p>
          <a:p>
            <a:pPr algn="just" fontAlgn="base"/>
            <a:r>
              <a:rPr lang="en-US" b="1" dirty="0"/>
              <a:t>View Schema</a:t>
            </a:r>
            <a:r>
              <a:rPr lang="en-US" dirty="0"/>
              <a:t> – It defines the design of the database at the view level.</a:t>
            </a:r>
          </a:p>
          <a:p>
            <a:pPr marL="0" indent="0">
              <a:buNone/>
            </a:pPr>
            <a:endParaRPr lang="en-US" dirty="0"/>
          </a:p>
        </p:txBody>
      </p:sp>
    </p:spTree>
    <p:extLst>
      <p:ext uri="{BB962C8B-B14F-4D97-AF65-F5344CB8AC3E}">
        <p14:creationId xmlns:p14="http://schemas.microsoft.com/office/powerpoint/2010/main" val="2049823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Instance</a:t>
            </a:r>
            <a:r>
              <a:rPr lang="en-US" b="1" dirty="0" smtClean="0"/>
              <a:t>?</a:t>
            </a:r>
            <a:endParaRPr lang="en-US" dirty="0"/>
          </a:p>
        </p:txBody>
      </p:sp>
      <p:sp>
        <p:nvSpPr>
          <p:cNvPr id="3" name="Content Placeholder 2"/>
          <p:cNvSpPr>
            <a:spLocks noGrp="1"/>
          </p:cNvSpPr>
          <p:nvPr>
            <p:ph idx="1"/>
          </p:nvPr>
        </p:nvSpPr>
        <p:spPr/>
        <p:txBody>
          <a:bodyPr/>
          <a:lstStyle/>
          <a:p>
            <a:pPr marL="0" indent="0" algn="just">
              <a:buNone/>
            </a:pPr>
            <a:r>
              <a:rPr lang="en-US" dirty="0"/>
              <a:t>An instance of </a:t>
            </a:r>
            <a:r>
              <a:rPr lang="en-US" u="sng" dirty="0">
                <a:hlinkClick r:id="rId2"/>
              </a:rPr>
              <a:t>DBMS</a:t>
            </a:r>
            <a:r>
              <a:rPr lang="en-US" dirty="0"/>
              <a:t> refers to real data in a database coming at some particular point in time. Instance on the other hand refers to the content in the database in as much as it refers to the structure defined under a particular schema at a given point.</a:t>
            </a:r>
            <a:endParaRPr lang="en-US" dirty="0"/>
          </a:p>
        </p:txBody>
      </p:sp>
    </p:spTree>
    <p:extLst>
      <p:ext uri="{BB962C8B-B14F-4D97-AF65-F5344CB8AC3E}">
        <p14:creationId xmlns:p14="http://schemas.microsoft.com/office/powerpoint/2010/main" val="1671332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marL="0" indent="0" algn="just">
              <a:buNone/>
            </a:pPr>
            <a:r>
              <a:rPr lang="en-US" dirty="0"/>
              <a:t>Let’s say a table teacher in our database whose name is School, suppose the table has 50 records so the instance of the database has 50 records for now and tomorrow we are going to add another fifty records so tomorrow the instance has a total of 100 records. This is called an instance. </a:t>
            </a:r>
            <a:endParaRPr lang="en-US" dirty="0"/>
          </a:p>
        </p:txBody>
      </p:sp>
    </p:spTree>
    <p:extLst>
      <p:ext uri="{BB962C8B-B14F-4D97-AF65-F5344CB8AC3E}">
        <p14:creationId xmlns:p14="http://schemas.microsoft.com/office/powerpoint/2010/main" val="3891489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762000"/>
          </a:xfrm>
        </p:spPr>
        <p:txBody>
          <a:bodyPr>
            <a:normAutofit fontScale="90000"/>
          </a:bodyPr>
          <a:lstStyle/>
          <a:p>
            <a:r>
              <a:rPr lang="en-US" sz="4000" b="1" dirty="0"/>
              <a:t>Difference Between Schema and Instance</a:t>
            </a:r>
            <a:r>
              <a:rPr lang="en-US" b="1" dirty="0"/>
              <a:t/>
            </a:r>
            <a:br>
              <a:rPr lang="en-US" b="1" dirty="0"/>
            </a:br>
            <a:endParaRPr lang="en-US" dirty="0"/>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250988215"/>
              </p:ext>
            </p:extLst>
          </p:nvPr>
        </p:nvGraphicFramePr>
        <p:xfrm>
          <a:off x="457200" y="1295400"/>
          <a:ext cx="8229600" cy="515112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en-US" sz="3600" b="1" dirty="0" smtClean="0"/>
                        <a:t>Schema</a:t>
                      </a:r>
                      <a:endParaRPr lang="en-US" sz="3600" b="1" dirty="0"/>
                    </a:p>
                  </a:txBody>
                  <a:tcPr/>
                </a:tc>
                <a:tc>
                  <a:txBody>
                    <a:bodyPr/>
                    <a:lstStyle/>
                    <a:p>
                      <a:pPr algn="ctr"/>
                      <a:r>
                        <a:rPr lang="en-US" sz="3600" b="1" dirty="0" smtClean="0"/>
                        <a:t>Instance</a:t>
                      </a:r>
                      <a:endParaRPr lang="en-US" sz="2000" b="1" dirty="0"/>
                    </a:p>
                  </a:txBody>
                  <a:tcPr/>
                </a:tc>
              </a:tr>
              <a:tr h="370840">
                <a:tc>
                  <a:txBody>
                    <a:bodyPr/>
                    <a:lstStyle/>
                    <a:p>
                      <a:r>
                        <a:rPr lang="en-US" sz="2000" b="0" i="0" kern="1200" dirty="0" smtClean="0">
                          <a:solidFill>
                            <a:schemeClr val="dk1"/>
                          </a:solidFill>
                          <a:effectLst/>
                          <a:latin typeface="+mn-lt"/>
                          <a:ea typeface="+mn-ea"/>
                          <a:cs typeface="+mn-cs"/>
                        </a:rPr>
                        <a:t>It is the overall description of the database.</a:t>
                      </a:r>
                      <a:endParaRPr lang="en-US" sz="2000" dirty="0"/>
                    </a:p>
                  </a:txBody>
                  <a:tcPr/>
                </a:tc>
                <a:tc>
                  <a:txBody>
                    <a:bodyPr/>
                    <a:lstStyle/>
                    <a:p>
                      <a:r>
                        <a:rPr lang="en-US" sz="2000" b="0" i="0" kern="1200" dirty="0" smtClean="0">
                          <a:solidFill>
                            <a:schemeClr val="dk1"/>
                          </a:solidFill>
                          <a:effectLst/>
                          <a:latin typeface="+mn-lt"/>
                          <a:ea typeface="+mn-ea"/>
                          <a:cs typeface="+mn-cs"/>
                        </a:rPr>
                        <a:t>It is the collection of information stored in a database at a particular moment.</a:t>
                      </a:r>
                      <a:endParaRPr lang="en-US" sz="2000" dirty="0"/>
                    </a:p>
                  </a:txBody>
                  <a:tcPr/>
                </a:tc>
              </a:tr>
              <a:tr h="370840">
                <a:tc>
                  <a:txBody>
                    <a:bodyPr/>
                    <a:lstStyle/>
                    <a:p>
                      <a:r>
                        <a:rPr lang="en-US" sz="2000" b="0" i="0" kern="1200" dirty="0" smtClean="0">
                          <a:solidFill>
                            <a:schemeClr val="dk1"/>
                          </a:solidFill>
                          <a:effectLst/>
                          <a:latin typeface="+mn-lt"/>
                          <a:ea typeface="+mn-ea"/>
                          <a:cs typeface="+mn-cs"/>
                        </a:rPr>
                        <a:t>The schema is same for the whole database.</a:t>
                      </a:r>
                      <a:endParaRPr lang="en-US" sz="2000" dirty="0"/>
                    </a:p>
                  </a:txBody>
                  <a:tcPr/>
                </a:tc>
                <a:tc>
                  <a:txBody>
                    <a:bodyPr/>
                    <a:lstStyle/>
                    <a:p>
                      <a:r>
                        <a:rPr lang="en-US" sz="2000" b="0" i="0" kern="1200" dirty="0" smtClean="0">
                          <a:solidFill>
                            <a:schemeClr val="dk1"/>
                          </a:solidFill>
                          <a:effectLst/>
                          <a:latin typeface="+mn-lt"/>
                          <a:ea typeface="+mn-ea"/>
                          <a:cs typeface="+mn-cs"/>
                        </a:rPr>
                        <a:t>Data in instances can be changed using addition, deletion, and updating.</a:t>
                      </a:r>
                      <a:endParaRPr lang="en-US" sz="2000" dirty="0"/>
                    </a:p>
                  </a:txBody>
                  <a:tcPr/>
                </a:tc>
              </a:tr>
              <a:tr h="370840">
                <a:tc>
                  <a:txBody>
                    <a:bodyPr/>
                    <a:lstStyle/>
                    <a:p>
                      <a:r>
                        <a:rPr lang="en-US" sz="2000" b="0" i="0" kern="1200" dirty="0" smtClean="0">
                          <a:solidFill>
                            <a:schemeClr val="dk1"/>
                          </a:solidFill>
                          <a:effectLst/>
                          <a:latin typeface="+mn-lt"/>
                          <a:ea typeface="+mn-ea"/>
                          <a:cs typeface="+mn-cs"/>
                        </a:rPr>
                        <a:t>Does not change Frequently.</a:t>
                      </a:r>
                      <a:endParaRPr lang="en-US" sz="2000" dirty="0"/>
                    </a:p>
                  </a:txBody>
                  <a:tcPr/>
                </a:tc>
                <a:tc>
                  <a:txBody>
                    <a:bodyPr/>
                    <a:lstStyle/>
                    <a:p>
                      <a:r>
                        <a:rPr lang="en-US" sz="2000" b="0" i="0" kern="1200" dirty="0" smtClean="0">
                          <a:solidFill>
                            <a:schemeClr val="dk1"/>
                          </a:solidFill>
                          <a:effectLst/>
                          <a:latin typeface="+mn-lt"/>
                          <a:ea typeface="+mn-ea"/>
                          <a:cs typeface="+mn-cs"/>
                        </a:rPr>
                        <a:t>Changes Frequently.</a:t>
                      </a:r>
                      <a:endParaRPr lang="en-US" sz="2000" dirty="0"/>
                    </a:p>
                  </a:txBody>
                  <a:tcPr/>
                </a:tc>
              </a:tr>
              <a:tr h="370840">
                <a:tc>
                  <a:txBody>
                    <a:bodyPr/>
                    <a:lstStyle/>
                    <a:p>
                      <a:r>
                        <a:rPr lang="en-US" sz="2000" b="0" i="0" kern="1200" dirty="0" smtClean="0">
                          <a:solidFill>
                            <a:schemeClr val="dk1"/>
                          </a:solidFill>
                          <a:effectLst/>
                          <a:latin typeface="+mn-lt"/>
                          <a:ea typeface="+mn-ea"/>
                          <a:cs typeface="+mn-cs"/>
                        </a:rPr>
                        <a:t>Affects the entire database structure.</a:t>
                      </a:r>
                      <a:endParaRPr lang="en-US" sz="2000" dirty="0"/>
                    </a:p>
                  </a:txBody>
                  <a:tcPr/>
                </a:tc>
                <a:tc>
                  <a:txBody>
                    <a:bodyPr/>
                    <a:lstStyle/>
                    <a:p>
                      <a:r>
                        <a:rPr lang="en-US" sz="2000" b="0" i="0" kern="1200" dirty="0" smtClean="0">
                          <a:solidFill>
                            <a:schemeClr val="dk1"/>
                          </a:solidFill>
                          <a:effectLst/>
                          <a:latin typeface="+mn-lt"/>
                          <a:ea typeface="+mn-ea"/>
                          <a:cs typeface="+mn-cs"/>
                        </a:rPr>
                        <a:t>Affects only the current state of data.</a:t>
                      </a:r>
                      <a:endParaRPr lang="en-US" sz="2000" dirty="0"/>
                    </a:p>
                  </a:txBody>
                  <a:tcPr/>
                </a:tc>
              </a:tr>
              <a:tr h="370840">
                <a:tc>
                  <a:txBody>
                    <a:bodyPr/>
                    <a:lstStyle/>
                    <a:p>
                      <a:r>
                        <a:rPr lang="en-US" sz="2000" b="0" i="0" kern="1200" dirty="0" smtClean="0">
                          <a:solidFill>
                            <a:schemeClr val="dk1"/>
                          </a:solidFill>
                          <a:effectLst/>
                          <a:latin typeface="+mn-lt"/>
                          <a:ea typeface="+mn-ea"/>
                          <a:cs typeface="+mn-cs"/>
                        </a:rPr>
                        <a:t>Requires significant effort and planning to change.</a:t>
                      </a:r>
                      <a:endParaRPr lang="en-US" sz="2000" dirty="0"/>
                    </a:p>
                  </a:txBody>
                  <a:tcPr/>
                </a:tc>
                <a:tc>
                  <a:txBody>
                    <a:bodyPr/>
                    <a:lstStyle/>
                    <a:p>
                      <a:r>
                        <a:rPr lang="en-US" sz="2000" b="0" i="0" kern="1200" dirty="0" smtClean="0">
                          <a:solidFill>
                            <a:schemeClr val="dk1"/>
                          </a:solidFill>
                          <a:effectLst/>
                          <a:latin typeface="+mn-lt"/>
                          <a:ea typeface="+mn-ea"/>
                          <a:cs typeface="+mn-cs"/>
                        </a:rPr>
                        <a:t>Easily altered by performing </a:t>
                      </a:r>
                      <a:r>
                        <a:rPr lang="en-US" sz="2000" b="0" i="0" u="sng" kern="1200" dirty="0" smtClean="0">
                          <a:solidFill>
                            <a:schemeClr val="dk1"/>
                          </a:solidFill>
                          <a:effectLst/>
                          <a:latin typeface="+mn-lt"/>
                          <a:ea typeface="+mn-ea"/>
                          <a:cs typeface="+mn-cs"/>
                          <a:hlinkClick r:id="rId2"/>
                        </a:rPr>
                        <a:t>CRUD</a:t>
                      </a:r>
                      <a:r>
                        <a:rPr lang="en-US" sz="2000" b="0" i="0" kern="1200" dirty="0" smtClean="0">
                          <a:solidFill>
                            <a:schemeClr val="dk1"/>
                          </a:solidFill>
                          <a:effectLst/>
                          <a:latin typeface="+mn-lt"/>
                          <a:ea typeface="+mn-ea"/>
                          <a:cs typeface="+mn-cs"/>
                        </a:rPr>
                        <a:t> (Create, Read, Update, Delete) operations.</a:t>
                      </a:r>
                      <a:endParaRPr lang="en-US" sz="2000" dirty="0"/>
                    </a:p>
                  </a:txBody>
                  <a:tcPr/>
                </a:tc>
              </a:tr>
              <a:tr h="370840">
                <a:tc>
                  <a:txBody>
                    <a:bodyPr/>
                    <a:lstStyle/>
                    <a:p>
                      <a:r>
                        <a:rPr lang="en-US" sz="2000" b="0" i="0" kern="1200" dirty="0" smtClean="0">
                          <a:solidFill>
                            <a:schemeClr val="dk1"/>
                          </a:solidFill>
                          <a:effectLst/>
                          <a:latin typeface="+mn-lt"/>
                          <a:ea typeface="+mn-ea"/>
                          <a:cs typeface="+mn-cs"/>
                        </a:rPr>
                        <a:t>Table structures, relationships, constraints.</a:t>
                      </a:r>
                      <a:endParaRPr lang="en-US" sz="2000" dirty="0"/>
                    </a:p>
                  </a:txBody>
                  <a:tcPr/>
                </a:tc>
                <a:tc>
                  <a:txBody>
                    <a:bodyPr/>
                    <a:lstStyle/>
                    <a:p>
                      <a:r>
                        <a:rPr lang="en-US" sz="2000" b="0" i="0" kern="1200" dirty="0" smtClean="0">
                          <a:solidFill>
                            <a:schemeClr val="dk1"/>
                          </a:solidFill>
                          <a:effectLst/>
                          <a:latin typeface="+mn-lt"/>
                          <a:ea typeface="+mn-ea"/>
                          <a:cs typeface="+mn-cs"/>
                        </a:rPr>
                        <a:t>Data entries, records in tables.</a:t>
                      </a:r>
                      <a:endParaRPr lang="en-US" sz="2000" dirty="0"/>
                    </a:p>
                  </a:txBody>
                  <a:tcPr/>
                </a:tc>
              </a:tr>
            </a:tbl>
          </a:graphicData>
        </a:graphic>
      </p:graphicFrame>
    </p:spTree>
    <p:extLst>
      <p:ext uri="{BB962C8B-B14F-4D97-AF65-F5344CB8AC3E}">
        <p14:creationId xmlns:p14="http://schemas.microsoft.com/office/powerpoint/2010/main" val="717732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Languages</a:t>
            </a:r>
          </a:p>
        </p:txBody>
      </p:sp>
      <p:sp>
        <p:nvSpPr>
          <p:cNvPr id="3" name="Content Placeholder 2"/>
          <p:cNvSpPr>
            <a:spLocks noGrp="1"/>
          </p:cNvSpPr>
          <p:nvPr>
            <p:ph idx="1"/>
          </p:nvPr>
        </p:nvSpPr>
        <p:spPr/>
        <p:txBody>
          <a:bodyPr/>
          <a:lstStyle/>
          <a:p>
            <a:r>
              <a:rPr lang="en-US" dirty="0"/>
              <a:t>A DBMS has appropriate languages and interfaces to express database queries and updates.</a:t>
            </a:r>
          </a:p>
          <a:p>
            <a:r>
              <a:rPr lang="en-US" dirty="0"/>
              <a:t>Database languages can be used to read, store and update the data in the database.</a:t>
            </a:r>
          </a:p>
          <a:p>
            <a:pPr marL="0" indent="0">
              <a:buNone/>
            </a:pPr>
            <a:endParaRPr lang="en-US" dirty="0"/>
          </a:p>
        </p:txBody>
      </p:sp>
    </p:spTree>
    <p:extLst>
      <p:ext uri="{BB962C8B-B14F-4D97-AF65-F5344CB8AC3E}">
        <p14:creationId xmlns:p14="http://schemas.microsoft.com/office/powerpoint/2010/main" val="1792724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Database Languages</a:t>
            </a:r>
            <a:endParaRPr lang="en-US" dirty="0"/>
          </a:p>
        </p:txBody>
      </p:sp>
      <p:pic>
        <p:nvPicPr>
          <p:cNvPr id="4098" name="Picture 2" descr="C:\Users\user\Downloads\g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1828800"/>
            <a:ext cx="5943599"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9368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Definition Language (DDL</a:t>
            </a:r>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b="1" dirty="0"/>
              <a:t>DDL</a:t>
            </a:r>
            <a:r>
              <a:rPr lang="en-US" dirty="0"/>
              <a:t> stands for </a:t>
            </a:r>
            <a:r>
              <a:rPr lang="en-US" b="1" dirty="0"/>
              <a:t>D</a:t>
            </a:r>
            <a:r>
              <a:rPr lang="en-US" dirty="0"/>
              <a:t>ata </a:t>
            </a:r>
            <a:r>
              <a:rPr lang="en-US" b="1" dirty="0"/>
              <a:t>D</a:t>
            </a:r>
            <a:r>
              <a:rPr lang="en-US" dirty="0"/>
              <a:t>efinition </a:t>
            </a:r>
            <a:r>
              <a:rPr lang="en-US" b="1" dirty="0"/>
              <a:t>L</a:t>
            </a:r>
            <a:r>
              <a:rPr lang="en-US" dirty="0"/>
              <a:t>anguage. It is used to define database structure or pattern.</a:t>
            </a:r>
          </a:p>
          <a:p>
            <a:pPr algn="just"/>
            <a:r>
              <a:rPr lang="en-US" dirty="0"/>
              <a:t>It is used to create schema, tables, indexes, constraints, etc. in the database.</a:t>
            </a:r>
          </a:p>
          <a:p>
            <a:pPr algn="just"/>
            <a:r>
              <a:rPr lang="en-US" dirty="0"/>
              <a:t>Using the DDL statements, you can create the skeleton of the database.</a:t>
            </a:r>
          </a:p>
          <a:p>
            <a:pPr algn="just"/>
            <a:r>
              <a:rPr lang="en-US" dirty="0"/>
              <a:t>Data definition language is used to store the information of metadata like the number of tables and schemas, their names, indexes, columns in each table, constraints, etc</a:t>
            </a:r>
            <a:r>
              <a:rPr lang="en-US" dirty="0" smtClean="0"/>
              <a:t>.</a:t>
            </a:r>
          </a:p>
          <a:p>
            <a:pPr marL="0" indent="0" algn="just">
              <a:buNone/>
            </a:pPr>
            <a:endParaRPr lang="en-US" dirty="0" smtClean="0"/>
          </a:p>
          <a:p>
            <a:pPr marL="0" indent="0" algn="just">
              <a:buNone/>
            </a:pPr>
            <a:r>
              <a:rPr lang="en-US" dirty="0"/>
              <a:t>Here are some tasks that come under DDL</a:t>
            </a:r>
            <a:r>
              <a:rPr lang="en-US" dirty="0" smtClean="0"/>
              <a:t>:</a:t>
            </a:r>
          </a:p>
          <a:p>
            <a:pPr marL="0" indent="0">
              <a:buNone/>
            </a:pPr>
            <a:r>
              <a:rPr lang="en-US" dirty="0" smtClean="0"/>
              <a:t>    </a:t>
            </a:r>
            <a:r>
              <a:rPr lang="en-US" b="1" dirty="0"/>
              <a:t>Create:</a:t>
            </a:r>
            <a:r>
              <a:rPr lang="en-US" dirty="0"/>
              <a:t> </a:t>
            </a:r>
            <a:r>
              <a:rPr lang="en-US" b="1" dirty="0" smtClean="0"/>
              <a:t>Alter</a:t>
            </a:r>
            <a:r>
              <a:rPr lang="en-US" b="1" dirty="0"/>
              <a:t>:</a:t>
            </a:r>
            <a:r>
              <a:rPr lang="en-US" dirty="0"/>
              <a:t> </a:t>
            </a:r>
            <a:r>
              <a:rPr lang="en-US" b="1" dirty="0" smtClean="0"/>
              <a:t>Drop</a:t>
            </a:r>
            <a:r>
              <a:rPr lang="en-US" b="1" dirty="0"/>
              <a:t>:</a:t>
            </a:r>
            <a:r>
              <a:rPr lang="en-US" dirty="0"/>
              <a:t> </a:t>
            </a:r>
            <a:r>
              <a:rPr lang="en-US" b="1" dirty="0" smtClean="0"/>
              <a:t>Truncate</a:t>
            </a:r>
            <a:r>
              <a:rPr lang="en-US" b="1" dirty="0"/>
              <a:t>:</a:t>
            </a:r>
            <a:r>
              <a:rPr lang="en-US" dirty="0"/>
              <a:t> </a:t>
            </a:r>
            <a:r>
              <a:rPr lang="en-US" b="1" dirty="0" smtClean="0"/>
              <a:t>Rename</a:t>
            </a:r>
            <a:r>
              <a:rPr lang="en-US" b="1" dirty="0"/>
              <a:t>:</a:t>
            </a:r>
            <a:r>
              <a:rPr lang="en-US" dirty="0"/>
              <a:t> </a:t>
            </a:r>
            <a:r>
              <a:rPr lang="en-US" b="1" dirty="0" smtClean="0"/>
              <a:t>Comment</a:t>
            </a:r>
            <a:r>
              <a:rPr lang="en-US" b="1" dirty="0"/>
              <a:t>:</a:t>
            </a:r>
            <a:endParaRPr lang="en-US" dirty="0"/>
          </a:p>
          <a:p>
            <a:pPr algn="just"/>
            <a:endParaRPr lang="en-US" dirty="0"/>
          </a:p>
          <a:p>
            <a:pPr marL="0" indent="0">
              <a:buNone/>
            </a:pPr>
            <a:endParaRPr lang="en-US" dirty="0"/>
          </a:p>
        </p:txBody>
      </p:sp>
    </p:spTree>
    <p:extLst>
      <p:ext uri="{BB962C8B-B14F-4D97-AF65-F5344CB8AC3E}">
        <p14:creationId xmlns:p14="http://schemas.microsoft.com/office/powerpoint/2010/main" val="1636824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Manipulation Language (DML</a:t>
            </a:r>
            <a:r>
              <a:rPr lang="en-US" dirty="0" smtClean="0"/>
              <a:t>)</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
            </a:pPr>
            <a:r>
              <a:rPr lang="en-US" b="1" dirty="0" smtClean="0"/>
              <a:t>DML</a:t>
            </a:r>
            <a:r>
              <a:rPr lang="en-US" dirty="0"/>
              <a:t> stands for </a:t>
            </a:r>
            <a:r>
              <a:rPr lang="en-US" b="1" dirty="0"/>
              <a:t>D</a:t>
            </a:r>
            <a:r>
              <a:rPr lang="en-US" dirty="0"/>
              <a:t>ata </a:t>
            </a:r>
            <a:r>
              <a:rPr lang="en-US" b="1" dirty="0"/>
              <a:t>M</a:t>
            </a:r>
            <a:r>
              <a:rPr lang="en-US" dirty="0"/>
              <a:t>anipulation </a:t>
            </a:r>
            <a:r>
              <a:rPr lang="en-US" b="1" dirty="0"/>
              <a:t>L</a:t>
            </a:r>
            <a:r>
              <a:rPr lang="en-US" dirty="0"/>
              <a:t>anguage. It is used for accessing and manipulating data in a database. It handles user requests.</a:t>
            </a:r>
          </a:p>
          <a:p>
            <a:pPr marL="0" indent="0">
              <a:buNone/>
            </a:pPr>
            <a:r>
              <a:rPr lang="en-US" dirty="0"/>
              <a:t>Here are some tasks that come under DML:</a:t>
            </a:r>
          </a:p>
          <a:p>
            <a:pPr marL="0" indent="0">
              <a:buNone/>
            </a:pPr>
            <a:endParaRPr lang="en-US" b="1" dirty="0" smtClean="0"/>
          </a:p>
          <a:p>
            <a:pPr marL="0" indent="0">
              <a:buNone/>
            </a:pPr>
            <a:r>
              <a:rPr lang="en-US" b="1" dirty="0" smtClean="0"/>
              <a:t>Select</a:t>
            </a:r>
            <a:r>
              <a:rPr lang="en-US" b="1" dirty="0"/>
              <a:t>:</a:t>
            </a:r>
            <a:r>
              <a:rPr lang="en-US" dirty="0"/>
              <a:t> </a:t>
            </a:r>
            <a:r>
              <a:rPr lang="en-US" b="1" dirty="0" smtClean="0"/>
              <a:t>Insert</a:t>
            </a:r>
            <a:r>
              <a:rPr lang="en-US" b="1" dirty="0"/>
              <a:t>:</a:t>
            </a:r>
            <a:r>
              <a:rPr lang="en-US" dirty="0"/>
              <a:t> </a:t>
            </a:r>
            <a:r>
              <a:rPr lang="en-US" b="1" dirty="0" smtClean="0"/>
              <a:t>Update</a:t>
            </a:r>
            <a:r>
              <a:rPr lang="en-US" b="1" dirty="0"/>
              <a:t>:</a:t>
            </a:r>
            <a:r>
              <a:rPr lang="en-US" dirty="0"/>
              <a:t> </a:t>
            </a:r>
            <a:r>
              <a:rPr lang="en-US" b="1" dirty="0" smtClean="0"/>
              <a:t>Delete</a:t>
            </a:r>
            <a:r>
              <a:rPr lang="en-US" b="1" dirty="0"/>
              <a:t>:</a:t>
            </a:r>
            <a:r>
              <a:rPr lang="en-US" dirty="0"/>
              <a:t> </a:t>
            </a:r>
            <a:r>
              <a:rPr lang="en-US" b="1" dirty="0" smtClean="0"/>
              <a:t>Merge</a:t>
            </a:r>
            <a:r>
              <a:rPr lang="en-US" b="1" dirty="0"/>
              <a:t>:</a:t>
            </a:r>
            <a:r>
              <a:rPr lang="en-US" dirty="0"/>
              <a:t> </a:t>
            </a:r>
            <a:r>
              <a:rPr lang="en-US" b="1" dirty="0" smtClean="0"/>
              <a:t>Call</a:t>
            </a:r>
            <a:r>
              <a:rPr lang="en-US" b="1" dirty="0"/>
              <a:t>:</a:t>
            </a:r>
            <a:r>
              <a:rPr lang="en-US" dirty="0"/>
              <a:t> </a:t>
            </a:r>
            <a:endParaRPr lang="en-US" dirty="0" smtClean="0"/>
          </a:p>
          <a:p>
            <a:pPr marL="0" indent="0">
              <a:buNone/>
            </a:pPr>
            <a:r>
              <a:rPr lang="en-US" b="1" dirty="0"/>
              <a:t> </a:t>
            </a:r>
            <a:r>
              <a:rPr lang="en-US" b="1" dirty="0" smtClean="0"/>
              <a:t>   Explain </a:t>
            </a:r>
            <a:r>
              <a:rPr lang="en-US" b="1" dirty="0"/>
              <a:t>Plan:</a:t>
            </a:r>
            <a:r>
              <a:rPr lang="en-US" dirty="0"/>
              <a:t> </a:t>
            </a:r>
            <a:r>
              <a:rPr lang="en-US" b="1" dirty="0" smtClean="0"/>
              <a:t>Lock </a:t>
            </a:r>
            <a:r>
              <a:rPr lang="en-US" b="1" dirty="0"/>
              <a:t>Table:</a:t>
            </a:r>
            <a:endParaRPr lang="en-US" dirty="0"/>
          </a:p>
          <a:p>
            <a:pPr marL="0" indent="0">
              <a:buNone/>
            </a:pPr>
            <a:endParaRPr lang="en-US" dirty="0"/>
          </a:p>
        </p:txBody>
      </p:sp>
    </p:spTree>
    <p:extLst>
      <p:ext uri="{BB962C8B-B14F-4D97-AF65-F5344CB8AC3E}">
        <p14:creationId xmlns:p14="http://schemas.microsoft.com/office/powerpoint/2010/main" val="2171781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Control Language (DCL</a:t>
            </a:r>
            <a:r>
              <a:rPr lang="en-US" dirty="0" smtClean="0"/>
              <a:t>)</a:t>
            </a:r>
            <a:endParaRPr lang="en-US" dirty="0"/>
          </a:p>
        </p:txBody>
      </p:sp>
      <p:sp>
        <p:nvSpPr>
          <p:cNvPr id="3" name="Content Placeholder 2"/>
          <p:cNvSpPr>
            <a:spLocks noGrp="1"/>
          </p:cNvSpPr>
          <p:nvPr>
            <p:ph idx="1"/>
          </p:nvPr>
        </p:nvSpPr>
        <p:spPr/>
        <p:txBody>
          <a:bodyPr/>
          <a:lstStyle/>
          <a:p>
            <a:r>
              <a:rPr lang="en-US" b="1" dirty="0"/>
              <a:t>DCL</a:t>
            </a:r>
            <a:r>
              <a:rPr lang="en-US" dirty="0"/>
              <a:t> stands for </a:t>
            </a:r>
            <a:r>
              <a:rPr lang="en-US" b="1" dirty="0"/>
              <a:t>D</a:t>
            </a:r>
            <a:r>
              <a:rPr lang="en-US" dirty="0"/>
              <a:t>ata </a:t>
            </a:r>
            <a:r>
              <a:rPr lang="en-US" b="1" dirty="0"/>
              <a:t>C</a:t>
            </a:r>
            <a:r>
              <a:rPr lang="en-US" dirty="0"/>
              <a:t>ontrol </a:t>
            </a:r>
            <a:r>
              <a:rPr lang="en-US" b="1" dirty="0"/>
              <a:t>L</a:t>
            </a:r>
            <a:r>
              <a:rPr lang="en-US" dirty="0"/>
              <a:t>anguage. It is used to retrieve the stored or saved data.</a:t>
            </a:r>
          </a:p>
          <a:p>
            <a:r>
              <a:rPr lang="en-US" dirty="0"/>
              <a:t>The DCL execution is transactional. It also has rollback parameters.</a:t>
            </a:r>
          </a:p>
          <a:p>
            <a:pPr marL="0" indent="0">
              <a:buNone/>
            </a:pPr>
            <a:endParaRPr lang="en-US" dirty="0" smtClean="0"/>
          </a:p>
          <a:p>
            <a:pPr marL="0" indent="0">
              <a:buNone/>
            </a:pPr>
            <a:r>
              <a:rPr lang="en-US" dirty="0" smtClean="0"/>
              <a:t>Here </a:t>
            </a:r>
            <a:r>
              <a:rPr lang="en-US" dirty="0"/>
              <a:t>are some tasks that come under DCL:</a:t>
            </a:r>
          </a:p>
          <a:p>
            <a:pPr marL="0" indent="0">
              <a:buNone/>
            </a:pPr>
            <a:r>
              <a:rPr lang="en-US" b="1" dirty="0" smtClean="0"/>
              <a:t>     Grant</a:t>
            </a:r>
            <a:r>
              <a:rPr lang="en-US" b="1" dirty="0"/>
              <a:t>:</a:t>
            </a:r>
            <a:r>
              <a:rPr lang="en-US" dirty="0"/>
              <a:t> </a:t>
            </a:r>
            <a:r>
              <a:rPr lang="en-US" b="1" dirty="0" smtClean="0"/>
              <a:t>Revoke</a:t>
            </a:r>
            <a:r>
              <a:rPr lang="en-US" b="1" dirty="0"/>
              <a:t>:</a:t>
            </a:r>
            <a:endParaRPr lang="en-US" dirty="0"/>
          </a:p>
          <a:p>
            <a:pPr marL="0" indent="0">
              <a:buNone/>
            </a:pPr>
            <a:endParaRPr lang="en-US" dirty="0"/>
          </a:p>
        </p:txBody>
      </p:sp>
    </p:spTree>
    <p:extLst>
      <p:ext uri="{BB962C8B-B14F-4D97-AF65-F5344CB8AC3E}">
        <p14:creationId xmlns:p14="http://schemas.microsoft.com/office/powerpoint/2010/main" val="38503940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Transaction Control Language (TCL</a:t>
            </a:r>
            <a:r>
              <a:rPr lang="en-US" dirty="0" smtClean="0"/>
              <a:t>)</a:t>
            </a:r>
            <a:endParaRPr lang="en-US" dirty="0"/>
          </a:p>
        </p:txBody>
      </p:sp>
      <p:sp>
        <p:nvSpPr>
          <p:cNvPr id="3" name="Content Placeholder 2"/>
          <p:cNvSpPr>
            <a:spLocks noGrp="1"/>
          </p:cNvSpPr>
          <p:nvPr>
            <p:ph idx="1"/>
          </p:nvPr>
        </p:nvSpPr>
        <p:spPr/>
        <p:txBody>
          <a:bodyPr/>
          <a:lstStyle/>
          <a:p>
            <a:r>
              <a:rPr lang="en-US" dirty="0"/>
              <a:t>TCL is used to run the changes made by the DML statement. TCL can be grouped into a logical transaction.</a:t>
            </a:r>
          </a:p>
          <a:p>
            <a:pPr marL="0" indent="0">
              <a:buNone/>
            </a:pPr>
            <a:endParaRPr lang="en-US" dirty="0" smtClean="0"/>
          </a:p>
          <a:p>
            <a:pPr marL="0" indent="0">
              <a:buNone/>
            </a:pPr>
            <a:r>
              <a:rPr lang="en-US" dirty="0" smtClean="0"/>
              <a:t>Here </a:t>
            </a:r>
            <a:r>
              <a:rPr lang="en-US" dirty="0"/>
              <a:t>are some tasks that come under TCL:</a:t>
            </a:r>
          </a:p>
          <a:p>
            <a:pPr marL="0" indent="0">
              <a:buNone/>
            </a:pPr>
            <a:r>
              <a:rPr lang="en-US" b="1" dirty="0"/>
              <a:t>Commit:</a:t>
            </a:r>
            <a:r>
              <a:rPr lang="en-US" dirty="0"/>
              <a:t> </a:t>
            </a:r>
            <a:r>
              <a:rPr lang="en-US" b="1" dirty="0" smtClean="0"/>
              <a:t>Rollback</a:t>
            </a:r>
            <a:r>
              <a:rPr lang="en-US" b="1" dirty="0"/>
              <a:t>:</a:t>
            </a:r>
            <a:r>
              <a:rPr lang="en-US" dirty="0"/>
              <a:t> </a:t>
            </a:r>
          </a:p>
          <a:p>
            <a:pPr marL="0" indent="0">
              <a:buNone/>
            </a:pPr>
            <a:endParaRPr lang="en-US" dirty="0"/>
          </a:p>
        </p:txBody>
      </p:sp>
    </p:spTree>
    <p:extLst>
      <p:ext uri="{BB962C8B-B14F-4D97-AF65-F5344CB8AC3E}">
        <p14:creationId xmlns:p14="http://schemas.microsoft.com/office/powerpoint/2010/main" val="4135043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sp>
        <p:nvSpPr>
          <p:cNvPr id="3" name="Content Placeholder 2"/>
          <p:cNvSpPr>
            <a:spLocks noGrp="1"/>
          </p:cNvSpPr>
          <p:nvPr>
            <p:ph idx="1"/>
          </p:nvPr>
        </p:nvSpPr>
        <p:spPr/>
        <p:txBody>
          <a:bodyPr/>
          <a:lstStyle/>
          <a:p>
            <a:pPr marL="0" indent="0" algn="just">
              <a:buNone/>
            </a:pPr>
            <a:r>
              <a:rPr lang="en-US" dirty="0"/>
              <a:t>The organization’s database is its physical repository for financial and nonfinancial data. We use the term database in the generic sense. It can be a filing cabinet or a computer disk. Figure 4.4. presents a breakdown of the database environment into four primary elements: </a:t>
            </a:r>
            <a:r>
              <a:rPr lang="en-US" b="1" dirty="0">
                <a:solidFill>
                  <a:srgbClr val="FF0000"/>
                </a:solidFill>
              </a:rPr>
              <a:t>users</a:t>
            </a:r>
            <a:r>
              <a:rPr lang="en-US" dirty="0"/>
              <a:t>, the </a:t>
            </a:r>
            <a:r>
              <a:rPr lang="en-US" b="1" dirty="0">
                <a:solidFill>
                  <a:srgbClr val="FF0000"/>
                </a:solidFill>
              </a:rPr>
              <a:t>DBMS</a:t>
            </a:r>
            <a:r>
              <a:rPr lang="en-US" dirty="0"/>
              <a:t>, the database </a:t>
            </a:r>
            <a:r>
              <a:rPr lang="en-US" b="1" dirty="0">
                <a:solidFill>
                  <a:srgbClr val="FF0000"/>
                </a:solidFill>
              </a:rPr>
              <a:t>administrator</a:t>
            </a:r>
            <a:r>
              <a:rPr lang="en-US" dirty="0"/>
              <a:t>, and the </a:t>
            </a:r>
            <a:r>
              <a:rPr lang="en-US" b="1" dirty="0">
                <a:solidFill>
                  <a:srgbClr val="FF0000"/>
                </a:solidFill>
              </a:rPr>
              <a:t>physical database</a:t>
            </a:r>
            <a:r>
              <a:rPr lang="en-US" dirty="0"/>
              <a:t>.</a:t>
            </a:r>
          </a:p>
        </p:txBody>
      </p:sp>
    </p:spTree>
    <p:extLst>
      <p:ext uri="{BB962C8B-B14F-4D97-AF65-F5344CB8AC3E}">
        <p14:creationId xmlns:p14="http://schemas.microsoft.com/office/powerpoint/2010/main" val="3327263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Users</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smtClean="0"/>
              <a:t>Users </a:t>
            </a:r>
            <a:r>
              <a:rPr lang="en-US" dirty="0"/>
              <a:t>access the database in two ways</a:t>
            </a:r>
            <a:r>
              <a:rPr lang="en-US" dirty="0" smtClean="0"/>
              <a:t>.</a:t>
            </a:r>
          </a:p>
          <a:p>
            <a:pPr algn="just">
              <a:buFont typeface="Wingdings" pitchFamily="2" charset="2"/>
              <a:buChar char="ü"/>
            </a:pPr>
            <a:r>
              <a:rPr lang="en-US" dirty="0"/>
              <a:t> The first is via user application programs that systems professionals prepare. These programs send data access requests (calls) to the DBMS, which validates the requests and retrieves the data for processing</a:t>
            </a:r>
            <a:r>
              <a:rPr lang="en-US" dirty="0" smtClean="0"/>
              <a:t>.</a:t>
            </a:r>
          </a:p>
          <a:p>
            <a:pPr algn="just">
              <a:buFont typeface="Wingdings" pitchFamily="2" charset="2"/>
              <a:buChar char="ü"/>
            </a:pPr>
            <a:r>
              <a:rPr lang="en-US" dirty="0"/>
              <a:t> The second method of database access is via direct query, which requires no formal user programs. The DBMS has a built-in query facility that allows authorized users to process data independent of professional programmers.</a:t>
            </a:r>
          </a:p>
        </p:txBody>
      </p:sp>
    </p:spTree>
    <p:extLst>
      <p:ext uri="{BB962C8B-B14F-4D97-AF65-F5344CB8AC3E}">
        <p14:creationId xmlns:p14="http://schemas.microsoft.com/office/powerpoint/2010/main" val="1738405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Management System</a:t>
            </a:r>
          </a:p>
        </p:txBody>
      </p:sp>
      <p:sp>
        <p:nvSpPr>
          <p:cNvPr id="3" name="Content Placeholder 2"/>
          <p:cNvSpPr>
            <a:spLocks noGrp="1"/>
          </p:cNvSpPr>
          <p:nvPr>
            <p:ph idx="1"/>
          </p:nvPr>
        </p:nvSpPr>
        <p:spPr/>
        <p:txBody>
          <a:bodyPr/>
          <a:lstStyle/>
          <a:p>
            <a:pPr marL="0" indent="0" algn="just">
              <a:buNone/>
            </a:pPr>
            <a:r>
              <a:rPr lang="en-US" dirty="0"/>
              <a:t>The DBMS provides a controlled environment to assist (or prevent) user access to the database and to efficiently manage the data resource</a:t>
            </a:r>
            <a:r>
              <a:rPr lang="en-US" dirty="0" smtClean="0"/>
              <a:t>. </a:t>
            </a:r>
            <a:r>
              <a:rPr lang="en-US" dirty="0"/>
              <a:t>Database Management Systems (DBMS) are software systems used to store, retrieve, and run queries on data. A DBMS serves as an interface between an end-user and a database, allowing users to create, read, update, and delete data in the database.</a:t>
            </a:r>
            <a:endParaRPr lang="en-US" dirty="0"/>
          </a:p>
        </p:txBody>
      </p:sp>
    </p:spTree>
    <p:extLst>
      <p:ext uri="{BB962C8B-B14F-4D97-AF65-F5344CB8AC3E}">
        <p14:creationId xmlns:p14="http://schemas.microsoft.com/office/powerpoint/2010/main" val="60302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Administrator</a:t>
            </a:r>
          </a:p>
        </p:txBody>
      </p:sp>
      <p:sp>
        <p:nvSpPr>
          <p:cNvPr id="3" name="Content Placeholder 2"/>
          <p:cNvSpPr>
            <a:spLocks noGrp="1"/>
          </p:cNvSpPr>
          <p:nvPr>
            <p:ph idx="1"/>
          </p:nvPr>
        </p:nvSpPr>
        <p:spPr>
          <a:xfrm>
            <a:off x="457200" y="1600200"/>
            <a:ext cx="8229600" cy="4800600"/>
          </a:xfrm>
        </p:spPr>
        <p:txBody>
          <a:bodyPr>
            <a:noAutofit/>
          </a:bodyPr>
          <a:lstStyle/>
          <a:p>
            <a:pPr marL="0" indent="0" algn="just">
              <a:buNone/>
            </a:pPr>
            <a:r>
              <a:rPr lang="en-US" sz="2200" dirty="0">
                <a:latin typeface="Times New Roman" pitchFamily="18" charset="0"/>
                <a:cs typeface="Times New Roman" pitchFamily="18" charset="0"/>
              </a:rPr>
              <a:t>The Database </a:t>
            </a:r>
            <a:r>
              <a:rPr lang="en-US" sz="2200" dirty="0" smtClean="0">
                <a:latin typeface="Times New Roman" pitchFamily="18" charset="0"/>
                <a:cs typeface="Times New Roman" pitchFamily="18" charset="0"/>
              </a:rPr>
              <a:t>Administrator (DBA) </a:t>
            </a:r>
            <a:r>
              <a:rPr lang="en-US" sz="2200" dirty="0">
                <a:latin typeface="Times New Roman" pitchFamily="18" charset="0"/>
                <a:cs typeface="Times New Roman" pitchFamily="18" charset="0"/>
              </a:rPr>
              <a:t>is responsible for managing the database resource. Multiple users sharing a common database require organization, coordination, rules, and guidelines to protect the integrity of the database. In large organizations the DBA function may consist of an entire department of technical personnel under the database administrator. In smaller organizations someone within the computer services group may assume DBA responsibility. The duties of the DBA fall into the following areas: </a:t>
            </a:r>
            <a:endParaRPr lang="en-US" sz="2200" dirty="0" smtClean="0">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database </a:t>
            </a:r>
            <a:r>
              <a:rPr lang="en-US" sz="2200" dirty="0">
                <a:latin typeface="Times New Roman" pitchFamily="18" charset="0"/>
                <a:cs typeface="Times New Roman" pitchFamily="18" charset="0"/>
              </a:rPr>
              <a:t>planning, </a:t>
            </a:r>
            <a:endParaRPr lang="en-US" sz="2200" dirty="0" smtClean="0">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database </a:t>
            </a:r>
            <a:r>
              <a:rPr lang="en-US" sz="2200" dirty="0">
                <a:latin typeface="Times New Roman" pitchFamily="18" charset="0"/>
                <a:cs typeface="Times New Roman" pitchFamily="18" charset="0"/>
              </a:rPr>
              <a:t>design, </a:t>
            </a:r>
            <a:endParaRPr lang="en-US" sz="2200" dirty="0" smtClean="0">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database </a:t>
            </a:r>
            <a:r>
              <a:rPr lang="en-US" sz="2200" dirty="0">
                <a:latin typeface="Times New Roman" pitchFamily="18" charset="0"/>
                <a:cs typeface="Times New Roman" pitchFamily="18" charset="0"/>
              </a:rPr>
              <a:t>implementation, </a:t>
            </a:r>
            <a:endParaRPr lang="en-US" sz="2200" dirty="0" smtClean="0">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database </a:t>
            </a:r>
            <a:r>
              <a:rPr lang="en-US" sz="2200" dirty="0">
                <a:latin typeface="Times New Roman" pitchFamily="18" charset="0"/>
                <a:cs typeface="Times New Roman" pitchFamily="18" charset="0"/>
              </a:rPr>
              <a:t>operation and maintenance, and </a:t>
            </a:r>
            <a:endParaRPr lang="en-US" sz="2200" dirty="0" smtClean="0">
              <a:latin typeface="Times New Roman" pitchFamily="18" charset="0"/>
              <a:cs typeface="Times New Roman" pitchFamily="18" charset="0"/>
            </a:endParaRPr>
          </a:p>
          <a:p>
            <a:pPr algn="just">
              <a:buFont typeface="Wingdings" pitchFamily="2" charset="2"/>
              <a:buChar char="Ø"/>
            </a:pP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   database </a:t>
            </a:r>
            <a:r>
              <a:rPr lang="en-US" sz="2200" dirty="0">
                <a:latin typeface="Times New Roman" pitchFamily="18" charset="0"/>
                <a:cs typeface="Times New Roman" pitchFamily="18" charset="0"/>
              </a:rPr>
              <a:t>change and growth.</a:t>
            </a:r>
          </a:p>
        </p:txBody>
      </p:sp>
    </p:spTree>
    <p:extLst>
      <p:ext uri="{BB962C8B-B14F-4D97-AF65-F5344CB8AC3E}">
        <p14:creationId xmlns:p14="http://schemas.microsoft.com/office/powerpoint/2010/main" val="1900092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Physical Database</a:t>
            </a:r>
          </a:p>
        </p:txBody>
      </p:sp>
      <p:sp>
        <p:nvSpPr>
          <p:cNvPr id="3" name="Content Placeholder 2"/>
          <p:cNvSpPr>
            <a:spLocks noGrp="1"/>
          </p:cNvSpPr>
          <p:nvPr>
            <p:ph idx="1"/>
          </p:nvPr>
        </p:nvSpPr>
        <p:spPr/>
        <p:txBody>
          <a:bodyPr/>
          <a:lstStyle/>
          <a:p>
            <a:pPr marL="0" indent="0" algn="just">
              <a:buNone/>
            </a:pPr>
            <a:r>
              <a:rPr lang="en-US" dirty="0"/>
              <a:t>This is the lowest level of the database. The physical database consists of magnetic spots on magnetic disks. The other levels of the database (for example, the user view, conceptual view, and internal view) are abstract representations of the physical level. At the physical level, the database is a collection of records and files. </a:t>
            </a:r>
          </a:p>
        </p:txBody>
      </p:sp>
    </p:spTree>
    <p:extLst>
      <p:ext uri="{BB962C8B-B14F-4D97-AF65-F5344CB8AC3E}">
        <p14:creationId xmlns:p14="http://schemas.microsoft.com/office/powerpoint/2010/main" val="1294119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user\Downloads\ggg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80010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3916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Database Model</a:t>
            </a:r>
            <a:endParaRPr lang="en-US" dirty="0"/>
          </a:p>
        </p:txBody>
      </p:sp>
      <p:sp>
        <p:nvSpPr>
          <p:cNvPr id="3" name="Content Placeholder 2"/>
          <p:cNvSpPr>
            <a:spLocks noGrp="1"/>
          </p:cNvSpPr>
          <p:nvPr>
            <p:ph idx="1"/>
          </p:nvPr>
        </p:nvSpPr>
        <p:spPr/>
        <p:txBody>
          <a:bodyPr>
            <a:normAutofit lnSpcReduction="10000"/>
          </a:bodyPr>
          <a:lstStyle/>
          <a:p>
            <a:r>
              <a:rPr lang="en-US" dirty="0"/>
              <a:t>Hierarchical database model.</a:t>
            </a:r>
          </a:p>
          <a:p>
            <a:r>
              <a:rPr lang="en-US" dirty="0"/>
              <a:t>Relational model.</a:t>
            </a:r>
          </a:p>
          <a:p>
            <a:r>
              <a:rPr lang="en-US" dirty="0"/>
              <a:t>Network model.</a:t>
            </a:r>
          </a:p>
          <a:p>
            <a:r>
              <a:rPr lang="en-US" dirty="0"/>
              <a:t>Object-oriented database model.</a:t>
            </a:r>
          </a:p>
          <a:p>
            <a:r>
              <a:rPr lang="en-US" dirty="0"/>
              <a:t>Entity-relationship model.</a:t>
            </a:r>
          </a:p>
          <a:p>
            <a:r>
              <a:rPr lang="en-US" dirty="0"/>
              <a:t>Document model.</a:t>
            </a:r>
          </a:p>
          <a:p>
            <a:r>
              <a:rPr lang="en-US" dirty="0"/>
              <a:t>Entity-attribute-value model.</a:t>
            </a:r>
          </a:p>
          <a:p>
            <a:r>
              <a:rPr lang="en-US" dirty="0"/>
              <a:t>Star schema.</a:t>
            </a:r>
          </a:p>
          <a:p>
            <a:pPr marL="0" indent="0">
              <a:buNone/>
            </a:pPr>
            <a:endParaRPr lang="en-US" dirty="0"/>
          </a:p>
        </p:txBody>
      </p:sp>
    </p:spTree>
    <p:extLst>
      <p:ext uri="{BB962C8B-B14F-4D97-AF65-F5344CB8AC3E}">
        <p14:creationId xmlns:p14="http://schemas.microsoft.com/office/powerpoint/2010/main" val="1533782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Relational (REA) Database Model </a:t>
            </a:r>
          </a:p>
        </p:txBody>
      </p:sp>
      <p:sp>
        <p:nvSpPr>
          <p:cNvPr id="3" name="Content Placeholder 2"/>
          <p:cNvSpPr>
            <a:spLocks noGrp="1"/>
          </p:cNvSpPr>
          <p:nvPr>
            <p:ph idx="1"/>
          </p:nvPr>
        </p:nvSpPr>
        <p:spPr>
          <a:xfrm>
            <a:off x="457200" y="1371600"/>
            <a:ext cx="8229600" cy="5105400"/>
          </a:xfrm>
        </p:spPr>
        <p:txBody>
          <a:bodyPr>
            <a:normAutofit fontScale="85000" lnSpcReduction="10000"/>
          </a:bodyPr>
          <a:lstStyle/>
          <a:p>
            <a:pPr marL="0" indent="0" algn="just">
              <a:buNone/>
            </a:pPr>
            <a:r>
              <a:rPr lang="en-US" dirty="0"/>
              <a:t>REA is an accounting framework for modeling an organization’s critical resources, events, and agents (REA) and the relationships between them. Once specified, both accounting and non- accounting data about these phenomena can be identified, captured, and stored in a relational database. From this repository, user views can be constructed that meet the needs of all users in the organization. The availability of multiple views allows flexible use of transaction data and permits the development of accounting information systems that promote, rather than inhibit, integration. The REA model was proposed in 1982 as a theoretical model for accounting. </a:t>
            </a:r>
          </a:p>
        </p:txBody>
      </p:sp>
    </p:spTree>
    <p:extLst>
      <p:ext uri="{BB962C8B-B14F-4D97-AF65-F5344CB8AC3E}">
        <p14:creationId xmlns:p14="http://schemas.microsoft.com/office/powerpoint/2010/main" val="2695061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A system is relational if it: </a:t>
            </a:r>
            <a:endParaRPr lang="en-US" dirty="0" smtClean="0"/>
          </a:p>
          <a:p>
            <a:pPr algn="just">
              <a:buFont typeface="Wingdings" pitchFamily="2" charset="2"/>
              <a:buChar char="Ø"/>
            </a:pPr>
            <a:r>
              <a:rPr lang="en-US" dirty="0"/>
              <a:t> </a:t>
            </a:r>
            <a:r>
              <a:rPr lang="en-US" dirty="0" smtClean="0"/>
              <a:t> Represents </a:t>
            </a:r>
            <a:r>
              <a:rPr lang="en-US" dirty="0"/>
              <a:t>data in the form of two-dimensional tables such as the database table, called Customer, </a:t>
            </a:r>
            <a:endParaRPr lang="en-US" dirty="0" smtClean="0"/>
          </a:p>
          <a:p>
            <a:pPr algn="just">
              <a:buFont typeface="Wingdings" pitchFamily="2" charset="2"/>
              <a:buChar char="Ø"/>
            </a:pPr>
            <a:r>
              <a:rPr lang="en-US" dirty="0"/>
              <a:t> </a:t>
            </a:r>
            <a:r>
              <a:rPr lang="en-US" dirty="0" smtClean="0"/>
              <a:t>  Supports </a:t>
            </a:r>
            <a:r>
              <a:rPr lang="en-US" dirty="0"/>
              <a:t>the relational algebra functions of restrict, project, and join. </a:t>
            </a:r>
          </a:p>
        </p:txBody>
      </p:sp>
    </p:spTree>
    <p:extLst>
      <p:ext uri="{BB962C8B-B14F-4D97-AF65-F5344CB8AC3E}">
        <p14:creationId xmlns:p14="http://schemas.microsoft.com/office/powerpoint/2010/main" val="18528778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user\Downloads\ca.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990600"/>
            <a:ext cx="7391399"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705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user\Downloads\ca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685800"/>
            <a:ext cx="80772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640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a:bodyPr>
          <a:lstStyle/>
          <a:p>
            <a:pPr marL="0" indent="0">
              <a:buNone/>
            </a:pPr>
            <a:r>
              <a:rPr lang="en-US" dirty="0"/>
              <a:t>These three algebra functions are examined in the following section. </a:t>
            </a:r>
          </a:p>
          <a:p>
            <a:pPr marL="0" indent="0">
              <a:buNone/>
            </a:pPr>
            <a:r>
              <a:rPr lang="en-US" dirty="0" smtClean="0"/>
              <a:t>       </a:t>
            </a:r>
          </a:p>
          <a:p>
            <a:pPr marL="0" indent="0">
              <a:buNone/>
            </a:pPr>
            <a:r>
              <a:rPr lang="en-US" b="1" dirty="0">
                <a:solidFill>
                  <a:srgbClr val="FF0000"/>
                </a:solidFill>
              </a:rPr>
              <a:t> </a:t>
            </a:r>
            <a:r>
              <a:rPr lang="en-US" b="1" dirty="0" smtClean="0">
                <a:solidFill>
                  <a:srgbClr val="FF0000"/>
                </a:solidFill>
              </a:rPr>
              <a:t>               Restrict:</a:t>
            </a:r>
            <a:r>
              <a:rPr lang="en-US" b="1" dirty="0">
                <a:solidFill>
                  <a:srgbClr val="FF0000"/>
                </a:solidFill>
              </a:rPr>
              <a:t> </a:t>
            </a:r>
            <a:r>
              <a:rPr lang="en-US" b="1" dirty="0" smtClean="0">
                <a:solidFill>
                  <a:srgbClr val="FF0000"/>
                </a:solidFill>
              </a:rPr>
              <a:t>Project</a:t>
            </a:r>
            <a:r>
              <a:rPr lang="en-US" b="1" dirty="0">
                <a:solidFill>
                  <a:srgbClr val="FF0000"/>
                </a:solidFill>
              </a:rPr>
              <a:t>: </a:t>
            </a:r>
            <a:r>
              <a:rPr lang="en-US" b="1" dirty="0" smtClean="0">
                <a:solidFill>
                  <a:srgbClr val="FF0000"/>
                </a:solidFill>
              </a:rPr>
              <a:t>Join</a:t>
            </a:r>
            <a:r>
              <a:rPr lang="en-US" b="1" dirty="0">
                <a:solidFill>
                  <a:srgbClr val="FF0000"/>
                </a:solidFill>
              </a:rPr>
              <a:t>: </a:t>
            </a:r>
            <a:endParaRPr lang="en-US" b="1" dirty="0" smtClean="0">
              <a:solidFill>
                <a:srgbClr val="FF0000"/>
              </a:solidFill>
            </a:endParaRPr>
          </a:p>
          <a:p>
            <a:pPr marL="0" indent="0">
              <a:buNone/>
            </a:pPr>
            <a:endParaRPr lang="en-US" dirty="0" smtClean="0"/>
          </a:p>
          <a:p>
            <a:pPr marL="0" indent="0">
              <a:buNone/>
            </a:pPr>
            <a:r>
              <a:rPr lang="en-US" dirty="0" smtClean="0"/>
              <a:t>Although </a:t>
            </a:r>
            <a:r>
              <a:rPr lang="en-US" dirty="0"/>
              <a:t>restrict, project, and join is not the complete set of relational functions, it is a useful subset that satisfies most business information needs. </a:t>
            </a:r>
          </a:p>
        </p:txBody>
      </p:sp>
    </p:spTree>
    <p:extLst>
      <p:ext uri="{BB962C8B-B14F-4D97-AF65-F5344CB8AC3E}">
        <p14:creationId xmlns:p14="http://schemas.microsoft.com/office/powerpoint/2010/main" val="9610218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Elements of REA Database Model </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06762990"/>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59840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TotalTime>
  <Words>2375</Words>
  <Application>Microsoft Office PowerPoint</Application>
  <PresentationFormat>On-screen Show (4:3)</PresentationFormat>
  <Paragraphs>189</Paragraphs>
  <Slides>42</Slides>
  <Notes>0</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DATABASE SYSTEMS </vt:lpstr>
      <vt:lpstr>Database Systems</vt:lpstr>
      <vt:lpstr>The Manual process model</vt:lpstr>
      <vt:lpstr>The Flat-File Model</vt:lpstr>
      <vt:lpstr>PowerPoint Presentation</vt:lpstr>
      <vt:lpstr>Figure: Flat-File Data Management </vt:lpstr>
      <vt:lpstr>Flat-File Data Management</vt:lpstr>
      <vt:lpstr>The Database Approach</vt:lpstr>
      <vt:lpstr>The Database Management System</vt:lpstr>
      <vt:lpstr>PowerPoint Presentation</vt:lpstr>
      <vt:lpstr>Difference between File system &amp; DBMS</vt:lpstr>
      <vt:lpstr>Data Independence </vt:lpstr>
      <vt:lpstr>When not to use a DBMS</vt:lpstr>
      <vt:lpstr>Types of Databases and Database Applications</vt:lpstr>
      <vt:lpstr>Data Model </vt:lpstr>
      <vt:lpstr>Types of Data Models</vt:lpstr>
      <vt:lpstr>PowerPoint Presentation</vt:lpstr>
      <vt:lpstr>Schemas versus Instances</vt:lpstr>
      <vt:lpstr>Example</vt:lpstr>
      <vt:lpstr>Types of Schema</vt:lpstr>
      <vt:lpstr>What is Instance?</vt:lpstr>
      <vt:lpstr>Example</vt:lpstr>
      <vt:lpstr>Difference Between Schema and Instance </vt:lpstr>
      <vt:lpstr>DBMS Languages</vt:lpstr>
      <vt:lpstr>Types of Database Languages</vt:lpstr>
      <vt:lpstr>Data Definition Language (DDL)</vt:lpstr>
      <vt:lpstr>Data Manipulation Language (DML)</vt:lpstr>
      <vt:lpstr>Data Control Language (DCL)</vt:lpstr>
      <vt:lpstr>Transaction Control Language (TCL)</vt:lpstr>
      <vt:lpstr>Database Design Process</vt:lpstr>
      <vt:lpstr>Users</vt:lpstr>
      <vt:lpstr>Database Management System</vt:lpstr>
      <vt:lpstr>Database Administrator</vt:lpstr>
      <vt:lpstr>The Physical Database</vt:lpstr>
      <vt:lpstr>PowerPoint Presentation</vt:lpstr>
      <vt:lpstr>Types of Database Model</vt:lpstr>
      <vt:lpstr>The Relational (REA) Database Model </vt:lpstr>
      <vt:lpstr>PowerPoint Presentation</vt:lpstr>
      <vt:lpstr>PowerPoint Presentation</vt:lpstr>
      <vt:lpstr>PowerPoint Presentation</vt:lpstr>
      <vt:lpstr>PowerPoint Presentation</vt:lpstr>
      <vt:lpstr>The Elements of REA Database Model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c:title>
  <dc:creator>user</dc:creator>
  <cp:lastModifiedBy>user</cp:lastModifiedBy>
  <cp:revision>12</cp:revision>
  <dcterms:created xsi:type="dcterms:W3CDTF">2006-08-16T00:00:00Z</dcterms:created>
  <dcterms:modified xsi:type="dcterms:W3CDTF">2024-09-23T11:21:05Z</dcterms:modified>
</cp:coreProperties>
</file>