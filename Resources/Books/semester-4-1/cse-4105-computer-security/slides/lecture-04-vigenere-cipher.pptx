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644" y="436829"/>
            <a:ext cx="74523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9775" y="1219174"/>
            <a:ext cx="4635500" cy="1781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6740" y="6297267"/>
            <a:ext cx="2768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0"/>
            <a:ext cx="9096375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Cyber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Security &amp; Digital </a:t>
            </a:r>
            <a:r>
              <a:rPr sz="3600" spc="-10" dirty="0">
                <a:solidFill>
                  <a:srgbClr val="000000"/>
                </a:solidFill>
              </a:rPr>
              <a:t>Forensics </a:t>
            </a:r>
            <a:r>
              <a:rPr sz="3600" dirty="0">
                <a:solidFill>
                  <a:srgbClr val="000000"/>
                </a:solidFill>
              </a:rPr>
              <a:t>CSE</a:t>
            </a:r>
            <a:r>
              <a:rPr sz="3600" spc="-1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-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20" dirty="0">
                <a:solidFill>
                  <a:srgbClr val="000000"/>
                </a:solidFill>
              </a:rPr>
              <a:t>4207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566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04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Arial MT"/>
                <a:cs typeface="Arial MT"/>
              </a:rPr>
              <a:t>Dr. Md. Alam Hossain</a:t>
            </a:r>
            <a:endParaRPr sz="32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lang="en-US" sz="2400" spc="-10" dirty="0">
                <a:latin typeface="Arial MT"/>
                <a:cs typeface="Arial MT"/>
              </a:rPr>
              <a:t>Professor</a:t>
            </a: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Jashore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solidFill>
                  <a:srgbClr val="01395E"/>
                </a:solidFill>
                <a:latin typeface="Arial MT"/>
                <a:cs typeface="Arial MT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593" y="1233345"/>
            <a:ext cx="4007485" cy="18586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Polyalphabetic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Ciphers</a:t>
            </a:r>
            <a:endParaRPr sz="28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9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Playfair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Vigenère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Cipher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Kasiski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Playfair </a:t>
            </a:r>
            <a:r>
              <a:rPr spc="-10" dirty="0"/>
              <a:t>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8225155" cy="3733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1151255" algn="l"/>
                <a:tab pos="2261870" algn="l"/>
                <a:tab pos="3058160" algn="l"/>
                <a:tab pos="4193540" algn="l"/>
                <a:tab pos="5800090" algn="l"/>
                <a:tab pos="6368415" algn="l"/>
                <a:tab pos="7437120" algn="l"/>
                <a:tab pos="7983855" algn="l"/>
              </a:tabLst>
            </a:pPr>
            <a:r>
              <a:rPr sz="3200" spc="-25" dirty="0">
                <a:latin typeface="Arial MT"/>
                <a:cs typeface="Arial MT"/>
              </a:rPr>
              <a:t>not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0" dirty="0">
                <a:latin typeface="Arial MT"/>
                <a:cs typeface="Arial MT"/>
              </a:rPr>
              <a:t>even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large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number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of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0" dirty="0">
                <a:latin typeface="Arial MT"/>
                <a:cs typeface="Arial MT"/>
              </a:rPr>
              <a:t>keys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in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monoalphabetic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cipher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security</a:t>
            </a:r>
            <a:endParaRPr sz="3200">
              <a:latin typeface="Arial MT"/>
              <a:cs typeface="Arial MT"/>
            </a:endParaRPr>
          </a:p>
          <a:p>
            <a:pPr marL="355600" marR="635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one</a:t>
            </a:r>
            <a:r>
              <a:rPr sz="3200" spc="2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approach</a:t>
            </a:r>
            <a:r>
              <a:rPr sz="3200" spc="2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2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improving</a:t>
            </a:r>
            <a:r>
              <a:rPr sz="3200" spc="2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security</a:t>
            </a:r>
            <a:r>
              <a:rPr sz="3200" spc="30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</a:t>
            </a:r>
            <a:r>
              <a:rPr sz="3200" spc="29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to </a:t>
            </a:r>
            <a:r>
              <a:rPr sz="3200" dirty="0">
                <a:latin typeface="Arial MT"/>
                <a:cs typeface="Arial MT"/>
              </a:rPr>
              <a:t>encrypt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multiple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letters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Playfair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Cipher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example</a:t>
            </a:r>
            <a:endParaRPr sz="3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  <a:tab pos="2088514" algn="l"/>
                <a:tab pos="2717800" algn="l"/>
                <a:tab pos="4316730" algn="l"/>
                <a:tab pos="6680834" algn="l"/>
                <a:tab pos="7196455" algn="l"/>
              </a:tabLst>
            </a:pPr>
            <a:r>
              <a:rPr sz="3200" spc="-10" dirty="0">
                <a:latin typeface="Arial MT"/>
                <a:cs typeface="Arial MT"/>
              </a:rPr>
              <a:t>invented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by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Charles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Wheatstone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in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1854, </a:t>
            </a:r>
            <a:r>
              <a:rPr sz="3200" dirty="0">
                <a:latin typeface="Arial MT"/>
                <a:cs typeface="Arial MT"/>
              </a:rPr>
              <a:t>but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named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after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his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friend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Baron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Playfair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Playfair Key</a:t>
            </a:r>
            <a:r>
              <a:rPr spc="-15" dirty="0"/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9174"/>
            <a:ext cx="8063230" cy="236728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5X5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matrix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based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keyword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fill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keyword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fill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matrix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other</a:t>
            </a:r>
            <a:r>
              <a:rPr sz="3200" spc="-10" dirty="0">
                <a:latin typeface="Arial MT"/>
                <a:cs typeface="Arial MT"/>
              </a:rPr>
              <a:t> letters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eg.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keyword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MONARCHY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29179" y="3708949"/>
          <a:ext cx="4091940" cy="2794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marL="31750">
                        <a:lnSpc>
                          <a:spcPts val="3545"/>
                        </a:lnSpc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ts val="3545"/>
                        </a:lnSpc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ts val="3545"/>
                        </a:lnSpc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3545"/>
                        </a:lnSpc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545"/>
                        </a:lnSpc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Y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25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I/J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K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Q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430">
                <a:tc>
                  <a:txBody>
                    <a:bodyPr/>
                    <a:lstStyle/>
                    <a:p>
                      <a:pPr marL="31750">
                        <a:lnSpc>
                          <a:spcPts val="3779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87655">
                        <a:lnSpc>
                          <a:spcPts val="3779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98450">
                        <a:lnSpc>
                          <a:spcPts val="3779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3779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3779"/>
                        </a:lnSpc>
                        <a:spcBef>
                          <a:spcPts val="215"/>
                        </a:spcBef>
                      </a:pPr>
                      <a:r>
                        <a:rPr sz="3200" spc="-50" dirty="0">
                          <a:solidFill>
                            <a:srgbClr val="014069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2140" y="6278067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4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Encrypting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Decrypting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5890"/>
            <a:ext cx="8146415" cy="52260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encrypted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two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time</a:t>
            </a:r>
            <a:endParaRPr sz="3200">
              <a:latin typeface="Arial MT"/>
              <a:cs typeface="Arial MT"/>
            </a:endParaRPr>
          </a:p>
          <a:p>
            <a:pPr marL="983615" lvl="1" indent="-513715" algn="just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983615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pair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repeated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insert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filler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like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'X’</a:t>
            </a:r>
            <a:endParaRPr sz="2800">
              <a:latin typeface="Arial MT"/>
              <a:cs typeface="Arial MT"/>
            </a:endParaRPr>
          </a:p>
          <a:p>
            <a:pPr marL="982980" marR="586105" lvl="1" indent="-513715" algn="just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84885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fall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row,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replace 	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right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(wrapping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	</a:t>
            </a:r>
            <a:r>
              <a:rPr sz="2800" dirty="0">
                <a:latin typeface="Arial MT"/>
                <a:cs typeface="Arial MT"/>
              </a:rPr>
              <a:t>start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end)</a:t>
            </a:r>
            <a:endParaRPr sz="2800">
              <a:latin typeface="Arial MT"/>
              <a:cs typeface="Arial MT"/>
            </a:endParaRPr>
          </a:p>
          <a:p>
            <a:pPr marL="984885" marR="12700" lvl="1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984885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both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fall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column,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replace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below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(wrapping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top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bottom)</a:t>
            </a:r>
            <a:endParaRPr sz="2800">
              <a:latin typeface="Arial MT"/>
              <a:cs typeface="Arial MT"/>
            </a:endParaRPr>
          </a:p>
          <a:p>
            <a:pPr marL="984885" marR="90170" lvl="1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984885" algn="l"/>
              </a:tabLst>
            </a:pPr>
            <a:r>
              <a:rPr sz="2800" dirty="0">
                <a:latin typeface="Arial MT"/>
                <a:cs typeface="Arial MT"/>
              </a:rPr>
              <a:t>otherwise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replaced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letter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row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column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pair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Playfair Key</a:t>
            </a:r>
            <a:r>
              <a:rPr spc="-15" dirty="0"/>
              <a:t> </a:t>
            </a:r>
            <a:r>
              <a:rPr spc="-10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20586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Plaint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Text: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6860">
              <a:lnSpc>
                <a:spcPct val="120100"/>
              </a:lnSpc>
              <a:spcBef>
                <a:spcPts val="95"/>
              </a:spcBef>
            </a:pPr>
            <a:r>
              <a:rPr dirty="0">
                <a:solidFill>
                  <a:srgbClr val="00AF50"/>
                </a:solidFill>
              </a:rPr>
              <a:t>SECRET</a:t>
            </a:r>
            <a:r>
              <a:rPr spc="-1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MESSAGE </a:t>
            </a:r>
            <a:r>
              <a:rPr dirty="0"/>
              <a:t>SE</a:t>
            </a:r>
            <a:r>
              <a:rPr spc="-20" dirty="0"/>
              <a:t> </a:t>
            </a:r>
            <a:r>
              <a:rPr dirty="0"/>
              <a:t>CR</a:t>
            </a:r>
            <a:r>
              <a:rPr spc="-15" dirty="0"/>
              <a:t> </a:t>
            </a:r>
            <a:r>
              <a:rPr dirty="0"/>
              <a:t>ET</a:t>
            </a:r>
            <a:r>
              <a:rPr spc="-35" dirty="0"/>
              <a:t> </a:t>
            </a:r>
            <a:r>
              <a:rPr dirty="0"/>
              <a:t>ME</a:t>
            </a:r>
            <a:r>
              <a:rPr spc="-15" dirty="0"/>
              <a:t> </a:t>
            </a:r>
            <a:r>
              <a:rPr dirty="0"/>
              <a:t>SS</a:t>
            </a:r>
            <a:r>
              <a:rPr spc="-15" dirty="0"/>
              <a:t> </a:t>
            </a:r>
            <a:r>
              <a:rPr dirty="0"/>
              <a:t>AG</a:t>
            </a:r>
            <a:r>
              <a:rPr spc="-20" dirty="0"/>
              <a:t> </a:t>
            </a:r>
            <a:r>
              <a:rPr spc="-50" dirty="0"/>
              <a:t>E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/>
              <a:t>SE</a:t>
            </a:r>
            <a:r>
              <a:rPr spc="-25" dirty="0"/>
              <a:t> </a:t>
            </a:r>
            <a:r>
              <a:rPr dirty="0"/>
              <a:t>CR</a:t>
            </a:r>
            <a:r>
              <a:rPr spc="-25" dirty="0"/>
              <a:t> </a:t>
            </a:r>
            <a:r>
              <a:rPr dirty="0"/>
              <a:t>ET</a:t>
            </a:r>
            <a:r>
              <a:rPr spc="-40" dirty="0"/>
              <a:t> </a:t>
            </a:r>
            <a:r>
              <a:rPr dirty="0"/>
              <a:t>ME</a:t>
            </a:r>
            <a:r>
              <a:rPr spc="-25" dirty="0"/>
              <a:t> </a:t>
            </a:r>
            <a:r>
              <a:rPr dirty="0"/>
              <a:t>S</a:t>
            </a:r>
            <a:r>
              <a:rPr dirty="0">
                <a:solidFill>
                  <a:srgbClr val="FF0000"/>
                </a:solidFill>
              </a:rPr>
              <a:t>X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/>
              <a:t>SA</a:t>
            </a:r>
            <a:r>
              <a:rPr spc="-20" dirty="0"/>
              <a:t> </a:t>
            </a:r>
            <a:r>
              <a:rPr spc="-25" dirty="0"/>
              <a:t>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3657676"/>
            <a:ext cx="8034020" cy="2113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8930" algn="l"/>
                <a:tab pos="3433445" algn="l"/>
                <a:tab pos="5531485" algn="l"/>
              </a:tabLst>
            </a:pPr>
            <a:r>
              <a:rPr sz="3200" dirty="0">
                <a:latin typeface="Arial MT"/>
                <a:cs typeface="Arial MT"/>
              </a:rPr>
              <a:t>Cipher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Text: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solidFill>
                  <a:srgbClr val="014069"/>
                </a:solidFill>
                <a:latin typeface="Arial MT"/>
                <a:cs typeface="Arial MT"/>
              </a:rPr>
              <a:t>LI</a:t>
            </a: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	DM</a:t>
            </a:r>
            <a:r>
              <a:rPr sz="3200" spc="-3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KL</a:t>
            </a:r>
            <a:r>
              <a:rPr sz="3200" spc="-1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14069"/>
                </a:solidFill>
                <a:latin typeface="Arial MT"/>
                <a:cs typeface="Arial MT"/>
              </a:rPr>
              <a:t>CL</a:t>
            </a: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	XA</a:t>
            </a:r>
            <a:r>
              <a:rPr sz="3200" spc="-1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XB</a:t>
            </a:r>
            <a:r>
              <a:rPr sz="3200" spc="-5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14069"/>
                </a:solidFill>
                <a:latin typeface="Arial MT"/>
                <a:cs typeface="Arial MT"/>
              </a:rPr>
              <a:t>JF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3200">
              <a:latin typeface="Arial MT"/>
              <a:cs typeface="Arial MT"/>
            </a:endParaRPr>
          </a:p>
          <a:p>
            <a:pPr marL="355600" marR="5080" indent="-342900">
              <a:lnSpc>
                <a:spcPct val="100499"/>
              </a:lnSpc>
            </a:pP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**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Decryption</a:t>
            </a:r>
            <a:r>
              <a:rPr sz="2800" spc="-6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process</a:t>
            </a:r>
            <a:r>
              <a:rPr sz="2800" spc="-7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is</a:t>
            </a:r>
            <a:r>
              <a:rPr sz="2800" spc="-8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the</a:t>
            </a:r>
            <a:r>
              <a:rPr sz="2800" spc="-6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same.</a:t>
            </a:r>
            <a:r>
              <a:rPr sz="2800" spc="-7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Just</a:t>
            </a:r>
            <a:r>
              <a:rPr sz="2800" spc="-8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reverse</a:t>
            </a:r>
            <a:r>
              <a:rPr sz="2800" spc="-7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6F2F9F"/>
                </a:solidFill>
                <a:latin typeface="Arial MT"/>
                <a:cs typeface="Arial MT"/>
              </a:rPr>
              <a:t>the </a:t>
            </a:r>
            <a:r>
              <a:rPr sz="2800" dirty="0">
                <a:solidFill>
                  <a:srgbClr val="6F2F9F"/>
                </a:solidFill>
                <a:latin typeface="Arial MT"/>
                <a:cs typeface="Arial MT"/>
              </a:rPr>
              <a:t>4</a:t>
            </a:r>
            <a:r>
              <a:rPr sz="2800" spc="-2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Arial MT"/>
                <a:cs typeface="Arial MT"/>
              </a:rPr>
              <a:t>rules.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Security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Playfair</a:t>
            </a:r>
            <a:r>
              <a:rPr spc="-10" dirty="0"/>
              <a:t> 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3576"/>
            <a:ext cx="7529195" cy="447675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security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much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improved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monoalphabetic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since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26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26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676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digrams</a:t>
            </a:r>
            <a:endParaRPr sz="2800">
              <a:latin typeface="Arial MT"/>
              <a:cs typeface="Arial MT"/>
            </a:endParaRPr>
          </a:p>
          <a:p>
            <a:pPr marL="355600" marR="53467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would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676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entry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frequency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table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analyse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(verses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26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monoalphabetic)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correspondingly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ciphertext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was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widely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years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eg.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British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military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WW1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broken,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few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hundred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letters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since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still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much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plaintext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structure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Polyalphabetic</a:t>
            </a:r>
            <a:r>
              <a:rPr spc="-85" dirty="0"/>
              <a:t> </a:t>
            </a:r>
            <a:r>
              <a:rPr spc="-10" dirty="0"/>
              <a:t>Ciphers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5890"/>
            <a:ext cx="8208009" cy="44577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Polyalphabetic</a:t>
            </a:r>
            <a:r>
              <a:rPr sz="3200" spc="-9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14069"/>
                </a:solidFill>
                <a:latin typeface="Arial MT"/>
                <a:cs typeface="Arial MT"/>
              </a:rPr>
              <a:t>substitution</a:t>
            </a:r>
            <a:r>
              <a:rPr sz="3200" spc="-100" dirty="0">
                <a:solidFill>
                  <a:srgbClr val="014069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14069"/>
                </a:solidFill>
                <a:latin typeface="Arial MT"/>
                <a:cs typeface="Arial MT"/>
              </a:rPr>
              <a:t>ciphers</a:t>
            </a:r>
            <a:endParaRPr sz="3200">
              <a:latin typeface="Arial MT"/>
              <a:cs typeface="Arial MT"/>
            </a:endParaRPr>
          </a:p>
          <a:p>
            <a:pPr marL="756285" marR="1508760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improve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security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multiple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 alphabets</a:t>
            </a:r>
            <a:endParaRPr sz="28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make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cryptanalysis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harder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alphabets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guess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flatter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frequency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distribution</a:t>
            </a:r>
            <a:endParaRPr sz="2800">
              <a:latin typeface="Arial MT"/>
              <a:cs typeface="Arial MT"/>
            </a:endParaRPr>
          </a:p>
          <a:p>
            <a:pPr marL="755015" marR="28194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select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alphabet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for 	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letter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message</a:t>
            </a:r>
            <a:endParaRPr sz="28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–"/>
              <a:tabLst>
                <a:tab pos="756285" algn="l"/>
              </a:tabLst>
            </a:pP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alphabet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turn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repeat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start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after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key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reached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Vigenère</a:t>
            </a:r>
            <a:r>
              <a:rPr spc="-15" dirty="0"/>
              <a:t> </a:t>
            </a:r>
            <a:r>
              <a:rPr spc="-10" dirty="0"/>
              <a:t>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219174"/>
            <a:ext cx="8039734" cy="412305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simplest</a:t>
            </a:r>
            <a:r>
              <a:rPr sz="3200" spc="-9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polyalphabetic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substitution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cipher</a:t>
            </a:r>
            <a:endParaRPr sz="32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effectively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multiple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caesar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ciphers</a:t>
            </a:r>
            <a:endParaRPr sz="32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multiple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long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=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</a:t>
            </a:r>
            <a:r>
              <a:rPr sz="3150" baseline="-21164" dirty="0">
                <a:latin typeface="Arial MT"/>
                <a:cs typeface="Arial MT"/>
              </a:rPr>
              <a:t>1</a:t>
            </a:r>
            <a:r>
              <a:rPr sz="3200" dirty="0">
                <a:latin typeface="Arial MT"/>
                <a:cs typeface="Arial MT"/>
              </a:rPr>
              <a:t>k</a:t>
            </a:r>
            <a:r>
              <a:rPr sz="3150" baseline="-21164" dirty="0">
                <a:latin typeface="Arial MT"/>
                <a:cs typeface="Arial MT"/>
              </a:rPr>
              <a:t>2</a:t>
            </a:r>
            <a:r>
              <a:rPr sz="3200" dirty="0">
                <a:latin typeface="Arial MT"/>
                <a:cs typeface="Arial MT"/>
              </a:rPr>
              <a:t>...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k</a:t>
            </a:r>
            <a:r>
              <a:rPr sz="3150" spc="-37" baseline="-21164" dirty="0">
                <a:latin typeface="Arial MT"/>
                <a:cs typeface="Arial MT"/>
              </a:rPr>
              <a:t>d</a:t>
            </a:r>
            <a:endParaRPr sz="3150" baseline="-21164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i</a:t>
            </a:r>
            <a:r>
              <a:rPr sz="3150" baseline="25132" dirty="0">
                <a:latin typeface="Arial MT"/>
                <a:cs typeface="Arial MT"/>
              </a:rPr>
              <a:t>th</a:t>
            </a:r>
            <a:r>
              <a:rPr sz="3150" spc="-22" baseline="25132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specifies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</a:t>
            </a:r>
            <a:r>
              <a:rPr sz="3150" baseline="25132" dirty="0">
                <a:latin typeface="Arial MT"/>
                <a:cs typeface="Arial MT"/>
              </a:rPr>
              <a:t>th</a:t>
            </a:r>
            <a:r>
              <a:rPr sz="3150" spc="434" baseline="25132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alphabet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use</a:t>
            </a:r>
            <a:endParaRPr sz="32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each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alphabet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turn</a:t>
            </a:r>
            <a:endParaRPr sz="32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repeat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start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after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message</a:t>
            </a:r>
            <a:endParaRPr sz="32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67665" algn="l"/>
              </a:tabLst>
            </a:pPr>
            <a:r>
              <a:rPr sz="3200" dirty="0">
                <a:latin typeface="Arial MT"/>
                <a:cs typeface="Arial MT"/>
              </a:rPr>
              <a:t>decryption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works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reverse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Vigenère</a:t>
            </a:r>
            <a:r>
              <a:rPr spc="-10" dirty="0"/>
              <a:t> Cipher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19174"/>
            <a:ext cx="7947659" cy="29527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write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25" dirty="0">
                <a:latin typeface="Arial MT"/>
                <a:cs typeface="Arial MT"/>
              </a:rPr>
              <a:t> out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write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keyword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repeated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above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each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caesar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cipher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key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encrypt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corresponding</a:t>
            </a:r>
            <a:r>
              <a:rPr sz="3200" spc="-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letter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eg.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keyword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i="1" spc="-10" dirty="0">
                <a:latin typeface="Arial"/>
                <a:cs typeface="Arial"/>
              </a:rPr>
              <a:t>deceptive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6394" y="4150233"/>
            <a:ext cx="403923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10" dirty="0">
                <a:solidFill>
                  <a:srgbClr val="014069"/>
                </a:solidFill>
                <a:latin typeface="Arial MT"/>
                <a:cs typeface="Arial MT"/>
              </a:rPr>
              <a:t>deceptivedeceptivedeceptive wearediscoveredsaveyourself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4150233"/>
            <a:ext cx="5934710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key: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plaintext: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ciphertext: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014069"/>
                </a:solidFill>
                <a:latin typeface="Arial"/>
                <a:cs typeface="Arial"/>
              </a:rPr>
              <a:t>ZICVTWQNGRZGVTWAVZHCQYGLMGJ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Vigenère</a:t>
            </a:r>
            <a:r>
              <a:rPr spc="-10" dirty="0"/>
              <a:t> Cipher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95398"/>
            <a:ext cx="9144000" cy="5562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164084"/>
            <a:ext cx="63741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More</a:t>
            </a:r>
            <a:r>
              <a:rPr sz="4000" spc="-90" dirty="0"/>
              <a:t> </a:t>
            </a:r>
            <a:r>
              <a:rPr sz="4000" dirty="0"/>
              <a:t>Example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105" dirty="0"/>
              <a:t> </a:t>
            </a:r>
            <a:r>
              <a:rPr sz="4000" spc="-10" dirty="0"/>
              <a:t>Vigenère Cipher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50794" y="2125790"/>
            <a:ext cx="3532504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SECRET</a:t>
            </a:r>
            <a:r>
              <a:rPr sz="24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MESSAGE</a:t>
            </a:r>
            <a:r>
              <a:rPr sz="2400" spc="-5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(13)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0066CC"/>
                </a:solidFill>
                <a:latin typeface="Arial MT"/>
                <a:cs typeface="Arial MT"/>
              </a:rPr>
              <a:t>LEMONL</a:t>
            </a:r>
            <a:r>
              <a:rPr sz="2400" spc="-60" dirty="0">
                <a:solidFill>
                  <a:srgbClr val="00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66CC"/>
                </a:solidFill>
                <a:latin typeface="Arial MT"/>
                <a:cs typeface="Arial MT"/>
              </a:rPr>
              <a:t>EMONLEM</a:t>
            </a:r>
            <a:r>
              <a:rPr sz="2400" spc="-40" dirty="0">
                <a:solidFill>
                  <a:srgbClr val="0066C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(13)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2582" y="3515995"/>
            <a:ext cx="1574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C,M-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O….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1686810"/>
            <a:ext cx="6026785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Key: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LEMON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Plain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Text: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Key-</a:t>
            </a:r>
            <a:r>
              <a:rPr sz="2400" spc="-10" dirty="0">
                <a:latin typeface="Arial MT"/>
                <a:cs typeface="Arial MT"/>
              </a:rPr>
              <a:t>stream: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5073015" algn="l"/>
              </a:tabLst>
            </a:pPr>
            <a:r>
              <a:rPr sz="2400" dirty="0">
                <a:latin typeface="Arial MT"/>
                <a:cs typeface="Arial MT"/>
              </a:rPr>
              <a:t>Encryption: </a:t>
            </a:r>
            <a:r>
              <a:rPr sz="2400" spc="-20" dirty="0">
                <a:latin typeface="Arial MT"/>
                <a:cs typeface="Arial MT"/>
              </a:rPr>
              <a:t>Cross-</a:t>
            </a:r>
            <a:r>
              <a:rPr sz="2400" dirty="0">
                <a:latin typeface="Arial MT"/>
                <a:cs typeface="Arial MT"/>
              </a:rPr>
              <a:t>match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S,L-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25" dirty="0">
                <a:latin typeface="Arial MT"/>
                <a:cs typeface="Arial MT"/>
              </a:rPr>
              <a:t> D;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E,E-</a:t>
            </a:r>
            <a:r>
              <a:rPr sz="2400" spc="-25" dirty="0">
                <a:latin typeface="Arial MT"/>
                <a:cs typeface="Arial MT"/>
              </a:rPr>
              <a:t>&gt;I;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2755900" algn="l"/>
              </a:tabLst>
            </a:pP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Text: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DIOFRE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QQGFLKQ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4832984"/>
            <a:ext cx="71805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Decryption: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key-</a:t>
            </a:r>
            <a:r>
              <a:rPr sz="2400" dirty="0">
                <a:latin typeface="Arial MT"/>
                <a:cs typeface="Arial MT"/>
              </a:rPr>
              <a:t>stream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corresponding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cipher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row/column.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Aid</a:t>
            </a:r>
            <a:r>
              <a:rPr sz="4000" spc="-30" dirty="0"/>
              <a:t> </a:t>
            </a:r>
            <a:r>
              <a:rPr sz="4000" dirty="0"/>
              <a:t>for</a:t>
            </a:r>
            <a:r>
              <a:rPr sz="4000" spc="-25" dirty="0"/>
              <a:t> </a:t>
            </a:r>
            <a:r>
              <a:rPr sz="4000" spc="-10" dirty="0"/>
              <a:t>encryption/decryption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19174"/>
            <a:ext cx="7790180" cy="412305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aid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assist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en/decryption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Saint-</a:t>
            </a:r>
            <a:r>
              <a:rPr sz="3200" b="1" dirty="0">
                <a:latin typeface="Arial"/>
                <a:cs typeface="Arial"/>
              </a:rPr>
              <a:t>Cyr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Slides a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simple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manual</a:t>
            </a:r>
            <a:r>
              <a:rPr sz="3200" b="1" spc="-25" dirty="0">
                <a:latin typeface="Arial"/>
                <a:cs typeface="Arial"/>
              </a:rPr>
              <a:t> aid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slide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repeated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alphabet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line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up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'A'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letter,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'C'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then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mapping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key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letter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round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into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cipher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disk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or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expand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into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Vigenère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Table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Security</a:t>
            </a:r>
            <a:r>
              <a:rPr sz="4000" spc="-25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dirty="0"/>
              <a:t>Vigenère</a:t>
            </a:r>
            <a:r>
              <a:rPr sz="4000" spc="-40" dirty="0"/>
              <a:t> </a:t>
            </a:r>
            <a:r>
              <a:rPr sz="4000" spc="-10" dirty="0"/>
              <a:t>Ciphers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316482"/>
            <a:ext cx="758380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065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multiple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ciphertext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each </a:t>
            </a:r>
            <a:r>
              <a:rPr sz="3200" dirty="0">
                <a:latin typeface="Arial MT"/>
                <a:cs typeface="Arial MT"/>
              </a:rPr>
              <a:t>plaintext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letter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hence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frequencies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obscured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but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totally</a:t>
            </a:r>
            <a:r>
              <a:rPr sz="3200" spc="-20" dirty="0">
                <a:latin typeface="Arial MT"/>
                <a:cs typeface="Arial MT"/>
              </a:rPr>
              <a:t> lost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start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letter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frequencies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see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look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monoalphabetic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not</a:t>
            </a:r>
            <a:endParaRPr sz="32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if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not,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need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determine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number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dirty="0">
                <a:latin typeface="Arial MT"/>
                <a:cs typeface="Arial MT"/>
              </a:rPr>
              <a:t>alphabets,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since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attach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each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Kasiski</a:t>
            </a:r>
            <a:r>
              <a:rPr spc="-30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3576"/>
            <a:ext cx="7433945" cy="45497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method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developed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Babbage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Kasiski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repetitions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ciphertext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clues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period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so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plaintext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exact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period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apart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results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ciphertext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course,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could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also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random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fluke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eg.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repeated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“VTW”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previous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example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suggests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size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3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9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then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attack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monoalphabetic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cipher </a:t>
            </a:r>
            <a:r>
              <a:rPr sz="2800" dirty="0">
                <a:latin typeface="Arial MT"/>
                <a:cs typeface="Arial MT"/>
              </a:rPr>
              <a:t>individually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techniques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before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Arial MT"/>
                <a:cs typeface="Arial MT"/>
              </a:rPr>
              <a:t>Thank</a:t>
            </a:r>
            <a:r>
              <a:rPr sz="7200" b="0" spc="-40" dirty="0">
                <a:latin typeface="Arial MT"/>
                <a:cs typeface="Arial MT"/>
              </a:rPr>
              <a:t> </a:t>
            </a:r>
            <a:r>
              <a:rPr sz="7200" b="0" spc="-25" dirty="0">
                <a:latin typeface="Arial MT"/>
                <a:cs typeface="Arial MT"/>
              </a:rPr>
              <a:t>You</a:t>
            </a:r>
            <a:endParaRPr sz="7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760</Words>
  <Application>Microsoft Office PowerPoint</Application>
  <PresentationFormat>On-screen Show (4:3)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Arial MT</vt:lpstr>
      <vt:lpstr>Office Theme</vt:lpstr>
      <vt:lpstr>Cyber Security &amp; Digital Forensics CSE - 4207</vt:lpstr>
      <vt:lpstr>Outline</vt:lpstr>
      <vt:lpstr>Playfair Cipher</vt:lpstr>
      <vt:lpstr>Playfair Key Matrix</vt:lpstr>
      <vt:lpstr>Encrypting and Decrypting</vt:lpstr>
      <vt:lpstr>Playfair Key Matrix</vt:lpstr>
      <vt:lpstr>Security of Playfair Cipher</vt:lpstr>
      <vt:lpstr>Polyalphabetic Ciphers</vt:lpstr>
      <vt:lpstr>Vigenère Cipher</vt:lpstr>
      <vt:lpstr>Example of Vigenère Cipher</vt:lpstr>
      <vt:lpstr>Example of Vigenère Cipher</vt:lpstr>
      <vt:lpstr>More Example of Vigenère Cipher</vt:lpstr>
      <vt:lpstr>Aid for encryption/decryption</vt:lpstr>
      <vt:lpstr>Security of Vigenère Ciphers</vt:lpstr>
      <vt:lpstr>Kasiski Method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Home</cp:lastModifiedBy>
  <cp:revision>1</cp:revision>
  <dcterms:created xsi:type="dcterms:W3CDTF">2026-03-02T17:13:13Z</dcterms:created>
  <dcterms:modified xsi:type="dcterms:W3CDTF">2026-03-02T17:17:00Z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