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NAN ZAMAN NILOY" userId="b9ab7b3f9a875f36" providerId="LiveId" clId="{9CB58002-3162-486B-969D-1A8EEF15A775}"/>
    <pc:docChg chg="modSld">
      <pc:chgData name="ADNAN ZAMAN NILOY" userId="b9ab7b3f9a875f36" providerId="LiveId" clId="{9CB58002-3162-486B-969D-1A8EEF15A775}" dt="2026-07-22T14:52:30.213" v="0" actId="1076"/>
      <pc:docMkLst>
        <pc:docMk/>
      </pc:docMkLst>
      <pc:sldChg chg="modSp mod">
        <pc:chgData name="ADNAN ZAMAN NILOY" userId="b9ab7b3f9a875f36" providerId="LiveId" clId="{9CB58002-3162-486B-969D-1A8EEF15A775}" dt="2026-07-22T14:52:30.213" v="0" actId="1076"/>
        <pc:sldMkLst>
          <pc:docMk/>
          <pc:sldMk cId="0" sldId="256"/>
        </pc:sldMkLst>
        <pc:picChg chg="mod">
          <ac:chgData name="ADNAN ZAMAN NILOY" userId="b9ab7b3f9a875f36" providerId="LiveId" clId="{9CB58002-3162-486B-969D-1A8EEF15A775}" dt="2026-07-22T14:52:30.213" v="0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1406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1406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1406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1406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16" y="14843"/>
            <a:ext cx="9136083" cy="6843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2140" y="436829"/>
            <a:ext cx="8151520" cy="8590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1406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8657" y="1391183"/>
            <a:ext cx="7620000" cy="317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ackground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-533400"/>
            <a:ext cx="9096375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2393" y="1380820"/>
            <a:ext cx="75253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0" marR="5080" indent="-256603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00"/>
                </a:solidFill>
                <a:latin typeface="Arial"/>
                <a:cs typeface="Arial"/>
              </a:rPr>
              <a:t>Cyber</a:t>
            </a:r>
            <a:r>
              <a:rPr sz="36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"/>
                <a:cs typeface="Arial"/>
              </a:rPr>
              <a:t>Security &amp; Digital </a:t>
            </a:r>
            <a:r>
              <a:rPr sz="3600" b="1" spc="-10" dirty="0">
                <a:solidFill>
                  <a:srgbClr val="000000"/>
                </a:solidFill>
                <a:latin typeface="Arial"/>
                <a:cs typeface="Arial"/>
              </a:rPr>
              <a:t>Forensics </a:t>
            </a:r>
            <a:r>
              <a:rPr sz="3600" b="1" dirty="0">
                <a:solidFill>
                  <a:srgbClr val="000000"/>
                </a:solidFill>
                <a:latin typeface="Arial"/>
                <a:cs typeface="Arial"/>
              </a:rPr>
              <a:t>CSE</a:t>
            </a:r>
            <a:r>
              <a:rPr sz="36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sz="36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000000"/>
                </a:solidFill>
                <a:latin typeface="Arial"/>
                <a:cs typeface="Arial"/>
              </a:rPr>
              <a:t>4207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7721" y="3152393"/>
            <a:ext cx="5987415" cy="2566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Lecture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-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06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8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lang="en-US" sz="3200" dirty="0">
                <a:latin typeface="Microsoft Sans Serif"/>
                <a:cs typeface="Microsoft Sans Serif"/>
              </a:rPr>
              <a:t>Dr. Md. Alam Hossain</a:t>
            </a:r>
            <a:endParaRPr sz="32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lang="en-US" sz="2400" spc="-10" dirty="0">
                <a:latin typeface="Microsoft Sans Serif"/>
                <a:cs typeface="Microsoft Sans Serif"/>
              </a:rPr>
              <a:t>Professor</a:t>
            </a:r>
            <a:endParaRPr sz="2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Microsoft Sans Serif"/>
                <a:cs typeface="Microsoft Sans Serif"/>
              </a:rPr>
              <a:t>Jashore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University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Science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&amp;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Technology</a:t>
            </a:r>
            <a:endParaRPr sz="2400" dirty="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" y="1143000"/>
            <a:ext cx="447675" cy="659130"/>
            <a:chOff x="228600" y="1143000"/>
            <a:chExt cx="447675" cy="659130"/>
          </a:xfrm>
        </p:grpSpPr>
        <p:sp>
          <p:nvSpPr>
            <p:cNvPr id="6" name="object 6"/>
            <p:cNvSpPr/>
            <p:nvPr/>
          </p:nvSpPr>
          <p:spPr>
            <a:xfrm>
              <a:off x="307784" y="1371600"/>
              <a:ext cx="193040" cy="107950"/>
            </a:xfrm>
            <a:custGeom>
              <a:avLst/>
              <a:gdLst/>
              <a:ahLst/>
              <a:cxnLst/>
              <a:rect l="l" t="t" r="r" b="b"/>
              <a:pathLst>
                <a:path w="193040" h="107950">
                  <a:moveTo>
                    <a:pt x="140538" y="0"/>
                  </a:moveTo>
                  <a:lnTo>
                    <a:pt x="116179" y="0"/>
                  </a:lnTo>
                  <a:lnTo>
                    <a:pt x="89941" y="3810"/>
                  </a:lnTo>
                  <a:lnTo>
                    <a:pt x="65582" y="11302"/>
                  </a:lnTo>
                  <a:lnTo>
                    <a:pt x="43103" y="20700"/>
                  </a:lnTo>
                  <a:lnTo>
                    <a:pt x="20612" y="33909"/>
                  </a:lnTo>
                  <a:lnTo>
                    <a:pt x="0" y="47116"/>
                  </a:lnTo>
                  <a:lnTo>
                    <a:pt x="54343" y="107569"/>
                  </a:lnTo>
                  <a:lnTo>
                    <a:pt x="80581" y="92455"/>
                  </a:lnTo>
                  <a:lnTo>
                    <a:pt x="93687" y="86740"/>
                  </a:lnTo>
                  <a:lnTo>
                    <a:pt x="108686" y="83058"/>
                  </a:lnTo>
                  <a:lnTo>
                    <a:pt x="121805" y="81152"/>
                  </a:lnTo>
                  <a:lnTo>
                    <a:pt x="136791" y="79248"/>
                  </a:lnTo>
                  <a:lnTo>
                    <a:pt x="169884" y="79248"/>
                  </a:lnTo>
                  <a:lnTo>
                    <a:pt x="193014" y="7492"/>
                  </a:lnTo>
                  <a:lnTo>
                    <a:pt x="166776" y="1904"/>
                  </a:lnTo>
                  <a:lnTo>
                    <a:pt x="140538" y="0"/>
                  </a:lnTo>
                  <a:close/>
                </a:path>
                <a:path w="193040" h="107950">
                  <a:moveTo>
                    <a:pt x="169884" y="79248"/>
                  </a:moveTo>
                  <a:lnTo>
                    <a:pt x="136791" y="79248"/>
                  </a:lnTo>
                  <a:lnTo>
                    <a:pt x="153657" y="81152"/>
                  </a:lnTo>
                  <a:lnTo>
                    <a:pt x="168656" y="83058"/>
                  </a:lnTo>
                  <a:lnTo>
                    <a:pt x="169884" y="79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433448"/>
              <a:ext cx="431800" cy="354965"/>
            </a:xfrm>
            <a:custGeom>
              <a:avLst/>
              <a:gdLst/>
              <a:ahLst/>
              <a:cxnLst/>
              <a:rect l="l" t="t" r="r" b="b"/>
              <a:pathLst>
                <a:path w="431800" h="354964">
                  <a:moveTo>
                    <a:pt x="118770" y="60071"/>
                  </a:moveTo>
                  <a:lnTo>
                    <a:pt x="64096" y="0"/>
                  </a:lnTo>
                  <a:lnTo>
                    <a:pt x="47129" y="18796"/>
                  </a:lnTo>
                  <a:lnTo>
                    <a:pt x="32054" y="39370"/>
                  </a:lnTo>
                  <a:lnTo>
                    <a:pt x="20739" y="61976"/>
                  </a:lnTo>
                  <a:lnTo>
                    <a:pt x="11315" y="86360"/>
                  </a:lnTo>
                  <a:lnTo>
                    <a:pt x="3771" y="110871"/>
                  </a:lnTo>
                  <a:lnTo>
                    <a:pt x="0" y="137160"/>
                  </a:lnTo>
                  <a:lnTo>
                    <a:pt x="0" y="163449"/>
                  </a:lnTo>
                  <a:lnTo>
                    <a:pt x="3771" y="187833"/>
                  </a:lnTo>
                  <a:lnTo>
                    <a:pt x="82956" y="170942"/>
                  </a:lnTo>
                  <a:lnTo>
                    <a:pt x="81064" y="155956"/>
                  </a:lnTo>
                  <a:lnTo>
                    <a:pt x="81064" y="140843"/>
                  </a:lnTo>
                  <a:lnTo>
                    <a:pt x="82956" y="125857"/>
                  </a:lnTo>
                  <a:lnTo>
                    <a:pt x="86728" y="110871"/>
                  </a:lnTo>
                  <a:lnTo>
                    <a:pt x="92379" y="97663"/>
                  </a:lnTo>
                  <a:lnTo>
                    <a:pt x="99923" y="82677"/>
                  </a:lnTo>
                  <a:lnTo>
                    <a:pt x="118770" y="60071"/>
                  </a:lnTo>
                  <a:close/>
                </a:path>
                <a:path w="431800" h="354964">
                  <a:moveTo>
                    <a:pt x="163322" y="277876"/>
                  </a:moveTo>
                  <a:lnTo>
                    <a:pt x="125755" y="253492"/>
                  </a:lnTo>
                  <a:lnTo>
                    <a:pt x="97574" y="217805"/>
                  </a:lnTo>
                  <a:lnTo>
                    <a:pt x="86309" y="191643"/>
                  </a:lnTo>
                  <a:lnTo>
                    <a:pt x="7416" y="208407"/>
                  </a:lnTo>
                  <a:lnTo>
                    <a:pt x="26200" y="255397"/>
                  </a:lnTo>
                  <a:lnTo>
                    <a:pt x="54381" y="296672"/>
                  </a:lnTo>
                  <a:lnTo>
                    <a:pt x="91948" y="330327"/>
                  </a:lnTo>
                  <a:lnTo>
                    <a:pt x="138899" y="354711"/>
                  </a:lnTo>
                  <a:lnTo>
                    <a:pt x="163322" y="277876"/>
                  </a:lnTo>
                  <a:close/>
                </a:path>
                <a:path w="431800" h="354964">
                  <a:moveTo>
                    <a:pt x="431800" y="143129"/>
                  </a:moveTo>
                  <a:lnTo>
                    <a:pt x="428066" y="118618"/>
                  </a:lnTo>
                  <a:lnTo>
                    <a:pt x="349707" y="135509"/>
                  </a:lnTo>
                  <a:lnTo>
                    <a:pt x="351574" y="150622"/>
                  </a:lnTo>
                  <a:lnTo>
                    <a:pt x="351574" y="165608"/>
                  </a:lnTo>
                  <a:lnTo>
                    <a:pt x="349707" y="180594"/>
                  </a:lnTo>
                  <a:lnTo>
                    <a:pt x="344106" y="195707"/>
                  </a:lnTo>
                  <a:lnTo>
                    <a:pt x="338518" y="208788"/>
                  </a:lnTo>
                  <a:lnTo>
                    <a:pt x="332917" y="221996"/>
                  </a:lnTo>
                  <a:lnTo>
                    <a:pt x="323583" y="235204"/>
                  </a:lnTo>
                  <a:lnTo>
                    <a:pt x="314261" y="246380"/>
                  </a:lnTo>
                  <a:lnTo>
                    <a:pt x="368363" y="306578"/>
                  </a:lnTo>
                  <a:lnTo>
                    <a:pt x="400088" y="267081"/>
                  </a:lnTo>
                  <a:lnTo>
                    <a:pt x="420611" y="220091"/>
                  </a:lnTo>
                  <a:lnTo>
                    <a:pt x="431800" y="169418"/>
                  </a:lnTo>
                  <a:lnTo>
                    <a:pt x="431800" y="14312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846" y="1385188"/>
              <a:ext cx="157480" cy="163195"/>
            </a:xfrm>
            <a:custGeom>
              <a:avLst/>
              <a:gdLst/>
              <a:ahLst/>
              <a:cxnLst/>
              <a:rect l="l" t="t" r="r" b="b"/>
              <a:pathLst>
                <a:path w="157479" h="163194">
                  <a:moveTo>
                    <a:pt x="26187" y="0"/>
                  </a:moveTo>
                  <a:lnTo>
                    <a:pt x="0" y="76962"/>
                  </a:lnTo>
                  <a:lnTo>
                    <a:pt x="14960" y="84455"/>
                  </a:lnTo>
                  <a:lnTo>
                    <a:pt x="28054" y="91948"/>
                  </a:lnTo>
                  <a:lnTo>
                    <a:pt x="59855" y="123825"/>
                  </a:lnTo>
                  <a:lnTo>
                    <a:pt x="72948" y="150113"/>
                  </a:lnTo>
                  <a:lnTo>
                    <a:pt x="78562" y="163195"/>
                  </a:lnTo>
                  <a:lnTo>
                    <a:pt x="157137" y="146303"/>
                  </a:lnTo>
                  <a:lnTo>
                    <a:pt x="149644" y="121920"/>
                  </a:lnTo>
                  <a:lnTo>
                    <a:pt x="138429" y="99440"/>
                  </a:lnTo>
                  <a:lnTo>
                    <a:pt x="110362" y="58165"/>
                  </a:lnTo>
                  <a:lnTo>
                    <a:pt x="71081" y="24384"/>
                  </a:lnTo>
                  <a:lnTo>
                    <a:pt x="50507" y="11302"/>
                  </a:lnTo>
                  <a:lnTo>
                    <a:pt x="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200" y="1142999"/>
              <a:ext cx="193040" cy="659130"/>
            </a:xfrm>
            <a:custGeom>
              <a:avLst/>
              <a:gdLst/>
              <a:ahLst/>
              <a:cxnLst/>
              <a:rect l="l" t="t" r="r" b="b"/>
              <a:pathLst>
                <a:path w="193040" h="659130">
                  <a:moveTo>
                    <a:pt x="128663" y="89789"/>
                  </a:moveTo>
                  <a:lnTo>
                    <a:pt x="81203" y="61468"/>
                  </a:lnTo>
                  <a:lnTo>
                    <a:pt x="75780" y="72263"/>
                  </a:lnTo>
                  <a:lnTo>
                    <a:pt x="71716" y="84328"/>
                  </a:lnTo>
                  <a:lnTo>
                    <a:pt x="70358" y="97790"/>
                  </a:lnTo>
                  <a:lnTo>
                    <a:pt x="68999" y="109982"/>
                  </a:lnTo>
                  <a:lnTo>
                    <a:pt x="70358" y="123444"/>
                  </a:lnTo>
                  <a:lnTo>
                    <a:pt x="71716" y="135636"/>
                  </a:lnTo>
                  <a:lnTo>
                    <a:pt x="75780" y="147701"/>
                  </a:lnTo>
                  <a:lnTo>
                    <a:pt x="81203" y="158496"/>
                  </a:lnTo>
                  <a:lnTo>
                    <a:pt x="128663" y="131572"/>
                  </a:lnTo>
                  <a:lnTo>
                    <a:pt x="125958" y="120777"/>
                  </a:lnTo>
                  <a:lnTo>
                    <a:pt x="124599" y="109982"/>
                  </a:lnTo>
                  <a:lnTo>
                    <a:pt x="125958" y="99187"/>
                  </a:lnTo>
                  <a:lnTo>
                    <a:pt x="128663" y="89789"/>
                  </a:lnTo>
                  <a:close/>
                </a:path>
                <a:path w="193040" h="659130">
                  <a:moveTo>
                    <a:pt x="171411" y="163957"/>
                  </a:moveTo>
                  <a:lnTo>
                    <a:pt x="160616" y="161290"/>
                  </a:lnTo>
                  <a:lnTo>
                    <a:pt x="151155" y="157226"/>
                  </a:lnTo>
                  <a:lnTo>
                    <a:pt x="143052" y="150495"/>
                  </a:lnTo>
                  <a:lnTo>
                    <a:pt x="134962" y="142494"/>
                  </a:lnTo>
                  <a:lnTo>
                    <a:pt x="87706" y="170688"/>
                  </a:lnTo>
                  <a:lnTo>
                    <a:pt x="122809" y="204343"/>
                  </a:lnTo>
                  <a:lnTo>
                    <a:pt x="171411" y="219075"/>
                  </a:lnTo>
                  <a:lnTo>
                    <a:pt x="171411" y="163957"/>
                  </a:lnTo>
                  <a:close/>
                </a:path>
                <a:path w="193040" h="659130">
                  <a:moveTo>
                    <a:pt x="171411" y="0"/>
                  </a:moveTo>
                  <a:lnTo>
                    <a:pt x="133604" y="9525"/>
                  </a:lnTo>
                  <a:lnTo>
                    <a:pt x="94449" y="39370"/>
                  </a:lnTo>
                  <a:lnTo>
                    <a:pt x="87706" y="48895"/>
                  </a:lnTo>
                  <a:lnTo>
                    <a:pt x="134962" y="77470"/>
                  </a:lnTo>
                  <a:lnTo>
                    <a:pt x="143052" y="69342"/>
                  </a:lnTo>
                  <a:lnTo>
                    <a:pt x="151155" y="62484"/>
                  </a:lnTo>
                  <a:lnTo>
                    <a:pt x="160616" y="58420"/>
                  </a:lnTo>
                  <a:lnTo>
                    <a:pt x="171411" y="55753"/>
                  </a:lnTo>
                  <a:lnTo>
                    <a:pt x="171411" y="0"/>
                  </a:lnTo>
                  <a:close/>
                </a:path>
                <a:path w="193040" h="659130">
                  <a:moveTo>
                    <a:pt x="193014" y="610108"/>
                  </a:moveTo>
                  <a:lnTo>
                    <a:pt x="164058" y="578104"/>
                  </a:lnTo>
                  <a:lnTo>
                    <a:pt x="138671" y="550037"/>
                  </a:lnTo>
                  <a:lnTo>
                    <a:pt x="125552" y="559435"/>
                  </a:lnTo>
                  <a:lnTo>
                    <a:pt x="112433" y="566928"/>
                  </a:lnTo>
                  <a:lnTo>
                    <a:pt x="99326" y="572516"/>
                  </a:lnTo>
                  <a:lnTo>
                    <a:pt x="84328" y="576326"/>
                  </a:lnTo>
                  <a:lnTo>
                    <a:pt x="69342" y="578104"/>
                  </a:lnTo>
                  <a:lnTo>
                    <a:pt x="39357" y="578104"/>
                  </a:lnTo>
                  <a:lnTo>
                    <a:pt x="24358" y="574421"/>
                  </a:lnTo>
                  <a:lnTo>
                    <a:pt x="0" y="651256"/>
                  </a:lnTo>
                  <a:lnTo>
                    <a:pt x="26238" y="656971"/>
                  </a:lnTo>
                  <a:lnTo>
                    <a:pt x="52476" y="658749"/>
                  </a:lnTo>
                  <a:lnTo>
                    <a:pt x="76835" y="658749"/>
                  </a:lnTo>
                  <a:lnTo>
                    <a:pt x="103073" y="655066"/>
                  </a:lnTo>
                  <a:lnTo>
                    <a:pt x="127431" y="647573"/>
                  </a:lnTo>
                  <a:lnTo>
                    <a:pt x="149910" y="638175"/>
                  </a:lnTo>
                  <a:lnTo>
                    <a:pt x="172402" y="625094"/>
                  </a:lnTo>
                  <a:lnTo>
                    <a:pt x="193014" y="6101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862" y="1204467"/>
              <a:ext cx="102870" cy="158115"/>
            </a:xfrm>
            <a:custGeom>
              <a:avLst/>
              <a:gdLst/>
              <a:ahLst/>
              <a:cxnLst/>
              <a:rect l="l" t="t" r="r" b="b"/>
              <a:pathLst>
                <a:path w="102870" h="158115">
                  <a:moveTo>
                    <a:pt x="84607" y="109220"/>
                  </a:moveTo>
                  <a:lnTo>
                    <a:pt x="36258" y="81026"/>
                  </a:lnTo>
                  <a:lnTo>
                    <a:pt x="29540" y="89027"/>
                  </a:lnTo>
                  <a:lnTo>
                    <a:pt x="20142" y="95758"/>
                  </a:lnTo>
                  <a:lnTo>
                    <a:pt x="10744" y="99822"/>
                  </a:lnTo>
                  <a:lnTo>
                    <a:pt x="0" y="102489"/>
                  </a:lnTo>
                  <a:lnTo>
                    <a:pt x="0" y="157607"/>
                  </a:lnTo>
                  <a:lnTo>
                    <a:pt x="37604" y="148209"/>
                  </a:lnTo>
                  <a:lnTo>
                    <a:pt x="68491" y="128016"/>
                  </a:lnTo>
                  <a:lnTo>
                    <a:pt x="84607" y="109220"/>
                  </a:lnTo>
                  <a:close/>
                </a:path>
                <a:path w="102870" h="158115">
                  <a:moveTo>
                    <a:pt x="102412" y="36322"/>
                  </a:moveTo>
                  <a:lnTo>
                    <a:pt x="99695" y="22860"/>
                  </a:lnTo>
                  <a:lnTo>
                    <a:pt x="95631" y="10795"/>
                  </a:lnTo>
                  <a:lnTo>
                    <a:pt x="91567" y="0"/>
                  </a:lnTo>
                  <a:lnTo>
                    <a:pt x="42748" y="28321"/>
                  </a:lnTo>
                  <a:lnTo>
                    <a:pt x="46812" y="37719"/>
                  </a:lnTo>
                  <a:lnTo>
                    <a:pt x="46812" y="59309"/>
                  </a:lnTo>
                  <a:lnTo>
                    <a:pt x="42748" y="70104"/>
                  </a:lnTo>
                  <a:lnTo>
                    <a:pt x="91567" y="97028"/>
                  </a:lnTo>
                  <a:lnTo>
                    <a:pt x="95631" y="86233"/>
                  </a:lnTo>
                  <a:lnTo>
                    <a:pt x="99695" y="74168"/>
                  </a:lnTo>
                  <a:lnTo>
                    <a:pt x="102412" y="61976"/>
                  </a:lnTo>
                  <a:lnTo>
                    <a:pt x="102412" y="36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862" y="1143000"/>
              <a:ext cx="85090" cy="77470"/>
            </a:xfrm>
            <a:custGeom>
              <a:avLst/>
              <a:gdLst/>
              <a:ahLst/>
              <a:cxnLst/>
              <a:rect l="l" t="t" r="r" b="b"/>
              <a:pathLst>
                <a:path w="85090" h="77469">
                  <a:moveTo>
                    <a:pt x="0" y="0"/>
                  </a:moveTo>
                  <a:lnTo>
                    <a:pt x="0" y="55752"/>
                  </a:lnTo>
                  <a:lnTo>
                    <a:pt x="10744" y="58420"/>
                  </a:lnTo>
                  <a:lnTo>
                    <a:pt x="20142" y="62484"/>
                  </a:lnTo>
                  <a:lnTo>
                    <a:pt x="29540" y="69341"/>
                  </a:lnTo>
                  <a:lnTo>
                    <a:pt x="36258" y="77470"/>
                  </a:lnTo>
                  <a:lnTo>
                    <a:pt x="84607" y="48895"/>
                  </a:lnTo>
                  <a:lnTo>
                    <a:pt x="48348" y="14986"/>
                  </a:lnTo>
                  <a:lnTo>
                    <a:pt x="13423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9644" y="436829"/>
            <a:ext cx="1798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1395E"/>
                </a:solidFill>
              </a:rPr>
              <a:t>Outline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07593" y="1249423"/>
            <a:ext cx="5688965" cy="26600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Microsoft Sans Serif"/>
                <a:cs typeface="Microsoft Sans Serif"/>
              </a:rPr>
              <a:t>Introduction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Communication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Security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RSA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Encryption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Decryption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Microsoft Sans Serif"/>
                <a:cs typeface="Microsoft Sans Serif"/>
              </a:rPr>
              <a:t>Diffie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Hellman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Key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Exchange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Microsoft Sans Serif"/>
                <a:cs typeface="Microsoft Sans Serif"/>
              </a:rPr>
              <a:t>Bucket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Brigade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Attack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6" name="object 6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073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Introduction</a:t>
            </a:r>
            <a:r>
              <a:rPr sz="3600" spc="-100" dirty="0"/>
              <a:t> </a:t>
            </a:r>
            <a:r>
              <a:rPr sz="3600" dirty="0"/>
              <a:t>to</a:t>
            </a:r>
            <a:r>
              <a:rPr sz="3600" spc="-100" dirty="0"/>
              <a:t> </a:t>
            </a:r>
            <a:r>
              <a:rPr sz="3600" dirty="0"/>
              <a:t>Communication</a:t>
            </a:r>
            <a:r>
              <a:rPr sz="3600" spc="-114" dirty="0"/>
              <a:t> </a:t>
            </a:r>
            <a:r>
              <a:rPr sz="3600" spc="-10" dirty="0"/>
              <a:t>Security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360932"/>
            <a:ext cx="8001000" cy="46146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9644" y="436829"/>
            <a:ext cx="1176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solidFill>
                  <a:srgbClr val="01395E"/>
                </a:solidFill>
              </a:rPr>
              <a:t>RSA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247901"/>
            <a:ext cx="7804150" cy="35699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400" spc="-95" dirty="0">
                <a:latin typeface="Microsoft Sans Serif"/>
                <a:cs typeface="Microsoft Sans Serif"/>
              </a:rPr>
              <a:t>First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practicable</a:t>
            </a:r>
            <a:r>
              <a:rPr sz="2400" spc="42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publickey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cryptosystems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Microsoft Sans Serif"/>
                <a:cs typeface="Microsoft Sans Serif"/>
              </a:rPr>
              <a:t>Encryption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key-</a:t>
            </a:r>
            <a:r>
              <a:rPr sz="2400" spc="-300" dirty="0"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latin typeface="Arial"/>
                <a:cs typeface="Arial"/>
              </a:rPr>
              <a:t>public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Microsoft Sans Serif"/>
                <a:cs typeface="Microsoft Sans Serif"/>
              </a:rPr>
              <a:t>Decryption</a:t>
            </a:r>
            <a:r>
              <a:rPr sz="2400" spc="36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key-</a:t>
            </a:r>
            <a:r>
              <a:rPr sz="2400" spc="-265" dirty="0"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latin typeface="Arial"/>
                <a:cs typeface="Arial"/>
              </a:rPr>
              <a:t>private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70" dirty="0">
                <a:latin typeface="Microsoft Sans Serif"/>
                <a:cs typeface="Microsoft Sans Serif"/>
              </a:rPr>
              <a:t>Invented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by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Ron</a:t>
            </a:r>
            <a:r>
              <a:rPr sz="2400" spc="-22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Rivest,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Adi</a:t>
            </a:r>
            <a:r>
              <a:rPr sz="2400" spc="-21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Shamir</a:t>
            </a:r>
            <a:r>
              <a:rPr sz="2400" spc="-24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and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Leonard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Adleman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75" dirty="0">
                <a:latin typeface="Microsoft Sans Serif"/>
                <a:cs typeface="Microsoft Sans Serif"/>
              </a:rPr>
              <a:t>RSA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algorithm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75" dirty="0">
                <a:latin typeface="Microsoft Sans Serif"/>
                <a:cs typeface="Microsoft Sans Serif"/>
              </a:rPr>
              <a:t>has</a:t>
            </a:r>
            <a:r>
              <a:rPr sz="2400" spc="-1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steps:</a:t>
            </a:r>
            <a:endParaRPr sz="2400">
              <a:latin typeface="Microsoft Sans Serif"/>
              <a:cs typeface="Microsoft Sans Serif"/>
            </a:endParaRPr>
          </a:p>
          <a:p>
            <a:pPr marL="1053465" lvl="1" indent="-457200">
              <a:lnSpc>
                <a:spcPct val="100000"/>
              </a:lnSpc>
              <a:spcBef>
                <a:spcPts val="1015"/>
              </a:spcBef>
              <a:buAutoNum type="arabicPeriod"/>
              <a:tabLst>
                <a:tab pos="1053465" algn="l"/>
              </a:tabLst>
            </a:pPr>
            <a:r>
              <a:rPr sz="2000" dirty="0">
                <a:latin typeface="Microsoft Sans Serif"/>
                <a:cs typeface="Microsoft Sans Serif"/>
              </a:rPr>
              <a:t>Generation</a:t>
            </a:r>
            <a:r>
              <a:rPr sz="2000" spc="1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public</a:t>
            </a:r>
            <a:r>
              <a:rPr sz="2000" spc="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private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keys</a:t>
            </a:r>
            <a:endParaRPr sz="2000">
              <a:latin typeface="Microsoft Sans Serif"/>
              <a:cs typeface="Microsoft Sans Serif"/>
            </a:endParaRPr>
          </a:p>
          <a:p>
            <a:pPr marL="1053465" lvl="1" indent="-457200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1053465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Encryption</a:t>
            </a:r>
            <a:endParaRPr sz="2000">
              <a:latin typeface="Microsoft Sans Serif"/>
              <a:cs typeface="Microsoft Sans Serif"/>
            </a:endParaRPr>
          </a:p>
          <a:p>
            <a:pPr marL="1053465" lvl="1" indent="-45720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1053465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Decryption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Microsoft Sans Serif"/>
                <a:cs typeface="Microsoft Sans Serif"/>
              </a:rPr>
              <a:t>4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1395E"/>
                </a:solidFill>
              </a:rPr>
              <a:t>RSA</a:t>
            </a:r>
            <a:r>
              <a:rPr spc="-25" dirty="0">
                <a:solidFill>
                  <a:srgbClr val="01395E"/>
                </a:solidFill>
              </a:rPr>
              <a:t> </a:t>
            </a:r>
            <a:r>
              <a:rPr spc="725" dirty="0">
                <a:solidFill>
                  <a:srgbClr val="01395E"/>
                </a:solidFill>
              </a:rPr>
              <a:t>–</a:t>
            </a:r>
            <a:r>
              <a:rPr spc="-20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Generation</a:t>
            </a:r>
            <a:r>
              <a:rPr spc="-30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of</a:t>
            </a:r>
            <a:r>
              <a:rPr spc="-30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Public</a:t>
            </a:r>
            <a:r>
              <a:rPr spc="-15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&amp;</a:t>
            </a:r>
            <a:r>
              <a:rPr spc="-30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Private</a:t>
            </a:r>
            <a:r>
              <a:rPr spc="-25" dirty="0">
                <a:solidFill>
                  <a:srgbClr val="01395E"/>
                </a:solidFill>
              </a:rPr>
              <a:t> </a:t>
            </a:r>
            <a:r>
              <a:rPr spc="-10" dirty="0">
                <a:solidFill>
                  <a:srgbClr val="01395E"/>
                </a:solidFill>
              </a:rPr>
              <a:t>Keyes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2124201"/>
            <a:ext cx="32404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Pick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two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prime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numbers</a:t>
            </a:r>
            <a:r>
              <a:rPr sz="2000" spc="-1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&amp;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q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3891" y="2889250"/>
            <a:ext cx="18834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Calculate</a:t>
            </a:r>
            <a:r>
              <a:rPr sz="2000" spc="17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n=p*q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891" y="3730244"/>
            <a:ext cx="2980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Calculate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Verdana"/>
                <a:cs typeface="Verdana"/>
              </a:rPr>
              <a:t>φ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(n)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spc="-75" dirty="0">
                <a:latin typeface="Microsoft Sans Serif"/>
                <a:cs typeface="Microsoft Sans Serif"/>
              </a:rPr>
              <a:t>=(p-1)*(q-1)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3891" y="4380966"/>
            <a:ext cx="3678554" cy="85471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spc="114" dirty="0">
                <a:latin typeface="Verdana"/>
                <a:cs typeface="Verdana"/>
              </a:rPr>
              <a:t>Choose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integer</a:t>
            </a:r>
            <a:r>
              <a:rPr sz="2000" spc="-22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such</a:t>
            </a:r>
            <a:r>
              <a:rPr sz="2000" spc="-2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that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spc="-20" dirty="0">
                <a:latin typeface="Verdana"/>
                <a:cs typeface="Verdana"/>
              </a:rPr>
              <a:t>1</a:t>
            </a:r>
            <a:r>
              <a:rPr sz="2000" spc="-455" dirty="0">
                <a:latin typeface="Verdana"/>
                <a:cs typeface="Verdana"/>
              </a:rPr>
              <a:t> </a:t>
            </a:r>
            <a:r>
              <a:rPr sz="2000" spc="-140" dirty="0">
                <a:latin typeface="Verdana"/>
                <a:cs typeface="Verdana"/>
              </a:rPr>
              <a:t>&lt;e&lt;φ(n)</a:t>
            </a:r>
            <a:r>
              <a:rPr sz="2000" spc="-38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GCD(e,φ(n))=1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4692" y="2133663"/>
            <a:ext cx="3084195" cy="348615"/>
          </a:xfrm>
          <a:prstGeom prst="rect">
            <a:avLst/>
          </a:prstGeom>
          <a:solidFill>
            <a:srgbClr val="A32E0E"/>
          </a:solidFill>
          <a:ln w="15240">
            <a:solidFill>
              <a:srgbClr val="781F09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262380">
              <a:lnSpc>
                <a:spcPct val="100000"/>
              </a:lnSpc>
              <a:spcBef>
                <a:spcPts val="509"/>
              </a:spcBef>
            </a:pPr>
            <a:r>
              <a:rPr sz="18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p=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3 and</a:t>
            </a:r>
            <a:r>
              <a:rPr sz="180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q=</a:t>
            </a:r>
            <a:r>
              <a:rPr sz="1800" spc="-25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Microsoft Sans Serif"/>
                <a:cs typeface="Microsoft Sans Serif"/>
              </a:rPr>
              <a:t>11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4692" y="2878886"/>
            <a:ext cx="3084195" cy="349885"/>
          </a:xfrm>
          <a:prstGeom prst="rect">
            <a:avLst/>
          </a:prstGeom>
          <a:solidFill>
            <a:srgbClr val="A32E0E"/>
          </a:solidFill>
          <a:ln w="15240">
            <a:solidFill>
              <a:srgbClr val="781F09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20"/>
              </a:spcBef>
            </a:pPr>
            <a:r>
              <a:rPr sz="18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n=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33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4692" y="3650043"/>
            <a:ext cx="3084195" cy="348615"/>
          </a:xfrm>
          <a:prstGeom prst="rect">
            <a:avLst/>
          </a:prstGeom>
          <a:solidFill>
            <a:srgbClr val="A32E0E"/>
          </a:solidFill>
          <a:ln w="15240">
            <a:solidFill>
              <a:srgbClr val="781F09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509"/>
              </a:spcBef>
            </a:pPr>
            <a:r>
              <a:rPr sz="1800" spc="-175" dirty="0">
                <a:solidFill>
                  <a:srgbClr val="FFFFFF"/>
                </a:solidFill>
                <a:latin typeface="Microsoft Sans Serif"/>
                <a:cs typeface="Microsoft Sans Serif"/>
              </a:rPr>
              <a:t>Ф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(n)</a:t>
            </a:r>
            <a:r>
              <a:rPr sz="18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2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95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44692" y="4462310"/>
            <a:ext cx="3084195" cy="350520"/>
          </a:xfrm>
          <a:prstGeom prst="rect">
            <a:avLst/>
          </a:prstGeom>
          <a:solidFill>
            <a:srgbClr val="B3CFC2"/>
          </a:solidFill>
          <a:ln w="9144">
            <a:solidFill>
              <a:srgbClr val="63A288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1226185">
              <a:lnSpc>
                <a:spcPct val="100000"/>
              </a:lnSpc>
              <a:spcBef>
                <a:spcPts val="530"/>
              </a:spcBef>
            </a:pPr>
            <a:r>
              <a:rPr sz="1800" spc="-80" dirty="0">
                <a:latin typeface="Microsoft Sans Serif"/>
                <a:cs typeface="Microsoft Sans Serif"/>
              </a:rPr>
              <a:t>e=7,11,13,17,19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44692" y="5192318"/>
            <a:ext cx="3084195" cy="349885"/>
          </a:xfrm>
          <a:prstGeom prst="rect">
            <a:avLst/>
          </a:prstGeom>
          <a:solidFill>
            <a:srgbClr val="A32E0E"/>
          </a:solidFill>
          <a:ln w="15240">
            <a:solidFill>
              <a:srgbClr val="781F0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36195" algn="ctr"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800" spc="-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22164" y="2171700"/>
            <a:ext cx="326390" cy="347980"/>
            <a:chOff x="5122164" y="2171700"/>
            <a:chExt cx="326390" cy="347980"/>
          </a:xfrm>
        </p:grpSpPr>
        <p:sp>
          <p:nvSpPr>
            <p:cNvPr id="13" name="object 13"/>
            <p:cNvSpPr/>
            <p:nvPr/>
          </p:nvSpPr>
          <p:spPr>
            <a:xfrm>
              <a:off x="5129784" y="2179320"/>
              <a:ext cx="311150" cy="332740"/>
            </a:xfrm>
            <a:custGeom>
              <a:avLst/>
              <a:gdLst/>
              <a:ahLst/>
              <a:cxnLst/>
              <a:rect l="l" t="t" r="r" b="b"/>
              <a:pathLst>
                <a:path w="311150" h="332739">
                  <a:moveTo>
                    <a:pt x="186308" y="0"/>
                  </a:moveTo>
                  <a:lnTo>
                    <a:pt x="0" y="0"/>
                  </a:lnTo>
                  <a:lnTo>
                    <a:pt x="124587" y="166115"/>
                  </a:lnTo>
                  <a:lnTo>
                    <a:pt x="0" y="332231"/>
                  </a:lnTo>
                  <a:lnTo>
                    <a:pt x="186308" y="332231"/>
                  </a:lnTo>
                  <a:lnTo>
                    <a:pt x="310895" y="166115"/>
                  </a:lnTo>
                  <a:lnTo>
                    <a:pt x="186308" y="0"/>
                  </a:lnTo>
                  <a:close/>
                </a:path>
              </a:pathLst>
            </a:custGeom>
            <a:solidFill>
              <a:srgbClr val="9F83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29784" y="2179320"/>
              <a:ext cx="311150" cy="332740"/>
            </a:xfrm>
            <a:custGeom>
              <a:avLst/>
              <a:gdLst/>
              <a:ahLst/>
              <a:cxnLst/>
              <a:rect l="l" t="t" r="r" b="b"/>
              <a:pathLst>
                <a:path w="311150" h="332739">
                  <a:moveTo>
                    <a:pt x="0" y="0"/>
                  </a:moveTo>
                  <a:lnTo>
                    <a:pt x="186308" y="0"/>
                  </a:lnTo>
                  <a:lnTo>
                    <a:pt x="310895" y="166115"/>
                  </a:lnTo>
                  <a:lnTo>
                    <a:pt x="186308" y="332231"/>
                  </a:lnTo>
                  <a:lnTo>
                    <a:pt x="0" y="332231"/>
                  </a:lnTo>
                  <a:lnTo>
                    <a:pt x="124587" y="16611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745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141595" y="2918460"/>
            <a:ext cx="325120" cy="347980"/>
            <a:chOff x="5141595" y="2918460"/>
            <a:chExt cx="325120" cy="347980"/>
          </a:xfrm>
        </p:grpSpPr>
        <p:sp>
          <p:nvSpPr>
            <p:cNvPr id="16" name="object 16"/>
            <p:cNvSpPr/>
            <p:nvPr/>
          </p:nvSpPr>
          <p:spPr>
            <a:xfrm>
              <a:off x="5149215" y="2926080"/>
              <a:ext cx="309880" cy="332740"/>
            </a:xfrm>
            <a:custGeom>
              <a:avLst/>
              <a:gdLst/>
              <a:ahLst/>
              <a:cxnLst/>
              <a:rect l="l" t="t" r="r" b="b"/>
              <a:pathLst>
                <a:path w="309879" h="332739">
                  <a:moveTo>
                    <a:pt x="185165" y="0"/>
                  </a:moveTo>
                  <a:lnTo>
                    <a:pt x="0" y="0"/>
                  </a:lnTo>
                  <a:lnTo>
                    <a:pt x="124587" y="166116"/>
                  </a:lnTo>
                  <a:lnTo>
                    <a:pt x="0" y="332232"/>
                  </a:lnTo>
                  <a:lnTo>
                    <a:pt x="185165" y="332232"/>
                  </a:lnTo>
                  <a:lnTo>
                    <a:pt x="309752" y="166116"/>
                  </a:lnTo>
                  <a:lnTo>
                    <a:pt x="185165" y="0"/>
                  </a:lnTo>
                  <a:close/>
                </a:path>
              </a:pathLst>
            </a:custGeom>
            <a:solidFill>
              <a:srgbClr val="9F83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49215" y="2926080"/>
              <a:ext cx="309880" cy="332740"/>
            </a:xfrm>
            <a:custGeom>
              <a:avLst/>
              <a:gdLst/>
              <a:ahLst/>
              <a:cxnLst/>
              <a:rect l="l" t="t" r="r" b="b"/>
              <a:pathLst>
                <a:path w="309879" h="332739">
                  <a:moveTo>
                    <a:pt x="0" y="0"/>
                  </a:moveTo>
                  <a:lnTo>
                    <a:pt x="185165" y="0"/>
                  </a:lnTo>
                  <a:lnTo>
                    <a:pt x="309752" y="166116"/>
                  </a:lnTo>
                  <a:lnTo>
                    <a:pt x="185165" y="332232"/>
                  </a:lnTo>
                  <a:lnTo>
                    <a:pt x="0" y="332232"/>
                  </a:lnTo>
                  <a:lnTo>
                    <a:pt x="124587" y="166116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745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141595" y="3727703"/>
            <a:ext cx="325120" cy="347980"/>
            <a:chOff x="5141595" y="3727703"/>
            <a:chExt cx="325120" cy="347980"/>
          </a:xfrm>
        </p:grpSpPr>
        <p:sp>
          <p:nvSpPr>
            <p:cNvPr id="19" name="object 19"/>
            <p:cNvSpPr/>
            <p:nvPr/>
          </p:nvSpPr>
          <p:spPr>
            <a:xfrm>
              <a:off x="5149215" y="3735323"/>
              <a:ext cx="309880" cy="332740"/>
            </a:xfrm>
            <a:custGeom>
              <a:avLst/>
              <a:gdLst/>
              <a:ahLst/>
              <a:cxnLst/>
              <a:rect l="l" t="t" r="r" b="b"/>
              <a:pathLst>
                <a:path w="309879" h="332739">
                  <a:moveTo>
                    <a:pt x="185165" y="0"/>
                  </a:moveTo>
                  <a:lnTo>
                    <a:pt x="0" y="0"/>
                  </a:lnTo>
                  <a:lnTo>
                    <a:pt x="124587" y="166115"/>
                  </a:lnTo>
                  <a:lnTo>
                    <a:pt x="0" y="332231"/>
                  </a:lnTo>
                  <a:lnTo>
                    <a:pt x="185165" y="332231"/>
                  </a:lnTo>
                  <a:lnTo>
                    <a:pt x="309752" y="166115"/>
                  </a:lnTo>
                  <a:lnTo>
                    <a:pt x="185165" y="0"/>
                  </a:lnTo>
                  <a:close/>
                </a:path>
              </a:pathLst>
            </a:custGeom>
            <a:solidFill>
              <a:srgbClr val="9F83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49215" y="3735323"/>
              <a:ext cx="309880" cy="332740"/>
            </a:xfrm>
            <a:custGeom>
              <a:avLst/>
              <a:gdLst/>
              <a:ahLst/>
              <a:cxnLst/>
              <a:rect l="l" t="t" r="r" b="b"/>
              <a:pathLst>
                <a:path w="309879" h="332739">
                  <a:moveTo>
                    <a:pt x="0" y="0"/>
                  </a:moveTo>
                  <a:lnTo>
                    <a:pt x="185165" y="0"/>
                  </a:lnTo>
                  <a:lnTo>
                    <a:pt x="309752" y="166115"/>
                  </a:lnTo>
                  <a:lnTo>
                    <a:pt x="185165" y="332231"/>
                  </a:lnTo>
                  <a:lnTo>
                    <a:pt x="0" y="332231"/>
                  </a:lnTo>
                  <a:lnTo>
                    <a:pt x="124587" y="16611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745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141595" y="5231891"/>
            <a:ext cx="325120" cy="346075"/>
            <a:chOff x="5141595" y="5231891"/>
            <a:chExt cx="325120" cy="346075"/>
          </a:xfrm>
        </p:grpSpPr>
        <p:sp>
          <p:nvSpPr>
            <p:cNvPr id="22" name="object 22"/>
            <p:cNvSpPr/>
            <p:nvPr/>
          </p:nvSpPr>
          <p:spPr>
            <a:xfrm>
              <a:off x="5149215" y="5239511"/>
              <a:ext cx="309880" cy="330835"/>
            </a:xfrm>
            <a:custGeom>
              <a:avLst/>
              <a:gdLst/>
              <a:ahLst/>
              <a:cxnLst/>
              <a:rect l="l" t="t" r="r" b="b"/>
              <a:pathLst>
                <a:path w="309879" h="330835">
                  <a:moveTo>
                    <a:pt x="185674" y="0"/>
                  </a:moveTo>
                  <a:lnTo>
                    <a:pt x="0" y="0"/>
                  </a:lnTo>
                  <a:lnTo>
                    <a:pt x="123951" y="165353"/>
                  </a:lnTo>
                  <a:lnTo>
                    <a:pt x="0" y="330707"/>
                  </a:lnTo>
                  <a:lnTo>
                    <a:pt x="185674" y="330707"/>
                  </a:lnTo>
                  <a:lnTo>
                    <a:pt x="309752" y="165353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9F83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49215" y="5239511"/>
              <a:ext cx="309880" cy="330835"/>
            </a:xfrm>
            <a:custGeom>
              <a:avLst/>
              <a:gdLst/>
              <a:ahLst/>
              <a:cxnLst/>
              <a:rect l="l" t="t" r="r" b="b"/>
              <a:pathLst>
                <a:path w="309879" h="330835">
                  <a:moveTo>
                    <a:pt x="0" y="0"/>
                  </a:moveTo>
                  <a:lnTo>
                    <a:pt x="185674" y="0"/>
                  </a:lnTo>
                  <a:lnTo>
                    <a:pt x="309752" y="165353"/>
                  </a:lnTo>
                  <a:lnTo>
                    <a:pt x="185674" y="330707"/>
                  </a:lnTo>
                  <a:lnTo>
                    <a:pt x="0" y="330707"/>
                  </a:lnTo>
                  <a:lnTo>
                    <a:pt x="123951" y="165353"/>
                  </a:lnTo>
                  <a:lnTo>
                    <a:pt x="0" y="0"/>
                  </a:lnTo>
                  <a:close/>
                </a:path>
              </a:pathLst>
            </a:custGeom>
            <a:ln w="15239">
              <a:solidFill>
                <a:srgbClr val="745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3810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7551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1395E"/>
                </a:solidFill>
              </a:rPr>
              <a:t>RSA</a:t>
            </a:r>
            <a:r>
              <a:rPr spc="-20" dirty="0">
                <a:solidFill>
                  <a:srgbClr val="01395E"/>
                </a:solidFill>
              </a:rPr>
              <a:t> </a:t>
            </a:r>
            <a:r>
              <a:rPr spc="725" dirty="0">
                <a:solidFill>
                  <a:srgbClr val="01395E"/>
                </a:solidFill>
              </a:rPr>
              <a:t>–</a:t>
            </a:r>
            <a:r>
              <a:rPr spc="-25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Generation</a:t>
            </a:r>
            <a:r>
              <a:rPr spc="-20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of</a:t>
            </a:r>
            <a:r>
              <a:rPr spc="-30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Public</a:t>
            </a:r>
            <a:r>
              <a:rPr spc="-20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&amp;</a:t>
            </a:r>
            <a:r>
              <a:rPr spc="-25" dirty="0">
                <a:solidFill>
                  <a:srgbClr val="01395E"/>
                </a:solidFill>
              </a:rPr>
              <a:t> </a:t>
            </a:r>
            <a:r>
              <a:rPr dirty="0">
                <a:solidFill>
                  <a:srgbClr val="01395E"/>
                </a:solidFill>
              </a:rPr>
              <a:t>Private</a:t>
            </a:r>
            <a:r>
              <a:rPr spc="-30" dirty="0">
                <a:solidFill>
                  <a:srgbClr val="01395E"/>
                </a:solidFill>
              </a:rPr>
              <a:t> </a:t>
            </a:r>
            <a:r>
              <a:rPr spc="-10" dirty="0">
                <a:solidFill>
                  <a:srgbClr val="01395E"/>
                </a:solidFill>
              </a:rPr>
              <a:t>Keyes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48071" y="2275293"/>
            <a:ext cx="2623185" cy="410845"/>
          </a:xfrm>
          <a:prstGeom prst="rect">
            <a:avLst/>
          </a:prstGeom>
          <a:solidFill>
            <a:srgbClr val="A32E0E"/>
          </a:solidFill>
          <a:ln w="15240">
            <a:solidFill>
              <a:srgbClr val="781F09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823594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r>
              <a:rPr sz="1800" spc="-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*</a:t>
            </a:r>
            <a:r>
              <a:rPr sz="1800" spc="-25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1800" spc="-2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(mod</a:t>
            </a:r>
            <a:r>
              <a:rPr sz="1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20)</a:t>
            </a:r>
            <a:r>
              <a:rPr sz="18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8071" y="3194265"/>
            <a:ext cx="2623185" cy="412115"/>
          </a:xfrm>
          <a:prstGeom prst="rect">
            <a:avLst/>
          </a:prstGeom>
          <a:solidFill>
            <a:srgbClr val="A32E0E"/>
          </a:solidFill>
          <a:ln w="15240">
            <a:solidFill>
              <a:srgbClr val="781F09"/>
            </a:solidFill>
          </a:ln>
        </p:spPr>
        <p:txBody>
          <a:bodyPr vert="horz" wrap="square" lIns="0" tIns="127635" rIns="0" bIns="0" rtlCol="0">
            <a:spAutoFit/>
          </a:bodyPr>
          <a:lstStyle/>
          <a:p>
            <a:pPr marL="998855">
              <a:lnSpc>
                <a:spcPct val="100000"/>
              </a:lnSpc>
              <a:spcBef>
                <a:spcPts val="1005"/>
              </a:spcBef>
            </a:pP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1800" spc="-2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r>
              <a:rPr sz="1800" spc="-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*</a:t>
            </a:r>
            <a:r>
              <a:rPr sz="18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d)</a:t>
            </a:r>
            <a:r>
              <a:rPr sz="1800" spc="-2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r>
              <a:rPr sz="1800" spc="-2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=1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8071" y="4279353"/>
            <a:ext cx="2623185" cy="411480"/>
          </a:xfrm>
          <a:prstGeom prst="rect">
            <a:avLst/>
          </a:prstGeom>
          <a:solidFill>
            <a:srgbClr val="A32E0E"/>
          </a:solidFill>
          <a:ln w="15240">
            <a:solidFill>
              <a:srgbClr val="781F09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22225" algn="ctr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1800" spc="-3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2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36389" y="2375916"/>
            <a:ext cx="326390" cy="346075"/>
            <a:chOff x="4636389" y="2375916"/>
            <a:chExt cx="326390" cy="346075"/>
          </a:xfrm>
        </p:grpSpPr>
        <p:sp>
          <p:nvSpPr>
            <p:cNvPr id="7" name="object 7"/>
            <p:cNvSpPr/>
            <p:nvPr/>
          </p:nvSpPr>
          <p:spPr>
            <a:xfrm>
              <a:off x="4644009" y="2383536"/>
              <a:ext cx="311150" cy="330835"/>
            </a:xfrm>
            <a:custGeom>
              <a:avLst/>
              <a:gdLst/>
              <a:ahLst/>
              <a:cxnLst/>
              <a:rect l="l" t="t" r="r" b="b"/>
              <a:pathLst>
                <a:path w="311150" h="330835">
                  <a:moveTo>
                    <a:pt x="186943" y="0"/>
                  </a:moveTo>
                  <a:lnTo>
                    <a:pt x="0" y="0"/>
                  </a:lnTo>
                  <a:lnTo>
                    <a:pt x="123951" y="165353"/>
                  </a:lnTo>
                  <a:lnTo>
                    <a:pt x="0" y="330708"/>
                  </a:lnTo>
                  <a:lnTo>
                    <a:pt x="186943" y="330708"/>
                  </a:lnTo>
                  <a:lnTo>
                    <a:pt x="310895" y="165353"/>
                  </a:lnTo>
                  <a:lnTo>
                    <a:pt x="186943" y="0"/>
                  </a:lnTo>
                  <a:close/>
                </a:path>
              </a:pathLst>
            </a:custGeom>
            <a:solidFill>
              <a:srgbClr val="9F83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44009" y="2383536"/>
              <a:ext cx="311150" cy="330835"/>
            </a:xfrm>
            <a:custGeom>
              <a:avLst/>
              <a:gdLst/>
              <a:ahLst/>
              <a:cxnLst/>
              <a:rect l="l" t="t" r="r" b="b"/>
              <a:pathLst>
                <a:path w="311150" h="330835">
                  <a:moveTo>
                    <a:pt x="0" y="0"/>
                  </a:moveTo>
                  <a:lnTo>
                    <a:pt x="186943" y="0"/>
                  </a:lnTo>
                  <a:lnTo>
                    <a:pt x="310895" y="165353"/>
                  </a:lnTo>
                  <a:lnTo>
                    <a:pt x="186943" y="330708"/>
                  </a:lnTo>
                  <a:lnTo>
                    <a:pt x="0" y="330708"/>
                  </a:lnTo>
                  <a:lnTo>
                    <a:pt x="123951" y="165353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745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636389" y="3294888"/>
            <a:ext cx="326390" cy="347980"/>
            <a:chOff x="4636389" y="3294888"/>
            <a:chExt cx="326390" cy="347980"/>
          </a:xfrm>
        </p:grpSpPr>
        <p:sp>
          <p:nvSpPr>
            <p:cNvPr id="10" name="object 10"/>
            <p:cNvSpPr/>
            <p:nvPr/>
          </p:nvSpPr>
          <p:spPr>
            <a:xfrm>
              <a:off x="4644009" y="3302508"/>
              <a:ext cx="311150" cy="332740"/>
            </a:xfrm>
            <a:custGeom>
              <a:avLst/>
              <a:gdLst/>
              <a:ahLst/>
              <a:cxnLst/>
              <a:rect l="l" t="t" r="r" b="b"/>
              <a:pathLst>
                <a:path w="311150" h="332739">
                  <a:moveTo>
                    <a:pt x="186308" y="0"/>
                  </a:moveTo>
                  <a:lnTo>
                    <a:pt x="0" y="0"/>
                  </a:lnTo>
                  <a:lnTo>
                    <a:pt x="124587" y="166115"/>
                  </a:lnTo>
                  <a:lnTo>
                    <a:pt x="0" y="332231"/>
                  </a:lnTo>
                  <a:lnTo>
                    <a:pt x="186308" y="332231"/>
                  </a:lnTo>
                  <a:lnTo>
                    <a:pt x="310895" y="166115"/>
                  </a:lnTo>
                  <a:lnTo>
                    <a:pt x="186308" y="0"/>
                  </a:lnTo>
                  <a:close/>
                </a:path>
              </a:pathLst>
            </a:custGeom>
            <a:solidFill>
              <a:srgbClr val="9F83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44009" y="3302508"/>
              <a:ext cx="311150" cy="332740"/>
            </a:xfrm>
            <a:custGeom>
              <a:avLst/>
              <a:gdLst/>
              <a:ahLst/>
              <a:cxnLst/>
              <a:rect l="l" t="t" r="r" b="b"/>
              <a:pathLst>
                <a:path w="311150" h="332739">
                  <a:moveTo>
                    <a:pt x="0" y="0"/>
                  </a:moveTo>
                  <a:lnTo>
                    <a:pt x="186308" y="0"/>
                  </a:lnTo>
                  <a:lnTo>
                    <a:pt x="310895" y="166115"/>
                  </a:lnTo>
                  <a:lnTo>
                    <a:pt x="186308" y="332231"/>
                  </a:lnTo>
                  <a:lnTo>
                    <a:pt x="0" y="332231"/>
                  </a:lnTo>
                  <a:lnTo>
                    <a:pt x="124587" y="16611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745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636389" y="4379976"/>
            <a:ext cx="326390" cy="346075"/>
            <a:chOff x="4636389" y="4379976"/>
            <a:chExt cx="326390" cy="346075"/>
          </a:xfrm>
        </p:grpSpPr>
        <p:sp>
          <p:nvSpPr>
            <p:cNvPr id="13" name="object 13"/>
            <p:cNvSpPr/>
            <p:nvPr/>
          </p:nvSpPr>
          <p:spPr>
            <a:xfrm>
              <a:off x="4644009" y="4387596"/>
              <a:ext cx="311150" cy="330835"/>
            </a:xfrm>
            <a:custGeom>
              <a:avLst/>
              <a:gdLst/>
              <a:ahLst/>
              <a:cxnLst/>
              <a:rect l="l" t="t" r="r" b="b"/>
              <a:pathLst>
                <a:path w="311150" h="330835">
                  <a:moveTo>
                    <a:pt x="186943" y="0"/>
                  </a:moveTo>
                  <a:lnTo>
                    <a:pt x="0" y="0"/>
                  </a:lnTo>
                  <a:lnTo>
                    <a:pt x="123951" y="165353"/>
                  </a:lnTo>
                  <a:lnTo>
                    <a:pt x="0" y="330707"/>
                  </a:lnTo>
                  <a:lnTo>
                    <a:pt x="186943" y="330707"/>
                  </a:lnTo>
                  <a:lnTo>
                    <a:pt x="310895" y="165353"/>
                  </a:lnTo>
                  <a:lnTo>
                    <a:pt x="186943" y="0"/>
                  </a:lnTo>
                  <a:close/>
                </a:path>
              </a:pathLst>
            </a:custGeom>
            <a:solidFill>
              <a:srgbClr val="9F83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44009" y="4387596"/>
              <a:ext cx="311150" cy="330835"/>
            </a:xfrm>
            <a:custGeom>
              <a:avLst/>
              <a:gdLst/>
              <a:ahLst/>
              <a:cxnLst/>
              <a:rect l="l" t="t" r="r" b="b"/>
              <a:pathLst>
                <a:path w="311150" h="330835">
                  <a:moveTo>
                    <a:pt x="0" y="0"/>
                  </a:moveTo>
                  <a:lnTo>
                    <a:pt x="186943" y="0"/>
                  </a:lnTo>
                  <a:lnTo>
                    <a:pt x="310895" y="165353"/>
                  </a:lnTo>
                  <a:lnTo>
                    <a:pt x="186943" y="330707"/>
                  </a:lnTo>
                  <a:lnTo>
                    <a:pt x="0" y="330707"/>
                  </a:lnTo>
                  <a:lnTo>
                    <a:pt x="123951" y="165353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745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47546" y="2371471"/>
            <a:ext cx="2066289" cy="147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Microsoft Sans Serif"/>
                <a:cs typeface="Microsoft Sans Serif"/>
              </a:rPr>
              <a:t>e*</a:t>
            </a:r>
            <a:r>
              <a:rPr sz="1800" spc="-3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</a:t>
            </a:r>
            <a:r>
              <a:rPr sz="1800" spc="-22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(mod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Verdana"/>
                <a:cs typeface="Verdana"/>
              </a:rPr>
              <a:t>φ</a:t>
            </a:r>
            <a:r>
              <a:rPr sz="1800" spc="-305" dirty="0">
                <a:latin typeface="Verdana"/>
                <a:cs typeface="Verdana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(n))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91440" marR="508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Public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Key =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{e,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n} </a:t>
            </a:r>
            <a:r>
              <a:rPr sz="1800" dirty="0">
                <a:latin typeface="Microsoft Sans Serif"/>
                <a:cs typeface="Microsoft Sans Serif"/>
              </a:rPr>
              <a:t>Private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Key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 {d, </a:t>
            </a:r>
            <a:r>
              <a:rPr sz="1800" spc="-25" dirty="0">
                <a:latin typeface="Microsoft Sans Serif"/>
                <a:cs typeface="Microsoft Sans Serif"/>
              </a:rPr>
              <a:t>n}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534923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9644" y="436829"/>
            <a:ext cx="4159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1395E"/>
                </a:solidFill>
              </a:rPr>
              <a:t>RSA-</a:t>
            </a:r>
            <a:r>
              <a:rPr sz="4400" spc="35" dirty="0">
                <a:solidFill>
                  <a:srgbClr val="01395E"/>
                </a:solidFill>
              </a:rPr>
              <a:t> </a:t>
            </a:r>
            <a:r>
              <a:rPr sz="4400" spc="-10" dirty="0">
                <a:solidFill>
                  <a:srgbClr val="01395E"/>
                </a:solidFill>
              </a:rPr>
              <a:t>Encryption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23240" y="1247901"/>
            <a:ext cx="4844415" cy="309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2972435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C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 M</a:t>
            </a:r>
            <a:r>
              <a:rPr sz="2400" baseline="24305" dirty="0">
                <a:latin typeface="Microsoft Sans Serif"/>
                <a:cs typeface="Microsoft Sans Serif"/>
              </a:rPr>
              <a:t>e </a:t>
            </a:r>
            <a:r>
              <a:rPr sz="2400" dirty="0">
                <a:latin typeface="Microsoft Sans Serif"/>
                <a:cs typeface="Microsoft Sans Serif"/>
              </a:rPr>
              <a:t>mod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n </a:t>
            </a:r>
            <a:r>
              <a:rPr sz="2400" spc="-10" dirty="0">
                <a:latin typeface="Microsoft Sans Serif"/>
                <a:cs typeface="Microsoft Sans Serif"/>
              </a:rPr>
              <a:t>Where,</a:t>
            </a:r>
            <a:endParaRPr sz="2400">
              <a:latin typeface="Microsoft Sans Serif"/>
              <a:cs typeface="Microsoft Sans Serif"/>
            </a:endParaRPr>
          </a:p>
          <a:p>
            <a:pPr marL="254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Microsoft Sans Serif"/>
                <a:cs typeface="Microsoft Sans Serif"/>
              </a:rPr>
              <a:t>C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Cipher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Text</a:t>
            </a:r>
            <a:endParaRPr sz="2400">
              <a:latin typeface="Microsoft Sans Serif"/>
              <a:cs typeface="Microsoft Sans Serif"/>
            </a:endParaRPr>
          </a:p>
          <a:p>
            <a:pPr marL="25400" marR="1922145">
              <a:lnSpc>
                <a:spcPct val="120000"/>
              </a:lnSpc>
            </a:pPr>
            <a:r>
              <a:rPr sz="2400" dirty="0">
                <a:latin typeface="Microsoft Sans Serif"/>
                <a:cs typeface="Microsoft Sans Serif"/>
              </a:rPr>
              <a:t>M=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Original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Message </a:t>
            </a:r>
            <a:r>
              <a:rPr sz="2400" dirty="0">
                <a:latin typeface="Microsoft Sans Serif"/>
                <a:cs typeface="Microsoft Sans Serif"/>
              </a:rPr>
              <a:t>Public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Key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{e,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n}</a:t>
            </a:r>
            <a:endParaRPr sz="2400">
              <a:latin typeface="Microsoft Sans Serif"/>
              <a:cs typeface="Microsoft Sans Serif"/>
            </a:endParaRPr>
          </a:p>
          <a:p>
            <a:pPr marL="254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Microsoft Sans Serif"/>
                <a:cs typeface="Microsoft Sans Serif"/>
              </a:rPr>
              <a:t>Let,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31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 Public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Key= {7,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33}</a:t>
            </a:r>
            <a:endParaRPr sz="2400">
              <a:latin typeface="Microsoft Sans Serif"/>
              <a:cs typeface="Microsoft Sans Serif"/>
            </a:endParaRPr>
          </a:p>
          <a:p>
            <a:pPr marL="254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Microsoft Sans Serif"/>
                <a:cs typeface="Microsoft Sans Serif"/>
              </a:rPr>
              <a:t>C= 31</a:t>
            </a:r>
            <a:r>
              <a:rPr sz="2400" baseline="24305" dirty="0">
                <a:latin typeface="Microsoft Sans Serif"/>
                <a:cs typeface="Microsoft Sans Serif"/>
              </a:rPr>
              <a:t>7</a:t>
            </a:r>
            <a:r>
              <a:rPr sz="2400" spc="315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33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4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Microsoft Sans Serif"/>
                <a:cs typeface="Microsoft Sans Serif"/>
              </a:rPr>
              <a:t>7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9644" y="436829"/>
            <a:ext cx="41897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1395E"/>
                </a:solidFill>
              </a:rPr>
              <a:t>RSA-</a:t>
            </a:r>
            <a:r>
              <a:rPr sz="4400" spc="35" dirty="0">
                <a:solidFill>
                  <a:srgbClr val="01395E"/>
                </a:solidFill>
              </a:rPr>
              <a:t> </a:t>
            </a:r>
            <a:r>
              <a:rPr sz="4400" spc="-10" dirty="0">
                <a:solidFill>
                  <a:srgbClr val="01395E"/>
                </a:solidFill>
              </a:rPr>
              <a:t>Decryption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23240" y="1247901"/>
            <a:ext cx="5437505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Microsoft Sans Serif"/>
                <a:cs typeface="Microsoft Sans Serif"/>
              </a:rPr>
              <a:t>M=C</a:t>
            </a:r>
            <a:r>
              <a:rPr sz="2400" baseline="24305" dirty="0">
                <a:latin typeface="Microsoft Sans Serif"/>
                <a:cs typeface="Microsoft Sans Serif"/>
              </a:rPr>
              <a:t>d</a:t>
            </a:r>
            <a:r>
              <a:rPr sz="2400" spc="292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n</a:t>
            </a:r>
            <a:endParaRPr sz="2400">
              <a:latin typeface="Microsoft Sans Serif"/>
              <a:cs typeface="Microsoft Sans Serif"/>
            </a:endParaRPr>
          </a:p>
          <a:p>
            <a:pPr marL="25400" marR="17780">
              <a:lnSpc>
                <a:spcPts val="3460"/>
              </a:lnSpc>
              <a:spcBef>
                <a:spcPts val="95"/>
              </a:spcBef>
            </a:pPr>
            <a:r>
              <a:rPr sz="2400" dirty="0">
                <a:latin typeface="Microsoft Sans Serif"/>
                <a:cs typeface="Microsoft Sans Serif"/>
              </a:rPr>
              <a:t>Let,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Cipher Text=4,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Private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Key=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{4,</a:t>
            </a:r>
            <a:r>
              <a:rPr sz="2400" spc="-25" dirty="0">
                <a:latin typeface="Microsoft Sans Serif"/>
                <a:cs typeface="Microsoft Sans Serif"/>
              </a:rPr>
              <a:t> 33} </a:t>
            </a:r>
            <a:r>
              <a:rPr sz="2400" dirty="0">
                <a:latin typeface="Microsoft Sans Serif"/>
                <a:cs typeface="Microsoft Sans Serif"/>
              </a:rPr>
              <a:t>M=</a:t>
            </a:r>
            <a:r>
              <a:rPr sz="2400" spc="5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4</a:t>
            </a:r>
            <a:r>
              <a:rPr sz="2400" baseline="24305" dirty="0">
                <a:latin typeface="Microsoft Sans Serif"/>
                <a:cs typeface="Microsoft Sans Serif"/>
              </a:rPr>
              <a:t>3</a:t>
            </a:r>
            <a:r>
              <a:rPr sz="2400" spc="300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 33=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31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Microsoft Sans Serif"/>
                <a:cs typeface="Microsoft Sans Serif"/>
              </a:rPr>
              <a:t>8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092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Why</a:t>
            </a:r>
            <a:r>
              <a:rPr sz="4000" spc="5" dirty="0"/>
              <a:t> </a:t>
            </a:r>
            <a:r>
              <a:rPr sz="4000" dirty="0"/>
              <a:t>RSA is</a:t>
            </a:r>
            <a:r>
              <a:rPr sz="4000" spc="25" dirty="0"/>
              <a:t> </a:t>
            </a:r>
            <a:r>
              <a:rPr sz="4000" spc="-10" dirty="0"/>
              <a:t>Secure?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19099" y="1378457"/>
            <a:ext cx="7287259" cy="40405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2665730" indent="-190500">
              <a:lnSpc>
                <a:spcPct val="114999"/>
              </a:lnSpc>
              <a:spcBef>
                <a:spcPts val="100"/>
              </a:spcBef>
              <a:buSzPct val="95833"/>
              <a:buChar char="●"/>
              <a:tabLst>
                <a:tab pos="203200" algn="l"/>
              </a:tabLst>
            </a:pPr>
            <a:r>
              <a:rPr sz="2400" dirty="0">
                <a:latin typeface="Microsoft Sans Serif"/>
                <a:cs typeface="Microsoft Sans Serif"/>
              </a:rPr>
              <a:t>Factoring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integer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with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least </a:t>
            </a:r>
            <a:r>
              <a:rPr sz="2400" spc="-20" dirty="0">
                <a:latin typeface="Microsoft Sans Serif"/>
                <a:cs typeface="Microsoft Sans Serif"/>
              </a:rPr>
              <a:t>512-</a:t>
            </a:r>
            <a:r>
              <a:rPr sz="2400" dirty="0">
                <a:latin typeface="Microsoft Sans Serif"/>
                <a:cs typeface="Microsoft Sans Serif"/>
              </a:rPr>
              <a:t>bit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very </a:t>
            </a:r>
            <a:r>
              <a:rPr sz="2400" spc="-10" dirty="0">
                <a:latin typeface="Microsoft Sans Serif"/>
                <a:cs typeface="Microsoft Sans Serif"/>
              </a:rPr>
              <a:t>hard!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Font typeface="Microsoft Sans Serif"/>
              <a:buChar char="●"/>
            </a:pPr>
            <a:endParaRPr sz="2400">
              <a:latin typeface="Microsoft Sans Serif"/>
              <a:cs typeface="Microsoft Sans Serif"/>
            </a:endParaRPr>
          </a:p>
          <a:p>
            <a:pPr marL="203200" marR="5080" indent="-190500">
              <a:lnSpc>
                <a:spcPct val="114999"/>
              </a:lnSpc>
              <a:buSzPct val="95833"/>
              <a:buChar char="●"/>
              <a:tabLst>
                <a:tab pos="203200" algn="l"/>
              </a:tabLst>
            </a:pPr>
            <a:r>
              <a:rPr sz="2400" dirty="0">
                <a:latin typeface="Microsoft Sans Serif"/>
                <a:cs typeface="Microsoft Sans Serif"/>
              </a:rPr>
              <a:t>But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factor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big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number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given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public </a:t>
            </a:r>
            <a:r>
              <a:rPr sz="2400" dirty="0">
                <a:latin typeface="Microsoft Sans Serif"/>
                <a:cs typeface="Microsoft Sans Serif"/>
              </a:rPr>
              <a:t>key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&lt;e,n&gt;,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find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d,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hence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private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key by:</a:t>
            </a:r>
            <a:endParaRPr sz="2400">
              <a:latin typeface="Microsoft Sans Serif"/>
              <a:cs typeface="Microsoft Sans Serif"/>
            </a:endParaRPr>
          </a:p>
          <a:p>
            <a:pPr marL="1057275" lvl="1" indent="-188595">
              <a:lnSpc>
                <a:spcPct val="100000"/>
              </a:lnSpc>
              <a:spcBef>
                <a:spcPts val="1035"/>
              </a:spcBef>
              <a:buSzPct val="95833"/>
              <a:buChar char="●"/>
              <a:tabLst>
                <a:tab pos="1057275" algn="l"/>
              </a:tabLst>
            </a:pPr>
            <a:r>
              <a:rPr sz="2400" dirty="0">
                <a:latin typeface="Microsoft Sans Serif"/>
                <a:cs typeface="Microsoft Sans Serif"/>
              </a:rPr>
              <a:t>Knowing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factors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q, such that,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p×q</a:t>
            </a:r>
            <a:endParaRPr sz="2400">
              <a:latin typeface="Microsoft Sans Serif"/>
              <a:cs typeface="Microsoft Sans Serif"/>
            </a:endParaRPr>
          </a:p>
          <a:p>
            <a:pPr marL="1057275" lvl="1" indent="-188595">
              <a:lnSpc>
                <a:spcPct val="100000"/>
              </a:lnSpc>
              <a:spcBef>
                <a:spcPts val="1030"/>
              </a:spcBef>
              <a:buSzPct val="95833"/>
              <a:buChar char="●"/>
              <a:tabLst>
                <a:tab pos="1057275" algn="l"/>
              </a:tabLst>
            </a:pP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compute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ø(n)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=(p-</a:t>
            </a:r>
            <a:r>
              <a:rPr sz="2400" spc="-20" dirty="0">
                <a:latin typeface="Microsoft Sans Serif"/>
                <a:cs typeface="Microsoft Sans Serif"/>
              </a:rPr>
              <a:t>1)(q-</a:t>
            </a:r>
            <a:r>
              <a:rPr sz="2400" spc="-25" dirty="0">
                <a:latin typeface="Microsoft Sans Serif"/>
                <a:cs typeface="Microsoft Sans Serif"/>
              </a:rPr>
              <a:t>1)</a:t>
            </a:r>
            <a:endParaRPr sz="2400">
              <a:latin typeface="Microsoft Sans Serif"/>
              <a:cs typeface="Microsoft Sans Serif"/>
            </a:endParaRPr>
          </a:p>
          <a:p>
            <a:pPr marL="1057275" lvl="1" indent="-188595">
              <a:lnSpc>
                <a:spcPct val="100000"/>
              </a:lnSpc>
              <a:spcBef>
                <a:spcPts val="1030"/>
              </a:spcBef>
              <a:buSzPct val="95833"/>
              <a:buChar char="●"/>
              <a:tabLst>
                <a:tab pos="1057275" algn="l"/>
              </a:tabLst>
            </a:pP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find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such that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e×d =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1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ø(n</a:t>
            </a:r>
            <a:r>
              <a:rPr sz="2400" i="1" spc="-2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435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Diffie</a:t>
            </a:r>
            <a:r>
              <a:rPr sz="3600" spc="-15" dirty="0"/>
              <a:t> </a:t>
            </a:r>
            <a:r>
              <a:rPr sz="3600" dirty="0"/>
              <a:t>and</a:t>
            </a:r>
            <a:r>
              <a:rPr sz="3600" spc="-20" dirty="0"/>
              <a:t> </a:t>
            </a:r>
            <a:r>
              <a:rPr sz="3600" dirty="0"/>
              <a:t>Hellman</a:t>
            </a:r>
            <a:r>
              <a:rPr sz="3600" spc="-35" dirty="0"/>
              <a:t> </a:t>
            </a:r>
            <a:r>
              <a:rPr sz="3600" dirty="0"/>
              <a:t>Key </a:t>
            </a:r>
            <a:r>
              <a:rPr sz="3600" spc="-10" dirty="0"/>
              <a:t>Exchange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62457" y="1432940"/>
            <a:ext cx="7998459" cy="454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100"/>
              </a:spcBef>
              <a:buSzPct val="95833"/>
              <a:buChar char="●"/>
              <a:tabLst>
                <a:tab pos="202565" algn="l"/>
              </a:tabLst>
            </a:pPr>
            <a:r>
              <a:rPr sz="2400" dirty="0">
                <a:latin typeface="Microsoft Sans Serif"/>
                <a:cs typeface="Microsoft Sans Serif"/>
              </a:rPr>
              <a:t>First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published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public-</a:t>
            </a:r>
            <a:r>
              <a:rPr sz="2400" dirty="0">
                <a:latin typeface="Microsoft Sans Serif"/>
                <a:cs typeface="Microsoft Sans Serif"/>
              </a:rPr>
              <a:t>key </a:t>
            </a:r>
            <a:r>
              <a:rPr sz="2400" spc="-10" dirty="0">
                <a:latin typeface="Microsoft Sans Serif"/>
                <a:cs typeface="Microsoft Sans Serif"/>
              </a:rPr>
              <a:t>algorithm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15"/>
              </a:spcBef>
              <a:buFont typeface="Microsoft Sans Serif"/>
              <a:buChar char="●"/>
            </a:pPr>
            <a:endParaRPr sz="2400">
              <a:latin typeface="Microsoft Sans Serif"/>
              <a:cs typeface="Microsoft Sans Serif"/>
            </a:endParaRPr>
          </a:p>
          <a:p>
            <a:pPr marL="203200" marR="5080" indent="-190500">
              <a:lnSpc>
                <a:spcPts val="2590"/>
              </a:lnSpc>
              <a:buSzPct val="95833"/>
              <a:buChar char="●"/>
              <a:tabLst>
                <a:tab pos="203200" algn="l"/>
              </a:tabLst>
            </a:pP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Diffie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Hellman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1976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along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with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exposition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of </a:t>
            </a:r>
            <a:r>
              <a:rPr sz="2400" dirty="0">
                <a:latin typeface="Microsoft Sans Serif"/>
                <a:cs typeface="Microsoft Sans Serif"/>
              </a:rPr>
              <a:t>public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key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concepts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Font typeface="Microsoft Sans Serif"/>
              <a:buChar char="●"/>
            </a:pPr>
            <a:endParaRPr sz="2400">
              <a:latin typeface="Microsoft Sans Serif"/>
              <a:cs typeface="Microsoft Sans Serif"/>
            </a:endParaRPr>
          </a:p>
          <a:p>
            <a:pPr marL="202565" indent="-189865">
              <a:lnSpc>
                <a:spcPct val="100000"/>
              </a:lnSpc>
              <a:buSzPct val="95833"/>
              <a:buChar char="●"/>
              <a:tabLst>
                <a:tab pos="202565" algn="l"/>
              </a:tabLst>
            </a:pPr>
            <a:r>
              <a:rPr sz="2400" dirty="0">
                <a:latin typeface="Microsoft Sans Serif"/>
                <a:cs typeface="Microsoft Sans Serif"/>
              </a:rPr>
              <a:t>Used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number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commercial</a:t>
            </a:r>
            <a:r>
              <a:rPr sz="2400" spc="-10" dirty="0">
                <a:latin typeface="Microsoft Sans Serif"/>
                <a:cs typeface="Microsoft Sans Serif"/>
              </a:rPr>
              <a:t> products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buFont typeface="Microsoft Sans Serif"/>
              <a:buChar char="●"/>
            </a:pPr>
            <a:endParaRPr sz="2400">
              <a:latin typeface="Microsoft Sans Serif"/>
              <a:cs typeface="Microsoft Sans Serif"/>
            </a:endParaRPr>
          </a:p>
          <a:p>
            <a:pPr marL="203200" marR="40640" indent="-190500">
              <a:lnSpc>
                <a:spcPts val="2590"/>
              </a:lnSpc>
              <a:buSzPct val="95833"/>
              <a:buChar char="●"/>
              <a:tabLst>
                <a:tab pos="203200" algn="l"/>
              </a:tabLst>
            </a:pPr>
            <a:r>
              <a:rPr sz="2400" dirty="0">
                <a:latin typeface="Microsoft Sans Serif"/>
                <a:cs typeface="Microsoft Sans Serif"/>
              </a:rPr>
              <a:t>Practical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method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exchange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secret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key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securely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that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used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subsequent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encryption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messages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</a:pPr>
            <a:endParaRPr sz="2400">
              <a:latin typeface="Microsoft Sans Serif"/>
              <a:cs typeface="Microsoft Sans Serif"/>
            </a:endParaRPr>
          </a:p>
          <a:p>
            <a:pPr marL="203200" marR="1280795" indent="-190500">
              <a:lnSpc>
                <a:spcPts val="2590"/>
              </a:lnSpc>
              <a:buSzPct val="95833"/>
              <a:buChar char="●"/>
              <a:tabLst>
                <a:tab pos="203200" algn="l"/>
              </a:tabLst>
            </a:pPr>
            <a:r>
              <a:rPr sz="2400" dirty="0">
                <a:latin typeface="Microsoft Sans Serif"/>
                <a:cs typeface="Microsoft Sans Serif"/>
              </a:rPr>
              <a:t>Security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relies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difficulty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computing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discrete logarithms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Diffie</a:t>
            </a:r>
            <a:r>
              <a:rPr sz="3600" spc="-20" dirty="0"/>
              <a:t> </a:t>
            </a:r>
            <a:r>
              <a:rPr sz="3600" dirty="0"/>
              <a:t>and</a:t>
            </a:r>
            <a:r>
              <a:rPr sz="3600" spc="-20" dirty="0"/>
              <a:t> </a:t>
            </a:r>
            <a:r>
              <a:rPr sz="3600" dirty="0"/>
              <a:t>Hellman</a:t>
            </a:r>
            <a:r>
              <a:rPr sz="3600" spc="-35" dirty="0"/>
              <a:t> </a:t>
            </a:r>
            <a:r>
              <a:rPr sz="3600" dirty="0"/>
              <a:t>Key </a:t>
            </a:r>
            <a:r>
              <a:rPr sz="3600" spc="-10" dirty="0"/>
              <a:t>Exchange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371663"/>
            <a:ext cx="8212835" cy="51507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92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Diffie-</a:t>
            </a:r>
            <a:r>
              <a:rPr sz="4000" dirty="0"/>
              <a:t>Hellman</a:t>
            </a:r>
            <a:r>
              <a:rPr sz="4000" spc="-50" dirty="0"/>
              <a:t> </a:t>
            </a:r>
            <a:r>
              <a:rPr sz="4000" spc="-10" dirty="0"/>
              <a:t>Example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737" y="1438275"/>
            <a:ext cx="7815199" cy="5114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9892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Diffie-</a:t>
            </a:r>
            <a:r>
              <a:rPr sz="4000" dirty="0"/>
              <a:t>Hellman</a:t>
            </a:r>
            <a:r>
              <a:rPr sz="4000" spc="-50" dirty="0"/>
              <a:t> </a:t>
            </a:r>
            <a:r>
              <a:rPr sz="4000" spc="-20" dirty="0"/>
              <a:t>Quiz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10057" y="1509725"/>
            <a:ext cx="6456045" cy="430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Microsoft Sans Serif"/>
                <a:cs typeface="Microsoft Sans Serif"/>
              </a:rPr>
              <a:t>Alice</a:t>
            </a:r>
            <a:r>
              <a:rPr sz="3000" spc="-30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and</a:t>
            </a:r>
            <a:r>
              <a:rPr sz="3000" spc="-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Bob</a:t>
            </a:r>
            <a:r>
              <a:rPr sz="3000" spc="-10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agree</a:t>
            </a:r>
            <a:r>
              <a:rPr sz="3000" spc="-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to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spc="-25" dirty="0">
                <a:latin typeface="Microsoft Sans Serif"/>
                <a:cs typeface="Microsoft Sans Serif"/>
              </a:rPr>
              <a:t>use</a:t>
            </a:r>
            <a:endParaRPr sz="3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Microsoft Sans Serif"/>
                <a:cs typeface="Microsoft Sans Serif"/>
              </a:rPr>
              <a:t>prime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q</a:t>
            </a:r>
            <a:r>
              <a:rPr sz="3000" spc="-10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=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23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and</a:t>
            </a:r>
            <a:r>
              <a:rPr sz="3000" spc="-1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primitive</a:t>
            </a:r>
            <a:r>
              <a:rPr sz="3000" spc="-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root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α</a:t>
            </a:r>
            <a:r>
              <a:rPr sz="3000" spc="10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=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spc="-50" dirty="0">
                <a:latin typeface="Microsoft Sans Serif"/>
                <a:cs typeface="Microsoft Sans Serif"/>
              </a:rPr>
              <a:t>5</a:t>
            </a:r>
            <a:endParaRPr sz="3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3000">
              <a:latin typeface="Microsoft Sans Serif"/>
              <a:cs typeface="Microsoft Sans Serif"/>
            </a:endParaRPr>
          </a:p>
          <a:p>
            <a:pPr marL="469900" marR="1162050">
              <a:lnSpc>
                <a:spcPct val="100000"/>
              </a:lnSpc>
            </a:pP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Alice</a:t>
            </a:r>
            <a:r>
              <a:rPr sz="3000" b="1" spc="-15" dirty="0">
                <a:solidFill>
                  <a:srgbClr val="6699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chooses</a:t>
            </a:r>
            <a:r>
              <a:rPr sz="3000" b="1" spc="-35" dirty="0">
                <a:solidFill>
                  <a:srgbClr val="6699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secret</a:t>
            </a:r>
            <a:r>
              <a:rPr sz="3000" b="1" spc="-35" dirty="0">
                <a:solidFill>
                  <a:srgbClr val="6699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a</a:t>
            </a:r>
            <a:r>
              <a:rPr sz="3000" b="1" spc="-15" dirty="0">
                <a:solidFill>
                  <a:srgbClr val="6699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=</a:t>
            </a:r>
            <a:r>
              <a:rPr sz="3000" b="1" spc="-15" dirty="0">
                <a:solidFill>
                  <a:srgbClr val="6699FF"/>
                </a:solidFill>
                <a:latin typeface="Arial"/>
                <a:cs typeface="Arial"/>
              </a:rPr>
              <a:t> </a:t>
            </a:r>
            <a:r>
              <a:rPr sz="3000" b="1" spc="-50" dirty="0">
                <a:solidFill>
                  <a:srgbClr val="6699FF"/>
                </a:solidFill>
                <a:latin typeface="Arial"/>
                <a:cs typeface="Arial"/>
              </a:rPr>
              <a:t>6 </a:t>
            </a: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Bob</a:t>
            </a:r>
            <a:r>
              <a:rPr sz="3000" b="1" spc="-20" dirty="0">
                <a:solidFill>
                  <a:srgbClr val="6699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chooses</a:t>
            </a:r>
            <a:r>
              <a:rPr sz="3000" b="1" spc="-20" dirty="0">
                <a:solidFill>
                  <a:srgbClr val="6699FF"/>
                </a:solidFill>
                <a:latin typeface="Arial"/>
                <a:cs typeface="Arial"/>
              </a:rPr>
              <a:t>  </a:t>
            </a: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secret</a:t>
            </a:r>
            <a:r>
              <a:rPr sz="3000" b="1" spc="-30" dirty="0">
                <a:solidFill>
                  <a:srgbClr val="6699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6699FF"/>
                </a:solidFill>
                <a:latin typeface="Arial"/>
                <a:cs typeface="Arial"/>
              </a:rPr>
              <a:t>b=</a:t>
            </a:r>
            <a:r>
              <a:rPr sz="3000" b="1" spc="-25" dirty="0">
                <a:solidFill>
                  <a:srgbClr val="6699FF"/>
                </a:solidFill>
                <a:latin typeface="Arial"/>
                <a:cs typeface="Arial"/>
              </a:rPr>
              <a:t> 15</a:t>
            </a:r>
            <a:endParaRPr sz="3000">
              <a:latin typeface="Arial"/>
              <a:cs typeface="Arial"/>
            </a:endParaRPr>
          </a:p>
          <a:p>
            <a:pPr marL="391795" marR="5080">
              <a:lnSpc>
                <a:spcPct val="200100"/>
              </a:lnSpc>
              <a:spcBef>
                <a:spcPts val="1280"/>
              </a:spcBef>
            </a:pPr>
            <a:r>
              <a:rPr sz="3000" dirty="0">
                <a:latin typeface="Microsoft Sans Serif"/>
                <a:cs typeface="Microsoft Sans Serif"/>
              </a:rPr>
              <a:t>What</a:t>
            </a:r>
            <a:r>
              <a:rPr sz="3000" spc="1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number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does</a:t>
            </a:r>
            <a:r>
              <a:rPr sz="3000" spc="-16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Alice send</a:t>
            </a:r>
            <a:r>
              <a:rPr sz="3000" spc="-5" dirty="0">
                <a:latin typeface="Microsoft Sans Serif"/>
                <a:cs typeface="Microsoft Sans Serif"/>
              </a:rPr>
              <a:t> </a:t>
            </a:r>
            <a:r>
              <a:rPr sz="3000" spc="-20" dirty="0">
                <a:latin typeface="Microsoft Sans Serif"/>
                <a:cs typeface="Microsoft Sans Serif"/>
              </a:rPr>
              <a:t>Bob? </a:t>
            </a:r>
            <a:r>
              <a:rPr sz="3000" dirty="0">
                <a:latin typeface="Microsoft Sans Serif"/>
                <a:cs typeface="Microsoft Sans Serif"/>
              </a:rPr>
              <a:t>What</a:t>
            </a:r>
            <a:r>
              <a:rPr sz="3000" spc="1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number</a:t>
            </a:r>
            <a:r>
              <a:rPr sz="3000" spc="20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does</a:t>
            </a:r>
            <a:r>
              <a:rPr sz="3000" spc="10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Bob</a:t>
            </a:r>
            <a:r>
              <a:rPr sz="3000" spc="30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send</a:t>
            </a:r>
            <a:r>
              <a:rPr sz="3000" spc="-155" dirty="0">
                <a:latin typeface="Microsoft Sans Serif"/>
                <a:cs typeface="Microsoft Sans Serif"/>
              </a:rPr>
              <a:t> </a:t>
            </a:r>
            <a:r>
              <a:rPr sz="3000" spc="-10" dirty="0">
                <a:latin typeface="Microsoft Sans Serif"/>
                <a:cs typeface="Microsoft Sans Serif"/>
              </a:rPr>
              <a:t>Alice?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10400" y="4495837"/>
            <a:ext cx="1423670" cy="435609"/>
          </a:xfrm>
          <a:custGeom>
            <a:avLst/>
            <a:gdLst/>
            <a:ahLst/>
            <a:cxnLst/>
            <a:rect l="l" t="t" r="r" b="b"/>
            <a:pathLst>
              <a:path w="1423670" h="435610">
                <a:moveTo>
                  <a:pt x="0" y="435444"/>
                </a:moveTo>
                <a:lnTo>
                  <a:pt x="1423288" y="435444"/>
                </a:lnTo>
                <a:lnTo>
                  <a:pt x="1423288" y="0"/>
                </a:lnTo>
                <a:lnTo>
                  <a:pt x="0" y="0"/>
                </a:lnTo>
                <a:lnTo>
                  <a:pt x="0" y="4354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10400" y="5334000"/>
            <a:ext cx="1447800" cy="457200"/>
          </a:xfrm>
          <a:custGeom>
            <a:avLst/>
            <a:gdLst/>
            <a:ahLst/>
            <a:cxnLst/>
            <a:rect l="l" t="t" r="r" b="b"/>
            <a:pathLst>
              <a:path w="1447800" h="457200">
                <a:moveTo>
                  <a:pt x="0" y="457200"/>
                </a:moveTo>
                <a:lnTo>
                  <a:pt x="1447800" y="457200"/>
                </a:lnTo>
                <a:lnTo>
                  <a:pt x="14478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92" rIns="0" bIns="0" rtlCol="0">
            <a:spAutoFit/>
          </a:bodyPr>
          <a:lstStyle/>
          <a:p>
            <a:pPr marL="495934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Diffie-</a:t>
            </a:r>
            <a:r>
              <a:rPr sz="4000" dirty="0"/>
              <a:t>Hellman</a:t>
            </a:r>
            <a:r>
              <a:rPr sz="4000" spc="-50" dirty="0"/>
              <a:t> </a:t>
            </a:r>
            <a:r>
              <a:rPr sz="4000" spc="-10" dirty="0"/>
              <a:t>Security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69569" y="1467992"/>
            <a:ext cx="7717790" cy="4247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26695">
              <a:lnSpc>
                <a:spcPct val="100000"/>
              </a:lnSpc>
              <a:spcBef>
                <a:spcPts val="95"/>
              </a:spcBef>
              <a:buClr>
                <a:srgbClr val="6699FF"/>
              </a:buClr>
              <a:buSzPct val="96428"/>
              <a:buChar char="●"/>
              <a:tabLst>
                <a:tab pos="295275" algn="l"/>
              </a:tabLst>
            </a:pPr>
            <a:r>
              <a:rPr sz="2800" dirty="0">
                <a:latin typeface="Microsoft Sans Serif"/>
                <a:cs typeface="Microsoft Sans Serif"/>
              </a:rPr>
              <a:t>Shared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key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(the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secret)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itself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never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transmitted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Font typeface="Microsoft Sans Serif"/>
              <a:buChar char="●"/>
            </a:pPr>
            <a:endParaRPr sz="2800">
              <a:latin typeface="Microsoft Sans Serif"/>
              <a:cs typeface="Microsoft Sans Serif"/>
            </a:endParaRPr>
          </a:p>
          <a:p>
            <a:pPr marL="295275" indent="-226695">
              <a:lnSpc>
                <a:spcPct val="100000"/>
              </a:lnSpc>
              <a:buSzPct val="96428"/>
              <a:buChar char="●"/>
              <a:tabLst>
                <a:tab pos="295275" algn="l"/>
              </a:tabLst>
            </a:pPr>
            <a:r>
              <a:rPr sz="2800" dirty="0">
                <a:latin typeface="Microsoft Sans Serif"/>
                <a:cs typeface="Microsoft Sans Serif"/>
              </a:rPr>
              <a:t>Discrete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logarithm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very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hard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95"/>
              </a:spcBef>
              <a:buFont typeface="Microsoft Sans Serif"/>
              <a:buChar char="●"/>
            </a:pPr>
            <a:endParaRPr sz="2800">
              <a:latin typeface="Microsoft Sans Serif"/>
              <a:cs typeface="Microsoft Sans Serif"/>
            </a:endParaRPr>
          </a:p>
          <a:p>
            <a:pPr marL="277495" indent="-226695">
              <a:lnSpc>
                <a:spcPct val="100000"/>
              </a:lnSpc>
              <a:buSzPct val="96428"/>
              <a:buChar char="●"/>
              <a:tabLst>
                <a:tab pos="277495" algn="l"/>
              </a:tabLst>
            </a:pPr>
            <a:r>
              <a:rPr sz="2800" dirty="0">
                <a:latin typeface="Microsoft Sans Serif"/>
                <a:cs typeface="Microsoft Sans Serif"/>
              </a:rPr>
              <a:t>Y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α</a:t>
            </a:r>
            <a:r>
              <a:rPr sz="2775" baseline="25525" dirty="0">
                <a:latin typeface="Microsoft Sans Serif"/>
                <a:cs typeface="Microsoft Sans Serif"/>
              </a:rPr>
              <a:t>X</a:t>
            </a:r>
            <a:r>
              <a:rPr sz="2775" spc="390" baseline="255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mod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q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90"/>
              </a:spcBef>
              <a:buFont typeface="Microsoft Sans Serif"/>
              <a:buChar char="●"/>
            </a:pPr>
            <a:endParaRPr sz="2800">
              <a:latin typeface="Microsoft Sans Serif"/>
              <a:cs typeface="Microsoft Sans Serif"/>
            </a:endParaRPr>
          </a:p>
          <a:p>
            <a:pPr marL="271780" marR="198755" indent="-221615">
              <a:lnSpc>
                <a:spcPct val="100000"/>
              </a:lnSpc>
              <a:buSzPct val="96428"/>
              <a:buChar char="●"/>
              <a:tabLst>
                <a:tab pos="271780" algn="l"/>
                <a:tab pos="277495" algn="l"/>
              </a:tabLst>
            </a:pPr>
            <a:r>
              <a:rPr sz="2800" dirty="0">
                <a:latin typeface="Microsoft Sans Serif"/>
                <a:cs typeface="Microsoft Sans Serif"/>
              </a:rPr>
              <a:t>	Conjecture: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given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Y,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α,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q,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it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10" dirty="0">
                <a:latin typeface="Microsoft Sans Serif"/>
                <a:cs typeface="Microsoft Sans Serif"/>
              </a:rPr>
              <a:t> extremely </a:t>
            </a:r>
            <a:r>
              <a:rPr sz="2800" dirty="0">
                <a:latin typeface="Microsoft Sans Serif"/>
                <a:cs typeface="Microsoft Sans Serif"/>
              </a:rPr>
              <a:t>hard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to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compute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the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value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of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X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because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q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a </a:t>
            </a:r>
            <a:r>
              <a:rPr sz="2800" dirty="0">
                <a:latin typeface="Microsoft Sans Serif"/>
                <a:cs typeface="Microsoft Sans Serif"/>
              </a:rPr>
              <a:t>very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large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prime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(discrete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logarithm)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92" rIns="0" bIns="0" rtlCol="0">
            <a:spAutoFit/>
          </a:bodyPr>
          <a:lstStyle/>
          <a:p>
            <a:pPr marL="343535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Diffie-</a:t>
            </a:r>
            <a:r>
              <a:rPr sz="4000" dirty="0"/>
              <a:t>Hellman</a:t>
            </a:r>
            <a:r>
              <a:rPr sz="4000" spc="-50" dirty="0"/>
              <a:t> </a:t>
            </a:r>
            <a:r>
              <a:rPr sz="4000" spc="-10" dirty="0"/>
              <a:t>Limitations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26695" indent="-219075">
              <a:lnSpc>
                <a:spcPct val="100000"/>
              </a:lnSpc>
              <a:spcBef>
                <a:spcPts val="365"/>
              </a:spcBef>
              <a:buSzPct val="96428"/>
              <a:buChar char="●"/>
              <a:tabLst>
                <a:tab pos="226695" algn="l"/>
              </a:tabLst>
            </a:pPr>
            <a:r>
              <a:rPr dirty="0"/>
              <a:t>Expensive</a:t>
            </a:r>
            <a:r>
              <a:rPr spc="-114" dirty="0"/>
              <a:t> </a:t>
            </a:r>
            <a:r>
              <a:rPr dirty="0"/>
              <a:t>exponential</a:t>
            </a:r>
            <a:r>
              <a:rPr spc="-110" dirty="0"/>
              <a:t> </a:t>
            </a:r>
            <a:r>
              <a:rPr spc="-10" dirty="0"/>
              <a:t>operation</a:t>
            </a:r>
          </a:p>
          <a:p>
            <a:pPr marL="1087755" lvl="1" indent="-219075">
              <a:lnSpc>
                <a:spcPct val="100000"/>
              </a:lnSpc>
              <a:spcBef>
                <a:spcPts val="260"/>
              </a:spcBef>
              <a:buSzPct val="96428"/>
              <a:buChar char="●"/>
              <a:tabLst>
                <a:tab pos="1087755" algn="l"/>
              </a:tabLst>
            </a:pPr>
            <a:r>
              <a:rPr sz="2800" dirty="0">
                <a:latin typeface="Microsoft Sans Serif"/>
                <a:cs typeface="Microsoft Sans Serif"/>
              </a:rPr>
              <a:t>DoS</a:t>
            </a:r>
            <a:r>
              <a:rPr sz="2800" spc="-10" dirty="0">
                <a:latin typeface="Microsoft Sans Serif"/>
                <a:cs typeface="Microsoft Sans Serif"/>
              </a:rPr>
              <a:t> possible</a:t>
            </a:r>
            <a:endParaRPr sz="2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105"/>
              </a:spcBef>
              <a:buFont typeface="Microsoft Sans Serif"/>
              <a:buChar char="●"/>
            </a:pPr>
            <a:endParaRPr sz="2800">
              <a:latin typeface="Microsoft Sans Serif"/>
              <a:cs typeface="Microsoft Sans Serif"/>
            </a:endParaRPr>
          </a:p>
          <a:p>
            <a:pPr marL="203200" marR="400685" indent="-194945">
              <a:lnSpc>
                <a:spcPts val="3020"/>
              </a:lnSpc>
              <a:spcBef>
                <a:spcPts val="5"/>
              </a:spcBef>
              <a:buSzPct val="96428"/>
              <a:buChar char="●"/>
              <a:tabLst>
                <a:tab pos="203200" algn="l"/>
                <a:tab pos="227329" algn="l"/>
              </a:tabLst>
            </a:pPr>
            <a:r>
              <a:rPr dirty="0"/>
              <a:t>	The</a:t>
            </a:r>
            <a:r>
              <a:rPr spc="-20" dirty="0"/>
              <a:t> </a:t>
            </a:r>
            <a:r>
              <a:rPr dirty="0"/>
              <a:t>scheme</a:t>
            </a:r>
            <a:r>
              <a:rPr spc="-25" dirty="0"/>
              <a:t> </a:t>
            </a:r>
            <a:r>
              <a:rPr dirty="0"/>
              <a:t>itself</a:t>
            </a:r>
            <a:r>
              <a:rPr spc="-35" dirty="0"/>
              <a:t> </a:t>
            </a:r>
            <a:r>
              <a:rPr dirty="0"/>
              <a:t>cannot</a:t>
            </a:r>
            <a:r>
              <a:rPr spc="-30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dirty="0"/>
              <a:t>used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encrypt </a:t>
            </a:r>
            <a:r>
              <a:rPr dirty="0"/>
              <a:t>anything</a:t>
            </a:r>
            <a:r>
              <a:rPr spc="5" dirty="0"/>
              <a:t> </a:t>
            </a:r>
            <a:r>
              <a:rPr spc="725" dirty="0"/>
              <a:t>–</a:t>
            </a:r>
            <a:r>
              <a:rPr dirty="0"/>
              <a:t> it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secret</a:t>
            </a:r>
            <a:r>
              <a:rPr spc="-15" dirty="0"/>
              <a:t> </a:t>
            </a:r>
            <a:r>
              <a:rPr dirty="0"/>
              <a:t>key </a:t>
            </a:r>
            <a:r>
              <a:rPr spc="-10" dirty="0"/>
              <a:t>establishment</a:t>
            </a:r>
          </a:p>
          <a:p>
            <a:pPr>
              <a:lnSpc>
                <a:spcPct val="100000"/>
              </a:lnSpc>
              <a:spcBef>
                <a:spcPts val="675"/>
              </a:spcBef>
              <a:buFont typeface="Microsoft Sans Serif"/>
              <a:buChar char="●"/>
            </a:pPr>
            <a:endParaRPr spc="-10" dirty="0"/>
          </a:p>
          <a:p>
            <a:pPr marL="226695" indent="-219075">
              <a:lnSpc>
                <a:spcPct val="100000"/>
              </a:lnSpc>
              <a:buSzPct val="96428"/>
              <a:buChar char="●"/>
              <a:tabLst>
                <a:tab pos="226695" algn="l"/>
              </a:tabLst>
            </a:pPr>
            <a:r>
              <a:rPr dirty="0"/>
              <a:t>No</a:t>
            </a:r>
            <a:r>
              <a:rPr spc="-35" dirty="0"/>
              <a:t> </a:t>
            </a:r>
            <a:r>
              <a:rPr dirty="0"/>
              <a:t>authentication,</a:t>
            </a:r>
            <a:r>
              <a:rPr spc="-45" dirty="0"/>
              <a:t> </a:t>
            </a:r>
            <a:r>
              <a:rPr dirty="0"/>
              <a:t>so</a:t>
            </a:r>
            <a:r>
              <a:rPr spc="-40" dirty="0"/>
              <a:t>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cannot</a:t>
            </a:r>
            <a:r>
              <a:rPr spc="-45" dirty="0"/>
              <a:t> </a:t>
            </a:r>
            <a:r>
              <a:rPr dirty="0"/>
              <a:t>sign</a:t>
            </a:r>
            <a:r>
              <a:rPr spc="-45" dirty="0"/>
              <a:t> </a:t>
            </a:r>
            <a:r>
              <a:rPr spc="-10" dirty="0"/>
              <a:t>anything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78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95"/>
              </a:spcBef>
            </a:pPr>
            <a:r>
              <a:rPr dirty="0"/>
              <a:t>Bucket</a:t>
            </a:r>
            <a:r>
              <a:rPr spc="-25" dirty="0"/>
              <a:t> </a:t>
            </a:r>
            <a:r>
              <a:rPr dirty="0"/>
              <a:t>Brigade</a:t>
            </a:r>
            <a:r>
              <a:rPr spc="-5" dirty="0"/>
              <a:t> </a:t>
            </a:r>
            <a:r>
              <a:rPr dirty="0"/>
              <a:t>Attack,</a:t>
            </a:r>
            <a:r>
              <a:rPr spc="-35" dirty="0"/>
              <a:t> </a:t>
            </a:r>
            <a:r>
              <a:rPr spc="-20" dirty="0"/>
              <a:t>Man-</a:t>
            </a:r>
            <a:r>
              <a:rPr spc="-25" dirty="0"/>
              <a:t>in-</a:t>
            </a:r>
            <a:r>
              <a:rPr spc="-20" dirty="0"/>
              <a:t>the-</a:t>
            </a:r>
            <a:r>
              <a:rPr spc="-10" dirty="0"/>
              <a:t>Middle(MIM)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955" y="1600225"/>
            <a:ext cx="8330057" cy="445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48229" y="2619883"/>
            <a:ext cx="4445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/>
              <a:t>Thank</a:t>
            </a:r>
            <a:r>
              <a:rPr sz="7200" spc="45" dirty="0"/>
              <a:t> </a:t>
            </a:r>
            <a:r>
              <a:rPr sz="7200" spc="-25" dirty="0"/>
              <a:t>You</a:t>
            </a:r>
            <a:endParaRPr sz="7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5" name="object 5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2140" y="6278067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17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577</Words>
  <Application>Microsoft Office PowerPoint</Application>
  <PresentationFormat>On-screen Show (4:3)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Microsoft Sans Serif</vt:lpstr>
      <vt:lpstr>Verdana</vt:lpstr>
      <vt:lpstr>Office Theme</vt:lpstr>
      <vt:lpstr>Cyber Security &amp; Digital Forensics CSE - 4207</vt:lpstr>
      <vt:lpstr>Outline</vt:lpstr>
      <vt:lpstr>Introduction to Communication Security</vt:lpstr>
      <vt:lpstr>RSA</vt:lpstr>
      <vt:lpstr>RSA – Generation of Public &amp; Private Keyes</vt:lpstr>
      <vt:lpstr>RSA – Generation of Public &amp; Private Keyes</vt:lpstr>
      <vt:lpstr>RSA- Encryption</vt:lpstr>
      <vt:lpstr>RSA- Decryption</vt:lpstr>
      <vt:lpstr>Why RSA is Secure?</vt:lpstr>
      <vt:lpstr>Diffie and Hellman Key Exchange</vt:lpstr>
      <vt:lpstr>Diffie and Hellman Key Exchange</vt:lpstr>
      <vt:lpstr>Diffie-Hellman Example</vt:lpstr>
      <vt:lpstr>Diffie-Hellman Quiz</vt:lpstr>
      <vt:lpstr>Diffie-Hellman Security</vt:lpstr>
      <vt:lpstr>Diffie-Hellman Limitations</vt:lpstr>
      <vt:lpstr>Bucket Brigade Attack, Man-in-the-Middle(MIM)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ADNAN ZAMAN NILOY</cp:lastModifiedBy>
  <cp:revision>1</cp:revision>
  <dcterms:created xsi:type="dcterms:W3CDTF">2026-03-02T17:14:11Z</dcterms:created>
  <dcterms:modified xsi:type="dcterms:W3CDTF">2026-07-22T14:52:33Z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