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CEEED5-456E-483D-8753-1D91DC59BD40}" type="doc">
      <dgm:prSet loTypeId="urn:microsoft.com/office/officeart/2008/layout/RadialCluster" loCatId="cycle" qsTypeId="urn:microsoft.com/office/officeart/2005/8/quickstyle/simple1" qsCatId="simple" csTypeId="urn:microsoft.com/office/officeart/2005/8/colors/accent1_2" csCatId="accent1" phldr="1"/>
      <dgm:spPr/>
      <dgm:t>
        <a:bodyPr/>
        <a:lstStyle/>
        <a:p>
          <a:endParaRPr lang="en-US"/>
        </a:p>
      </dgm:t>
    </dgm:pt>
    <dgm:pt modelId="{6452E7E9-DBF9-4F01-8940-82CCE2061476}">
      <dgm:prSet phldrT="[Text]"/>
      <dgm:spPr/>
      <dgm:t>
        <a:bodyPr/>
        <a:lstStyle/>
        <a:p>
          <a:r>
            <a:rPr lang="en-US" dirty="0" smtClean="0"/>
            <a:t>AIS</a:t>
          </a:r>
          <a:endParaRPr lang="en-US" dirty="0"/>
        </a:p>
      </dgm:t>
    </dgm:pt>
    <dgm:pt modelId="{E35B4A44-B0CC-42A2-9BEE-350D12D72B4F}" type="parTrans" cxnId="{96788AF5-4659-44A7-85B6-B90ECF0D9225}">
      <dgm:prSet/>
      <dgm:spPr/>
      <dgm:t>
        <a:bodyPr/>
        <a:lstStyle/>
        <a:p>
          <a:endParaRPr lang="en-US"/>
        </a:p>
      </dgm:t>
    </dgm:pt>
    <dgm:pt modelId="{45EFD083-802A-4E20-95E1-0CC88052F6CC}" type="sibTrans" cxnId="{96788AF5-4659-44A7-85B6-B90ECF0D9225}">
      <dgm:prSet/>
      <dgm:spPr/>
      <dgm:t>
        <a:bodyPr/>
        <a:lstStyle/>
        <a:p>
          <a:endParaRPr lang="en-US"/>
        </a:p>
      </dgm:t>
    </dgm:pt>
    <dgm:pt modelId="{B581B409-1DAF-40CF-BF85-41C73874B83B}">
      <dgm:prSet phldrT="[Text]"/>
      <dgm:spPr/>
      <dgm:t>
        <a:bodyPr/>
        <a:lstStyle/>
        <a:p>
          <a:r>
            <a:rPr lang="en-US" dirty="0" smtClean="0"/>
            <a:t>Accounting</a:t>
          </a:r>
          <a:endParaRPr lang="en-US" dirty="0"/>
        </a:p>
      </dgm:t>
    </dgm:pt>
    <dgm:pt modelId="{EFC530FF-B353-4114-A0F7-EAE0B09E1FB9}" type="parTrans" cxnId="{224808E8-8F13-456D-86E1-53BAAF948D3D}">
      <dgm:prSet/>
      <dgm:spPr/>
      <dgm:t>
        <a:bodyPr/>
        <a:lstStyle/>
        <a:p>
          <a:endParaRPr lang="en-US"/>
        </a:p>
      </dgm:t>
    </dgm:pt>
    <dgm:pt modelId="{608B8007-5DF0-4F35-8D49-F698253F69C2}" type="sibTrans" cxnId="{224808E8-8F13-456D-86E1-53BAAF948D3D}">
      <dgm:prSet/>
      <dgm:spPr/>
      <dgm:t>
        <a:bodyPr/>
        <a:lstStyle/>
        <a:p>
          <a:endParaRPr lang="en-US"/>
        </a:p>
      </dgm:t>
    </dgm:pt>
    <dgm:pt modelId="{4AABB86B-805B-4AC0-9434-133FDEDBC79E}">
      <dgm:prSet phldrT="[Text]"/>
      <dgm:spPr/>
      <dgm:t>
        <a:bodyPr/>
        <a:lstStyle/>
        <a:p>
          <a:r>
            <a:rPr lang="en-US" dirty="0" smtClean="0"/>
            <a:t>Information</a:t>
          </a:r>
          <a:endParaRPr lang="en-US" dirty="0"/>
        </a:p>
      </dgm:t>
    </dgm:pt>
    <dgm:pt modelId="{3BCC35F0-D406-49EB-89D2-566566F162AA}" type="parTrans" cxnId="{37223BD9-97A3-48E4-B8AA-C0F873462A5E}">
      <dgm:prSet/>
      <dgm:spPr/>
      <dgm:t>
        <a:bodyPr/>
        <a:lstStyle/>
        <a:p>
          <a:endParaRPr lang="en-US"/>
        </a:p>
      </dgm:t>
    </dgm:pt>
    <dgm:pt modelId="{6F192838-B92F-4654-B8F0-8FE9B76D2C37}" type="sibTrans" cxnId="{37223BD9-97A3-48E4-B8AA-C0F873462A5E}">
      <dgm:prSet/>
      <dgm:spPr/>
      <dgm:t>
        <a:bodyPr/>
        <a:lstStyle/>
        <a:p>
          <a:endParaRPr lang="en-US"/>
        </a:p>
      </dgm:t>
    </dgm:pt>
    <dgm:pt modelId="{C5F70683-1509-495B-9805-54302B43A775}">
      <dgm:prSet phldrT="[Text]"/>
      <dgm:spPr/>
      <dgm:t>
        <a:bodyPr/>
        <a:lstStyle/>
        <a:p>
          <a:r>
            <a:rPr lang="en-US" dirty="0" smtClean="0"/>
            <a:t>Systems</a:t>
          </a:r>
          <a:endParaRPr lang="en-US" dirty="0"/>
        </a:p>
      </dgm:t>
    </dgm:pt>
    <dgm:pt modelId="{7AF5D0E9-FD48-4DD3-A5A6-46F713AE4694}" type="parTrans" cxnId="{9F234AD1-C5C3-4311-B80B-E2C1637E9BD2}">
      <dgm:prSet/>
      <dgm:spPr/>
      <dgm:t>
        <a:bodyPr/>
        <a:lstStyle/>
        <a:p>
          <a:endParaRPr lang="en-US"/>
        </a:p>
      </dgm:t>
    </dgm:pt>
    <dgm:pt modelId="{AEA0748F-D76C-4924-B373-B19CEB0E85F8}" type="sibTrans" cxnId="{9F234AD1-C5C3-4311-B80B-E2C1637E9BD2}">
      <dgm:prSet/>
      <dgm:spPr/>
      <dgm:t>
        <a:bodyPr/>
        <a:lstStyle/>
        <a:p>
          <a:endParaRPr lang="en-US"/>
        </a:p>
      </dgm:t>
    </dgm:pt>
    <dgm:pt modelId="{7D9F0371-9754-4F27-AFB9-C35F1982513E}" type="pres">
      <dgm:prSet presAssocID="{E1CEEED5-456E-483D-8753-1D91DC59BD40}" presName="Name0" presStyleCnt="0">
        <dgm:presLayoutVars>
          <dgm:chMax val="1"/>
          <dgm:chPref val="1"/>
          <dgm:dir/>
          <dgm:animOne val="branch"/>
          <dgm:animLvl val="lvl"/>
        </dgm:presLayoutVars>
      </dgm:prSet>
      <dgm:spPr/>
    </dgm:pt>
    <dgm:pt modelId="{66969D36-445F-4EC5-B7DC-2984AF333674}" type="pres">
      <dgm:prSet presAssocID="{6452E7E9-DBF9-4F01-8940-82CCE2061476}" presName="singleCycle" presStyleCnt="0"/>
      <dgm:spPr/>
    </dgm:pt>
    <dgm:pt modelId="{2482E4DB-866E-41EF-B43B-64ACB20B0C61}" type="pres">
      <dgm:prSet presAssocID="{6452E7E9-DBF9-4F01-8940-82CCE2061476}" presName="singleCenter" presStyleLbl="node1" presStyleIdx="0" presStyleCnt="4" custScaleY="64844" custLinFactNeighborX="-178" custLinFactNeighborY="-7373">
        <dgm:presLayoutVars>
          <dgm:chMax val="7"/>
          <dgm:chPref val="7"/>
        </dgm:presLayoutVars>
      </dgm:prSet>
      <dgm:spPr/>
    </dgm:pt>
    <dgm:pt modelId="{642AD622-DCF0-4BE9-85EA-68956A0A0351}" type="pres">
      <dgm:prSet presAssocID="{EFC530FF-B353-4114-A0F7-EAE0B09E1FB9}" presName="Name56" presStyleLbl="parChTrans1D2" presStyleIdx="0" presStyleCnt="3"/>
      <dgm:spPr/>
    </dgm:pt>
    <dgm:pt modelId="{4223B785-60D0-4674-A8A0-6539E769C75D}" type="pres">
      <dgm:prSet presAssocID="{B581B409-1DAF-40CF-BF85-41C73874B83B}" presName="text0" presStyleLbl="node1" presStyleIdx="1" presStyleCnt="4" custScaleX="391791">
        <dgm:presLayoutVars>
          <dgm:bulletEnabled val="1"/>
        </dgm:presLayoutVars>
      </dgm:prSet>
      <dgm:spPr/>
    </dgm:pt>
    <dgm:pt modelId="{C1106C8B-7CCF-4EF9-9BAE-1ED701942C78}" type="pres">
      <dgm:prSet presAssocID="{3BCC35F0-D406-49EB-89D2-566566F162AA}" presName="Name56" presStyleLbl="parChTrans1D2" presStyleIdx="1" presStyleCnt="3"/>
      <dgm:spPr/>
    </dgm:pt>
    <dgm:pt modelId="{6644EF68-739B-4A4D-A6BF-A7C042F68474}" type="pres">
      <dgm:prSet presAssocID="{4AABB86B-805B-4AC0-9434-133FDEDBC79E}" presName="text0" presStyleLbl="node1" presStyleIdx="2" presStyleCnt="4" custScaleX="315046">
        <dgm:presLayoutVars>
          <dgm:bulletEnabled val="1"/>
        </dgm:presLayoutVars>
      </dgm:prSet>
      <dgm:spPr/>
    </dgm:pt>
    <dgm:pt modelId="{D631062A-4933-4826-8FEF-8F5F35C47CC1}" type="pres">
      <dgm:prSet presAssocID="{7AF5D0E9-FD48-4DD3-A5A6-46F713AE4694}" presName="Name56" presStyleLbl="parChTrans1D2" presStyleIdx="2" presStyleCnt="3"/>
      <dgm:spPr/>
    </dgm:pt>
    <dgm:pt modelId="{F4802144-672F-48C0-AE8C-4CCA2448667D}" type="pres">
      <dgm:prSet presAssocID="{C5F70683-1509-495B-9805-54302B43A775}" presName="text0" presStyleLbl="node1" presStyleIdx="3" presStyleCnt="4" custScaleX="324363">
        <dgm:presLayoutVars>
          <dgm:bulletEnabled val="1"/>
        </dgm:presLayoutVars>
      </dgm:prSet>
      <dgm:spPr/>
    </dgm:pt>
  </dgm:ptLst>
  <dgm:cxnLst>
    <dgm:cxn modelId="{60890CFE-BFA1-4D57-A463-EFD5208C5F0B}" type="presOf" srcId="{EFC530FF-B353-4114-A0F7-EAE0B09E1FB9}" destId="{642AD622-DCF0-4BE9-85EA-68956A0A0351}" srcOrd="0" destOrd="0" presId="urn:microsoft.com/office/officeart/2008/layout/RadialCluster"/>
    <dgm:cxn modelId="{ACF1B5C9-61F1-4665-8DC8-9F9A0FD0049B}" type="presOf" srcId="{4AABB86B-805B-4AC0-9434-133FDEDBC79E}" destId="{6644EF68-739B-4A4D-A6BF-A7C042F68474}" srcOrd="0" destOrd="0" presId="urn:microsoft.com/office/officeart/2008/layout/RadialCluster"/>
    <dgm:cxn modelId="{224808E8-8F13-456D-86E1-53BAAF948D3D}" srcId="{6452E7E9-DBF9-4F01-8940-82CCE2061476}" destId="{B581B409-1DAF-40CF-BF85-41C73874B83B}" srcOrd="0" destOrd="0" parTransId="{EFC530FF-B353-4114-A0F7-EAE0B09E1FB9}" sibTransId="{608B8007-5DF0-4F35-8D49-F698253F69C2}"/>
    <dgm:cxn modelId="{6FB25C1D-39ED-474E-9B1A-7FE060E6C136}" type="presOf" srcId="{E1CEEED5-456E-483D-8753-1D91DC59BD40}" destId="{7D9F0371-9754-4F27-AFB9-C35F1982513E}" srcOrd="0" destOrd="0" presId="urn:microsoft.com/office/officeart/2008/layout/RadialCluster"/>
    <dgm:cxn modelId="{9F234AD1-C5C3-4311-B80B-E2C1637E9BD2}" srcId="{6452E7E9-DBF9-4F01-8940-82CCE2061476}" destId="{C5F70683-1509-495B-9805-54302B43A775}" srcOrd="2" destOrd="0" parTransId="{7AF5D0E9-FD48-4DD3-A5A6-46F713AE4694}" sibTransId="{AEA0748F-D76C-4924-B373-B19CEB0E85F8}"/>
    <dgm:cxn modelId="{7D71CEB6-6C24-4F42-BC15-46CA2148EA0D}" type="presOf" srcId="{6452E7E9-DBF9-4F01-8940-82CCE2061476}" destId="{2482E4DB-866E-41EF-B43B-64ACB20B0C61}" srcOrd="0" destOrd="0" presId="urn:microsoft.com/office/officeart/2008/layout/RadialCluster"/>
    <dgm:cxn modelId="{33C51A8E-4802-4738-BA8E-FA9C99C732B8}" type="presOf" srcId="{C5F70683-1509-495B-9805-54302B43A775}" destId="{F4802144-672F-48C0-AE8C-4CCA2448667D}" srcOrd="0" destOrd="0" presId="urn:microsoft.com/office/officeart/2008/layout/RadialCluster"/>
    <dgm:cxn modelId="{01FBF138-E0F6-430C-8FC1-08A8BFCF9F9A}" type="presOf" srcId="{3BCC35F0-D406-49EB-89D2-566566F162AA}" destId="{C1106C8B-7CCF-4EF9-9BAE-1ED701942C78}" srcOrd="0" destOrd="0" presId="urn:microsoft.com/office/officeart/2008/layout/RadialCluster"/>
    <dgm:cxn modelId="{9FB17D17-BA8E-46E6-92FC-C990D0B62908}" type="presOf" srcId="{B581B409-1DAF-40CF-BF85-41C73874B83B}" destId="{4223B785-60D0-4674-A8A0-6539E769C75D}" srcOrd="0" destOrd="0" presId="urn:microsoft.com/office/officeart/2008/layout/RadialCluster"/>
    <dgm:cxn modelId="{37223BD9-97A3-48E4-B8AA-C0F873462A5E}" srcId="{6452E7E9-DBF9-4F01-8940-82CCE2061476}" destId="{4AABB86B-805B-4AC0-9434-133FDEDBC79E}" srcOrd="1" destOrd="0" parTransId="{3BCC35F0-D406-49EB-89D2-566566F162AA}" sibTransId="{6F192838-B92F-4654-B8F0-8FE9B76D2C37}"/>
    <dgm:cxn modelId="{E099DB72-B5D5-4D2B-A339-04111A13AEBC}" type="presOf" srcId="{7AF5D0E9-FD48-4DD3-A5A6-46F713AE4694}" destId="{D631062A-4933-4826-8FEF-8F5F35C47CC1}" srcOrd="0" destOrd="0" presId="urn:microsoft.com/office/officeart/2008/layout/RadialCluster"/>
    <dgm:cxn modelId="{96788AF5-4659-44A7-85B6-B90ECF0D9225}" srcId="{E1CEEED5-456E-483D-8753-1D91DC59BD40}" destId="{6452E7E9-DBF9-4F01-8940-82CCE2061476}" srcOrd="0" destOrd="0" parTransId="{E35B4A44-B0CC-42A2-9BEE-350D12D72B4F}" sibTransId="{45EFD083-802A-4E20-95E1-0CC88052F6CC}"/>
    <dgm:cxn modelId="{8417FEB2-B44F-44D7-87A2-DCE3419986B9}" type="presParOf" srcId="{7D9F0371-9754-4F27-AFB9-C35F1982513E}" destId="{66969D36-445F-4EC5-B7DC-2984AF333674}" srcOrd="0" destOrd="0" presId="urn:microsoft.com/office/officeart/2008/layout/RadialCluster"/>
    <dgm:cxn modelId="{D1D788D0-9E4E-4038-AAD8-7B9F0D5A8B2F}" type="presParOf" srcId="{66969D36-445F-4EC5-B7DC-2984AF333674}" destId="{2482E4DB-866E-41EF-B43B-64ACB20B0C61}" srcOrd="0" destOrd="0" presId="urn:microsoft.com/office/officeart/2008/layout/RadialCluster"/>
    <dgm:cxn modelId="{8B5B03DB-51B5-4E9E-97A0-7236D9F6CF27}" type="presParOf" srcId="{66969D36-445F-4EC5-B7DC-2984AF333674}" destId="{642AD622-DCF0-4BE9-85EA-68956A0A0351}" srcOrd="1" destOrd="0" presId="urn:microsoft.com/office/officeart/2008/layout/RadialCluster"/>
    <dgm:cxn modelId="{32DB1715-5751-4183-AFA5-267C5936FD40}" type="presParOf" srcId="{66969D36-445F-4EC5-B7DC-2984AF333674}" destId="{4223B785-60D0-4674-A8A0-6539E769C75D}" srcOrd="2" destOrd="0" presId="urn:microsoft.com/office/officeart/2008/layout/RadialCluster"/>
    <dgm:cxn modelId="{D004B015-2974-4ED9-A5B6-631B3E0B3EEF}" type="presParOf" srcId="{66969D36-445F-4EC5-B7DC-2984AF333674}" destId="{C1106C8B-7CCF-4EF9-9BAE-1ED701942C78}" srcOrd="3" destOrd="0" presId="urn:microsoft.com/office/officeart/2008/layout/RadialCluster"/>
    <dgm:cxn modelId="{925C406F-3D92-4C68-9EB6-609C3A9281A1}" type="presParOf" srcId="{66969D36-445F-4EC5-B7DC-2984AF333674}" destId="{6644EF68-739B-4A4D-A6BF-A7C042F68474}" srcOrd="4" destOrd="0" presId="urn:microsoft.com/office/officeart/2008/layout/RadialCluster"/>
    <dgm:cxn modelId="{8875A93F-9908-47B4-8A9C-3C47B6EB58D0}" type="presParOf" srcId="{66969D36-445F-4EC5-B7DC-2984AF333674}" destId="{D631062A-4933-4826-8FEF-8F5F35C47CC1}" srcOrd="5" destOrd="0" presId="urn:microsoft.com/office/officeart/2008/layout/RadialCluster"/>
    <dgm:cxn modelId="{2BD40732-40B9-46A9-B10C-E681FA76D205}" type="presParOf" srcId="{66969D36-445F-4EC5-B7DC-2984AF333674}" destId="{F4802144-672F-48C0-AE8C-4CCA2448667D}" srcOrd="6" destOrd="0" presId="urn:microsoft.com/office/officeart/2008/layout/Radial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82E4DB-866E-41EF-B43B-64ACB20B0C61}">
      <dsp:nvSpPr>
        <dsp:cNvPr id="0" name=""/>
        <dsp:cNvSpPr/>
      </dsp:nvSpPr>
      <dsp:spPr>
        <a:xfrm>
          <a:off x="3049159" y="1863083"/>
          <a:ext cx="1242060" cy="80540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600200">
            <a:lnSpc>
              <a:spcPct val="90000"/>
            </a:lnSpc>
            <a:spcBef>
              <a:spcPct val="0"/>
            </a:spcBef>
            <a:spcAft>
              <a:spcPct val="35000"/>
            </a:spcAft>
          </a:pPr>
          <a:r>
            <a:rPr lang="en-US" sz="3600" kern="1200" dirty="0" smtClean="0"/>
            <a:t>AIS</a:t>
          </a:r>
          <a:endParaRPr lang="en-US" sz="3600" kern="1200" dirty="0"/>
        </a:p>
      </dsp:txBody>
      <dsp:txXfrm>
        <a:off x="3088475" y="1902399"/>
        <a:ext cx="1163428" cy="726769"/>
      </dsp:txXfrm>
    </dsp:sp>
    <dsp:sp modelId="{642AD622-DCF0-4BE9-85EA-68956A0A0351}">
      <dsp:nvSpPr>
        <dsp:cNvPr id="0" name=""/>
        <dsp:cNvSpPr/>
      </dsp:nvSpPr>
      <dsp:spPr>
        <a:xfrm rot="16214355">
          <a:off x="3269468" y="1458996"/>
          <a:ext cx="808180" cy="0"/>
        </a:xfrm>
        <a:custGeom>
          <a:avLst/>
          <a:gdLst/>
          <a:ahLst/>
          <a:cxnLst/>
          <a:rect l="0" t="0" r="0" b="0"/>
          <a:pathLst>
            <a:path>
              <a:moveTo>
                <a:pt x="0" y="0"/>
              </a:moveTo>
              <a:lnTo>
                <a:pt x="808180"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23B785-60D0-4674-A8A0-6539E769C75D}">
      <dsp:nvSpPr>
        <dsp:cNvPr id="0" name=""/>
        <dsp:cNvSpPr/>
      </dsp:nvSpPr>
      <dsp:spPr>
        <a:xfrm>
          <a:off x="2046779" y="222729"/>
          <a:ext cx="3260407" cy="8321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88900" rIns="88900" bIns="88900" numCol="1" spcCol="1270" anchor="ctr" anchorCtr="0">
          <a:noAutofit/>
        </a:bodyPr>
        <a:lstStyle/>
        <a:p>
          <a:pPr lvl="0" algn="ctr" defTabSz="1555750">
            <a:lnSpc>
              <a:spcPct val="90000"/>
            </a:lnSpc>
            <a:spcBef>
              <a:spcPct val="0"/>
            </a:spcBef>
            <a:spcAft>
              <a:spcPct val="35000"/>
            </a:spcAft>
          </a:pPr>
          <a:r>
            <a:rPr lang="en-US" sz="3500" kern="1200" dirty="0" smtClean="0"/>
            <a:t>Accounting</a:t>
          </a:r>
          <a:endParaRPr lang="en-US" sz="3500" kern="1200" dirty="0"/>
        </a:p>
      </dsp:txBody>
      <dsp:txXfrm>
        <a:off x="2087403" y="263353"/>
        <a:ext cx="3179159" cy="750932"/>
      </dsp:txXfrm>
    </dsp:sp>
    <dsp:sp modelId="{C1106C8B-7CCF-4EF9-9BAE-1ED701942C78}">
      <dsp:nvSpPr>
        <dsp:cNvPr id="0" name=""/>
        <dsp:cNvSpPr/>
      </dsp:nvSpPr>
      <dsp:spPr>
        <a:xfrm rot="2200198">
          <a:off x="4141982" y="2876887"/>
          <a:ext cx="697926" cy="0"/>
        </a:xfrm>
        <a:custGeom>
          <a:avLst/>
          <a:gdLst/>
          <a:ahLst/>
          <a:cxnLst/>
          <a:rect l="0" t="0" r="0" b="0"/>
          <a:pathLst>
            <a:path>
              <a:moveTo>
                <a:pt x="0" y="0"/>
              </a:moveTo>
              <a:lnTo>
                <a:pt x="697926"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644EF68-739B-4A4D-A6BF-A7C042F68474}">
      <dsp:nvSpPr>
        <dsp:cNvPr id="0" name=""/>
        <dsp:cNvSpPr/>
      </dsp:nvSpPr>
      <dsp:spPr>
        <a:xfrm>
          <a:off x="4018808" y="3085289"/>
          <a:ext cx="2621750" cy="8321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88900" rIns="88900" bIns="88900" numCol="1" spcCol="1270" anchor="ctr" anchorCtr="0">
          <a:noAutofit/>
        </a:bodyPr>
        <a:lstStyle/>
        <a:p>
          <a:pPr lvl="0" algn="ctr" defTabSz="1555750">
            <a:lnSpc>
              <a:spcPct val="90000"/>
            </a:lnSpc>
            <a:spcBef>
              <a:spcPct val="0"/>
            </a:spcBef>
            <a:spcAft>
              <a:spcPct val="35000"/>
            </a:spcAft>
          </a:pPr>
          <a:r>
            <a:rPr lang="en-US" sz="3500" kern="1200" dirty="0" smtClean="0"/>
            <a:t>Information</a:t>
          </a:r>
          <a:endParaRPr lang="en-US" sz="3500" kern="1200" dirty="0"/>
        </a:p>
      </dsp:txBody>
      <dsp:txXfrm>
        <a:off x="4059432" y="3125913"/>
        <a:ext cx="2540502" cy="750932"/>
      </dsp:txXfrm>
    </dsp:sp>
    <dsp:sp modelId="{D631062A-4933-4826-8FEF-8F5F35C47CC1}">
      <dsp:nvSpPr>
        <dsp:cNvPr id="0" name=""/>
        <dsp:cNvSpPr/>
      </dsp:nvSpPr>
      <dsp:spPr>
        <a:xfrm rot="8586248">
          <a:off x="2509027" y="2876887"/>
          <a:ext cx="694255" cy="0"/>
        </a:xfrm>
        <a:custGeom>
          <a:avLst/>
          <a:gdLst/>
          <a:ahLst/>
          <a:cxnLst/>
          <a:rect l="0" t="0" r="0" b="0"/>
          <a:pathLst>
            <a:path>
              <a:moveTo>
                <a:pt x="0" y="0"/>
              </a:moveTo>
              <a:lnTo>
                <a:pt x="694255"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802144-672F-48C0-AE8C-4CCA2448667D}">
      <dsp:nvSpPr>
        <dsp:cNvPr id="0" name=""/>
        <dsp:cNvSpPr/>
      </dsp:nvSpPr>
      <dsp:spPr>
        <a:xfrm>
          <a:off x="674641" y="3085289"/>
          <a:ext cx="2699284" cy="8321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88900" rIns="88900" bIns="88900" numCol="1" spcCol="1270" anchor="ctr" anchorCtr="0">
          <a:noAutofit/>
        </a:bodyPr>
        <a:lstStyle/>
        <a:p>
          <a:pPr lvl="0" algn="ctr" defTabSz="1555750">
            <a:lnSpc>
              <a:spcPct val="90000"/>
            </a:lnSpc>
            <a:spcBef>
              <a:spcPct val="0"/>
            </a:spcBef>
            <a:spcAft>
              <a:spcPct val="35000"/>
            </a:spcAft>
          </a:pPr>
          <a:r>
            <a:rPr lang="en-US" sz="3500" kern="1200" dirty="0" smtClean="0"/>
            <a:t>Systems</a:t>
          </a:r>
          <a:endParaRPr lang="en-US" sz="3500" kern="1200" dirty="0"/>
        </a:p>
      </dsp:txBody>
      <dsp:txXfrm>
        <a:off x="715265" y="3125913"/>
        <a:ext cx="2618036" cy="750932"/>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pPr algn="r"/>
            <a:r>
              <a:rPr lang="en-US" sz="2800" dirty="0" smtClean="0"/>
              <a:t>786</a:t>
            </a:r>
            <a:endParaRPr lang="en-US" sz="2800" dirty="0"/>
          </a:p>
        </p:txBody>
      </p:sp>
      <p:sp>
        <p:nvSpPr>
          <p:cNvPr id="3" name="Content Placeholder 2"/>
          <p:cNvSpPr>
            <a:spLocks noGrp="1"/>
          </p:cNvSpPr>
          <p:nvPr>
            <p:ph idx="1"/>
          </p:nvPr>
        </p:nvSpPr>
        <p:spPr>
          <a:xfrm>
            <a:off x="457200" y="1295400"/>
            <a:ext cx="8229600" cy="4830763"/>
          </a:xfrm>
        </p:spPr>
        <p:txBody>
          <a:bodyPr>
            <a:normAutofit lnSpcReduction="10000"/>
          </a:bodyPr>
          <a:lstStyle/>
          <a:p>
            <a:pPr marL="0" indent="0">
              <a:buNone/>
            </a:pPr>
            <a:r>
              <a:rPr lang="en-US" u="sng" dirty="0" smtClean="0"/>
              <a:t>Course Code:</a:t>
            </a:r>
          </a:p>
          <a:p>
            <a:pPr marL="0" indent="0">
              <a:buNone/>
            </a:pPr>
            <a:r>
              <a:rPr lang="en-US" dirty="0" smtClean="0"/>
              <a:t>AIS 4205</a:t>
            </a:r>
          </a:p>
          <a:p>
            <a:pPr marL="0" indent="0">
              <a:buNone/>
            </a:pPr>
            <a:r>
              <a:rPr lang="en-US" u="sng" dirty="0" smtClean="0"/>
              <a:t>Course Title:</a:t>
            </a:r>
          </a:p>
          <a:p>
            <a:pPr marL="0" indent="0">
              <a:buNone/>
            </a:pPr>
            <a:r>
              <a:rPr lang="en-US" dirty="0" smtClean="0"/>
              <a:t>Accounting Information Systems</a:t>
            </a:r>
            <a:endParaRPr lang="en-US" dirty="0"/>
          </a:p>
          <a:p>
            <a:pPr marL="0" indent="0">
              <a:buNone/>
            </a:pPr>
            <a:r>
              <a:rPr lang="en-US" u="sng" dirty="0" smtClean="0"/>
              <a:t>Text Book:</a:t>
            </a:r>
          </a:p>
          <a:p>
            <a:pPr marL="0" indent="0">
              <a:buNone/>
            </a:pPr>
            <a:r>
              <a:rPr lang="en-US" dirty="0"/>
              <a:t>Accounting Information </a:t>
            </a:r>
            <a:r>
              <a:rPr lang="en-US" dirty="0" smtClean="0"/>
              <a:t>Systems, Essential Concepts and Applications: </a:t>
            </a:r>
            <a:r>
              <a:rPr lang="en-US" dirty="0">
                <a:solidFill>
                  <a:srgbClr val="FF0000"/>
                </a:solidFill>
              </a:rPr>
              <a:t>Wilkinson</a:t>
            </a:r>
            <a:r>
              <a:rPr lang="en-US" dirty="0"/>
              <a:t>, </a:t>
            </a:r>
            <a:r>
              <a:rPr lang="en-US" dirty="0" err="1"/>
              <a:t>Cerullo</a:t>
            </a:r>
            <a:r>
              <a:rPr lang="en-US" dirty="0"/>
              <a:t>, </a:t>
            </a:r>
            <a:r>
              <a:rPr lang="en-US" dirty="0" err="1"/>
              <a:t>Raval</a:t>
            </a:r>
            <a:r>
              <a:rPr lang="en-US" dirty="0"/>
              <a:t>, Wong-on-wing Publisher: John Wiley &amp; Sons.</a:t>
            </a:r>
            <a:endParaRPr lang="en-US" dirty="0"/>
          </a:p>
        </p:txBody>
      </p:sp>
    </p:spTree>
    <p:extLst>
      <p:ext uri="{BB962C8B-B14F-4D97-AF65-F5344CB8AC3E}">
        <p14:creationId xmlns:p14="http://schemas.microsoft.com/office/powerpoint/2010/main" val="16767046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sz="3100" dirty="0"/>
              <a:t>Reasons for Studying Accounting Information </a:t>
            </a:r>
            <a:r>
              <a:rPr lang="en-US" sz="3100" dirty="0" smtClean="0"/>
              <a:t>Systems</a:t>
            </a:r>
            <a:r>
              <a:rPr lang="en-US" sz="2400" u="sng" dirty="0"/>
              <a:t/>
            </a:r>
            <a:br>
              <a:rPr lang="en-US" sz="2400" u="sng" dirty="0"/>
            </a:br>
            <a:endParaRPr lang="en-US" sz="2400" dirty="0"/>
          </a:p>
        </p:txBody>
      </p:sp>
      <p:sp>
        <p:nvSpPr>
          <p:cNvPr id="3" name="Content Placeholder 2"/>
          <p:cNvSpPr>
            <a:spLocks noGrp="1"/>
          </p:cNvSpPr>
          <p:nvPr>
            <p:ph idx="1"/>
          </p:nvPr>
        </p:nvSpPr>
        <p:spPr>
          <a:xfrm>
            <a:off x="457200" y="1143000"/>
            <a:ext cx="8229600" cy="5334000"/>
          </a:xfrm>
        </p:spPr>
        <p:txBody>
          <a:bodyPr>
            <a:normAutofit fontScale="62500" lnSpcReduction="20000"/>
          </a:bodyPr>
          <a:lstStyle/>
          <a:p>
            <a:pPr algn="just">
              <a:buFont typeface="Wingdings" pitchFamily="2" charset="2"/>
              <a:buChar char="Ø"/>
            </a:pPr>
            <a:r>
              <a:rPr lang="en-US" sz="4300" dirty="0" smtClean="0"/>
              <a:t>As </a:t>
            </a:r>
            <a:r>
              <a:rPr lang="en-US" sz="4300" dirty="0"/>
              <a:t>an accountant, you will be closely involved with </a:t>
            </a:r>
            <a:r>
              <a:rPr lang="en-US" sz="4300" dirty="0" err="1"/>
              <a:t>AlSs</a:t>
            </a:r>
            <a:r>
              <a:rPr lang="en-US" sz="4300" dirty="0"/>
              <a:t> during your entire </a:t>
            </a:r>
            <a:r>
              <a:rPr lang="en-US" sz="4300" dirty="0" smtClean="0"/>
              <a:t>career</a:t>
            </a:r>
            <a:r>
              <a:rPr lang="en-US" sz="4300" dirty="0"/>
              <a:t>. Not only will you be a user of these AISs but you may possibly become a developer of such systems Furthermore, as an auditor, you will be expected to evaluate AISs</a:t>
            </a:r>
            <a:r>
              <a:rPr lang="en-US" sz="4300" dirty="0" smtClean="0"/>
              <a:t>.</a:t>
            </a:r>
          </a:p>
          <a:p>
            <a:pPr algn="just">
              <a:buFont typeface="Wingdings" pitchFamily="2" charset="2"/>
              <a:buChar char="Ø"/>
            </a:pPr>
            <a:r>
              <a:rPr lang="en-US" sz="4300" dirty="0"/>
              <a:t> Almost all business firms have computers as integral parts of their information systems. As information has become more vital, the management of data and the preparation of needed reports have become more complex and varied </a:t>
            </a:r>
            <a:r>
              <a:rPr lang="en-US" sz="4300" dirty="0" smtClean="0"/>
              <a:t>functions</a:t>
            </a:r>
            <a:r>
              <a:rPr lang="en-US" sz="4300" dirty="0"/>
              <a:t>. You need to acquire the knowledge and skills that will enable you to </a:t>
            </a:r>
            <a:r>
              <a:rPr lang="en-US" sz="4300" dirty="0" smtClean="0"/>
              <a:t>apply </a:t>
            </a:r>
            <a:r>
              <a:rPr lang="en-US" sz="4300" dirty="0"/>
              <a:t>computer-based </a:t>
            </a:r>
            <a:r>
              <a:rPr lang="en-US" sz="4300" dirty="0" err="1"/>
              <a:t>AlSs</a:t>
            </a:r>
            <a:r>
              <a:rPr lang="en-US" sz="4300" dirty="0"/>
              <a:t> in effectively achieving these functions. Otherwise, you are likely to be much less productive in employing your accounting knowledge and skills.</a:t>
            </a:r>
          </a:p>
        </p:txBody>
      </p:sp>
    </p:spTree>
    <p:extLst>
      <p:ext uri="{BB962C8B-B14F-4D97-AF65-F5344CB8AC3E}">
        <p14:creationId xmlns:p14="http://schemas.microsoft.com/office/powerpoint/2010/main" val="794888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lnSpcReduction="10000"/>
          </a:bodyPr>
          <a:lstStyle/>
          <a:p>
            <a:pPr algn="just">
              <a:buFont typeface="Wingdings" pitchFamily="2" charset="2"/>
              <a:buChar char="Ø"/>
            </a:pPr>
            <a:r>
              <a:rPr lang="en-US" dirty="0"/>
              <a:t>Modern-day information systems are also rapidly changing and improving. They are incorporating new developments from fields like the Internet and e- commerce, object technology, telecommunications, and control. You should be aware of these developments and others that are just emerging, since they will be increasingly common in the future. With adequate knowledge and skills </a:t>
            </a:r>
            <a:r>
              <a:rPr lang="en-US" dirty="0" smtClean="0"/>
              <a:t>concerning </a:t>
            </a:r>
            <a:r>
              <a:rPr lang="en-US" dirty="0"/>
              <a:t>computer-based information systems, you should be in a position to take advantage of the opportunities they offer.</a:t>
            </a:r>
          </a:p>
        </p:txBody>
      </p:sp>
    </p:spTree>
    <p:extLst>
      <p:ext uri="{BB962C8B-B14F-4D97-AF65-F5344CB8AC3E}">
        <p14:creationId xmlns:p14="http://schemas.microsoft.com/office/powerpoint/2010/main" val="1080310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pPr algn="r"/>
            <a:r>
              <a:rPr lang="en-US" sz="2400" dirty="0" smtClean="0"/>
              <a:t>AIS 4205</a:t>
            </a:r>
            <a:endParaRPr lang="en-US" sz="2400" dirty="0"/>
          </a:p>
        </p:txBody>
      </p:sp>
      <p:sp>
        <p:nvSpPr>
          <p:cNvPr id="3" name="Content Placeholder 2"/>
          <p:cNvSpPr>
            <a:spLocks noGrp="1"/>
          </p:cNvSpPr>
          <p:nvPr>
            <p:ph idx="1"/>
          </p:nvPr>
        </p:nvSpPr>
        <p:spPr>
          <a:xfrm>
            <a:off x="457200" y="990600"/>
            <a:ext cx="8229600" cy="5135563"/>
          </a:xfrm>
        </p:spPr>
        <p:txBody>
          <a:bodyPr/>
          <a:lstStyle/>
          <a:p>
            <a:pPr marL="0" indent="0">
              <a:buNone/>
            </a:pPr>
            <a:r>
              <a:rPr lang="en-GB" b="1" u="sng" dirty="0"/>
              <a:t>Accounting Information Systems </a:t>
            </a:r>
            <a:r>
              <a:rPr lang="en-GB" b="1" u="sng" dirty="0" smtClean="0"/>
              <a:t>:</a:t>
            </a:r>
            <a:endParaRPr lang="en-US" u="sng" dirty="0"/>
          </a:p>
          <a:p>
            <a:pPr marL="0" indent="0">
              <a:buNone/>
            </a:pPr>
            <a:endParaRPr lang="en-US" dirty="0" smtClean="0"/>
          </a:p>
          <a:p>
            <a:pPr marL="0" indent="0">
              <a:buNone/>
            </a:pPr>
            <a:endParaRPr lang="en-US" dirty="0"/>
          </a:p>
          <a:p>
            <a:pPr marL="0" indent="0">
              <a:buNone/>
            </a:pPr>
            <a:endParaRPr lang="en-US" dirty="0"/>
          </a:p>
        </p:txBody>
      </p:sp>
      <p:graphicFrame>
        <p:nvGraphicFramePr>
          <p:cNvPr id="4" name="Diagram 3"/>
          <p:cNvGraphicFramePr/>
          <p:nvPr>
            <p:extLst>
              <p:ext uri="{D42A27DB-BD31-4B8C-83A1-F6EECF244321}">
                <p14:modId xmlns:p14="http://schemas.microsoft.com/office/powerpoint/2010/main" val="4222815572"/>
              </p:ext>
            </p:extLst>
          </p:nvPr>
        </p:nvGraphicFramePr>
        <p:xfrm>
          <a:off x="914400" y="2057400"/>
          <a:ext cx="7315200" cy="414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64571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Accounting</a:t>
            </a:r>
            <a:endParaRPr lang="en-US" dirty="0"/>
          </a:p>
        </p:txBody>
      </p:sp>
      <p:sp>
        <p:nvSpPr>
          <p:cNvPr id="3" name="Content Placeholder 2"/>
          <p:cNvSpPr>
            <a:spLocks noGrp="1"/>
          </p:cNvSpPr>
          <p:nvPr>
            <p:ph idx="1"/>
          </p:nvPr>
        </p:nvSpPr>
        <p:spPr/>
        <p:txBody>
          <a:bodyPr/>
          <a:lstStyle/>
          <a:p>
            <a:pPr marL="0" indent="0" algn="just">
              <a:buNone/>
            </a:pPr>
            <a:r>
              <a:rPr lang="en-GB" dirty="0"/>
              <a:t>Accounting is a data identification, collection, and storage process as well as an information development, measurement, and communication process. By definition, accounting is an information system, since an AIS collects, records, stores, and processes accounting and other data to produce information for decision makers. </a:t>
            </a:r>
            <a:endParaRPr lang="en-US" dirty="0"/>
          </a:p>
          <a:p>
            <a:pPr marL="0" indent="0">
              <a:buNone/>
            </a:pPr>
            <a:endParaRPr lang="en-US" dirty="0"/>
          </a:p>
        </p:txBody>
      </p:sp>
    </p:spTree>
    <p:extLst>
      <p:ext uri="{BB962C8B-B14F-4D97-AF65-F5344CB8AC3E}">
        <p14:creationId xmlns:p14="http://schemas.microsoft.com/office/powerpoint/2010/main" val="1704092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Information</a:t>
            </a:r>
            <a:endParaRPr lang="en-US" dirty="0"/>
          </a:p>
        </p:txBody>
      </p:sp>
      <p:sp>
        <p:nvSpPr>
          <p:cNvPr id="3" name="Content Placeholder 2"/>
          <p:cNvSpPr>
            <a:spLocks noGrp="1"/>
          </p:cNvSpPr>
          <p:nvPr>
            <p:ph idx="1"/>
          </p:nvPr>
        </p:nvSpPr>
        <p:spPr>
          <a:xfrm>
            <a:off x="457200" y="1371600"/>
            <a:ext cx="8229600" cy="4754563"/>
          </a:xfrm>
        </p:spPr>
        <p:txBody>
          <a:bodyPr>
            <a:noAutofit/>
          </a:bodyPr>
          <a:lstStyle/>
          <a:p>
            <a:pPr marL="0" indent="0" algn="just">
              <a:buNone/>
            </a:pPr>
            <a:r>
              <a:rPr lang="en-US" sz="3400" dirty="0" smtClean="0"/>
              <a:t>In the broadest </a:t>
            </a:r>
            <a:r>
              <a:rPr lang="en-US" sz="3400" dirty="0"/>
              <a:t>sense, information is intelligence that is meaningful and useful </a:t>
            </a:r>
            <a:r>
              <a:rPr lang="en-US" sz="3400" dirty="0" smtClean="0"/>
              <a:t>to persons </a:t>
            </a:r>
            <a:r>
              <a:rPr lang="en-US" sz="3400" dirty="0"/>
              <a:t>for whom it is intended. </a:t>
            </a:r>
            <a:r>
              <a:rPr lang="en-US" sz="3400" dirty="0" smtClean="0"/>
              <a:t>Accounting </a:t>
            </a:r>
            <a:r>
              <a:rPr lang="en-US" sz="3400" dirty="0"/>
              <a:t>information is the output of </a:t>
            </a:r>
            <a:r>
              <a:rPr lang="en-US" sz="3400" dirty="0" err="1"/>
              <a:t>AlSs</a:t>
            </a:r>
            <a:r>
              <a:rPr lang="en-US" sz="3400" dirty="0"/>
              <a:t> and is financially oriented. </a:t>
            </a:r>
            <a:r>
              <a:rPr lang="en-US" sz="3400" dirty="0" smtClean="0"/>
              <a:t>Usually</a:t>
            </a:r>
            <a:r>
              <a:rPr lang="en-US" sz="3400" dirty="0"/>
              <a:t>, information is derived from the processing of data. Data </a:t>
            </a:r>
            <a:r>
              <a:rPr lang="en-US" sz="3400" dirty="0" smtClean="0"/>
              <a:t>are the raw facts and figures even symbols that together from the inputs to an information system.</a:t>
            </a:r>
            <a:endParaRPr lang="en-US" sz="3400" dirty="0"/>
          </a:p>
        </p:txBody>
      </p:sp>
    </p:spTree>
    <p:extLst>
      <p:ext uri="{BB962C8B-B14F-4D97-AF65-F5344CB8AC3E}">
        <p14:creationId xmlns:p14="http://schemas.microsoft.com/office/powerpoint/2010/main" val="2471829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73162"/>
          </a:xfrm>
        </p:spPr>
        <p:txBody>
          <a:bodyPr>
            <a:normAutofit fontScale="90000"/>
          </a:bodyPr>
          <a:lstStyle/>
          <a:p>
            <a:r>
              <a:rPr lang="en-US" b="1" dirty="0" smtClean="0"/>
              <a:t>Operations within the accounting activity</a:t>
            </a:r>
            <a:endParaRPr lang="en-US" b="1" dirty="0"/>
          </a:p>
        </p:txBody>
      </p:sp>
      <p:pic>
        <p:nvPicPr>
          <p:cNvPr id="1027"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3875" y="1824831"/>
            <a:ext cx="8096250" cy="407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9193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Systems</a:t>
            </a:r>
            <a:endParaRPr lang="en-US" b="1" dirty="0"/>
          </a:p>
        </p:txBody>
      </p:sp>
      <p:sp>
        <p:nvSpPr>
          <p:cNvPr id="3" name="Content Placeholder 2"/>
          <p:cNvSpPr>
            <a:spLocks noGrp="1"/>
          </p:cNvSpPr>
          <p:nvPr>
            <p:ph idx="1"/>
          </p:nvPr>
        </p:nvSpPr>
        <p:spPr/>
        <p:txBody>
          <a:bodyPr>
            <a:normAutofit lnSpcReduction="10000"/>
          </a:bodyPr>
          <a:lstStyle/>
          <a:p>
            <a:pPr marL="0" indent="0" algn="just">
              <a:buNone/>
            </a:pPr>
            <a:r>
              <a:rPr lang="en-US" dirty="0" smtClean="0"/>
              <a:t>A system is a unified group of interacting parts that function together to achieve its purposes. The world is brimming with systems, those that are natural and those made </a:t>
            </a:r>
            <a:r>
              <a:rPr lang="en-US" dirty="0"/>
              <a:t>by humans. Most systems are composed of smaller subsystems that support the larger system. For example, a college of business is a system composed of various departments, each of which is a subsystem. Moreover, the college itself is a subsystem of the university. </a:t>
            </a:r>
          </a:p>
        </p:txBody>
      </p:sp>
    </p:spTree>
    <p:extLst>
      <p:ext uri="{BB962C8B-B14F-4D97-AF65-F5344CB8AC3E}">
        <p14:creationId xmlns:p14="http://schemas.microsoft.com/office/powerpoint/2010/main" val="118459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Accounting Information Systems</a:t>
            </a:r>
            <a:endParaRPr lang="en-US" dirty="0"/>
          </a:p>
        </p:txBody>
      </p:sp>
      <p:sp>
        <p:nvSpPr>
          <p:cNvPr id="3" name="Content Placeholder 2"/>
          <p:cNvSpPr>
            <a:spLocks noGrp="1"/>
          </p:cNvSpPr>
          <p:nvPr>
            <p:ph idx="1"/>
          </p:nvPr>
        </p:nvSpPr>
        <p:spPr/>
        <p:txBody>
          <a:bodyPr/>
          <a:lstStyle/>
          <a:p>
            <a:pPr marL="0" indent="0">
              <a:buNone/>
            </a:pPr>
            <a:r>
              <a:rPr lang="en-US" dirty="0"/>
              <a:t>The preceding descriptions of accounting, information, and system enable us to </a:t>
            </a:r>
            <a:r>
              <a:rPr lang="en-US" dirty="0" smtClean="0"/>
              <a:t>develop </a:t>
            </a:r>
            <a:r>
              <a:rPr lang="en-US" dirty="0"/>
              <a:t>a workable definition of an AIS. An accounting information system is a </a:t>
            </a:r>
            <a:r>
              <a:rPr lang="en-US" dirty="0" smtClean="0"/>
              <a:t>unified </a:t>
            </a:r>
            <a:r>
              <a:rPr lang="en-US" dirty="0"/>
              <a:t>structure within an entity, such as a business firm, that </a:t>
            </a:r>
            <a:r>
              <a:rPr lang="en-US" b="1" dirty="0">
                <a:solidFill>
                  <a:srgbClr val="FF0000"/>
                </a:solidFill>
              </a:rPr>
              <a:t>employs physical </a:t>
            </a:r>
            <a:r>
              <a:rPr lang="en-US" b="1" dirty="0" smtClean="0">
                <a:solidFill>
                  <a:srgbClr val="FF0000"/>
                </a:solidFill>
              </a:rPr>
              <a:t>resources </a:t>
            </a:r>
            <a:r>
              <a:rPr lang="en-US" b="1" dirty="0">
                <a:solidFill>
                  <a:srgbClr val="FF0000"/>
                </a:solidFill>
              </a:rPr>
              <a:t>and other components to transform economic data into accounting information</a:t>
            </a:r>
            <a:r>
              <a:rPr lang="en-US" dirty="0"/>
              <a:t>, with the purpose of satisfying the information needs of a variety of users.</a:t>
            </a:r>
          </a:p>
        </p:txBody>
      </p:sp>
    </p:spTree>
    <p:extLst>
      <p:ext uri="{BB962C8B-B14F-4D97-AF65-F5344CB8AC3E}">
        <p14:creationId xmlns:p14="http://schemas.microsoft.com/office/powerpoint/2010/main" val="2935010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dirty="0" smtClean="0"/>
              <a:t>Objectives of AIS</a:t>
            </a:r>
            <a:endParaRPr lang="en-US" dirty="0"/>
          </a:p>
        </p:txBody>
      </p:sp>
      <p:sp>
        <p:nvSpPr>
          <p:cNvPr id="3" name="Content Placeholder 2"/>
          <p:cNvSpPr>
            <a:spLocks noGrp="1"/>
          </p:cNvSpPr>
          <p:nvPr>
            <p:ph idx="1"/>
          </p:nvPr>
        </p:nvSpPr>
        <p:spPr/>
        <p:txBody>
          <a:bodyPr>
            <a:normAutofit lnSpcReduction="10000"/>
          </a:bodyPr>
          <a:lstStyle/>
          <a:p>
            <a:pPr marL="0" indent="0">
              <a:buNone/>
            </a:pPr>
            <a:endParaRPr lang="en-US" dirty="0" smtClean="0"/>
          </a:p>
          <a:p>
            <a:pPr>
              <a:buFont typeface="Wingdings" pitchFamily="2" charset="2"/>
              <a:buChar char="ü"/>
            </a:pPr>
            <a:endParaRPr lang="en-US" dirty="0"/>
          </a:p>
          <a:p>
            <a:pPr algn="just">
              <a:buFont typeface="Wingdings" pitchFamily="2" charset="2"/>
              <a:buChar char="ü"/>
            </a:pPr>
            <a:r>
              <a:rPr lang="en-US" dirty="0" smtClean="0"/>
              <a:t>  </a:t>
            </a:r>
            <a:r>
              <a:rPr lang="en-US" sz="3600" dirty="0" smtClean="0"/>
              <a:t>To </a:t>
            </a:r>
            <a:r>
              <a:rPr lang="en-US" sz="3600" dirty="0"/>
              <a:t>support the firm’s day-to-day </a:t>
            </a:r>
            <a:r>
              <a:rPr lang="en-US" sz="3600" dirty="0" smtClean="0"/>
              <a:t>operations</a:t>
            </a:r>
            <a:endParaRPr lang="en-US" sz="3600" dirty="0"/>
          </a:p>
          <a:p>
            <a:pPr algn="just">
              <a:buFont typeface="Wingdings" pitchFamily="2" charset="2"/>
              <a:buChar char="ü"/>
            </a:pPr>
            <a:r>
              <a:rPr lang="en-US" sz="3600" dirty="0" smtClean="0"/>
              <a:t>  To support decision making by internal decision makers</a:t>
            </a:r>
          </a:p>
          <a:p>
            <a:pPr algn="just">
              <a:buFont typeface="Wingdings" pitchFamily="2" charset="2"/>
              <a:buChar char="ü"/>
            </a:pPr>
            <a:r>
              <a:rPr lang="en-US" sz="3600" dirty="0"/>
              <a:t> </a:t>
            </a:r>
            <a:r>
              <a:rPr lang="en-US" sz="3600" dirty="0" smtClean="0"/>
              <a:t> To fulfill obligations relating to Stewardship</a:t>
            </a:r>
          </a:p>
          <a:p>
            <a:pPr marL="0" indent="0">
              <a:buNone/>
            </a:pPr>
            <a:endParaRPr lang="en-US" dirty="0"/>
          </a:p>
        </p:txBody>
      </p:sp>
    </p:spTree>
    <p:extLst>
      <p:ext uri="{BB962C8B-B14F-4D97-AF65-F5344CB8AC3E}">
        <p14:creationId xmlns:p14="http://schemas.microsoft.com/office/powerpoint/2010/main" val="3032881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An Information Systems Framework </a:t>
            </a:r>
          </a:p>
        </p:txBody>
      </p:sp>
      <p:sp>
        <p:nvSpPr>
          <p:cNvPr id="3" name="Content Placeholder 2"/>
          <p:cNvSpPr>
            <a:spLocks noGrp="1"/>
          </p:cNvSpPr>
          <p:nvPr>
            <p:ph idx="1"/>
          </p:nvPr>
        </p:nvSpPr>
        <p:spPr>
          <a:xfrm>
            <a:off x="457200" y="1066800"/>
            <a:ext cx="8458200" cy="5562600"/>
          </a:xfrm>
        </p:spPr>
        <p:txBody>
          <a:bodyPr>
            <a:noAutofit/>
          </a:bodyPr>
          <a:lstStyle/>
          <a:p>
            <a:pPr marL="0" indent="0" algn="just">
              <a:buNone/>
            </a:pPr>
            <a:r>
              <a:rPr lang="en-US" sz="2400" dirty="0">
                <a:latin typeface="Times New Roman" pitchFamily="18" charset="0"/>
                <a:cs typeface="Times New Roman" pitchFamily="18" charset="0"/>
              </a:rPr>
              <a:t>The information system is the set of formal procedures by which data are collected, processed into information, and distributed to users. </a:t>
            </a:r>
            <a:r>
              <a:rPr lang="en-US" sz="2400" dirty="0" smtClean="0">
                <a:latin typeface="Times New Roman" pitchFamily="18" charset="0"/>
                <a:cs typeface="Times New Roman" pitchFamily="18" charset="0"/>
              </a:rPr>
              <a:t>The following Figure </a:t>
            </a:r>
            <a:r>
              <a:rPr lang="en-US" sz="2400" dirty="0">
                <a:latin typeface="Times New Roman" pitchFamily="18" charset="0"/>
                <a:cs typeface="Times New Roman" pitchFamily="18" charset="0"/>
              </a:rPr>
              <a:t>shows the information system of a hypothetical manufacturing firm decomposed into its elemental subsystems. </a:t>
            </a:r>
            <a:endParaRPr lang="en-US" sz="2400" dirty="0" smtClean="0">
              <a:latin typeface="Times New Roman" pitchFamily="18" charset="0"/>
              <a:cs typeface="Times New Roman" pitchFamily="18" charset="0"/>
            </a:endParaRPr>
          </a:p>
          <a:p>
            <a:pPr marL="0" indent="0" algn="just">
              <a:buNone/>
            </a:pPr>
            <a:r>
              <a:rPr lang="en-US" sz="2400" dirty="0" smtClean="0">
                <a:latin typeface="Times New Roman" pitchFamily="18" charset="0"/>
                <a:cs typeface="Times New Roman" pitchFamily="18" charset="0"/>
              </a:rPr>
              <a:t>Notice </a:t>
            </a:r>
            <a:r>
              <a:rPr lang="en-US" sz="2400" dirty="0">
                <a:latin typeface="Times New Roman" pitchFamily="18" charset="0"/>
                <a:cs typeface="Times New Roman" pitchFamily="18" charset="0"/>
              </a:rPr>
              <a:t>that two broad classes of systems emerge from the decomposition: the accounting information system (AIS) and the management information system (MIS). </a:t>
            </a: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information system accepts input, called transactions, which are converted through various processes into output information that goes to users. Transactions fall into two classes: financial transactions and nonfinancial transactions. Hence, transaction is an event that affects or is of interest to the organization and is processed by its information system as a unit of work. </a:t>
            </a:r>
          </a:p>
        </p:txBody>
      </p:sp>
    </p:spTree>
    <p:extLst>
      <p:ext uri="{BB962C8B-B14F-4D97-AF65-F5344CB8AC3E}">
        <p14:creationId xmlns:p14="http://schemas.microsoft.com/office/powerpoint/2010/main" val="2106607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user\Downloads\Capture.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914400"/>
            <a:ext cx="7848600" cy="495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5335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Management Information System (MIS)</a:t>
            </a:r>
          </a:p>
        </p:txBody>
      </p:sp>
      <p:sp>
        <p:nvSpPr>
          <p:cNvPr id="3" name="Content Placeholder 2"/>
          <p:cNvSpPr>
            <a:spLocks noGrp="1"/>
          </p:cNvSpPr>
          <p:nvPr>
            <p:ph idx="1"/>
          </p:nvPr>
        </p:nvSpPr>
        <p:spPr/>
        <p:txBody>
          <a:bodyPr/>
          <a:lstStyle/>
          <a:p>
            <a:pPr marL="0" indent="0" algn="just">
              <a:buNone/>
            </a:pPr>
            <a:r>
              <a:rPr lang="en-US" dirty="0"/>
              <a:t>Management often requires information that goes beyond the capability of AIS. As organizations grow in size and complexity, specialized functional areas emerge, requiring additional information for production planning and control, sales forecasting, inventory warehouse planning, market research, and so on. The MIS processes nonfinancial transactions that are not normally processed by AIS. </a:t>
            </a:r>
          </a:p>
        </p:txBody>
      </p:sp>
    </p:spTree>
    <p:extLst>
      <p:ext uri="{BB962C8B-B14F-4D97-AF65-F5344CB8AC3E}">
        <p14:creationId xmlns:p14="http://schemas.microsoft.com/office/powerpoint/2010/main" val="38196299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773</Words>
  <Application>Microsoft Office PowerPoint</Application>
  <PresentationFormat>On-screen Show (4:3)</PresentationFormat>
  <Paragraphs>38</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786</vt:lpstr>
      <vt:lpstr>Reasons for Studying Accounting Information Systems </vt:lpstr>
      <vt:lpstr>PowerPoint Presentation</vt:lpstr>
      <vt:lpstr>AIS 4205</vt:lpstr>
      <vt:lpstr>Accounting</vt:lpstr>
      <vt:lpstr>Information</vt:lpstr>
      <vt:lpstr>Operations within the accounting activity</vt:lpstr>
      <vt:lpstr>Systems</vt:lpstr>
      <vt:lpstr>Accounting Information Systems</vt:lpstr>
      <vt:lpstr>Objectives of AIS</vt:lpstr>
      <vt:lpstr>An Information Systems Framework </vt:lpstr>
      <vt:lpstr>PowerPoint Presentation</vt:lpstr>
      <vt:lpstr>The Management Information System (MIS)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AIS 4205</dc:title>
  <dc:creator>user</dc:creator>
  <cp:lastModifiedBy>user</cp:lastModifiedBy>
  <cp:revision>8</cp:revision>
  <dcterms:created xsi:type="dcterms:W3CDTF">2006-08-16T00:00:00Z</dcterms:created>
  <dcterms:modified xsi:type="dcterms:W3CDTF">2024-09-02T14:12:05Z</dcterms:modified>
</cp:coreProperties>
</file>