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94" r:id="rId11"/>
    <p:sldId id="265" r:id="rId12"/>
    <p:sldId id="281" r:id="rId13"/>
    <p:sldId id="280" r:id="rId14"/>
    <p:sldId id="267" r:id="rId15"/>
    <p:sldId id="282" r:id="rId16"/>
    <p:sldId id="269" r:id="rId17"/>
    <p:sldId id="283" r:id="rId18"/>
    <p:sldId id="295" r:id="rId19"/>
    <p:sldId id="270" r:id="rId20"/>
    <p:sldId id="271" r:id="rId21"/>
    <p:sldId id="298" r:id="rId22"/>
    <p:sldId id="272" r:id="rId23"/>
    <p:sldId id="296" r:id="rId24"/>
    <p:sldId id="300" r:id="rId25"/>
    <p:sldId id="268" r:id="rId26"/>
    <p:sldId id="299" r:id="rId27"/>
    <p:sldId id="297" r:id="rId28"/>
    <p:sldId id="273" r:id="rId29"/>
    <p:sldId id="274" r:id="rId30"/>
    <p:sldId id="275" r:id="rId31"/>
    <p:sldId id="276" r:id="rId32"/>
    <p:sldId id="277" r:id="rId33"/>
    <p:sldId id="278" r:id="rId34"/>
    <p:sldId id="279" r:id="rId35"/>
    <p:sldId id="285" r:id="rId36"/>
    <p:sldId id="286" r:id="rId37"/>
    <p:sldId id="287" r:id="rId38"/>
    <p:sldId id="288" r:id="rId39"/>
    <p:sldId id="289" r:id="rId40"/>
    <p:sldId id="290" r:id="rId41"/>
    <p:sldId id="291" r:id="rId42"/>
    <p:sldId id="292" r:id="rId43"/>
    <p:sldId id="293" r:id="rId44"/>
    <p:sldId id="284" r:id="rId4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9" d="100"/>
          <a:sy n="59" d="100"/>
        </p:scale>
        <p:origin x="1500"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Software Engineering</a:t>
            </a:r>
          </a:p>
        </p:txBody>
      </p:sp>
      <p:sp>
        <p:nvSpPr>
          <p:cNvPr id="3" name="Subtitle 2"/>
          <p:cNvSpPr>
            <a:spLocks noGrp="1"/>
          </p:cNvSpPr>
          <p:nvPr>
            <p:ph type="subTitle" idx="1"/>
          </p:nvPr>
        </p:nvSpPr>
        <p:spPr/>
        <p:txBody>
          <a:bodyPr/>
          <a:lstStyle/>
          <a:p>
            <a:r>
              <a:rPr lang="en-US" dirty="0"/>
              <a:t>Dr. Md. </a:t>
            </a:r>
            <a:r>
              <a:rPr lang="en-US" dirty="0" err="1"/>
              <a:t>Nasim</a:t>
            </a:r>
            <a:r>
              <a:rPr lang="en-US" dirty="0"/>
              <a:t> </a:t>
            </a:r>
            <a:r>
              <a:rPr lang="en-US" dirty="0" err="1"/>
              <a:t>Adnan</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pPr algn="just"/>
            <a:r>
              <a:rPr lang="en-US" dirty="0"/>
              <a:t>He had the classic look of a senior executive for a major software company—mid-40s, slightly graying at the temples, trim and athletic, with eyes that penetrated the listener as he spoke.</a:t>
            </a:r>
          </a:p>
          <a:p>
            <a:pPr algn="just"/>
            <a:r>
              <a:rPr lang="en-US" dirty="0"/>
              <a:t>But what he said shocked me. “Software is </a:t>
            </a:r>
            <a:r>
              <a:rPr lang="en-US" i="1" dirty="0"/>
              <a:t>dead.”</a:t>
            </a:r>
          </a:p>
          <a:p>
            <a:pPr algn="just"/>
            <a:r>
              <a:rPr lang="en-US" dirty="0"/>
              <a:t>I blinked with surprise and then smiled. “You’re joking, right? The world is driven by software and your company has profited handsomely because of it. It isn’t dead! It’s alive and growing.”</a:t>
            </a:r>
          </a:p>
          <a:p>
            <a:pPr algn="just"/>
            <a:r>
              <a:rPr lang="en-US" dirty="0"/>
              <a:t>He shook his head emphatically. “No, it’s dead . . . at least as we once knew it.”</a:t>
            </a:r>
          </a:p>
          <a:p>
            <a:pPr algn="just"/>
            <a:r>
              <a:rPr lang="en-US" dirty="0"/>
              <a:t>I leaned forward. “Go 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pPr algn="just"/>
            <a:r>
              <a:rPr lang="en-US" dirty="0"/>
              <a:t>He spoke while tapping the table for emphasis. “The old-school view of software—you buy it, you own it, and it’s your job to manage it—that’s coming to an end.</a:t>
            </a:r>
          </a:p>
          <a:p>
            <a:pPr algn="just"/>
            <a:r>
              <a:rPr lang="en-US" dirty="0"/>
              <a:t>Today, with Web 2.0 and pervasive computing coming on strong, we’re going to be seeing a completely different generation of software. It’ll be delivered via the Internet and will look exactly like it’s residing on each user’s computing device . . . but it’ll reside on a far-away server.”</a:t>
            </a:r>
          </a:p>
          <a:p>
            <a:pPr algn="just"/>
            <a:r>
              <a:rPr lang="en-US" dirty="0"/>
              <a:t>Is software </a:t>
            </a:r>
            <a:r>
              <a:rPr lang="en-US" i="1" dirty="0"/>
              <a:t>really dead? If it was, you wouldn’t be reading this book!</a:t>
            </a:r>
            <a:endParaRPr lang="en-US" dirty="0"/>
          </a:p>
          <a:p>
            <a:pPr algn="just"/>
            <a:endParaRPr lang="en-US" dirty="0"/>
          </a:p>
          <a:p>
            <a:pPr algn="just"/>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600200"/>
            <a:ext cx="8229600" cy="4800600"/>
          </a:xfrm>
        </p:spPr>
        <p:txBody>
          <a:bodyPr>
            <a:normAutofit fontScale="85000" lnSpcReduction="10000"/>
          </a:bodyPr>
          <a:lstStyle/>
          <a:p>
            <a:pPr algn="just"/>
            <a:r>
              <a:rPr lang="en-US" dirty="0"/>
              <a:t>Computer software continues to be the single most important technology on the world stage. And it’s also a prime example of the law of unintended consequences.</a:t>
            </a:r>
          </a:p>
          <a:p>
            <a:pPr algn="just"/>
            <a:r>
              <a:rPr lang="en-US" dirty="0"/>
              <a:t>Fifty years ago no one could have predicted that software would become an indispensable technology for business, science, and engineering.</a:t>
            </a:r>
          </a:p>
          <a:p>
            <a:pPr algn="just"/>
            <a:r>
              <a:rPr lang="en-US" dirty="0"/>
              <a:t>When </a:t>
            </a:r>
            <a:r>
              <a:rPr lang="en-US" dirty="0" err="1"/>
              <a:t>Dijkstra</a:t>
            </a:r>
            <a:r>
              <a:rPr lang="en-US" dirty="0"/>
              <a:t> married Maria in 1957, he was required as a part of the marriage rites to state his profession. He stated that he was a Programmer, which was unacceptable to the authorities, there being no such profession then in The Netherlands.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600200"/>
            <a:ext cx="8229600" cy="4876800"/>
          </a:xfrm>
        </p:spPr>
        <p:txBody>
          <a:bodyPr>
            <a:normAutofit fontScale="92500" lnSpcReduction="20000"/>
          </a:bodyPr>
          <a:lstStyle/>
          <a:p>
            <a:pPr algn="just"/>
            <a:r>
              <a:rPr lang="en-US" dirty="0"/>
              <a:t>No one could predict that millions of computer programs would have to be corrected, adapted, and enhanced as time passed.</a:t>
            </a:r>
          </a:p>
          <a:p>
            <a:pPr algn="just"/>
            <a:r>
              <a:rPr lang="en-US" dirty="0"/>
              <a:t>The burden of performing these “maintenance” activities would absorb more people and more resources than all work applied to the creation of new software.</a:t>
            </a:r>
          </a:p>
          <a:p>
            <a:pPr algn="just"/>
            <a:r>
              <a:rPr lang="en-US" dirty="0"/>
              <a:t>As software’s importance has grown, the software community has continually attempted to develop technologies that will make it easier, faster, and less expensive to build and maintain high-quality computer programs.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Nature of Software</a:t>
            </a:r>
          </a:p>
        </p:txBody>
      </p:sp>
      <p:sp>
        <p:nvSpPr>
          <p:cNvPr id="3" name="Content Placeholder 2"/>
          <p:cNvSpPr>
            <a:spLocks noGrp="1"/>
          </p:cNvSpPr>
          <p:nvPr>
            <p:ph idx="1"/>
          </p:nvPr>
        </p:nvSpPr>
        <p:spPr/>
        <p:txBody>
          <a:bodyPr>
            <a:normAutofit fontScale="85000" lnSpcReduction="20000"/>
          </a:bodyPr>
          <a:lstStyle/>
          <a:p>
            <a:pPr algn="just"/>
            <a:r>
              <a:rPr lang="en-US" dirty="0"/>
              <a:t>Today, software takes on a dual role. It is a product, and at the same time, the vehicle for delivering a product. As a product, it delivers the computing potential embodied by computer hardware or more broadly, by a network of computers that are accessible by local hardware.</a:t>
            </a:r>
          </a:p>
          <a:p>
            <a:pPr algn="just"/>
            <a:r>
              <a:rPr lang="en-US" dirty="0"/>
              <a:t>Whether it resides within a mobile phone or operates inside a mainframe computer, software is an information transformer—producing, managing, acquiring, modifying, displaying, or transmitting information that can be as simple as a single bit or as complex as a multimedia presentation derived from data acquired from dozens of independent sources.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371600"/>
            <a:ext cx="8229600" cy="5105400"/>
          </a:xfrm>
        </p:spPr>
        <p:txBody>
          <a:bodyPr>
            <a:normAutofit fontScale="85000" lnSpcReduction="10000"/>
          </a:bodyPr>
          <a:lstStyle/>
          <a:p>
            <a:pPr algn="just"/>
            <a:r>
              <a:rPr lang="en-US" dirty="0"/>
              <a:t>As the vehicle used to deliver the product, software acts as the basis for the control of the computer (operating systems), the communication of information (networks), and the creation and control of other programs (software tools and environments).</a:t>
            </a:r>
          </a:p>
          <a:p>
            <a:pPr algn="just"/>
            <a:r>
              <a:rPr lang="en-US" dirty="0"/>
              <a:t>Software delivers the most important product of our time—</a:t>
            </a:r>
            <a:r>
              <a:rPr lang="en-US" i="1" dirty="0"/>
              <a:t>information. It transforms </a:t>
            </a:r>
            <a:r>
              <a:rPr lang="en-US" dirty="0"/>
              <a:t>personal data (e.g., an individual’s financial transactions) so that the data can be more useful in a local context; it manages business information to enhance competitiveness; it provides a gateway to worldwide information networks (e.g., the Internet), and provides the means for acquiring information in all of its forms.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447800"/>
            <a:ext cx="8305800" cy="4953000"/>
          </a:xfrm>
        </p:spPr>
        <p:txBody>
          <a:bodyPr>
            <a:normAutofit fontScale="92500" lnSpcReduction="10000"/>
          </a:bodyPr>
          <a:lstStyle/>
          <a:p>
            <a:pPr algn="just"/>
            <a:r>
              <a:rPr lang="en-US" dirty="0"/>
              <a:t>Today, a huge software industry has become a dominant factor in the economies of the industrialized world. Teams of software specialists, each focusing on one part of the technology required to deliver a complex application, have replaced the lone programmer of an earlier era.</a:t>
            </a:r>
          </a:p>
          <a:p>
            <a:pPr algn="just"/>
            <a:r>
              <a:rPr lang="en-US" dirty="0"/>
              <a:t>And yet, the questions that were asked of the lone programmer are the same questions that are asked when modern computer-based systems are built: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600200"/>
            <a:ext cx="8382000" cy="4525963"/>
          </a:xfrm>
        </p:spPr>
        <p:txBody>
          <a:bodyPr>
            <a:normAutofit/>
          </a:bodyPr>
          <a:lstStyle/>
          <a:p>
            <a:pPr lvl="1" algn="just"/>
            <a:r>
              <a:rPr lang="en-US" dirty="0"/>
              <a:t>Why does it take so long to get software finished?</a:t>
            </a:r>
          </a:p>
          <a:p>
            <a:pPr lvl="1" algn="just"/>
            <a:r>
              <a:rPr lang="en-US" dirty="0"/>
              <a:t>Why are development costs so high?</a:t>
            </a:r>
          </a:p>
          <a:p>
            <a:pPr lvl="1" algn="just"/>
            <a:r>
              <a:rPr lang="en-US" dirty="0"/>
              <a:t>Why can’t we find all errors before we give the software to our customers?</a:t>
            </a:r>
          </a:p>
          <a:p>
            <a:pPr lvl="1" algn="just"/>
            <a:r>
              <a:rPr lang="en-US" dirty="0"/>
              <a:t>Why do we spend so much time and effort maintaining existing programs?</a:t>
            </a:r>
          </a:p>
          <a:p>
            <a:pPr lvl="1" algn="just"/>
            <a:r>
              <a:rPr lang="en-US" dirty="0"/>
              <a:t>Why do we continue to have difficulty in measuring progress as software is being developed and maintained?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B795D-B739-36F2-AAF8-23C316C3DD3C}"/>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91476109-0E7C-233B-DDD3-D5E5FCFB7ACA}"/>
              </a:ext>
            </a:extLst>
          </p:cNvPr>
          <p:cNvSpPr>
            <a:spLocks noGrp="1"/>
          </p:cNvSpPr>
          <p:nvPr>
            <p:ph idx="1"/>
          </p:nvPr>
        </p:nvSpPr>
        <p:spPr>
          <a:xfrm>
            <a:off x="381000" y="3842657"/>
            <a:ext cx="8229600" cy="2895600"/>
          </a:xfrm>
        </p:spPr>
        <p:txBody>
          <a:bodyPr>
            <a:normAutofit fontScale="70000" lnSpcReduction="20000"/>
          </a:bodyPr>
          <a:lstStyle/>
          <a:p>
            <a:endParaRPr lang="en-GB" b="0" i="0" dirty="0">
              <a:solidFill>
                <a:srgbClr val="202122"/>
              </a:solidFill>
              <a:effectLst/>
              <a:latin typeface="Arial" panose="020B0604020202020204" pitchFamily="34" charset="0"/>
            </a:endParaRPr>
          </a:p>
          <a:p>
            <a:endParaRPr lang="en-GB" dirty="0">
              <a:solidFill>
                <a:srgbClr val="202122"/>
              </a:solidFill>
              <a:latin typeface="Arial" panose="020B0604020202020204" pitchFamily="34" charset="0"/>
            </a:endParaRPr>
          </a:p>
          <a:p>
            <a:endParaRPr lang="en-GB" b="0" i="0" dirty="0">
              <a:solidFill>
                <a:srgbClr val="202122"/>
              </a:solidFill>
              <a:effectLst/>
              <a:latin typeface="Arial" panose="020B0604020202020204" pitchFamily="34" charset="0"/>
            </a:endParaRPr>
          </a:p>
          <a:p>
            <a:endParaRPr lang="en-GB" dirty="0">
              <a:solidFill>
                <a:srgbClr val="202122"/>
              </a:solidFill>
              <a:latin typeface="Arial" panose="020B0604020202020204" pitchFamily="34" charset="0"/>
            </a:endParaRPr>
          </a:p>
          <a:p>
            <a:endParaRPr lang="en-GB" b="0" i="0" dirty="0">
              <a:solidFill>
                <a:srgbClr val="202122"/>
              </a:solidFill>
              <a:effectLst/>
              <a:latin typeface="Arial" panose="020B0604020202020204" pitchFamily="34" charset="0"/>
            </a:endParaRPr>
          </a:p>
          <a:p>
            <a:pPr algn="just"/>
            <a:r>
              <a:rPr lang="en-GB" b="0" i="0" dirty="0">
                <a:solidFill>
                  <a:srgbClr val="202122"/>
                </a:solidFill>
                <a:effectLst/>
                <a:latin typeface="Arial" panose="020B0604020202020204" pitchFamily="34" charset="0"/>
              </a:rPr>
              <a:t>Margaret Hamilton in 1969, standing next to listings of the software she and her MIT team produced for the Apollo project.</a:t>
            </a:r>
            <a:endParaRPr lang="en-US" dirty="0"/>
          </a:p>
        </p:txBody>
      </p:sp>
      <p:pic>
        <p:nvPicPr>
          <p:cNvPr id="7" name="Picture 6">
            <a:extLst>
              <a:ext uri="{FF2B5EF4-FFF2-40B4-BE49-F238E27FC236}">
                <a16:creationId xmlns:a16="http://schemas.microsoft.com/office/drawing/2014/main" id="{EA78DA18-B64D-30FB-AEED-7082D702260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14858" y="152400"/>
            <a:ext cx="5514284" cy="5257800"/>
          </a:xfrm>
          <a:prstGeom prst="rect">
            <a:avLst/>
          </a:prstGeom>
        </p:spPr>
      </p:pic>
    </p:spTree>
    <p:extLst>
      <p:ext uri="{BB962C8B-B14F-4D97-AF65-F5344CB8AC3E}">
        <p14:creationId xmlns:p14="http://schemas.microsoft.com/office/powerpoint/2010/main" val="4145136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Defining Software</a:t>
            </a:r>
          </a:p>
        </p:txBody>
      </p:sp>
      <p:sp>
        <p:nvSpPr>
          <p:cNvPr id="3" name="Content Placeholder 2"/>
          <p:cNvSpPr>
            <a:spLocks noGrp="1"/>
          </p:cNvSpPr>
          <p:nvPr>
            <p:ph idx="1"/>
          </p:nvPr>
        </p:nvSpPr>
        <p:spPr/>
        <p:txBody>
          <a:bodyPr>
            <a:normAutofit/>
          </a:bodyPr>
          <a:lstStyle/>
          <a:p>
            <a:r>
              <a:rPr lang="en-US" dirty="0"/>
              <a:t>Software is:</a:t>
            </a:r>
          </a:p>
          <a:p>
            <a:pPr lvl="1"/>
            <a:r>
              <a:rPr lang="en-US" dirty="0"/>
              <a:t>(1) instructions (computer programs) that when executed provide desired features, function, and performance;</a:t>
            </a:r>
          </a:p>
          <a:p>
            <a:pPr lvl="1"/>
            <a:r>
              <a:rPr lang="en-US" dirty="0"/>
              <a:t>(2) data structures that enable the programs to adequately manipulate information, and</a:t>
            </a:r>
          </a:p>
          <a:p>
            <a:pPr lvl="1"/>
            <a:r>
              <a:rPr lang="en-US" dirty="0"/>
              <a:t>(3) descriptive information in both hard copy and virtual forms that describes the operation and use of the programs.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00D78-7A3D-EE59-985F-09AEFC0E19F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17F6887-19C7-56C5-8F57-2B514672F9DC}"/>
              </a:ext>
            </a:extLst>
          </p:cNvPr>
          <p:cNvSpPr>
            <a:spLocks noGrp="1"/>
          </p:cNvSpPr>
          <p:nvPr>
            <p:ph idx="1"/>
          </p:nvPr>
        </p:nvSpPr>
        <p:spPr/>
        <p:txBody>
          <a:bodyPr/>
          <a:lstStyle/>
          <a:p>
            <a:pPr algn="just"/>
            <a:r>
              <a:rPr lang="en-US" dirty="0"/>
              <a:t>Software has characteristics that are considerably different than those of hardware:</a:t>
            </a:r>
          </a:p>
          <a:p>
            <a:pPr lvl="1" algn="just"/>
            <a:r>
              <a:rPr lang="en-US" i="1" dirty="0"/>
              <a:t>Software is developed or engineered; it is not manufactured in the classical sense</a:t>
            </a:r>
          </a:p>
          <a:p>
            <a:pPr lvl="1" algn="just"/>
            <a:r>
              <a:rPr lang="en-US" i="1" dirty="0"/>
              <a:t>Software doesn’t “wear out.</a:t>
            </a:r>
          </a:p>
          <a:p>
            <a:pPr lvl="1" algn="just"/>
            <a:r>
              <a:rPr lang="en-US" i="1" dirty="0"/>
              <a:t>Although the industry is moving toward component-based construction, most software continues to be custom built.</a:t>
            </a:r>
          </a:p>
        </p:txBody>
      </p:sp>
    </p:spTree>
    <p:extLst>
      <p:ext uri="{BB962C8B-B14F-4D97-AF65-F5344CB8AC3E}">
        <p14:creationId xmlns:p14="http://schemas.microsoft.com/office/powerpoint/2010/main" val="17760572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55B37-615A-9556-4FF2-1CFD817EC80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C367D12-0581-E7DD-976A-1AAC597266D5}"/>
              </a:ext>
            </a:extLst>
          </p:cNvPr>
          <p:cNvSpPr>
            <a:spLocks noGrp="1"/>
          </p:cNvSpPr>
          <p:nvPr>
            <p:ph idx="1"/>
          </p:nvPr>
        </p:nvSpPr>
        <p:spPr/>
        <p:txBody>
          <a:bodyPr>
            <a:normAutofit fontScale="85000" lnSpcReduction="20000"/>
          </a:bodyPr>
          <a:lstStyle/>
          <a:p>
            <a:pPr algn="just"/>
            <a:r>
              <a:rPr lang="en-US" dirty="0"/>
              <a:t>The next Figure depicts failure rate as a function of time for hardware. The relationship, often called the “bathtub curve,” indicates that hardware exhibits relatively high failure rates early in its life (these failures are often attributable to design or manufacturing defects); defects are corrected and the failure rate drops to a steady-state level (hopefully, quite low) for some period of time.</a:t>
            </a:r>
          </a:p>
          <a:p>
            <a:pPr algn="just"/>
            <a:r>
              <a:rPr lang="en-US" dirty="0"/>
              <a:t>As time passes, however, the failure rate rises again as hardware components suffer from the cumulative effects of dust, vibration, abuse, temperature extremes, and many other environmental maladies. Stated simply, the hardware begins to </a:t>
            </a:r>
            <a:r>
              <a:rPr lang="en-US" i="1" dirty="0"/>
              <a:t>wear out.</a:t>
            </a:r>
            <a:endParaRPr lang="en-US" dirty="0"/>
          </a:p>
        </p:txBody>
      </p:sp>
    </p:spTree>
    <p:extLst>
      <p:ext uri="{BB962C8B-B14F-4D97-AF65-F5344CB8AC3E}">
        <p14:creationId xmlns:p14="http://schemas.microsoft.com/office/powerpoint/2010/main" val="14192373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Image1.jpg"/>
          <p:cNvPicPr>
            <a:picLocks noGrp="1" noChangeAspect="1"/>
          </p:cNvPicPr>
          <p:nvPr>
            <p:ph idx="1"/>
          </p:nvPr>
        </p:nvPicPr>
        <p:blipFill>
          <a:blip r:embed="rId2" cstate="print"/>
          <a:stretch>
            <a:fillRect/>
          </a:stretch>
        </p:blipFill>
        <p:spPr>
          <a:xfrm>
            <a:off x="1037438" y="1600200"/>
            <a:ext cx="7069123" cy="4525963"/>
          </a:xfr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006A0-D926-A726-D012-83272F7D608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A113B85-A394-F031-0745-8D5581002917}"/>
              </a:ext>
            </a:extLst>
          </p:cNvPr>
          <p:cNvSpPr>
            <a:spLocks noGrp="1"/>
          </p:cNvSpPr>
          <p:nvPr>
            <p:ph idx="1"/>
          </p:nvPr>
        </p:nvSpPr>
        <p:spPr/>
        <p:txBody>
          <a:bodyPr>
            <a:normAutofit fontScale="85000" lnSpcReduction="20000"/>
          </a:bodyPr>
          <a:lstStyle/>
          <a:p>
            <a:pPr algn="just"/>
            <a:r>
              <a:rPr lang="en-US" dirty="0"/>
              <a:t>Software is not susceptible to the environmental maladies that cause hardware to wear out. In theory, therefore, the failure rate curve for software should take the form of the “idealized curve” shown in the next Figure.</a:t>
            </a:r>
          </a:p>
          <a:p>
            <a:pPr algn="just"/>
            <a:r>
              <a:rPr lang="en-US" dirty="0"/>
              <a:t>Undiscovered defects will cause high failure rates early in the life of a program. However, these are corrected and the curve flattens as shown.</a:t>
            </a:r>
          </a:p>
          <a:p>
            <a:pPr algn="just"/>
            <a:r>
              <a:rPr lang="en-US" dirty="0"/>
              <a:t>The idealized curve is a gross oversimplification of actual failure models for software.</a:t>
            </a:r>
          </a:p>
          <a:p>
            <a:pPr algn="just"/>
            <a:r>
              <a:rPr lang="en-US" dirty="0"/>
              <a:t>However, the implication is clear—software doesn’t wear out. But it does </a:t>
            </a:r>
            <a:r>
              <a:rPr lang="en-US" i="1" dirty="0"/>
              <a:t>deteriorate!</a:t>
            </a:r>
          </a:p>
        </p:txBody>
      </p:sp>
    </p:spTree>
    <p:extLst>
      <p:ext uri="{BB962C8B-B14F-4D97-AF65-F5344CB8AC3E}">
        <p14:creationId xmlns:p14="http://schemas.microsoft.com/office/powerpoint/2010/main" val="19442631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Image2.jpg"/>
          <p:cNvPicPr>
            <a:picLocks noGrp="1" noChangeAspect="1"/>
          </p:cNvPicPr>
          <p:nvPr>
            <p:ph idx="1"/>
          </p:nvPr>
        </p:nvPicPr>
        <p:blipFill>
          <a:blip r:embed="rId2" cstate="print"/>
          <a:stretch>
            <a:fillRect/>
          </a:stretch>
        </p:blipFill>
        <p:spPr>
          <a:xfrm>
            <a:off x="1247039" y="1600200"/>
            <a:ext cx="6649922" cy="4525963"/>
          </a:xfr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5ECFD-4AE9-50CD-C890-3F819934984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1652135-97A2-EE8E-0E76-3727DD2F8339}"/>
              </a:ext>
            </a:extLst>
          </p:cNvPr>
          <p:cNvSpPr>
            <a:spLocks noGrp="1"/>
          </p:cNvSpPr>
          <p:nvPr>
            <p:ph idx="1"/>
          </p:nvPr>
        </p:nvSpPr>
        <p:spPr/>
        <p:txBody>
          <a:bodyPr>
            <a:normAutofit lnSpcReduction="10000"/>
          </a:bodyPr>
          <a:lstStyle/>
          <a:p>
            <a:pPr algn="just"/>
            <a:r>
              <a:rPr lang="en-US" dirty="0"/>
              <a:t>As changes are made, it is likely that errors will be introduced, causing the failure rate curve to spike as shown in the “actual curve”.</a:t>
            </a:r>
          </a:p>
          <a:p>
            <a:pPr algn="just"/>
            <a:r>
              <a:rPr lang="en-US" dirty="0"/>
              <a:t>Before the curve can return to the original steady-state failure rate, another change is requested, causing the curve to spike again. Slowly, the minimum failure rate level begins to rise—the software is deteriorating due to change.</a:t>
            </a:r>
          </a:p>
          <a:p>
            <a:endParaRPr lang="en-US" dirty="0"/>
          </a:p>
        </p:txBody>
      </p:sp>
    </p:spTree>
    <p:extLst>
      <p:ext uri="{BB962C8B-B14F-4D97-AF65-F5344CB8AC3E}">
        <p14:creationId xmlns:p14="http://schemas.microsoft.com/office/powerpoint/2010/main" val="37952135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DFD1A9-A522-DB3C-3655-43340A30BD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E0126F-CAD4-AE79-639F-21DE9EDA816B}"/>
              </a:ext>
            </a:extLst>
          </p:cNvPr>
          <p:cNvSpPr>
            <a:spLocks noGrp="1"/>
          </p:cNvSpPr>
          <p:nvPr>
            <p:ph type="title"/>
          </p:nvPr>
        </p:nvSpPr>
        <p:spPr/>
        <p:txBody>
          <a:bodyPr/>
          <a:lstStyle/>
          <a:p>
            <a:endParaRPr lang="en-US"/>
          </a:p>
        </p:txBody>
      </p:sp>
      <p:pic>
        <p:nvPicPr>
          <p:cNvPr id="4" name="Content Placeholder 3" descr="Image2.jpg">
            <a:extLst>
              <a:ext uri="{FF2B5EF4-FFF2-40B4-BE49-F238E27FC236}">
                <a16:creationId xmlns:a16="http://schemas.microsoft.com/office/drawing/2014/main" id="{5C492891-2C11-1680-2E84-CABA5A8C8333}"/>
              </a:ext>
            </a:extLst>
          </p:cNvPr>
          <p:cNvPicPr>
            <a:picLocks noGrp="1" noChangeAspect="1"/>
          </p:cNvPicPr>
          <p:nvPr>
            <p:ph idx="1"/>
          </p:nvPr>
        </p:nvPicPr>
        <p:blipFill>
          <a:blip r:embed="rId2" cstate="print"/>
          <a:stretch>
            <a:fillRect/>
          </a:stretch>
        </p:blipFill>
        <p:spPr>
          <a:xfrm>
            <a:off x="1247039" y="1600200"/>
            <a:ext cx="6649922" cy="4525963"/>
          </a:xfrm>
        </p:spPr>
      </p:pic>
    </p:spTree>
    <p:extLst>
      <p:ext uri="{BB962C8B-B14F-4D97-AF65-F5344CB8AC3E}">
        <p14:creationId xmlns:p14="http://schemas.microsoft.com/office/powerpoint/2010/main" val="40255667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Application Domains</a:t>
            </a:r>
          </a:p>
        </p:txBody>
      </p:sp>
      <p:sp>
        <p:nvSpPr>
          <p:cNvPr id="3" name="Content Placeholder 2"/>
          <p:cNvSpPr>
            <a:spLocks noGrp="1"/>
          </p:cNvSpPr>
          <p:nvPr>
            <p:ph idx="1"/>
          </p:nvPr>
        </p:nvSpPr>
        <p:spPr/>
        <p:txBody>
          <a:bodyPr/>
          <a:lstStyle/>
          <a:p>
            <a:r>
              <a:rPr lang="en-US" dirty="0"/>
              <a:t>System Software</a:t>
            </a:r>
          </a:p>
          <a:p>
            <a:r>
              <a:rPr lang="en-US" dirty="0"/>
              <a:t>Application Software</a:t>
            </a:r>
          </a:p>
          <a:p>
            <a:r>
              <a:rPr lang="en-US" dirty="0"/>
              <a:t>Engineering/Scientific Software</a:t>
            </a:r>
          </a:p>
          <a:p>
            <a:r>
              <a:rPr lang="en-US" dirty="0"/>
              <a:t>Embedded Software</a:t>
            </a:r>
          </a:p>
          <a:p>
            <a:r>
              <a:rPr lang="en-US" dirty="0"/>
              <a:t>Product-line Software</a:t>
            </a:r>
          </a:p>
          <a:p>
            <a:r>
              <a:rPr lang="en-US" dirty="0"/>
              <a:t>Web Applications</a:t>
            </a:r>
          </a:p>
          <a:p>
            <a:r>
              <a:rPr lang="en-US" dirty="0"/>
              <a:t>Artificial Intelligence Software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Engineering</a:t>
            </a:r>
          </a:p>
        </p:txBody>
      </p:sp>
      <p:sp>
        <p:nvSpPr>
          <p:cNvPr id="3" name="Content Placeholder 2"/>
          <p:cNvSpPr>
            <a:spLocks noGrp="1"/>
          </p:cNvSpPr>
          <p:nvPr>
            <p:ph idx="1"/>
          </p:nvPr>
        </p:nvSpPr>
        <p:spPr>
          <a:xfrm>
            <a:off x="457200" y="1600200"/>
            <a:ext cx="8229600" cy="4800600"/>
          </a:xfrm>
        </p:spPr>
        <p:txBody>
          <a:bodyPr>
            <a:normAutofit fontScale="92500" lnSpcReduction="10000"/>
          </a:bodyPr>
          <a:lstStyle/>
          <a:p>
            <a:pPr algn="just"/>
            <a:r>
              <a:rPr lang="en-US" dirty="0"/>
              <a:t>In order to build software that is ready to meet the challenges of the twenty-first century, you must recognize a few simple realities:</a:t>
            </a:r>
          </a:p>
          <a:p>
            <a:pPr lvl="1" algn="just"/>
            <a:r>
              <a:rPr lang="en-US" i="1" dirty="0"/>
              <a:t>It follows that a concerted effort should be made to understand the problem before a software solution is developed.</a:t>
            </a:r>
          </a:p>
          <a:p>
            <a:pPr lvl="1" algn="just"/>
            <a:r>
              <a:rPr lang="en-US" dirty="0"/>
              <a:t>The information technology requirements demanded by individuals, businesses, and governments grow increasingly complex with each passing year (Income Tax)… Large teams of people now create computer programs that were once built by a single individual. </a:t>
            </a:r>
            <a:r>
              <a:rPr lang="en-US" i="1" dirty="0"/>
              <a:t>It follows that design becomes a pivotal activity.</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C909C-69D4-D98F-CBE5-7D8E3FA0630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92C4A6E-0811-B30B-1F90-6B75B4A1BF1A}"/>
              </a:ext>
            </a:extLst>
          </p:cNvPr>
          <p:cNvSpPr>
            <a:spLocks noGrp="1"/>
          </p:cNvSpPr>
          <p:nvPr>
            <p:ph idx="1"/>
          </p:nvPr>
        </p:nvSpPr>
        <p:spPr/>
        <p:txBody>
          <a:bodyPr/>
          <a:lstStyle/>
          <a:p>
            <a:pPr algn="just"/>
            <a:r>
              <a:rPr lang="en-GB" b="0" i="1" dirty="0">
                <a:solidFill>
                  <a:srgbClr val="222222"/>
                </a:solidFill>
                <a:effectLst/>
                <a:latin typeface="Georgia" panose="02040502050405020303" pitchFamily="18" charset="0"/>
              </a:rPr>
              <a:t>The hardest thing in the world to understand is the income tax. </a:t>
            </a:r>
            <a:r>
              <a:rPr lang="en-GB" i="1" dirty="0">
                <a:solidFill>
                  <a:srgbClr val="222222"/>
                </a:solidFill>
                <a:latin typeface="Georgia" panose="02040502050405020303" pitchFamily="18" charset="0"/>
              </a:rPr>
              <a:t>– </a:t>
            </a:r>
            <a:r>
              <a:rPr lang="en-US" b="0" dirty="0">
                <a:solidFill>
                  <a:srgbClr val="FD890B"/>
                </a:solidFill>
                <a:effectLst/>
                <a:latin typeface="inherit"/>
              </a:rPr>
              <a:t>Albert Einstein</a:t>
            </a:r>
            <a:r>
              <a:rPr lang="en-GB" i="1" dirty="0">
                <a:solidFill>
                  <a:srgbClr val="222222"/>
                </a:solidFill>
                <a:latin typeface="Georgia" panose="02040502050405020303" pitchFamily="18" charset="0"/>
              </a:rPr>
              <a:t> </a:t>
            </a:r>
            <a:endParaRPr lang="en-US" dirty="0"/>
          </a:p>
        </p:txBody>
      </p:sp>
    </p:spTree>
    <p:extLst>
      <p:ext uri="{BB962C8B-B14F-4D97-AF65-F5344CB8AC3E}">
        <p14:creationId xmlns:p14="http://schemas.microsoft.com/office/powerpoint/2010/main" val="38832407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lvl="1" algn="just"/>
            <a:r>
              <a:rPr lang="en-US" dirty="0"/>
              <a:t>Individuals, businesses, and governments increasingly rely on software for strategic and tactical decision making as well as day-to-day operations and control. If the software fails, people and major enterprises can experience anything from minor inconvenience to catastrophic failures. </a:t>
            </a:r>
            <a:r>
              <a:rPr lang="en-US" i="1" dirty="0"/>
              <a:t>It follows that software should exhibit high quality. </a:t>
            </a:r>
            <a:r>
              <a:rPr lang="en-US" dirty="0"/>
              <a:t>(Stock is Okay)</a:t>
            </a:r>
          </a:p>
          <a:p>
            <a:pPr lvl="1" algn="just"/>
            <a:r>
              <a:rPr lang="en-US" dirty="0"/>
              <a:t>As the perceived value of a specific application grows, the likelihood is that its user base and longevity will also grow. As its user base and time-in-use increase, demands for adaptation and enhancement will also grow. </a:t>
            </a:r>
            <a:r>
              <a:rPr lang="en-US" i="1" dirty="0"/>
              <a:t>It follows that software should be maintainable.</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Footnote</a:t>
            </a:r>
            <a:endParaRPr lang="en-US" dirty="0"/>
          </a:p>
        </p:txBody>
      </p:sp>
      <p:sp>
        <p:nvSpPr>
          <p:cNvPr id="3" name="Content Placeholder 2"/>
          <p:cNvSpPr>
            <a:spLocks noGrp="1"/>
          </p:cNvSpPr>
          <p:nvPr>
            <p:ph idx="1"/>
          </p:nvPr>
        </p:nvSpPr>
        <p:spPr/>
        <p:txBody>
          <a:bodyPr>
            <a:normAutofit fontScale="92500"/>
          </a:bodyPr>
          <a:lstStyle/>
          <a:p>
            <a:r>
              <a:rPr lang="en-US" dirty="0"/>
              <a:t>DSS</a:t>
            </a:r>
          </a:p>
          <a:p>
            <a:pPr lvl="1"/>
            <a:r>
              <a:rPr lang="en-US" dirty="0"/>
              <a:t>Relates to long-range planning</a:t>
            </a:r>
          </a:p>
          <a:p>
            <a:pPr lvl="1"/>
            <a:r>
              <a:rPr lang="en-US" dirty="0"/>
              <a:t>Human resources changes</a:t>
            </a:r>
          </a:p>
          <a:p>
            <a:r>
              <a:rPr lang="en-US" dirty="0"/>
              <a:t>MIS</a:t>
            </a:r>
          </a:p>
          <a:p>
            <a:pPr lvl="1"/>
            <a:r>
              <a:rPr lang="en-US" dirty="0"/>
              <a:t>Known to us all</a:t>
            </a:r>
          </a:p>
          <a:p>
            <a:pPr lvl="1"/>
            <a:r>
              <a:rPr lang="en-US" dirty="0"/>
              <a:t>Monthly/Yearly Sales analysis</a:t>
            </a:r>
          </a:p>
          <a:p>
            <a:r>
              <a:rPr lang="en-US" dirty="0"/>
              <a:t>DPS</a:t>
            </a:r>
          </a:p>
          <a:p>
            <a:pPr lvl="1"/>
            <a:r>
              <a:rPr lang="en-US" dirty="0"/>
              <a:t>Enforce day to day rules and regulations of a business</a:t>
            </a:r>
          </a:p>
          <a:p>
            <a:pPr lvl="1"/>
            <a:r>
              <a:rPr lang="en-US" dirty="0"/>
              <a:t>Employee absence sheet, current stock of products</a:t>
            </a:r>
          </a:p>
          <a:p>
            <a:pPr lvl="1"/>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6E85D-F756-F6D5-A6B8-1CC530BA233D}"/>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8503F33D-A073-24DE-CC0E-7579F83AE4C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10989" y="1600200"/>
            <a:ext cx="7722022" cy="4525963"/>
          </a:xfrm>
        </p:spPr>
      </p:pic>
    </p:spTree>
    <p:extLst>
      <p:ext uri="{BB962C8B-B14F-4D97-AF65-F5344CB8AC3E}">
        <p14:creationId xmlns:p14="http://schemas.microsoft.com/office/powerpoint/2010/main" val="31524540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Focus Area: MIS</a:t>
            </a:r>
          </a:p>
        </p:txBody>
      </p:sp>
      <p:sp>
        <p:nvSpPr>
          <p:cNvPr id="3" name="Content Placeholder 2"/>
          <p:cNvSpPr>
            <a:spLocks noGrp="1"/>
          </p:cNvSpPr>
          <p:nvPr>
            <p:ph idx="1"/>
          </p:nvPr>
        </p:nvSpPr>
        <p:spPr>
          <a:xfrm>
            <a:off x="457200" y="1600200"/>
            <a:ext cx="8229600" cy="4724400"/>
          </a:xfrm>
        </p:spPr>
        <p:txBody>
          <a:bodyPr/>
          <a:lstStyle/>
          <a:p>
            <a:pPr algn="just"/>
            <a:r>
              <a:rPr lang="en-US" dirty="0"/>
              <a:t>A key element of MIS is the database. MIS cannot be implemented effectively without the help of a database</a:t>
            </a:r>
          </a:p>
          <a:p>
            <a:pPr algn="just"/>
            <a:r>
              <a:rPr lang="en-US" dirty="0"/>
              <a:t>A database is a nonredundant collection of interrelated data items that can be accessed through application programs and available to many users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C18F71-FA05-06BF-A068-1CD8FF65FA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FB685B-15FE-DA36-5627-A3DBC9C644F0}"/>
              </a:ext>
            </a:extLst>
          </p:cNvPr>
          <p:cNvSpPr>
            <a:spLocks noGrp="1"/>
          </p:cNvSpPr>
          <p:nvPr>
            <p:ph type="title"/>
          </p:nvPr>
        </p:nvSpPr>
        <p:spPr/>
        <p:txBody>
          <a:bodyPr/>
          <a:lstStyle/>
          <a:p>
            <a:r>
              <a:rPr lang="en-US" dirty="0"/>
              <a:t>Decision Making</a:t>
            </a:r>
          </a:p>
        </p:txBody>
      </p:sp>
      <p:sp>
        <p:nvSpPr>
          <p:cNvPr id="3" name="Content Placeholder 2">
            <a:extLst>
              <a:ext uri="{FF2B5EF4-FFF2-40B4-BE49-F238E27FC236}">
                <a16:creationId xmlns:a16="http://schemas.microsoft.com/office/drawing/2014/main" id="{A671733C-4DD3-81BF-32F7-5238F7A10F08}"/>
              </a:ext>
            </a:extLst>
          </p:cNvPr>
          <p:cNvSpPr>
            <a:spLocks noGrp="1"/>
          </p:cNvSpPr>
          <p:nvPr>
            <p:ph idx="1"/>
          </p:nvPr>
        </p:nvSpPr>
        <p:spPr/>
        <p:txBody>
          <a:bodyPr>
            <a:normAutofit/>
          </a:bodyPr>
          <a:lstStyle/>
          <a:p>
            <a:pPr>
              <a:buFont typeface="Wingdings" pitchFamily="2" charset="2"/>
              <a:buChar char="v"/>
            </a:pPr>
            <a:r>
              <a:rPr lang="en-US" dirty="0"/>
              <a:t>Elements?</a:t>
            </a:r>
          </a:p>
        </p:txBody>
      </p:sp>
    </p:spTree>
    <p:extLst>
      <p:ext uri="{BB962C8B-B14F-4D97-AF65-F5344CB8AC3E}">
        <p14:creationId xmlns:p14="http://schemas.microsoft.com/office/powerpoint/2010/main" val="27399452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Decision Making</a:t>
            </a:r>
          </a:p>
        </p:txBody>
      </p:sp>
      <p:sp>
        <p:nvSpPr>
          <p:cNvPr id="3" name="Content Placeholder 2"/>
          <p:cNvSpPr>
            <a:spLocks noGrp="1"/>
          </p:cNvSpPr>
          <p:nvPr>
            <p:ph idx="1"/>
          </p:nvPr>
        </p:nvSpPr>
        <p:spPr/>
        <p:txBody>
          <a:bodyPr>
            <a:normAutofit/>
          </a:bodyPr>
          <a:lstStyle/>
          <a:p>
            <a:pPr algn="just"/>
            <a:r>
              <a:rPr lang="en-US" dirty="0"/>
              <a:t>MIS – consolidates day to day transaction</a:t>
            </a:r>
          </a:p>
          <a:p>
            <a:pPr lvl="1" algn="just"/>
            <a:r>
              <a:rPr lang="en-US" dirty="0"/>
              <a:t>Production MIS</a:t>
            </a:r>
          </a:p>
          <a:p>
            <a:pPr lvl="1" algn="just"/>
            <a:r>
              <a:rPr lang="en-US" dirty="0"/>
              <a:t>Personnel MIS</a:t>
            </a:r>
          </a:p>
          <a:p>
            <a:pPr lvl="1" algn="just"/>
            <a:r>
              <a:rPr lang="en-US" dirty="0"/>
              <a:t>Measures are consolidated according to Dimensions</a:t>
            </a:r>
          </a:p>
          <a:p>
            <a:pPr algn="just"/>
            <a:r>
              <a:rPr lang="en-US" dirty="0"/>
              <a:t>DSS – in my own view: results from all the available MIS systems, available external data …</a:t>
            </a:r>
          </a:p>
          <a:p>
            <a:pPr algn="just"/>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600200"/>
            <a:ext cx="8229600" cy="4724400"/>
          </a:xfrm>
        </p:spPr>
        <p:txBody>
          <a:bodyPr>
            <a:normAutofit fontScale="85000" lnSpcReduction="10000"/>
          </a:bodyPr>
          <a:lstStyle/>
          <a:p>
            <a:pPr algn="just"/>
            <a:r>
              <a:rPr lang="en-US" dirty="0"/>
              <a:t>All these realities lead to one conclusion: </a:t>
            </a:r>
            <a:r>
              <a:rPr lang="en-US" i="1" dirty="0"/>
              <a:t>software in all of its forms and across all of its application domains should be engineered. And that leads us to the topic of this </a:t>
            </a:r>
            <a:r>
              <a:rPr lang="en-US" dirty="0"/>
              <a:t>book—</a:t>
            </a:r>
            <a:r>
              <a:rPr lang="en-US" i="1" dirty="0"/>
              <a:t>software engineering.</a:t>
            </a:r>
          </a:p>
          <a:p>
            <a:pPr algn="just"/>
            <a:r>
              <a:rPr lang="en-US" dirty="0"/>
              <a:t>Although hundreds of authors have developed personal definitions of software engineering, a definition proposed by Fritz Bauer still serves as a basis for discussion:</a:t>
            </a:r>
          </a:p>
          <a:p>
            <a:pPr algn="just"/>
            <a:r>
              <a:rPr lang="en-US" dirty="0"/>
              <a:t>[Software engineering is] the establishment and use of sound engineering principles in order to obtain economically software that is reliable and works efficiently on real machines.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Software Process</a:t>
            </a:r>
          </a:p>
        </p:txBody>
      </p:sp>
      <p:sp>
        <p:nvSpPr>
          <p:cNvPr id="3" name="Content Placeholder 2"/>
          <p:cNvSpPr>
            <a:spLocks noGrp="1"/>
          </p:cNvSpPr>
          <p:nvPr>
            <p:ph idx="1"/>
          </p:nvPr>
        </p:nvSpPr>
        <p:spPr/>
        <p:txBody>
          <a:bodyPr>
            <a:normAutofit fontScale="85000" lnSpcReduction="10000"/>
          </a:bodyPr>
          <a:lstStyle/>
          <a:p>
            <a:pPr algn="just"/>
            <a:r>
              <a:rPr lang="en-US" dirty="0"/>
              <a:t>A </a:t>
            </a:r>
            <a:r>
              <a:rPr lang="en-US" i="1" dirty="0"/>
              <a:t>process is a collection of activities, actions, and tasks that are performed when </a:t>
            </a:r>
            <a:r>
              <a:rPr lang="en-US" dirty="0"/>
              <a:t>some work product is to be created.</a:t>
            </a:r>
          </a:p>
          <a:p>
            <a:pPr lvl="1" algn="just"/>
            <a:r>
              <a:rPr lang="en-US" dirty="0"/>
              <a:t>An </a:t>
            </a:r>
            <a:r>
              <a:rPr lang="en-US" i="1" dirty="0"/>
              <a:t>activity strives to achieve a broad objective </a:t>
            </a:r>
            <a:r>
              <a:rPr lang="en-US" dirty="0"/>
              <a:t>(e.g., communication with stakeholders) and is applied regardless of the application domain, size of the project, complexity of the effort, or degree of rigor with which software engineering is to be applied.</a:t>
            </a:r>
          </a:p>
          <a:p>
            <a:pPr lvl="1" algn="just"/>
            <a:r>
              <a:rPr lang="en-US" dirty="0"/>
              <a:t>An </a:t>
            </a:r>
            <a:r>
              <a:rPr lang="en-US" i="1" dirty="0"/>
              <a:t>action encompasses </a:t>
            </a:r>
            <a:r>
              <a:rPr lang="en-US" dirty="0"/>
              <a:t>a set of tasks that produce a major work product (e.g., an architectural design model).</a:t>
            </a:r>
          </a:p>
          <a:p>
            <a:pPr lvl="1" algn="just"/>
            <a:r>
              <a:rPr lang="en-US" dirty="0"/>
              <a:t>A </a:t>
            </a:r>
            <a:r>
              <a:rPr lang="en-US" i="1" dirty="0"/>
              <a:t>task focuses on a small, but well-defined objective (e.g., conducting a unit </a:t>
            </a:r>
            <a:r>
              <a:rPr lang="en-US" dirty="0"/>
              <a:t>test) that produces a tangible outcome.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algn="just"/>
            <a:r>
              <a:rPr lang="en-US" dirty="0"/>
              <a:t>In the context of software engineering, a process is </a:t>
            </a:r>
            <a:r>
              <a:rPr lang="en-US" i="1" dirty="0"/>
              <a:t>not a rigid prescription for how </a:t>
            </a:r>
            <a:r>
              <a:rPr lang="en-US" dirty="0"/>
              <a:t>to build computer software.</a:t>
            </a:r>
          </a:p>
          <a:p>
            <a:pPr algn="just"/>
            <a:r>
              <a:rPr lang="en-US" dirty="0"/>
              <a:t>Rather, it is an adaptable approach that enables the people doing the work (the software team) to pick and choose the appropriate set of activities, actions, and tasks.</a:t>
            </a:r>
          </a:p>
          <a:p>
            <a:pPr algn="just"/>
            <a:r>
              <a:rPr lang="en-US" dirty="0"/>
              <a:t>The intent is always to deliver software in a timely manner and with sufficient quality to satisfy those who have sponsored its creation and those who will use it.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Process Framework</a:t>
            </a:r>
          </a:p>
        </p:txBody>
      </p:sp>
      <p:sp>
        <p:nvSpPr>
          <p:cNvPr id="3" name="Content Placeholder 2"/>
          <p:cNvSpPr>
            <a:spLocks noGrp="1"/>
          </p:cNvSpPr>
          <p:nvPr>
            <p:ph idx="1"/>
          </p:nvPr>
        </p:nvSpPr>
        <p:spPr/>
        <p:txBody>
          <a:bodyPr>
            <a:normAutofit fontScale="92500" lnSpcReduction="10000"/>
          </a:bodyPr>
          <a:lstStyle/>
          <a:p>
            <a:pPr algn="just"/>
            <a:r>
              <a:rPr lang="en-US" dirty="0"/>
              <a:t>A generic process framework for software engineering  encompasses five activities:</a:t>
            </a:r>
          </a:p>
          <a:p>
            <a:pPr algn="just"/>
            <a:r>
              <a:rPr lang="en-US" b="1" dirty="0"/>
              <a:t>Communication. </a:t>
            </a:r>
            <a:r>
              <a:rPr lang="en-US" dirty="0"/>
              <a:t>Before any technical work can commence, it is critically important to communicate and collaborate with the customer (and other stakeholders).</a:t>
            </a:r>
          </a:p>
          <a:p>
            <a:pPr algn="just"/>
            <a:r>
              <a:rPr lang="en-US" dirty="0"/>
              <a:t>The intent is to understand stakeholders’ objectives for the project and to gather requirements that help define software features and functions.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algn="just"/>
            <a:r>
              <a:rPr lang="en-US" b="1" dirty="0"/>
              <a:t>Planning. </a:t>
            </a:r>
            <a:r>
              <a:rPr lang="en-US" dirty="0"/>
              <a:t>Any complicated journey can be simplified if a map exists. A software project is a complicated journey, and the planning activity creates a “map” that helps guide the team as it makes the journey.</a:t>
            </a:r>
          </a:p>
          <a:p>
            <a:pPr algn="just"/>
            <a:r>
              <a:rPr lang="en-US" dirty="0"/>
              <a:t>The map—called a </a:t>
            </a:r>
            <a:r>
              <a:rPr lang="en-US" i="1" dirty="0"/>
              <a:t>software project plan—</a:t>
            </a:r>
            <a:r>
              <a:rPr lang="en-US" dirty="0"/>
              <a:t>defines the software engineering work by describing the technical tasks to be conducted, the risks that are likely, the resources that will be required, the work products to be produced, and a work schedule. (Padma Bridge)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600200"/>
            <a:ext cx="8229600" cy="4800600"/>
          </a:xfrm>
        </p:spPr>
        <p:txBody>
          <a:bodyPr>
            <a:normAutofit fontScale="85000" lnSpcReduction="20000"/>
          </a:bodyPr>
          <a:lstStyle/>
          <a:p>
            <a:pPr algn="just"/>
            <a:r>
              <a:rPr lang="en-US" b="1" dirty="0"/>
              <a:t>Modeling. </a:t>
            </a:r>
            <a:r>
              <a:rPr lang="en-US" dirty="0"/>
              <a:t>Whether you’re a landscaper, a bridge builder, an aeronautical engineer, a carpenter, or an architect, you work with models every day. You create a “sketch” of the thing so that you’ll understand the big picture—what it will look like architecturally, how the constituent parts fit together, and many other characteristics.</a:t>
            </a:r>
          </a:p>
          <a:p>
            <a:pPr algn="just"/>
            <a:r>
              <a:rPr lang="en-US" dirty="0"/>
              <a:t>If required, you refine the sketch into greater and greater detail in an effort to better understand the problem and how you’re going to solve it.</a:t>
            </a:r>
          </a:p>
          <a:p>
            <a:pPr algn="just"/>
            <a:r>
              <a:rPr lang="en-US" dirty="0"/>
              <a:t>A software engineer does the same thing by creating models to better understand software requirements and the design that will achieve those requirements.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algn="just"/>
            <a:r>
              <a:rPr lang="en-US" b="1" dirty="0"/>
              <a:t>Construction. </a:t>
            </a:r>
            <a:r>
              <a:rPr lang="en-US" dirty="0"/>
              <a:t>This activity combines code generation (either manual or automated) and the testing that is required to uncover errors in the code.</a:t>
            </a:r>
          </a:p>
          <a:p>
            <a:pPr algn="just"/>
            <a:r>
              <a:rPr lang="en-US" b="1" dirty="0"/>
              <a:t>Deployment. </a:t>
            </a:r>
            <a:r>
              <a:rPr lang="en-US" dirty="0"/>
              <a:t>The software (as a complete entity or as a partially completed increment) is delivered to the customer who evaluates the delivered product and provides feedback based on the evaluation.</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just"/>
            <a:r>
              <a:rPr lang="en-US" dirty="0"/>
              <a:t>As discussed previously, a generic process framework for software engineering defines five framework activities—</a:t>
            </a:r>
            <a:r>
              <a:rPr lang="en-US" b="1" dirty="0"/>
              <a:t>communication, planning, modeling, construction, and deployment.</a:t>
            </a:r>
          </a:p>
          <a:p>
            <a:r>
              <a:rPr lang="en-GB" dirty="0"/>
              <a:t>We now describe the  principles that focus on software engineering practice as a whole.</a:t>
            </a:r>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 The First Principle: The Reason It All Exists</a:t>
            </a:r>
            <a:endParaRPr lang="en-US" dirty="0"/>
          </a:p>
        </p:txBody>
      </p:sp>
      <p:sp>
        <p:nvSpPr>
          <p:cNvPr id="3" name="Content Placeholder 2"/>
          <p:cNvSpPr>
            <a:spLocks noGrp="1"/>
          </p:cNvSpPr>
          <p:nvPr>
            <p:ph idx="1"/>
          </p:nvPr>
        </p:nvSpPr>
        <p:spPr/>
        <p:txBody>
          <a:bodyPr>
            <a:normAutofit fontScale="92500" lnSpcReduction="10000"/>
          </a:bodyPr>
          <a:lstStyle/>
          <a:p>
            <a:pPr algn="just"/>
            <a:r>
              <a:rPr lang="en-GB" dirty="0"/>
              <a:t> A software system exists for one reason: to provide value to its users.</a:t>
            </a:r>
          </a:p>
          <a:p>
            <a:pPr algn="just"/>
            <a:r>
              <a:rPr lang="en-GB" dirty="0"/>
              <a:t>All decisions should be made with this in mind. Before specifying a system requirement, before noting a piece of system functionality, before determining the hardware platforms or development processes, ask yourself questions such as: “Does this add real value to the system?” </a:t>
            </a:r>
          </a:p>
          <a:p>
            <a:pPr algn="just"/>
            <a:r>
              <a:rPr lang="en-GB" dirty="0"/>
              <a:t>If the answer is “no,” don’t do it. All other principles support this one.</a:t>
            </a:r>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02CCAD-CB6B-2957-0960-239F51B116A6}"/>
              </a:ext>
            </a:extLst>
          </p:cNvPr>
          <p:cNvSpPr>
            <a:spLocks noGrp="1"/>
          </p:cNvSpPr>
          <p:nvPr>
            <p:ph type="title"/>
          </p:nvPr>
        </p:nvSpPr>
        <p:spPr/>
        <p:txBody>
          <a:bodyPr>
            <a:normAutofit fontScale="90000"/>
          </a:bodyPr>
          <a:lstStyle/>
          <a:p>
            <a:r>
              <a:rPr lang="en-GB" dirty="0"/>
              <a:t>The Second Principle: KISS (Keep It Simple, Stupid!)</a:t>
            </a:r>
            <a:endParaRPr lang="en-US" dirty="0"/>
          </a:p>
        </p:txBody>
      </p:sp>
      <p:sp>
        <p:nvSpPr>
          <p:cNvPr id="3" name="Content Placeholder 2">
            <a:extLst>
              <a:ext uri="{FF2B5EF4-FFF2-40B4-BE49-F238E27FC236}">
                <a16:creationId xmlns:a16="http://schemas.microsoft.com/office/drawing/2014/main" id="{2CB0E5D5-1535-32D2-559E-43DC57802178}"/>
              </a:ext>
            </a:extLst>
          </p:cNvPr>
          <p:cNvSpPr>
            <a:spLocks noGrp="1"/>
          </p:cNvSpPr>
          <p:nvPr>
            <p:ph idx="1"/>
          </p:nvPr>
        </p:nvSpPr>
        <p:spPr/>
        <p:txBody>
          <a:bodyPr/>
          <a:lstStyle/>
          <a:p>
            <a:pPr algn="just"/>
            <a:r>
              <a:rPr lang="en-GB" dirty="0"/>
              <a:t>Software design is not a haphazard process. There are many factors to consider in any design effort.</a:t>
            </a:r>
          </a:p>
          <a:p>
            <a:pPr algn="just"/>
            <a:r>
              <a:rPr lang="en-GB" dirty="0"/>
              <a:t>All design should be as simple as possible.</a:t>
            </a:r>
          </a:p>
          <a:p>
            <a:pPr algn="just"/>
            <a:r>
              <a:rPr lang="en-GB" dirty="0"/>
              <a:t>This facilitates having a more easily understood and easily maintained system.</a:t>
            </a:r>
            <a:endParaRPr lang="en-US" dirty="0"/>
          </a:p>
        </p:txBody>
      </p:sp>
    </p:spTree>
    <p:extLst>
      <p:ext uri="{BB962C8B-B14F-4D97-AF65-F5344CB8AC3E}">
        <p14:creationId xmlns:p14="http://schemas.microsoft.com/office/powerpoint/2010/main" val="21262670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0E1C5-2451-4038-9044-FECB1C030E91}"/>
              </a:ext>
            </a:extLst>
          </p:cNvPr>
          <p:cNvSpPr>
            <a:spLocks noGrp="1"/>
          </p:cNvSpPr>
          <p:nvPr>
            <p:ph type="title"/>
          </p:nvPr>
        </p:nvSpPr>
        <p:spPr/>
        <p:txBody>
          <a:bodyPr>
            <a:normAutofit fontScale="90000"/>
          </a:bodyPr>
          <a:lstStyle/>
          <a:p>
            <a:r>
              <a:rPr lang="en-GB" dirty="0"/>
              <a:t>The Third Principle: Maintain the Vision</a:t>
            </a:r>
            <a:endParaRPr lang="en-US" dirty="0"/>
          </a:p>
        </p:txBody>
      </p:sp>
      <p:sp>
        <p:nvSpPr>
          <p:cNvPr id="3" name="Content Placeholder 2">
            <a:extLst>
              <a:ext uri="{FF2B5EF4-FFF2-40B4-BE49-F238E27FC236}">
                <a16:creationId xmlns:a16="http://schemas.microsoft.com/office/drawing/2014/main" id="{02E9AE4D-0A0D-AADE-D678-6EDE2EBBEDD9}"/>
              </a:ext>
            </a:extLst>
          </p:cNvPr>
          <p:cNvSpPr>
            <a:spLocks noGrp="1"/>
          </p:cNvSpPr>
          <p:nvPr>
            <p:ph idx="1"/>
          </p:nvPr>
        </p:nvSpPr>
        <p:spPr/>
        <p:txBody>
          <a:bodyPr>
            <a:normAutofit lnSpcReduction="10000"/>
          </a:bodyPr>
          <a:lstStyle/>
          <a:p>
            <a:pPr algn="just"/>
            <a:r>
              <a:rPr lang="en-GB" dirty="0"/>
              <a:t>A clear vision is essential to the success of a software project.</a:t>
            </a:r>
          </a:p>
          <a:p>
            <a:pPr algn="just"/>
            <a:r>
              <a:rPr lang="en-GB" dirty="0"/>
              <a:t>Without one, a project almost unfailingly ends up being “of two [or more] minds” about itself.</a:t>
            </a:r>
          </a:p>
          <a:p>
            <a:pPr algn="just"/>
            <a:r>
              <a:rPr lang="en-GB" dirty="0"/>
              <a:t>Without conceptual integrity, a system threatens to become a patchwork of incompatible designs. (Backword Compatibility)</a:t>
            </a:r>
            <a:endParaRPr lang="en-US" dirty="0"/>
          </a:p>
        </p:txBody>
      </p:sp>
    </p:spTree>
    <p:extLst>
      <p:ext uri="{BB962C8B-B14F-4D97-AF65-F5344CB8AC3E}">
        <p14:creationId xmlns:p14="http://schemas.microsoft.com/office/powerpoint/2010/main" val="20952830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41C73-4720-B03F-969D-ADC5021BAF3C}"/>
              </a:ext>
            </a:extLst>
          </p:cNvPr>
          <p:cNvSpPr>
            <a:spLocks noGrp="1"/>
          </p:cNvSpPr>
          <p:nvPr>
            <p:ph type="title"/>
          </p:nvPr>
        </p:nvSpPr>
        <p:spPr/>
        <p:txBody>
          <a:bodyPr>
            <a:normAutofit fontScale="90000"/>
          </a:bodyPr>
          <a:lstStyle/>
          <a:p>
            <a:r>
              <a:rPr lang="en-GB" dirty="0"/>
              <a:t> The Fourth Principle: What You Produce, Others Will Consume</a:t>
            </a:r>
            <a:endParaRPr lang="en-US" dirty="0"/>
          </a:p>
        </p:txBody>
      </p:sp>
      <p:sp>
        <p:nvSpPr>
          <p:cNvPr id="3" name="Content Placeholder 2">
            <a:extLst>
              <a:ext uri="{FF2B5EF4-FFF2-40B4-BE49-F238E27FC236}">
                <a16:creationId xmlns:a16="http://schemas.microsoft.com/office/drawing/2014/main" id="{518DBB65-B636-19E1-26F4-EACF65632D3A}"/>
              </a:ext>
            </a:extLst>
          </p:cNvPr>
          <p:cNvSpPr>
            <a:spLocks noGrp="1"/>
          </p:cNvSpPr>
          <p:nvPr>
            <p:ph idx="1"/>
          </p:nvPr>
        </p:nvSpPr>
        <p:spPr/>
        <p:txBody>
          <a:bodyPr>
            <a:normAutofit/>
          </a:bodyPr>
          <a:lstStyle/>
          <a:p>
            <a:pPr algn="just"/>
            <a:r>
              <a:rPr lang="en-GB" dirty="0"/>
              <a:t>Seldom is an industrial-strength software system constructed and used in a vacuum.</a:t>
            </a:r>
          </a:p>
          <a:p>
            <a:pPr algn="just"/>
            <a:r>
              <a:rPr lang="en-GB" dirty="0"/>
              <a:t>In some way or other, someone else will use, maintain, document, or otherwise depend on being able to understand your system.</a:t>
            </a:r>
          </a:p>
          <a:p>
            <a:pPr algn="just"/>
            <a:r>
              <a:rPr lang="en-GB" dirty="0"/>
              <a:t>So, always specify, design, and implement knowing someone else will have to understand what you are doing.</a:t>
            </a:r>
            <a:endParaRPr lang="en-US" dirty="0"/>
          </a:p>
        </p:txBody>
      </p:sp>
    </p:spTree>
    <p:extLst>
      <p:ext uri="{BB962C8B-B14F-4D97-AF65-F5344CB8AC3E}">
        <p14:creationId xmlns:p14="http://schemas.microsoft.com/office/powerpoint/2010/main" val="11735874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41AC8-7DCA-79D7-DC12-38F1508349D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9DF8510-D355-55CD-77DF-54C87BA7C39F}"/>
              </a:ext>
            </a:extLst>
          </p:cNvPr>
          <p:cNvSpPr>
            <a:spLocks noGrp="1"/>
          </p:cNvSpPr>
          <p:nvPr>
            <p:ph idx="1"/>
          </p:nvPr>
        </p:nvSpPr>
        <p:spPr/>
        <p:txBody>
          <a:bodyPr>
            <a:normAutofit fontScale="92500"/>
          </a:bodyPr>
          <a:lstStyle/>
          <a:p>
            <a:pPr algn="just"/>
            <a:r>
              <a:rPr lang="en-GB" dirty="0"/>
              <a:t>The audience for any product of software development is potentially large.</a:t>
            </a:r>
          </a:p>
          <a:p>
            <a:pPr algn="just"/>
            <a:r>
              <a:rPr lang="en-GB" dirty="0"/>
              <a:t> Specify with an eye to the users. Design, keeping the implementers in mind. Code with concern for those that must maintain and extend the system. Someone may have to debug the code you write, and that makes them a user of your code.</a:t>
            </a:r>
          </a:p>
          <a:p>
            <a:pPr algn="just"/>
            <a:r>
              <a:rPr lang="en-GB" dirty="0"/>
              <a:t>Making their job easier adds value to the system.</a:t>
            </a:r>
            <a:endParaRPr lang="en-US" dirty="0"/>
          </a:p>
          <a:p>
            <a:pPr algn="just"/>
            <a:endParaRPr lang="en-US" dirty="0"/>
          </a:p>
        </p:txBody>
      </p:sp>
    </p:spTree>
    <p:extLst>
      <p:ext uri="{BB962C8B-B14F-4D97-AF65-F5344CB8AC3E}">
        <p14:creationId xmlns:p14="http://schemas.microsoft.com/office/powerpoint/2010/main" val="166306919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0C0D56-C2B9-317A-9A25-199D77263DD1}"/>
              </a:ext>
            </a:extLst>
          </p:cNvPr>
          <p:cNvSpPr>
            <a:spLocks noGrp="1"/>
          </p:cNvSpPr>
          <p:nvPr>
            <p:ph type="title"/>
          </p:nvPr>
        </p:nvSpPr>
        <p:spPr/>
        <p:txBody>
          <a:bodyPr>
            <a:normAutofit fontScale="90000"/>
          </a:bodyPr>
          <a:lstStyle/>
          <a:p>
            <a:r>
              <a:rPr lang="en-GB" dirty="0"/>
              <a:t> The Fifth Principle: Be Open to the Future</a:t>
            </a:r>
            <a:endParaRPr lang="en-US" dirty="0"/>
          </a:p>
        </p:txBody>
      </p:sp>
      <p:sp>
        <p:nvSpPr>
          <p:cNvPr id="3" name="Content Placeholder 2">
            <a:extLst>
              <a:ext uri="{FF2B5EF4-FFF2-40B4-BE49-F238E27FC236}">
                <a16:creationId xmlns:a16="http://schemas.microsoft.com/office/drawing/2014/main" id="{6EAF916A-C0F9-42A7-829A-BFE96BF6F81D}"/>
              </a:ext>
            </a:extLst>
          </p:cNvPr>
          <p:cNvSpPr>
            <a:spLocks noGrp="1"/>
          </p:cNvSpPr>
          <p:nvPr>
            <p:ph idx="1"/>
          </p:nvPr>
        </p:nvSpPr>
        <p:spPr/>
        <p:txBody>
          <a:bodyPr>
            <a:normAutofit fontScale="85000" lnSpcReduction="10000"/>
          </a:bodyPr>
          <a:lstStyle/>
          <a:p>
            <a:pPr algn="just"/>
            <a:r>
              <a:rPr lang="en-GB" dirty="0"/>
              <a:t>A system with a long lifetime has more value. In today’s computing environments, where specifications change on a moment’s notice and hardware platforms are obsolete just a few months old, software lifetimes are typically measured in months instead of years. </a:t>
            </a:r>
          </a:p>
          <a:p>
            <a:pPr algn="just"/>
            <a:r>
              <a:rPr lang="en-GB" dirty="0"/>
              <a:t>However, true “industrial-strength” software systems must endure far longer.</a:t>
            </a:r>
          </a:p>
          <a:p>
            <a:pPr algn="just"/>
            <a:r>
              <a:rPr lang="en-GB" dirty="0"/>
              <a:t>To do this successfully, these systems must be ready to adapt to changes. Systems that do this successfully are those that have been designed this way from the start.</a:t>
            </a:r>
            <a:endParaRPr lang="en-US" dirty="0"/>
          </a:p>
        </p:txBody>
      </p:sp>
    </p:spTree>
    <p:extLst>
      <p:ext uri="{BB962C8B-B14F-4D97-AF65-F5344CB8AC3E}">
        <p14:creationId xmlns:p14="http://schemas.microsoft.com/office/powerpoint/2010/main" val="101026192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D783B-9CF2-DEDA-3904-9BB946680890}"/>
              </a:ext>
            </a:extLst>
          </p:cNvPr>
          <p:cNvSpPr>
            <a:spLocks noGrp="1"/>
          </p:cNvSpPr>
          <p:nvPr>
            <p:ph type="title"/>
          </p:nvPr>
        </p:nvSpPr>
        <p:spPr/>
        <p:txBody>
          <a:bodyPr>
            <a:normAutofit fontScale="90000"/>
          </a:bodyPr>
          <a:lstStyle/>
          <a:p>
            <a:r>
              <a:rPr lang="en-GB" dirty="0"/>
              <a:t>The Sixth Principle: Plan Ahead for Reuse</a:t>
            </a:r>
            <a:endParaRPr lang="en-US" dirty="0"/>
          </a:p>
        </p:txBody>
      </p:sp>
      <p:sp>
        <p:nvSpPr>
          <p:cNvPr id="3" name="Content Placeholder 2">
            <a:extLst>
              <a:ext uri="{FF2B5EF4-FFF2-40B4-BE49-F238E27FC236}">
                <a16:creationId xmlns:a16="http://schemas.microsoft.com/office/drawing/2014/main" id="{886C14E6-04BF-DD4B-6EDF-4D111FAE54BE}"/>
              </a:ext>
            </a:extLst>
          </p:cNvPr>
          <p:cNvSpPr>
            <a:spLocks noGrp="1"/>
          </p:cNvSpPr>
          <p:nvPr>
            <p:ph idx="1"/>
          </p:nvPr>
        </p:nvSpPr>
        <p:spPr/>
        <p:txBody>
          <a:bodyPr>
            <a:normAutofit fontScale="92500" lnSpcReduction="10000"/>
          </a:bodyPr>
          <a:lstStyle/>
          <a:p>
            <a:pPr algn="just"/>
            <a:r>
              <a:rPr lang="en-GB" dirty="0"/>
              <a:t>Reuse saves time and effort. Achieving a high level of reuse is arguably the hardest goal to accomplish in developing a software system.</a:t>
            </a:r>
          </a:p>
          <a:p>
            <a:pPr algn="just"/>
            <a:r>
              <a:rPr lang="en-GB" dirty="0"/>
              <a:t>The reuse of code and designs has been proclaimed as a major benefit of using object-oriented technologies.</a:t>
            </a:r>
          </a:p>
          <a:p>
            <a:pPr algn="just"/>
            <a:r>
              <a:rPr lang="en-GB" dirty="0"/>
              <a:t>However, the return on this investment is not automatic. To leverage the reuse possibilities that object-oriented [or conventional] programming requires forethought and planning.</a:t>
            </a:r>
            <a:endParaRPr lang="en-US" dirty="0"/>
          </a:p>
        </p:txBody>
      </p:sp>
    </p:spTree>
    <p:extLst>
      <p:ext uri="{BB962C8B-B14F-4D97-AF65-F5344CB8AC3E}">
        <p14:creationId xmlns:p14="http://schemas.microsoft.com/office/powerpoint/2010/main" val="403752022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9D333-813E-C295-A98A-E38C3CADDE99}"/>
              </a:ext>
            </a:extLst>
          </p:cNvPr>
          <p:cNvSpPr>
            <a:spLocks noGrp="1"/>
          </p:cNvSpPr>
          <p:nvPr>
            <p:ph type="title"/>
          </p:nvPr>
        </p:nvSpPr>
        <p:spPr/>
        <p:txBody>
          <a:bodyPr/>
          <a:lstStyle/>
          <a:p>
            <a:r>
              <a:rPr lang="en-US" dirty="0"/>
              <a:t> The Seventh principle: Think!</a:t>
            </a:r>
          </a:p>
        </p:txBody>
      </p:sp>
      <p:sp>
        <p:nvSpPr>
          <p:cNvPr id="3" name="Content Placeholder 2">
            <a:extLst>
              <a:ext uri="{FF2B5EF4-FFF2-40B4-BE49-F238E27FC236}">
                <a16:creationId xmlns:a16="http://schemas.microsoft.com/office/drawing/2014/main" id="{EA6F0215-BC70-3ECA-EA58-4701BC09DE9E}"/>
              </a:ext>
            </a:extLst>
          </p:cNvPr>
          <p:cNvSpPr>
            <a:spLocks noGrp="1"/>
          </p:cNvSpPr>
          <p:nvPr>
            <p:ph idx="1"/>
          </p:nvPr>
        </p:nvSpPr>
        <p:spPr/>
        <p:txBody>
          <a:bodyPr/>
          <a:lstStyle/>
          <a:p>
            <a:pPr algn="just"/>
            <a:r>
              <a:rPr lang="en-GB" dirty="0"/>
              <a:t> This last principle is probably the most overlooked. Placing clear, complete thought before action almost always produces better results.</a:t>
            </a:r>
          </a:p>
          <a:p>
            <a:pPr algn="just"/>
            <a:r>
              <a:rPr lang="en-GB" dirty="0"/>
              <a:t>When you think about something, you are more likely to do it right.</a:t>
            </a:r>
            <a:endParaRPr lang="en-US" dirty="0"/>
          </a:p>
        </p:txBody>
      </p:sp>
    </p:spTree>
    <p:extLst>
      <p:ext uri="{BB962C8B-B14F-4D97-AF65-F5344CB8AC3E}">
        <p14:creationId xmlns:p14="http://schemas.microsoft.com/office/powerpoint/2010/main" val="204744454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0DC97-E9E5-E5FC-7D64-77C46E2EB63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2FCEE85-F2D6-7BC8-7CCA-F83FD8C899E1}"/>
              </a:ext>
            </a:extLst>
          </p:cNvPr>
          <p:cNvSpPr>
            <a:spLocks noGrp="1"/>
          </p:cNvSpPr>
          <p:nvPr>
            <p:ph idx="1"/>
          </p:nvPr>
        </p:nvSpPr>
        <p:spPr/>
        <p:txBody>
          <a:bodyPr/>
          <a:lstStyle/>
          <a:p>
            <a:endParaRPr lang="en-US"/>
          </a:p>
        </p:txBody>
      </p:sp>
      <p:pic>
        <p:nvPicPr>
          <p:cNvPr id="4" name="Content Placeholder 3" descr="1vq1V.png">
            <a:extLst>
              <a:ext uri="{FF2B5EF4-FFF2-40B4-BE49-F238E27FC236}">
                <a16:creationId xmlns:a16="http://schemas.microsoft.com/office/drawing/2014/main" id="{8CFE3A34-5670-AF6F-A936-EC5E87E5CAE2}"/>
              </a:ext>
            </a:extLst>
          </p:cNvPr>
          <p:cNvPicPr>
            <a:picLocks noChangeAspect="1"/>
          </p:cNvPicPr>
          <p:nvPr/>
        </p:nvPicPr>
        <p:blipFill>
          <a:blip r:embed="rId2" cstate="print"/>
          <a:stretch>
            <a:fillRect/>
          </a:stretch>
        </p:blipFill>
        <p:spPr>
          <a:xfrm>
            <a:off x="2278846" y="1481138"/>
            <a:ext cx="4586308" cy="4525962"/>
          </a:xfrm>
          <a:prstGeom prst="rect">
            <a:avLst/>
          </a:prstGeom>
        </p:spPr>
      </p:pic>
    </p:spTree>
    <p:extLst>
      <p:ext uri="{BB962C8B-B14F-4D97-AF65-F5344CB8AC3E}">
        <p14:creationId xmlns:p14="http://schemas.microsoft.com/office/powerpoint/2010/main" val="17965086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1209</TotalTime>
  <Words>2830</Words>
  <Application>Microsoft Office PowerPoint</Application>
  <PresentationFormat>On-screen Show (4:3)</PresentationFormat>
  <Paragraphs>141</Paragraphs>
  <Slides>44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44</vt:i4>
      </vt:variant>
    </vt:vector>
  </HeadingPairs>
  <TitlesOfParts>
    <vt:vector size="50" baseType="lpstr">
      <vt:lpstr>Arial</vt:lpstr>
      <vt:lpstr>Calibri</vt:lpstr>
      <vt:lpstr>Georgia</vt:lpstr>
      <vt:lpstr>inherit</vt:lpstr>
      <vt:lpstr>Wingdings</vt:lpstr>
      <vt:lpstr>Office Theme</vt:lpstr>
      <vt:lpstr>Software Engineering</vt:lpstr>
      <vt:lpstr>PowerPoint Presentation</vt:lpstr>
      <vt:lpstr>PowerPoint Presentation</vt:lpstr>
      <vt:lpstr>PowerPoint Presentation</vt:lpstr>
      <vt:lpstr>PowerPoint Presentation</vt:lpstr>
      <vt:lpstr>The Nature of Software</vt:lpstr>
      <vt:lpstr>PowerPoint Presentation</vt:lpstr>
      <vt:lpstr>PowerPoint Presentation</vt:lpstr>
      <vt:lpstr>PowerPoint Presentation</vt:lpstr>
      <vt:lpstr>PowerPoint Presentation</vt:lpstr>
      <vt:lpstr>Defining Software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Software Application Domains</vt:lpstr>
      <vt:lpstr>Software Engineering</vt:lpstr>
      <vt:lpstr>PowerPoint Presentation</vt:lpstr>
      <vt:lpstr>PowerPoint Presentation</vt:lpstr>
      <vt:lpstr>Footnote</vt:lpstr>
      <vt:lpstr>PowerPoint Presentation</vt:lpstr>
      <vt:lpstr>Focus Area: MIS</vt:lpstr>
      <vt:lpstr>Decision Making</vt:lpstr>
      <vt:lpstr>Decision Making</vt:lpstr>
      <vt:lpstr>PowerPoint Presentation</vt:lpstr>
      <vt:lpstr>The Software Process</vt:lpstr>
      <vt:lpstr>PowerPoint Presentation</vt:lpstr>
      <vt:lpstr>Process Framework</vt:lpstr>
      <vt:lpstr>PowerPoint Presentation</vt:lpstr>
      <vt:lpstr>PowerPoint Presentation</vt:lpstr>
      <vt:lpstr>PowerPoint Presentation</vt:lpstr>
      <vt:lpstr>PowerPoint Presentation</vt:lpstr>
      <vt:lpstr> The First Principle: The Reason It All Exists</vt:lpstr>
      <vt:lpstr>The Second Principle: KISS (Keep It Simple, Stupid!)</vt:lpstr>
      <vt:lpstr>The Third Principle: Maintain the Vision</vt:lpstr>
      <vt:lpstr> The Fourth Principle: What You Produce, Others Will Consume</vt:lpstr>
      <vt:lpstr>PowerPoint Presentation</vt:lpstr>
      <vt:lpstr> The Fifth Principle: Be Open to the Future</vt:lpstr>
      <vt:lpstr>The Sixth Principle: Plan Ahead for Reuse</vt:lpstr>
      <vt:lpstr> The Seventh principle: Think!</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Engineering</dc:title>
  <dc:creator>Nasim</dc:creator>
  <cp:lastModifiedBy>Md. Nasim Adnan</cp:lastModifiedBy>
  <cp:revision>30</cp:revision>
  <dcterms:created xsi:type="dcterms:W3CDTF">2006-08-16T00:00:00Z</dcterms:created>
  <dcterms:modified xsi:type="dcterms:W3CDTF">2025-04-27T03:09:13Z</dcterms:modified>
</cp:coreProperties>
</file>