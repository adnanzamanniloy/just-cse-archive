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2" r:id="rId9"/>
    <p:sldId id="263" r:id="rId10"/>
    <p:sldId id="264" r:id="rId11"/>
    <p:sldId id="267" r:id="rId12"/>
    <p:sldId id="265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1" r:id="rId26"/>
    <p:sldId id="282" r:id="rId27"/>
    <p:sldId id="283" r:id="rId28"/>
    <p:sldId id="300" r:id="rId29"/>
    <p:sldId id="280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107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A2E60-36C3-6A2F-967C-3A07B2EA3C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4D30AA-4E1F-DD17-3A1F-A7AFB16DFF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9A2EC-2795-EB1B-687B-029A342E3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EA7C8-B52F-4CE0-B7AE-296FE997E615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F51BE4-0FCC-B56C-7F77-47C37F43D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D1C816-7230-0CCF-EC2B-11B85EE49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577B4-9A94-4078-A411-E8DE011E7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3997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8ADE3-8BF8-CF65-FB41-C7C1D5758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B8694B-A55F-5C85-ADCC-4AAA552831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0A37F6-BAE5-00A6-8831-EEE927C7D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EA7C8-B52F-4CE0-B7AE-296FE997E615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1BE47D-DD7C-BF79-6BFC-5947322DB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AC36AF-C7F5-AFE8-FBF2-AE681220B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577B4-9A94-4078-A411-E8DE011E7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363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D9CAE-F17D-9957-9CD1-D9ABE9DC7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FF41B2-9D28-6261-3574-6F68580507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FA327B-BBF2-B943-EC41-7B9F54318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EA7C8-B52F-4CE0-B7AE-296FE997E615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626F95-E559-D88C-D629-6C09A7BF8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23AEA6-B746-A600-4BD7-DC5E81DF5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577B4-9A94-4078-A411-E8DE011E7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93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28B4A-9727-0613-384C-981CFA39D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B7BDE2-172D-BBA6-FDA2-35A3E5EFC3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71558B-402D-0DF8-D789-C8A5F7DD90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99130B-A383-D536-10DE-37B382167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EA7C8-B52F-4CE0-B7AE-296FE997E615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BB3885-DFFF-B40D-3215-F7E1C3130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ABE6B9-208B-21A2-A341-8E6EA714D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577B4-9A94-4078-A411-E8DE011E7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869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2D518-FBCD-66BE-1194-2674FC8A3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93287D-A78B-A3E9-F295-0BECEAA2B2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35E1E5-D64D-8F94-A333-C160EF0D2E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52B696-4176-463D-6063-B92A8DD000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0FDD81-EA2D-BDF7-E33E-43018A3FED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C0F9D8-851E-3DD7-B076-83F626E75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EA7C8-B52F-4CE0-B7AE-296FE997E615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B16AD5-AFBA-F2D5-0F1C-BACDFD690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07F835-F11C-FE4E-CD6C-645C23543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577B4-9A94-4078-A411-E8DE011E7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025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AEA95-FDEB-CBA7-1437-ED18FD6C2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5AA1F6-FFFF-452F-EA99-BD9B882F0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EA7C8-B52F-4CE0-B7AE-296FE997E615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58C7CA-3156-DAF6-9813-BE3C7063A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C4A8B3-E4D0-88D7-FB94-463BEC1E1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577B4-9A94-4078-A411-E8DE011E7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2720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262729-FED6-A3BF-2451-A0935B485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EA7C8-B52F-4CE0-B7AE-296FE997E615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3720D9-E9D7-50C8-C2E1-89D5D826A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4B98C1-5509-9130-6960-D22B5EBB0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577B4-9A94-4078-A411-E8DE011E7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773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AC6D7-BD56-8F68-5E49-2767D4A66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8FC454-E88A-8AD5-03C9-2A45AE330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60AB24-E994-9CD3-133B-E4392AE304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B0971E-6D76-10D2-BD6E-5BD49849D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EA7C8-B52F-4CE0-B7AE-296FE997E615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390CEC-DFDC-4930-89C0-C556F9AB2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C7337C-F86F-D2A8-8692-9A7AE5559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577B4-9A94-4078-A411-E8DE011E7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385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B8E53-9CC5-2BFA-43F0-F43DD2411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EED517-42E5-4121-F665-A3A25057D3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780253-04CE-FFB7-87F8-30B4DD8E50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FA1785-8954-5E44-DA27-B298B02E2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EA7C8-B52F-4CE0-B7AE-296FE997E615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FD218E-0BFD-96B4-7C69-9D7B8DAE7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BD2947-E6C8-449B-138A-A12AEFA94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577B4-9A94-4078-A411-E8DE011E7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916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03F49-552C-9412-1A90-8B95CBE90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A514EB-8523-C18A-DE85-0E9E3B361F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9B92DD-884A-7855-2EB2-5D435F5C0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EA7C8-B52F-4CE0-B7AE-296FE997E615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FB2D81-F247-7421-C7C0-31AA36912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BD4A45-9A9E-15E2-38B8-C954A5A00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577B4-9A94-4078-A411-E8DE011E7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685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183377-0A93-A2EA-342C-A14D77AB60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55FE29-F31F-523F-B5DE-BCA4347D1F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C51AA3-8341-D7A4-7F9C-333CCDFA6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EA7C8-B52F-4CE0-B7AE-296FE997E615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25735B-7D39-4CBE-6EFB-9F81EFD1E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5D731-B817-D9D7-5207-5F4607097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577B4-9A94-4078-A411-E8DE011E7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699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6170DF-0812-6440-3469-3407A88EE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573B98-0E71-5E42-CAE5-39C7CB4A4A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43C47C-0C5B-EB25-7998-29C9E6F136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6EA7C8-B52F-4CE0-B7AE-296FE997E615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E08FCF-4AF3-414E-3F44-7D3A581952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7A46AA-AA28-26E3-AF19-9DC78E4D25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E577B4-9A94-4078-A411-E8DE011E7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54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jpg"/><Relationship Id="rId4" Type="http://schemas.openxmlformats.org/officeDocument/2006/relationships/image" Target="../media/image18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95638-EBA8-807D-5247-2E91F1833A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Software Engineering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8DF5E0-6B37-4EC0-FF5F-E2C32E846B8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Dr. Md. Nasim Adnan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07870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9C622-452E-E7BF-AAB2-91DFF63AC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Static </a:t>
            </a:r>
            <a:r>
              <a:rPr lang="en-GB" dirty="0" err="1"/>
              <a:t>Modeling</a:t>
            </a:r>
            <a:r>
              <a:rPr lang="en-GB" dirty="0"/>
              <a:t> using </a:t>
            </a:r>
            <a:r>
              <a:rPr lang="en-GB"/>
              <a:t>Class Diagram</a:t>
            </a:r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7A1A4C5-277A-A37B-4913-BEEEED27DD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1785257"/>
            <a:ext cx="10635343" cy="3847987"/>
          </a:xfrm>
        </p:spPr>
      </p:pic>
    </p:spTree>
    <p:extLst>
      <p:ext uri="{BB962C8B-B14F-4D97-AF65-F5344CB8AC3E}">
        <p14:creationId xmlns:p14="http://schemas.microsoft.com/office/powerpoint/2010/main" val="20388983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0C8F4-2DEB-F822-2D5F-810ECFAF3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Book Class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8C5E1-E21B-F4E5-67CA-339311735C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Properties</a:t>
            </a:r>
          </a:p>
          <a:p>
            <a:pPr lvl="1"/>
            <a:r>
              <a:rPr lang="en-GB" dirty="0"/>
              <a:t>Title</a:t>
            </a:r>
          </a:p>
          <a:p>
            <a:pPr lvl="1"/>
            <a:r>
              <a:rPr lang="en-GB" dirty="0"/>
              <a:t>Category</a:t>
            </a:r>
          </a:p>
          <a:p>
            <a:pPr lvl="1"/>
            <a:r>
              <a:rPr lang="en-GB" dirty="0"/>
              <a:t>Author</a:t>
            </a:r>
          </a:p>
          <a:p>
            <a:pPr lvl="1"/>
            <a:r>
              <a:rPr lang="en-GB" dirty="0"/>
              <a:t>Publisher</a:t>
            </a:r>
          </a:p>
          <a:p>
            <a:pPr lvl="1"/>
            <a:r>
              <a:rPr lang="en-GB" dirty="0"/>
              <a:t>Catalogue name</a:t>
            </a:r>
          </a:p>
          <a:p>
            <a:pPr lvl="1"/>
            <a:r>
              <a:rPr lang="en-GB" dirty="0"/>
              <a:t>Accession number</a:t>
            </a:r>
          </a:p>
          <a:p>
            <a:pPr lvl="1"/>
            <a:r>
              <a:rPr lang="en-GB" dirty="0"/>
              <a:t>Page number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5646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9CF69-5522-BBFF-A03D-F48C89870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UML: Class Diagram and its Object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E49CCE1-3EA4-A74C-F0DB-D82AD0D720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260" y="1560172"/>
            <a:ext cx="6140450" cy="240030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3CC15BC-0FE3-91A5-1855-074EBC25A3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260" y="4191453"/>
            <a:ext cx="6096000" cy="239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2520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0754C-93B9-9C02-0D43-3CDE7F131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11A12A5-5E27-CD0F-ECE6-9341E35457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4019" y="1825625"/>
            <a:ext cx="6023962" cy="4351338"/>
          </a:xfrm>
        </p:spPr>
      </p:pic>
    </p:spTree>
    <p:extLst>
      <p:ext uri="{BB962C8B-B14F-4D97-AF65-F5344CB8AC3E}">
        <p14:creationId xmlns:p14="http://schemas.microsoft.com/office/powerpoint/2010/main" val="35652572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F9EDE-3C4E-375A-6A74-4AB31ED8E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Visibility of Attributes/Properties and Operations/Methods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E1610A-7B22-692F-AF6D-86C312ABC5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Private: -</a:t>
            </a:r>
          </a:p>
          <a:p>
            <a:r>
              <a:rPr lang="en-GB" dirty="0"/>
              <a:t>Protected: #</a:t>
            </a:r>
          </a:p>
          <a:p>
            <a:r>
              <a:rPr lang="en-GB" dirty="0"/>
              <a:t>Public</a:t>
            </a:r>
            <a:r>
              <a:rPr lang="en-US" dirty="0"/>
              <a:t>: +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087870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BDCC1-38E0-C204-719B-5E31123D5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BCAD1A7-90C9-AA04-503D-9F73023AFF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587829"/>
            <a:ext cx="8207375" cy="5105740"/>
          </a:xfrm>
        </p:spPr>
      </p:pic>
    </p:spTree>
    <p:extLst>
      <p:ext uri="{BB962C8B-B14F-4D97-AF65-F5344CB8AC3E}">
        <p14:creationId xmlns:p14="http://schemas.microsoft.com/office/powerpoint/2010/main" val="16547735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7A134-BA32-3CB3-7ACA-7ECA08FCC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C6C7B65-10BD-68F4-F201-D334DAD90E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4944" y="365125"/>
            <a:ext cx="5834742" cy="6209846"/>
          </a:xfrm>
        </p:spPr>
      </p:pic>
    </p:spTree>
    <p:extLst>
      <p:ext uri="{BB962C8B-B14F-4D97-AF65-F5344CB8AC3E}">
        <p14:creationId xmlns:p14="http://schemas.microsoft.com/office/powerpoint/2010/main" val="19728028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EB6B9-2970-61DA-CD99-FD677AD0D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Mapping a Class Diagram to a Programming Language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E765CBE-08E9-AFF7-07CA-311AE2C389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3800" y="1084830"/>
            <a:ext cx="5279571" cy="5736772"/>
          </a:xfrm>
        </p:spPr>
      </p:pic>
    </p:spTree>
    <p:extLst>
      <p:ext uri="{BB962C8B-B14F-4D97-AF65-F5344CB8AC3E}">
        <p14:creationId xmlns:p14="http://schemas.microsoft.com/office/powerpoint/2010/main" val="15836445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0BF83-BA36-4A2A-D1FC-7FBCEDEF1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Attributes with Default Value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06DD5B1-5957-1670-764E-794783F5C4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686" y="1469571"/>
            <a:ext cx="9241971" cy="5023304"/>
          </a:xfrm>
        </p:spPr>
      </p:pic>
    </p:spTree>
    <p:extLst>
      <p:ext uri="{BB962C8B-B14F-4D97-AF65-F5344CB8AC3E}">
        <p14:creationId xmlns:p14="http://schemas.microsoft.com/office/powerpoint/2010/main" val="7882743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F6685-BE42-CB7C-4EC1-91D850882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Parameter Directionality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97FACA-688C-F70E-D33D-7171AF58CA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</a:t>
            </a:r>
          </a:p>
          <a:p>
            <a:r>
              <a:rPr lang="en-GB" dirty="0"/>
              <a:t>Out</a:t>
            </a:r>
          </a:p>
          <a:p>
            <a:r>
              <a:rPr lang="en-GB" dirty="0" err="1"/>
              <a:t>InOut</a:t>
            </a:r>
            <a:endParaRPr lang="en-GB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947C6E-CE61-9D6F-4B72-524EC48876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7971" y="1538061"/>
            <a:ext cx="5486399" cy="4808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5948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F32FB-50E4-ED4C-B1DA-A95D9EAC5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Relationship between Classes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011267-4B73-1E85-88F1-DC18C46F1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Association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C5F537-502E-13D6-4D34-0896204E15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2228" y="2555875"/>
            <a:ext cx="9546771" cy="2277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472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D237C-B105-4B41-DD21-4034E44D8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F62521E-D9D2-50ED-5827-802F0A5689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1" y="365125"/>
            <a:ext cx="10722428" cy="6013904"/>
          </a:xfrm>
        </p:spPr>
      </p:pic>
    </p:spTree>
    <p:extLst>
      <p:ext uri="{BB962C8B-B14F-4D97-AF65-F5344CB8AC3E}">
        <p14:creationId xmlns:p14="http://schemas.microsoft.com/office/powerpoint/2010/main" val="10313079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4F61C-5822-EBB7-FF73-D171B3F98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One-to-one, One-to-many and Many-to-many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8ECE216-2F67-25BF-9761-AD7ECA4598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7779" y="1690688"/>
            <a:ext cx="7450364" cy="1377383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6EB9181-A16C-ACDA-0CA8-CACA3CCE56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7780" y="3429000"/>
            <a:ext cx="7450363" cy="12831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7681B34-316F-57E5-0F57-2FB05F1EC8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7778" y="5073082"/>
            <a:ext cx="7450363" cy="1283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748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28570-2D9C-EC3E-7190-4BE75E5BF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13F19C5-5B3A-17C4-2CD1-74DD1495EC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4857" y="512876"/>
            <a:ext cx="7489372" cy="2916124"/>
          </a:xfrm>
        </p:spPr>
      </p:pic>
      <p:pic>
        <p:nvPicPr>
          <p:cNvPr id="10" name="Picture 4">
            <a:extLst>
              <a:ext uri="{FF2B5EF4-FFF2-40B4-BE49-F238E27FC236}">
                <a16:creationId xmlns:a16="http://schemas.microsoft.com/office/drawing/2014/main" id="{265D6EBB-F292-16DF-E08D-F1658AEB71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94857" y="3512683"/>
            <a:ext cx="7489372" cy="302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1320666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4632A-17F5-E0A2-5CC0-423D31E95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Unidirectional vs. Bidirectional Association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D9D8ACF-4D70-6CD3-037A-1BD2C10CCE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0322" y="1690688"/>
            <a:ext cx="3136900" cy="2044700"/>
          </a:xfrm>
        </p:spPr>
      </p:pic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087935A9-3B51-9FEF-25E8-4518E07AFF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387" y="1690688"/>
            <a:ext cx="7450364" cy="137738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B2268CD-FC02-B8B0-D101-5439A70106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387" y="4329111"/>
            <a:ext cx="7450364" cy="14838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101A784-C559-1F8C-E314-592FBD94237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4422" y="4186237"/>
            <a:ext cx="3568700" cy="196215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659A3D8-D560-635D-8C12-169E7F5B8AAD}"/>
              </a:ext>
            </a:extLst>
          </p:cNvPr>
          <p:cNvSpPr txBox="1"/>
          <p:nvPr/>
        </p:nvSpPr>
        <p:spPr>
          <a:xfrm>
            <a:off x="1982106" y="3068141"/>
            <a:ext cx="65423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Here Person is Source class and Flat is Target Class</a:t>
            </a:r>
            <a:endParaRPr lang="en-US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560D8AE-868A-8900-A179-AA69B9C232BA}"/>
              </a:ext>
            </a:extLst>
          </p:cNvPr>
          <p:cNvSpPr txBox="1"/>
          <p:nvPr/>
        </p:nvSpPr>
        <p:spPr>
          <a:xfrm>
            <a:off x="1633764" y="5812970"/>
            <a:ext cx="65423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Here ouns and </a:t>
            </a:r>
            <a:r>
              <a:rPr lang="en-GB" sz="2400" dirty="0" err="1"/>
              <a:t>ownedBy</a:t>
            </a:r>
            <a:r>
              <a:rPr lang="en-GB" sz="2400" dirty="0"/>
              <a:t> are Role Names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641302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1528C-5771-886C-40EE-4F5F9E262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Qualified Association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8718274-8B77-12DC-AE04-41D74FEE9D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4514" y="1690688"/>
            <a:ext cx="9720943" cy="1509712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7E0DC6A-C7F3-1B1A-5ABE-67347A4B99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543" y="3200400"/>
            <a:ext cx="9818914" cy="302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9175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67D4B-AEA8-8DEC-2F68-142639FE6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1C72EC8-082D-EDD2-FF80-D9E341DAC9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370" y="631370"/>
            <a:ext cx="10123715" cy="5693229"/>
          </a:xfrm>
        </p:spPr>
      </p:pic>
    </p:spTree>
    <p:extLst>
      <p:ext uri="{BB962C8B-B14F-4D97-AF65-F5344CB8AC3E}">
        <p14:creationId xmlns:p14="http://schemas.microsoft.com/office/powerpoint/2010/main" val="17591571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2C32F-10B5-9A00-EE7B-A95AFF209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Recursive Association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C40E3EF-8DAF-5A7E-CA32-6169855B7E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5228" y="1908402"/>
            <a:ext cx="6439217" cy="3763056"/>
          </a:xfrm>
        </p:spPr>
      </p:pic>
    </p:spTree>
    <p:extLst>
      <p:ext uri="{BB962C8B-B14F-4D97-AF65-F5344CB8AC3E}">
        <p14:creationId xmlns:p14="http://schemas.microsoft.com/office/powerpoint/2010/main" val="16409508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375A6-1E14-1715-4BDE-53FD8043A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22EA92AA-5274-EA90-BA5E-D2278F3A93C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90800" y="1668917"/>
            <a:ext cx="6806293" cy="34440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0858183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573CA-E87F-8B48-FDED-700741F8D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</a:t>
            </a:r>
            <a:r>
              <a:rPr lang="en-US" dirty="0" err="1"/>
              <a:t>ggregation</a:t>
            </a:r>
            <a:r>
              <a:rPr lang="en-US" dirty="0"/>
              <a:t>: Composite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D7C0FEA-4737-BB49-D438-EBC6F2907B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589" y="1690687"/>
            <a:ext cx="10405381" cy="4383541"/>
          </a:xfrm>
        </p:spPr>
      </p:pic>
    </p:spTree>
    <p:extLst>
      <p:ext uri="{BB962C8B-B14F-4D97-AF65-F5344CB8AC3E}">
        <p14:creationId xmlns:p14="http://schemas.microsoft.com/office/powerpoint/2010/main" val="7160398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BC202-626B-E7F2-6200-4FBCF3DD5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Aggregation: Shared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3E3DBE0-5F36-2E07-A4FC-DEB5CD8DB7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48544"/>
            <a:ext cx="10515600" cy="3581400"/>
          </a:xfrm>
        </p:spPr>
      </p:pic>
    </p:spTree>
    <p:extLst>
      <p:ext uri="{BB962C8B-B14F-4D97-AF65-F5344CB8AC3E}">
        <p14:creationId xmlns:p14="http://schemas.microsoft.com/office/powerpoint/2010/main" val="25517319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7689A-605F-E778-81DE-F19263ED2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Generalization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74A043F-8F82-D157-40D3-0B9278A103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7144" y="1393371"/>
            <a:ext cx="8479970" cy="5099504"/>
          </a:xfrm>
        </p:spPr>
      </p:pic>
    </p:spTree>
    <p:extLst>
      <p:ext uri="{BB962C8B-B14F-4D97-AF65-F5344CB8AC3E}">
        <p14:creationId xmlns:p14="http://schemas.microsoft.com/office/powerpoint/2010/main" val="8568908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ECCAA-9010-E837-48BD-DA40E1C55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9B2D7B2-4B43-3B76-848B-5E3FD18AEC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8313" y="598714"/>
            <a:ext cx="9949543" cy="5780315"/>
          </a:xfrm>
        </p:spPr>
      </p:pic>
    </p:spTree>
    <p:extLst>
      <p:ext uri="{BB962C8B-B14F-4D97-AF65-F5344CB8AC3E}">
        <p14:creationId xmlns:p14="http://schemas.microsoft.com/office/powerpoint/2010/main" val="544977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7F062-1973-0EA0-5C67-A9A9D665E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Subclass Partitioning</a:t>
            </a:r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8959533-D1A1-1022-92EF-AF8C4E9C46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1940" y="1690688"/>
            <a:ext cx="6861403" cy="4802187"/>
          </a:xfrm>
        </p:spPr>
      </p:pic>
    </p:spTree>
    <p:extLst>
      <p:ext uri="{BB962C8B-B14F-4D97-AF65-F5344CB8AC3E}">
        <p14:creationId xmlns:p14="http://schemas.microsoft.com/office/powerpoint/2010/main" val="1835560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59694-0C61-776D-E70A-632FBCBA6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F59E70B-9B27-F3B9-C463-0564E3231F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5770" y="1513907"/>
            <a:ext cx="9514115" cy="4462349"/>
          </a:xfrm>
        </p:spPr>
      </p:pic>
    </p:spTree>
    <p:extLst>
      <p:ext uri="{BB962C8B-B14F-4D97-AF65-F5344CB8AC3E}">
        <p14:creationId xmlns:p14="http://schemas.microsoft.com/office/powerpoint/2010/main" val="25290824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2ACEE-2059-CBB3-2DC7-A0FB3E177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7256DB6-71BC-F34A-03E4-C64D04E731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286" y="1155587"/>
            <a:ext cx="10428513" cy="5060156"/>
          </a:xfrm>
        </p:spPr>
      </p:pic>
    </p:spTree>
    <p:extLst>
      <p:ext uri="{BB962C8B-B14F-4D97-AF65-F5344CB8AC3E}">
        <p14:creationId xmlns:p14="http://schemas.microsoft.com/office/powerpoint/2010/main" val="36739130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CE1D6-A159-EB26-69A5-7B4477056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BE6ED-6BF7-4770-6D90-7E54000BF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Subclass Partitioning</a:t>
            </a:r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4FB4131-818B-6252-3BFE-26ECAC8D76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8198" y="1543204"/>
            <a:ext cx="6861403" cy="4802187"/>
          </a:xfrm>
        </p:spPr>
      </p:pic>
    </p:spTree>
    <p:extLst>
      <p:ext uri="{BB962C8B-B14F-4D97-AF65-F5344CB8AC3E}">
        <p14:creationId xmlns:p14="http://schemas.microsoft.com/office/powerpoint/2010/main" val="41857512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51C89-150F-6692-8C06-7D2F317EF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Abstract Class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C673896-4268-FF1B-16B5-8AE7ED7377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5393" y="1553482"/>
            <a:ext cx="9381214" cy="4836432"/>
          </a:xfrm>
        </p:spPr>
      </p:pic>
    </p:spTree>
    <p:extLst>
      <p:ext uri="{BB962C8B-B14F-4D97-AF65-F5344CB8AC3E}">
        <p14:creationId xmlns:p14="http://schemas.microsoft.com/office/powerpoint/2010/main" val="28811072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62310-A37C-28D9-C53A-4740408FF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Generalization Set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9C2F6C7-AA2C-7BF2-DAEF-31289993E6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179751"/>
            <a:ext cx="9960428" cy="3339306"/>
          </a:xfrm>
        </p:spPr>
      </p:pic>
    </p:spTree>
    <p:extLst>
      <p:ext uri="{BB962C8B-B14F-4D97-AF65-F5344CB8AC3E}">
        <p14:creationId xmlns:p14="http://schemas.microsoft.com/office/powerpoint/2010/main" val="11018694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BDAE9-A84C-2E50-A647-61134CBA6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Interfaces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A481711-A338-7244-BC97-B14E4AC280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1404256"/>
            <a:ext cx="10515599" cy="4931229"/>
          </a:xfrm>
        </p:spPr>
      </p:pic>
    </p:spTree>
    <p:extLst>
      <p:ext uri="{BB962C8B-B14F-4D97-AF65-F5344CB8AC3E}">
        <p14:creationId xmlns:p14="http://schemas.microsoft.com/office/powerpoint/2010/main" val="13467399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D521B-704F-EEAD-DD01-32A9651F8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9BA83AB-5D4C-03E4-54AE-E795B8CB34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0172" y="365125"/>
            <a:ext cx="8055428" cy="6209846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2B063DA-82E2-63E9-AF35-ACDD102AD2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9968" y="3396343"/>
            <a:ext cx="3359150" cy="117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0669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1755F-0BF1-5276-B854-723D58EB3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Packages and Grouping of Classes into Packages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A4CD839-3BDF-0DC3-3C46-8ECE1EF64E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5257" y="1828799"/>
            <a:ext cx="8773886" cy="4664075"/>
          </a:xfrm>
        </p:spPr>
      </p:pic>
    </p:spTree>
    <p:extLst>
      <p:ext uri="{BB962C8B-B14F-4D97-AF65-F5344CB8AC3E}">
        <p14:creationId xmlns:p14="http://schemas.microsoft.com/office/powerpoint/2010/main" val="138804146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4AEA6-2609-C750-64E9-80969EE66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6A2FC67-151A-293D-6F8A-ED2093F461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786" y="1027906"/>
            <a:ext cx="11484427" cy="326741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1A2C402-4658-733A-CA12-26D314DD14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375" y="4295321"/>
            <a:ext cx="11779250" cy="205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7130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BF5CD-E7ED-7EC5-DB9B-1E0C9333F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Graphical Display of Owned Elements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BEC9F13-A181-A6A7-3DA7-85572E46E1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6030" y="1690688"/>
            <a:ext cx="9013370" cy="4916941"/>
          </a:xfrm>
        </p:spPr>
      </p:pic>
    </p:spTree>
    <p:extLst>
      <p:ext uri="{BB962C8B-B14F-4D97-AF65-F5344CB8AC3E}">
        <p14:creationId xmlns:p14="http://schemas.microsoft.com/office/powerpoint/2010/main" val="29243825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58BA6-B604-9169-658C-A84706422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Inherits/Specializes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9CB08FA-22FA-FF7B-075C-076C89BAFC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6234" y="94795"/>
            <a:ext cx="3153251" cy="6310993"/>
          </a:xfrm>
        </p:spPr>
      </p:pic>
    </p:spTree>
    <p:extLst>
      <p:ext uri="{BB962C8B-B14F-4D97-AF65-F5344CB8AC3E}">
        <p14:creationId xmlns:p14="http://schemas.microsoft.com/office/powerpoint/2010/main" val="368163842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C9E25-8C5B-361B-2E59-D0F3E84D8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Import, Access and Export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C04E680-C5A0-22DE-A85E-FC768D3867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650" y="1829594"/>
            <a:ext cx="10172700" cy="4343400"/>
          </a:xfrm>
        </p:spPr>
      </p:pic>
    </p:spTree>
    <p:extLst>
      <p:ext uri="{BB962C8B-B14F-4D97-AF65-F5344CB8AC3E}">
        <p14:creationId xmlns:p14="http://schemas.microsoft.com/office/powerpoint/2010/main" val="169087695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32907-F82F-536F-7948-2A5FA0BBF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63271F3-C4D8-070F-E2D0-FD14FE260F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033" y="1825625"/>
            <a:ext cx="9937934" cy="4351338"/>
          </a:xfrm>
        </p:spPr>
      </p:pic>
    </p:spTree>
    <p:extLst>
      <p:ext uri="{BB962C8B-B14F-4D97-AF65-F5344CB8AC3E}">
        <p14:creationId xmlns:p14="http://schemas.microsoft.com/office/powerpoint/2010/main" val="226063857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ABF7F-A2BE-99F4-278F-FB12612B3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C0AF7CA-B4DE-9C1F-9EAA-F61F9ACBDA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114" y="1889011"/>
            <a:ext cx="10602686" cy="2258445"/>
          </a:xfrm>
        </p:spPr>
      </p:pic>
    </p:spTree>
    <p:extLst>
      <p:ext uri="{BB962C8B-B14F-4D97-AF65-F5344CB8AC3E}">
        <p14:creationId xmlns:p14="http://schemas.microsoft.com/office/powerpoint/2010/main" val="426899403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C5979-901A-A670-2828-6B9E701DA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Dependency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7B201F8-ED00-6E6C-720C-5617489923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925" y="1508012"/>
            <a:ext cx="10344150" cy="217805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BA767AC-56B3-739C-393B-06A9965381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3557" y="3686062"/>
            <a:ext cx="9017000" cy="287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02211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86BDA-9995-A4BF-B82D-5D19DA8C9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Purpose of Class Diagrams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B22AD3-8D70-8E9D-4099-09D29E4562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273239"/>
                </a:solidFill>
                <a:effectLst/>
                <a:latin typeface="Nunito" pitchFamily="2" charset="0"/>
              </a:rPr>
              <a:t>This is the only UML that can appropriately depict various aspects of the OOPs concept.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273239"/>
                </a:solidFill>
                <a:effectLst/>
                <a:latin typeface="Nunito" pitchFamily="2" charset="0"/>
              </a:rPr>
              <a:t>Proper design and analysis of applications can be faster and efficient.</a:t>
            </a:r>
          </a:p>
        </p:txBody>
      </p:sp>
    </p:spTree>
    <p:extLst>
      <p:ext uri="{BB962C8B-B14F-4D97-AF65-F5344CB8AC3E}">
        <p14:creationId xmlns:p14="http://schemas.microsoft.com/office/powerpoint/2010/main" val="282810147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5B4D8-7E65-6CF1-D4CF-6BB1B08E4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to draw Class Diagrams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5BEEA6-5C1D-E227-3E1F-1D603AADAB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64289"/>
          </a:xfrm>
        </p:spPr>
        <p:txBody>
          <a:bodyPr>
            <a:normAutofit/>
          </a:bodyPr>
          <a:lstStyle/>
          <a:p>
            <a:r>
              <a:rPr lang="en-US" dirty="0"/>
              <a:t>Step 1: Identify Classes</a:t>
            </a:r>
          </a:p>
          <a:p>
            <a:r>
              <a:rPr lang="en-GB" dirty="0"/>
              <a:t>Step 2: List Attributes and Methods</a:t>
            </a:r>
          </a:p>
          <a:p>
            <a:r>
              <a:rPr lang="en-US" dirty="0"/>
              <a:t>Step 3: Identify Relationships/Associations</a:t>
            </a:r>
          </a:p>
          <a:p>
            <a:r>
              <a:rPr lang="en-GB" dirty="0"/>
              <a:t>Step 4: Create Class Boxes</a:t>
            </a:r>
          </a:p>
          <a:p>
            <a:r>
              <a:rPr lang="en-GB" dirty="0"/>
              <a:t>Step 5: Add Attributes and Methods</a:t>
            </a:r>
          </a:p>
          <a:p>
            <a:r>
              <a:rPr lang="en-US" dirty="0"/>
              <a:t>Step 6: Draw Relationships</a:t>
            </a:r>
          </a:p>
          <a:p>
            <a:r>
              <a:rPr lang="en-US" dirty="0"/>
              <a:t>Step 7: Label Relationships</a:t>
            </a:r>
          </a:p>
          <a:p>
            <a:r>
              <a:rPr lang="en-GB" dirty="0"/>
              <a:t>Step 8: Review and Refine</a:t>
            </a:r>
          </a:p>
          <a:p>
            <a:r>
              <a:rPr lang="en-GB"/>
              <a:t>Step 9: </a:t>
            </a:r>
            <a:r>
              <a:rPr lang="en-GB" dirty="0"/>
              <a:t>Validate</a:t>
            </a:r>
          </a:p>
        </p:txBody>
      </p:sp>
    </p:spTree>
    <p:extLst>
      <p:ext uri="{BB962C8B-B14F-4D97-AF65-F5344CB8AC3E}">
        <p14:creationId xmlns:p14="http://schemas.microsoft.com/office/powerpoint/2010/main" val="392625137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28B2E-1B42-CBCB-22AD-012D53F16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5057"/>
            <a:ext cx="10515600" cy="1325563"/>
          </a:xfrm>
        </p:spPr>
        <p:txBody>
          <a:bodyPr/>
          <a:lstStyle/>
          <a:p>
            <a:r>
              <a:rPr lang="en-GB" dirty="0"/>
              <a:t>Identification of Classes and their Attributes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EF8FDD-A84D-497C-841E-73EC380B10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89897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51BDD-8087-A85F-8C9A-9D27158E3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Identification of Relationships/</a:t>
            </a:r>
            <a:r>
              <a:rPr lang="en-US" dirty="0"/>
              <a:t> Associations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206A67-C214-7C9A-7464-1639E11A41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48703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60F8D-10A6-9618-21D5-47E943E5C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220056-1528-CD9A-4C52-8A85ECB463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1vq1V.png">
            <a:extLst>
              <a:ext uri="{FF2B5EF4-FFF2-40B4-BE49-F238E27FC236}">
                <a16:creationId xmlns:a16="http://schemas.microsoft.com/office/drawing/2014/main" id="{21AE675F-CC0D-5CB6-01A6-067646FE3D1F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802846" y="1437595"/>
            <a:ext cx="4586308" cy="4525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092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1954</TotalTime>
  <Words>241</Words>
  <Application>Microsoft Office PowerPoint</Application>
  <PresentationFormat>Widescreen</PresentationFormat>
  <Paragraphs>59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0" baseType="lpstr">
      <vt:lpstr>Arial</vt:lpstr>
      <vt:lpstr>Calibri</vt:lpstr>
      <vt:lpstr>Calibri Light</vt:lpstr>
      <vt:lpstr>Nunito</vt:lpstr>
      <vt:lpstr>Office Theme</vt:lpstr>
      <vt:lpstr>Software Engineering</vt:lpstr>
      <vt:lpstr>Static Modeling using Class Diagram</vt:lpstr>
      <vt:lpstr>Book Class</vt:lpstr>
      <vt:lpstr>UML: Class Diagram and its Object</vt:lpstr>
      <vt:lpstr>PowerPoint Presentation</vt:lpstr>
      <vt:lpstr>Visibility of Attributes/Properties and Operations/Methods</vt:lpstr>
      <vt:lpstr>PowerPoint Presentation</vt:lpstr>
      <vt:lpstr>PowerPoint Presentation</vt:lpstr>
      <vt:lpstr>Mapping a Class Diagram to a Programming Language</vt:lpstr>
      <vt:lpstr>Attributes with Default Value</vt:lpstr>
      <vt:lpstr>Parameter Directionality</vt:lpstr>
      <vt:lpstr>Relationship between Classes</vt:lpstr>
      <vt:lpstr>PowerPoint Presentation</vt:lpstr>
      <vt:lpstr>One-to-one, One-to-many and Many-to-many</vt:lpstr>
      <vt:lpstr>PowerPoint Presentation</vt:lpstr>
      <vt:lpstr>Unidirectional vs. Bidirectional Association</vt:lpstr>
      <vt:lpstr>Qualified Association</vt:lpstr>
      <vt:lpstr>PowerPoint Presentation</vt:lpstr>
      <vt:lpstr>Recursive Association</vt:lpstr>
      <vt:lpstr>PowerPoint Presentation</vt:lpstr>
      <vt:lpstr>Aggregation: Composite</vt:lpstr>
      <vt:lpstr>Aggregation: Shared</vt:lpstr>
      <vt:lpstr>Generalization</vt:lpstr>
      <vt:lpstr>PowerPoint Presentation</vt:lpstr>
      <vt:lpstr>Subclass Partitioning</vt:lpstr>
      <vt:lpstr>PowerPoint Presentation</vt:lpstr>
      <vt:lpstr>PowerPoint Presentation</vt:lpstr>
      <vt:lpstr>Subclass Partitioning</vt:lpstr>
      <vt:lpstr>Abstract Class</vt:lpstr>
      <vt:lpstr>Generalization Set</vt:lpstr>
      <vt:lpstr>Interfaces</vt:lpstr>
      <vt:lpstr>PowerPoint Presentation</vt:lpstr>
      <vt:lpstr>Packages and Grouping of Classes into Packages</vt:lpstr>
      <vt:lpstr>PowerPoint Presentation</vt:lpstr>
      <vt:lpstr>Graphical Display of Owned Elements</vt:lpstr>
      <vt:lpstr>Inherits/Specializes</vt:lpstr>
      <vt:lpstr>Import, Access and Export</vt:lpstr>
      <vt:lpstr>PowerPoint Presentation</vt:lpstr>
      <vt:lpstr>PowerPoint Presentation</vt:lpstr>
      <vt:lpstr>Dependency</vt:lpstr>
      <vt:lpstr>Purpose of Class Diagrams</vt:lpstr>
      <vt:lpstr>How to draw Class Diagrams</vt:lpstr>
      <vt:lpstr>Identification of Classes and their Attributes</vt:lpstr>
      <vt:lpstr>Identification of Relationships/ Associations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Md. Nasim Adnan</dc:creator>
  <cp:lastModifiedBy>Md. Nasim Adnan</cp:lastModifiedBy>
  <cp:revision>32</cp:revision>
  <dcterms:created xsi:type="dcterms:W3CDTF">2025-04-30T16:31:30Z</dcterms:created>
  <dcterms:modified xsi:type="dcterms:W3CDTF">2025-05-24T10:26:05Z</dcterms:modified>
</cp:coreProperties>
</file>