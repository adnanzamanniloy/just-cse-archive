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549" r:id="rId2"/>
    <p:sldId id="526" r:id="rId3"/>
    <p:sldId id="527" r:id="rId4"/>
    <p:sldId id="528" r:id="rId5"/>
    <p:sldId id="529" r:id="rId6"/>
    <p:sldId id="530" r:id="rId7"/>
    <p:sldId id="536" r:id="rId8"/>
    <p:sldId id="532" r:id="rId9"/>
    <p:sldId id="533" r:id="rId10"/>
    <p:sldId id="550" r:id="rId1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33"/>
    <a:srgbClr val="CC0000"/>
    <a:srgbClr val="FFFF00"/>
    <a:srgbClr val="D60093"/>
    <a:srgbClr val="33CC33"/>
    <a:srgbClr val="008000"/>
    <a:srgbClr val="FF0000"/>
    <a:srgbClr val="00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-274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4631" tIns="47316" rIns="94631" bIns="47316" numCol="1" anchor="t" anchorCtr="0" compatLnSpc="1">
            <a:prstTxWarp prst="textNoShape">
              <a:avLst/>
            </a:prstTxWarp>
          </a:bodyPr>
          <a:lstStyle>
            <a:lvl1pPr defTabSz="946150">
              <a:defRPr sz="1200" i="0">
                <a:latin typeface="Comic Sans MS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11625" y="0"/>
            <a:ext cx="31638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4631" tIns="47316" rIns="94631" bIns="47316" numCol="1" anchor="t" anchorCtr="0" compatLnSpc="1">
            <a:prstTxWarp prst="textNoShape">
              <a:avLst/>
            </a:prstTxWarp>
          </a:bodyPr>
          <a:lstStyle>
            <a:lvl1pPr algn="r" defTabSz="946150">
              <a:defRPr sz="1200" i="0">
                <a:latin typeface="Comic Sans MS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9713"/>
            <a:ext cx="3163888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4631" tIns="47316" rIns="94631" bIns="47316" numCol="1" anchor="b" anchorCtr="0" compatLnSpc="1">
            <a:prstTxWarp prst="textNoShape">
              <a:avLst/>
            </a:prstTxWarp>
          </a:bodyPr>
          <a:lstStyle>
            <a:lvl1pPr defTabSz="946150">
              <a:defRPr sz="1200" i="0">
                <a:latin typeface="Comic Sans MS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11625" y="9129713"/>
            <a:ext cx="3163888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4631" tIns="47316" rIns="94631" bIns="47316" numCol="1" anchor="b" anchorCtr="0" compatLnSpc="1">
            <a:prstTxWarp prst="textNoShape">
              <a:avLst/>
            </a:prstTxWarp>
          </a:bodyPr>
          <a:lstStyle>
            <a:lvl1pPr algn="r" defTabSz="946150">
              <a:defRPr sz="1200" i="0"/>
            </a:lvl1pPr>
          </a:lstStyle>
          <a:p>
            <a:fld id="{7479C196-75C1-4D5C-9E6F-4CE4B6E654D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defTabSz="966788">
              <a:defRPr sz="1200" i="0">
                <a:latin typeface="Times New Roman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 i="0">
                <a:latin typeface="Times New Roman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defTabSz="966788">
              <a:defRPr sz="1200" i="0">
                <a:latin typeface="Times New Roman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 i="0">
                <a:latin typeface="Times New Roman" pitchFamily="18" charset="0"/>
              </a:defRPr>
            </a:lvl1pPr>
          </a:lstStyle>
          <a:p>
            <a:fld id="{2205322F-BF59-4431-A665-76C274F5A23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FBD16D09-E7EC-4405-BB63-80E93E72BA0D}" type="slidenum">
              <a:rPr lang="en-US"/>
              <a:pPr/>
              <a:t>1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C948FA50-964F-45F6-AD9A-EFEF210B10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3EF34B26-6776-483A-B4C6-F878F73E4C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9BB27E26-7F3C-4BDB-B728-359837AD74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19790590-6B47-4AD7-9E80-D902B7C8E0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1604E5EE-ED2F-42C9-B6E3-D9DAAFDFE0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AE0B6CA0-EF2D-4B4A-A1EA-A514566A1E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80A43237-D7D2-4427-9F10-4FC4543FC4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95CA6853-A7B5-4415-924A-72F11A7938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3591B55E-A08F-4D9F-AE25-0F631D7F6D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DC699AFB-0989-44B1-B648-24E19A3EA0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5-</a:t>
            </a:r>
            <a:fld id="{F141DEB6-FD7E-4827-B46A-0F65F74DE6E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0">
                <a:latin typeface="Times New Roman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2125" y="6486525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81975" y="6486525"/>
            <a:ext cx="676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5-</a:t>
            </a:r>
            <a:fld id="{CFCC9BC9-960D-4C79-B33E-F5410180CF6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charset="0"/>
              </a:rPr>
              <a:t>Link </a:t>
            </a:r>
            <a:r>
              <a:rPr lang="en-US" i="0" dirty="0">
                <a:latin typeface="Arial" charset="0"/>
              </a:rPr>
              <a:t>Layer</a:t>
            </a:r>
          </a:p>
        </p:txBody>
      </p:sp>
      <p:sp>
        <p:nvSpPr>
          <p:cNvPr id="307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5-</a:t>
            </a:r>
            <a:fld id="{ED4993B0-B0A9-494F-B2A5-00D675F8E396}" type="slidenum">
              <a:rPr lang="en-US"/>
              <a:pPr/>
              <a:t>1</a:t>
            </a:fld>
            <a:endParaRPr lang="en-US"/>
          </a:p>
        </p:txBody>
      </p:sp>
      <p:pic>
        <p:nvPicPr>
          <p:cNvPr id="206851" name="Picture 5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Link layer, </a:t>
            </a:r>
            <a:r>
              <a:rPr lang="en-US" sz="4000">
                <a:cs typeface="+mj-cs"/>
              </a:rPr>
              <a:t>LAN</a:t>
            </a:r>
            <a:r>
              <a:rPr lang="en-US"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5.1</a:t>
            </a:r>
            <a:r>
              <a:rPr lang="en-US" dirty="0">
                <a:solidFill>
                  <a:srgbClr val="CC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5.2</a:t>
            </a:r>
            <a:r>
              <a:rPr lang="en-US" dirty="0">
                <a:solidFill>
                  <a:srgbClr val="CC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5.3</a:t>
            </a:r>
            <a:r>
              <a:rPr lang="en-US" dirty="0">
                <a:solidFill>
                  <a:srgbClr val="CC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5.4</a:t>
            </a:r>
            <a:r>
              <a:rPr lang="en-US" dirty="0">
                <a:solidFill>
                  <a:srgbClr val="CC0000"/>
                </a:solidFill>
                <a:cs typeface="+mn-cs"/>
              </a:rPr>
              <a:t> </a:t>
            </a:r>
            <a:r>
              <a:rPr lang="en-US" dirty="0" smtClean="0">
                <a:solidFill>
                  <a:srgbClr val="000000"/>
                </a:solidFill>
                <a:cs typeface="+mn-cs"/>
              </a:rPr>
              <a:t>LANs</a:t>
            </a:r>
            <a:endParaRPr lang="en-US" dirty="0">
              <a:solidFill>
                <a:srgbClr val="000000"/>
              </a:solidFill>
              <a:cs typeface="+mn-cs"/>
            </a:endParaRPr>
          </a:p>
          <a:p>
            <a:pPr lvl="1">
              <a:buFont typeface="Wingdings" charset="0"/>
              <a:buChar char="§"/>
              <a:defRPr/>
            </a:pPr>
            <a:r>
              <a:rPr lang="en-US" dirty="0" smtClean="0"/>
              <a:t>addressing, ARP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 smtClean="0"/>
              <a:t>Ethernet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/>
              <a:t>s</a:t>
            </a:r>
            <a:r>
              <a:rPr lang="en-US" dirty="0" smtClean="0"/>
              <a:t>witches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 smtClean="0"/>
              <a:t>VLANS</a:t>
            </a:r>
            <a:endParaRPr lang="en-US" dirty="0"/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cs typeface="+mn-cs"/>
              </a:rPr>
              <a:t>5.5</a:t>
            </a:r>
            <a:r>
              <a:rPr lang="en-US" dirty="0" smtClean="0">
                <a:cs typeface="+mn-cs"/>
              </a:rPr>
              <a:t> link </a:t>
            </a:r>
            <a:r>
              <a:rPr lang="en-US" dirty="0">
                <a:cs typeface="+mn-cs"/>
              </a:rPr>
              <a:t>v</a:t>
            </a:r>
            <a:r>
              <a:rPr lang="en-US" dirty="0" smtClean="0">
                <a:cs typeface="+mn-cs"/>
              </a:rPr>
              <a:t>irtualization</a:t>
            </a:r>
            <a:r>
              <a:rPr lang="en-US" dirty="0">
                <a:cs typeface="+mn-cs"/>
              </a:rPr>
              <a:t>: </a:t>
            </a:r>
            <a:r>
              <a:rPr lang="en-US" dirty="0" smtClean="0">
                <a:cs typeface="+mn-cs"/>
              </a:rPr>
              <a:t>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cs typeface="+mn-cs"/>
              </a:rPr>
              <a:t>5.6</a:t>
            </a:r>
            <a:r>
              <a:rPr lang="en-US" dirty="0" smtClean="0">
                <a:cs typeface="+mn-cs"/>
              </a:rPr>
              <a:t> data center networking</a:t>
            </a:r>
            <a:endParaRPr lang="en-US" dirty="0">
              <a:cs typeface="+mn-cs"/>
            </a:endParaRP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 smtClean="0">
                <a:solidFill>
                  <a:srgbClr val="CC0000"/>
                </a:solidFill>
                <a:cs typeface="+mn-cs"/>
              </a:rPr>
              <a:t>5.7 </a:t>
            </a:r>
            <a:r>
              <a:rPr lang="en-US" dirty="0">
                <a:solidFill>
                  <a:srgbClr val="CC0000"/>
                </a:solidFill>
                <a:cs typeface="+mn-cs"/>
              </a:rPr>
              <a:t>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52153" y="4542817"/>
            <a:ext cx="4591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Slides courtesy of J. Kurose and K. Ross for their book , Computer Networking, 6</a:t>
            </a:r>
            <a:r>
              <a:rPr lang="en-US" baseline="30000" dirty="0" smtClean="0"/>
              <a:t>th</a:t>
            </a:r>
            <a:r>
              <a:rPr lang="en-US" dirty="0" smtClean="0"/>
              <a:t>  edition,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charset="0"/>
              </a:rPr>
              <a:t>Link </a:t>
            </a:r>
            <a:r>
              <a:rPr lang="en-US" i="0" dirty="0">
                <a:solidFill>
                  <a:srgbClr val="000000"/>
                </a:solidFill>
                <a:latin typeface="Arial" charset="0"/>
              </a:rPr>
              <a:t>Layer</a:t>
            </a:r>
          </a:p>
        </p:txBody>
      </p:sp>
      <p:sp>
        <p:nvSpPr>
          <p:cNvPr id="860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5-</a:t>
            </a:r>
            <a:fld id="{EDE4FDEC-852D-445F-BD1C-F34AEF03581E}" type="slidenum">
              <a:rPr lang="en-US">
                <a:solidFill>
                  <a:srgbClr val="000000"/>
                </a:solidFill>
              </a:rPr>
              <a:pPr/>
              <a:t>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34338" cy="1143000"/>
          </a:xfrm>
        </p:spPr>
        <p:txBody>
          <a:bodyPr/>
          <a:lstStyle/>
          <a:p>
            <a:pPr>
              <a:defRPr/>
            </a:pPr>
            <a:r>
              <a:rPr lang="en-US" sz="3200" i="1">
                <a:solidFill>
                  <a:srgbClr val="C00000"/>
                </a:solidFill>
                <a:cs typeface="+mj-cs"/>
              </a:rPr>
              <a:t>Synthesis: </a:t>
            </a:r>
            <a:r>
              <a:rPr lang="en-US" sz="3200">
                <a:cs typeface="+mj-cs"/>
              </a:rPr>
              <a:t>a day in the life of a web request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38263"/>
            <a:ext cx="7772400" cy="46482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>
                <a:cs typeface="+mn-cs"/>
              </a:rPr>
              <a:t>journey down protocol stack complete!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/>
              <a:t>application, transport, network, link</a:t>
            </a:r>
          </a:p>
          <a:p>
            <a:pPr>
              <a:buFont typeface="Wingdings" charset="0"/>
              <a:buChar char="v"/>
              <a:defRPr/>
            </a:pPr>
            <a:r>
              <a:rPr lang="en-US">
                <a:cs typeface="+mn-cs"/>
              </a:rPr>
              <a:t>putting-it-all-together: synthesis!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i="1">
                <a:solidFill>
                  <a:srgbClr val="C00000"/>
                </a:solidFill>
              </a:rPr>
              <a:t>goal: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identify, review, understand protocols (at all layers) involved in seemingly simple scenario: requesting www page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i="1">
                <a:solidFill>
                  <a:srgbClr val="C00000"/>
                </a:solidFill>
              </a:rPr>
              <a:t>scenario: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student attaches laptop to campus network, requests/receives www.google.com </a:t>
            </a:r>
          </a:p>
          <a:p>
            <a:pPr>
              <a:buFont typeface="Wingdings" charset="0"/>
              <a:buChar char="v"/>
              <a:defRPr/>
            </a:pPr>
            <a:endParaRPr lang="en-US"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cs typeface="+mn-cs"/>
            </a:endParaRPr>
          </a:p>
        </p:txBody>
      </p:sp>
      <p:pic>
        <p:nvPicPr>
          <p:cNvPr id="208901" name="Picture 16" descr="underline_base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7375" y="971550"/>
            <a:ext cx="7313613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72125" y="6486525"/>
            <a:ext cx="2895600" cy="27146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charset="0"/>
              </a:rPr>
              <a:t>Link </a:t>
            </a:r>
            <a:r>
              <a:rPr lang="en-US" i="0" dirty="0">
                <a:solidFill>
                  <a:srgbClr val="000000"/>
                </a:solidFill>
                <a:latin typeface="Arial" charset="0"/>
              </a:rPr>
              <a:t>Layer</a:t>
            </a:r>
          </a:p>
        </p:txBody>
      </p:sp>
      <p:sp>
        <p:nvSpPr>
          <p:cNvPr id="870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5-</a:t>
            </a:r>
            <a:fld id="{CF3D3E87-EE4F-40C9-B63E-606329FA2F8A}" type="slidenum">
              <a:rPr lang="en-US">
                <a:solidFill>
                  <a:srgbClr val="000000"/>
                </a:solidFill>
              </a:rPr>
              <a:pPr/>
              <a:t>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9923" name="Freeform 406"/>
          <p:cNvSpPr>
            <a:spLocks/>
          </p:cNvSpPr>
          <p:nvPr/>
        </p:nvSpPr>
        <p:spPr bwMode="auto">
          <a:xfrm>
            <a:off x="4751388" y="706438"/>
            <a:ext cx="3894137" cy="3192462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6838"/>
            <a:ext cx="8034338" cy="973137"/>
          </a:xfrm>
        </p:spPr>
        <p:txBody>
          <a:bodyPr/>
          <a:lstStyle/>
          <a:p>
            <a:pPr>
              <a:defRPr/>
            </a:pPr>
            <a:r>
              <a:rPr lang="en-US" sz="3200">
                <a:cs typeface="+mj-cs"/>
              </a:rPr>
              <a:t>A day in the life: scenario</a:t>
            </a:r>
          </a:p>
        </p:txBody>
      </p:sp>
      <p:sp>
        <p:nvSpPr>
          <p:cNvPr id="209925" name="Freeform 3"/>
          <p:cNvSpPr>
            <a:spLocks/>
          </p:cNvSpPr>
          <p:nvPr/>
        </p:nvSpPr>
        <p:spPr bwMode="auto">
          <a:xfrm>
            <a:off x="611188" y="1273175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9926" name="Group 4"/>
          <p:cNvGrpSpPr>
            <a:grpSpLocks/>
          </p:cNvGrpSpPr>
          <p:nvPr/>
        </p:nvGrpSpPr>
        <p:grpSpPr bwMode="auto">
          <a:xfrm>
            <a:off x="5383213" y="2679700"/>
            <a:ext cx="757237" cy="379413"/>
            <a:chOff x="2466" y="2026"/>
            <a:chExt cx="477" cy="282"/>
          </a:xfrm>
        </p:grpSpPr>
        <p:sp>
          <p:nvSpPr>
            <p:cNvPr id="210197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0198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99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0200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0201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208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209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210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202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205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206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207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203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04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9927" name="Group 19"/>
          <p:cNvGrpSpPr>
            <a:grpSpLocks/>
          </p:cNvGrpSpPr>
          <p:nvPr/>
        </p:nvGrpSpPr>
        <p:grpSpPr bwMode="auto">
          <a:xfrm>
            <a:off x="6748463" y="2425700"/>
            <a:ext cx="757237" cy="379413"/>
            <a:chOff x="2466" y="2026"/>
            <a:chExt cx="477" cy="282"/>
          </a:xfrm>
        </p:grpSpPr>
        <p:sp>
          <p:nvSpPr>
            <p:cNvPr id="210183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0184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85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0186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0187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94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95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96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188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91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92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93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189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90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9928" name="Text Box 34"/>
          <p:cNvSpPr txBox="1">
            <a:spLocks noChangeArrowheads="1"/>
          </p:cNvSpPr>
          <p:nvPr/>
        </p:nvSpPr>
        <p:spPr bwMode="auto">
          <a:xfrm>
            <a:off x="5364163" y="1762125"/>
            <a:ext cx="181133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Comcast network </a:t>
            </a:r>
          </a:p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68.80.0.0/13</a:t>
            </a:r>
          </a:p>
        </p:txBody>
      </p:sp>
      <p:sp>
        <p:nvSpPr>
          <p:cNvPr id="209929" name="Line 36"/>
          <p:cNvSpPr>
            <a:spLocks noChangeShapeType="1"/>
          </p:cNvSpPr>
          <p:nvPr/>
        </p:nvSpPr>
        <p:spPr bwMode="auto">
          <a:xfrm flipV="1">
            <a:off x="3613150" y="2344738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9930" name="Line 43"/>
          <p:cNvSpPr>
            <a:spLocks noChangeShapeType="1"/>
          </p:cNvSpPr>
          <p:nvPr/>
        </p:nvSpPr>
        <p:spPr bwMode="auto">
          <a:xfrm flipV="1">
            <a:off x="2503488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9931" name="Line 44"/>
          <p:cNvSpPr>
            <a:spLocks noChangeShapeType="1"/>
          </p:cNvSpPr>
          <p:nvPr/>
        </p:nvSpPr>
        <p:spPr bwMode="auto">
          <a:xfrm flipV="1">
            <a:off x="3762375" y="2201863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9932" name="Line 48"/>
          <p:cNvSpPr>
            <a:spLocks noChangeShapeType="1"/>
          </p:cNvSpPr>
          <p:nvPr/>
        </p:nvSpPr>
        <p:spPr bwMode="auto">
          <a:xfrm flipV="1">
            <a:off x="3117850" y="2736850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09933" name="Group 49"/>
          <p:cNvGrpSpPr>
            <a:grpSpLocks/>
          </p:cNvGrpSpPr>
          <p:nvPr/>
        </p:nvGrpSpPr>
        <p:grpSpPr bwMode="auto">
          <a:xfrm>
            <a:off x="2598738" y="3365500"/>
            <a:ext cx="987425" cy="479425"/>
            <a:chOff x="1118" y="1621"/>
            <a:chExt cx="622" cy="302"/>
          </a:xfrm>
        </p:grpSpPr>
        <p:sp>
          <p:nvSpPr>
            <p:cNvPr id="21016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016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0168" name="Group 52"/>
            <p:cNvGrpSpPr>
              <a:grpSpLocks/>
            </p:cNvGrpSpPr>
            <p:nvPr/>
          </p:nvGrpSpPr>
          <p:grpSpPr bwMode="auto">
            <a:xfrm>
              <a:off x="1118" y="1684"/>
              <a:ext cx="477" cy="239"/>
              <a:chOff x="2466" y="2026"/>
              <a:chExt cx="477" cy="282"/>
            </a:xfrm>
          </p:grpSpPr>
          <p:sp>
            <p:nvSpPr>
              <p:cNvPr id="210169" name="Oval 53"/>
              <p:cNvSpPr>
                <a:spLocks noChangeArrowheads="1"/>
              </p:cNvSpPr>
              <p:nvPr/>
            </p:nvSpPr>
            <p:spPr bwMode="auto">
              <a:xfrm>
                <a:off x="2466" y="2168"/>
                <a:ext cx="476" cy="14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21017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71" name="Rectangle 55"/>
              <p:cNvSpPr>
                <a:spLocks noChangeArrowheads="1"/>
              </p:cNvSpPr>
              <p:nvPr/>
            </p:nvSpPr>
            <p:spPr bwMode="auto">
              <a:xfrm>
                <a:off x="2470" y="2125"/>
                <a:ext cx="472" cy="111"/>
              </a:xfrm>
              <a:prstGeom prst="rect">
                <a:avLst/>
              </a:prstGeom>
              <a:solidFill>
                <a:srgbClr val="DDDDDD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2400" i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1017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grpSp>
            <p:nvGrpSpPr>
              <p:cNvPr id="21017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21018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018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018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017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21017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017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017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10175" name="Line 65"/>
              <p:cNvSpPr>
                <a:spLocks noChangeShapeType="1"/>
              </p:cNvSpPr>
              <p:nvPr/>
            </p:nvSpPr>
            <p:spPr bwMode="auto">
              <a:xfrm flipH="1">
                <a:off x="2942" y="2109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7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09934" name="Line 68"/>
          <p:cNvSpPr>
            <a:spLocks noChangeShapeType="1"/>
          </p:cNvSpPr>
          <p:nvPr/>
        </p:nvSpPr>
        <p:spPr bwMode="auto">
          <a:xfrm flipV="1">
            <a:off x="3589338" y="2930525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09935" name="Group 69"/>
          <p:cNvGrpSpPr>
            <a:grpSpLocks/>
          </p:cNvGrpSpPr>
          <p:nvPr/>
        </p:nvGrpSpPr>
        <p:grpSpPr bwMode="auto">
          <a:xfrm>
            <a:off x="7405688" y="3341688"/>
            <a:ext cx="757237" cy="379412"/>
            <a:chOff x="2466" y="2026"/>
            <a:chExt cx="477" cy="282"/>
          </a:xfrm>
        </p:grpSpPr>
        <p:sp>
          <p:nvSpPr>
            <p:cNvPr id="21015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015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5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015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0156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6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6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6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157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6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6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6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15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5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9936" name="Line 93"/>
          <p:cNvSpPr>
            <a:spLocks noChangeShapeType="1"/>
          </p:cNvSpPr>
          <p:nvPr/>
        </p:nvSpPr>
        <p:spPr bwMode="auto">
          <a:xfrm flipH="1">
            <a:off x="7124700" y="2166938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9937" name="Freeform 94"/>
          <p:cNvSpPr>
            <a:spLocks/>
          </p:cNvSpPr>
          <p:nvPr/>
        </p:nvSpPr>
        <p:spPr bwMode="auto">
          <a:xfrm>
            <a:off x="1089025" y="4146550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9938" name="Group 110"/>
          <p:cNvGrpSpPr>
            <a:grpSpLocks/>
          </p:cNvGrpSpPr>
          <p:nvPr/>
        </p:nvGrpSpPr>
        <p:grpSpPr bwMode="auto">
          <a:xfrm>
            <a:off x="4025900" y="4724400"/>
            <a:ext cx="757238" cy="379413"/>
            <a:chOff x="2466" y="2026"/>
            <a:chExt cx="477" cy="282"/>
          </a:xfrm>
        </p:grpSpPr>
        <p:sp>
          <p:nvSpPr>
            <p:cNvPr id="21013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013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4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014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014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4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5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5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14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4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4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4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14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4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9939" name="Line 134"/>
          <p:cNvSpPr>
            <a:spLocks noChangeShapeType="1"/>
          </p:cNvSpPr>
          <p:nvPr/>
        </p:nvSpPr>
        <p:spPr bwMode="auto">
          <a:xfrm flipV="1">
            <a:off x="4479925" y="3074988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9940" name="Text Box 135"/>
          <p:cNvSpPr txBox="1">
            <a:spLocks noChangeArrowheads="1"/>
          </p:cNvSpPr>
          <p:nvPr/>
        </p:nvSpPr>
        <p:spPr bwMode="auto">
          <a:xfrm>
            <a:off x="5357813" y="5018088"/>
            <a:ext cx="18097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Google</a:t>
            </a:r>
            <a:r>
              <a:rPr lang="ja-JP" altLang="en-US" sz="1600" i="0">
                <a:solidFill>
                  <a:srgbClr val="000000"/>
                </a:solidFill>
                <a:latin typeface="Arial" pitchFamily="34" charset="0"/>
              </a:rPr>
              <a:t>’</a:t>
            </a:r>
            <a:r>
              <a:rPr lang="en-US" altLang="ja-JP" sz="1600" i="0">
                <a:solidFill>
                  <a:srgbClr val="000000"/>
                </a:solidFill>
                <a:latin typeface="Arial" pitchFamily="34" charset="0"/>
              </a:rPr>
              <a:t>s network </a:t>
            </a:r>
          </a:p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64.233.160.0/19 </a:t>
            </a:r>
          </a:p>
        </p:txBody>
      </p:sp>
      <p:sp>
        <p:nvSpPr>
          <p:cNvPr id="209941" name="Line 136"/>
          <p:cNvSpPr>
            <a:spLocks noChangeShapeType="1"/>
          </p:cNvSpPr>
          <p:nvPr/>
        </p:nvSpPr>
        <p:spPr bwMode="auto">
          <a:xfrm flipV="1">
            <a:off x="3059113" y="4894263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9942" name="Text Box 137"/>
          <p:cNvSpPr txBox="1">
            <a:spLocks noChangeArrowheads="1"/>
          </p:cNvSpPr>
          <p:nvPr/>
        </p:nvSpPr>
        <p:spPr bwMode="auto">
          <a:xfrm>
            <a:off x="1971675" y="5286375"/>
            <a:ext cx="1595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64.233.169.105</a:t>
            </a:r>
          </a:p>
        </p:txBody>
      </p:sp>
      <p:sp>
        <p:nvSpPr>
          <p:cNvPr id="209943" name="Text Box 138"/>
          <p:cNvSpPr txBox="1">
            <a:spLocks noChangeArrowheads="1"/>
          </p:cNvSpPr>
          <p:nvPr/>
        </p:nvSpPr>
        <p:spPr bwMode="auto">
          <a:xfrm>
            <a:off x="1939925" y="4992688"/>
            <a:ext cx="1177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web server</a:t>
            </a:r>
          </a:p>
        </p:txBody>
      </p:sp>
      <p:sp>
        <p:nvSpPr>
          <p:cNvPr id="209944" name="Text Box 139"/>
          <p:cNvSpPr txBox="1">
            <a:spLocks noChangeArrowheads="1"/>
          </p:cNvSpPr>
          <p:nvPr/>
        </p:nvSpPr>
        <p:spPr bwMode="auto">
          <a:xfrm>
            <a:off x="7577138" y="1384300"/>
            <a:ext cx="12334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DNS server</a:t>
            </a:r>
          </a:p>
          <a:p>
            <a:pPr eaLnBrk="1" hangingPunct="1"/>
            <a:endParaRPr lang="en-US" sz="1600" i="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209945" name="Group 95"/>
          <p:cNvGrpSpPr>
            <a:grpSpLocks/>
          </p:cNvGrpSpPr>
          <p:nvPr/>
        </p:nvGrpSpPr>
        <p:grpSpPr bwMode="auto">
          <a:xfrm>
            <a:off x="5797550" y="4365625"/>
            <a:ext cx="757238" cy="379413"/>
            <a:chOff x="2466" y="2026"/>
            <a:chExt cx="477" cy="282"/>
          </a:xfrm>
        </p:grpSpPr>
        <p:sp>
          <p:nvSpPr>
            <p:cNvPr id="21012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012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2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012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012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3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3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3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12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3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3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13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13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3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9946" name="Group 166"/>
          <p:cNvGrpSpPr>
            <a:grpSpLocks/>
          </p:cNvGrpSpPr>
          <p:nvPr/>
        </p:nvGrpSpPr>
        <p:grpSpPr bwMode="auto">
          <a:xfrm>
            <a:off x="5181600" y="3048000"/>
            <a:ext cx="400050" cy="152400"/>
            <a:chOff x="3228" y="1776"/>
            <a:chExt cx="252" cy="96"/>
          </a:xfrm>
        </p:grpSpPr>
        <p:sp>
          <p:nvSpPr>
            <p:cNvPr id="210122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23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47" name="Group 167"/>
          <p:cNvGrpSpPr>
            <a:grpSpLocks/>
          </p:cNvGrpSpPr>
          <p:nvPr/>
        </p:nvGrpSpPr>
        <p:grpSpPr bwMode="auto">
          <a:xfrm flipH="1">
            <a:off x="5810250" y="3062288"/>
            <a:ext cx="400050" cy="152400"/>
            <a:chOff x="3228" y="1776"/>
            <a:chExt cx="252" cy="96"/>
          </a:xfrm>
        </p:grpSpPr>
        <p:sp>
          <p:nvSpPr>
            <p:cNvPr id="210120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21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48" name="Group 170"/>
          <p:cNvGrpSpPr>
            <a:grpSpLocks/>
          </p:cNvGrpSpPr>
          <p:nvPr/>
        </p:nvGrpSpPr>
        <p:grpSpPr bwMode="auto">
          <a:xfrm flipH="1" flipV="1">
            <a:off x="5962650" y="2538413"/>
            <a:ext cx="400050" cy="152400"/>
            <a:chOff x="3228" y="1776"/>
            <a:chExt cx="252" cy="96"/>
          </a:xfrm>
        </p:grpSpPr>
        <p:sp>
          <p:nvSpPr>
            <p:cNvPr id="210118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19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49" name="Group 173"/>
          <p:cNvGrpSpPr>
            <a:grpSpLocks/>
          </p:cNvGrpSpPr>
          <p:nvPr/>
        </p:nvGrpSpPr>
        <p:grpSpPr bwMode="auto">
          <a:xfrm flipH="1" flipV="1">
            <a:off x="8062913" y="3228975"/>
            <a:ext cx="400050" cy="152400"/>
            <a:chOff x="3228" y="1776"/>
            <a:chExt cx="252" cy="96"/>
          </a:xfrm>
        </p:grpSpPr>
        <p:sp>
          <p:nvSpPr>
            <p:cNvPr id="210116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17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50" name="Group 176"/>
          <p:cNvGrpSpPr>
            <a:grpSpLocks/>
          </p:cNvGrpSpPr>
          <p:nvPr/>
        </p:nvGrpSpPr>
        <p:grpSpPr bwMode="auto">
          <a:xfrm flipV="1">
            <a:off x="7239000" y="3248025"/>
            <a:ext cx="295275" cy="114300"/>
            <a:chOff x="3228" y="1776"/>
            <a:chExt cx="252" cy="96"/>
          </a:xfrm>
        </p:grpSpPr>
        <p:sp>
          <p:nvSpPr>
            <p:cNvPr id="210114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15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51" name="Group 179"/>
          <p:cNvGrpSpPr>
            <a:grpSpLocks/>
          </p:cNvGrpSpPr>
          <p:nvPr/>
        </p:nvGrpSpPr>
        <p:grpSpPr bwMode="auto">
          <a:xfrm rot="409689" flipH="1" flipV="1">
            <a:off x="7510463" y="2590800"/>
            <a:ext cx="452437" cy="57150"/>
            <a:chOff x="3228" y="1776"/>
            <a:chExt cx="252" cy="96"/>
          </a:xfrm>
        </p:grpSpPr>
        <p:sp>
          <p:nvSpPr>
            <p:cNvPr id="210112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13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52" name="Group 182"/>
          <p:cNvGrpSpPr>
            <a:grpSpLocks/>
          </p:cNvGrpSpPr>
          <p:nvPr/>
        </p:nvGrpSpPr>
        <p:grpSpPr bwMode="auto">
          <a:xfrm>
            <a:off x="6653213" y="2795588"/>
            <a:ext cx="295275" cy="114300"/>
            <a:chOff x="3228" y="1776"/>
            <a:chExt cx="252" cy="96"/>
          </a:xfrm>
        </p:grpSpPr>
        <p:sp>
          <p:nvSpPr>
            <p:cNvPr id="210110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11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53" name="Group 185"/>
          <p:cNvGrpSpPr>
            <a:grpSpLocks/>
          </p:cNvGrpSpPr>
          <p:nvPr/>
        </p:nvGrpSpPr>
        <p:grpSpPr bwMode="auto">
          <a:xfrm flipH="1">
            <a:off x="7291388" y="2795588"/>
            <a:ext cx="295275" cy="114300"/>
            <a:chOff x="3228" y="1776"/>
            <a:chExt cx="252" cy="96"/>
          </a:xfrm>
        </p:grpSpPr>
        <p:sp>
          <p:nvSpPr>
            <p:cNvPr id="210108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09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54" name="Group 188"/>
          <p:cNvGrpSpPr>
            <a:grpSpLocks/>
          </p:cNvGrpSpPr>
          <p:nvPr/>
        </p:nvGrpSpPr>
        <p:grpSpPr bwMode="auto">
          <a:xfrm>
            <a:off x="5705475" y="4743450"/>
            <a:ext cx="295275" cy="114300"/>
            <a:chOff x="3228" y="1776"/>
            <a:chExt cx="252" cy="96"/>
          </a:xfrm>
        </p:grpSpPr>
        <p:sp>
          <p:nvSpPr>
            <p:cNvPr id="210106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07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55" name="Group 191"/>
          <p:cNvGrpSpPr>
            <a:grpSpLocks/>
          </p:cNvGrpSpPr>
          <p:nvPr/>
        </p:nvGrpSpPr>
        <p:grpSpPr bwMode="auto">
          <a:xfrm flipH="1">
            <a:off x="6343650" y="4743450"/>
            <a:ext cx="295275" cy="114300"/>
            <a:chOff x="3228" y="1776"/>
            <a:chExt cx="252" cy="96"/>
          </a:xfrm>
        </p:grpSpPr>
        <p:sp>
          <p:nvSpPr>
            <p:cNvPr id="210104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05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56" name="Group 194"/>
          <p:cNvGrpSpPr>
            <a:grpSpLocks/>
          </p:cNvGrpSpPr>
          <p:nvPr/>
        </p:nvGrpSpPr>
        <p:grpSpPr bwMode="auto">
          <a:xfrm>
            <a:off x="3938588" y="5100638"/>
            <a:ext cx="295275" cy="114300"/>
            <a:chOff x="3228" y="1776"/>
            <a:chExt cx="252" cy="96"/>
          </a:xfrm>
        </p:grpSpPr>
        <p:sp>
          <p:nvSpPr>
            <p:cNvPr id="210102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03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57" name="Group 197"/>
          <p:cNvGrpSpPr>
            <a:grpSpLocks/>
          </p:cNvGrpSpPr>
          <p:nvPr/>
        </p:nvGrpSpPr>
        <p:grpSpPr bwMode="auto">
          <a:xfrm flipH="1">
            <a:off x="4576763" y="5100638"/>
            <a:ext cx="295275" cy="114300"/>
            <a:chOff x="3228" y="1776"/>
            <a:chExt cx="252" cy="96"/>
          </a:xfrm>
        </p:grpSpPr>
        <p:sp>
          <p:nvSpPr>
            <p:cNvPr id="210100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101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958" name="Group 200"/>
          <p:cNvGrpSpPr>
            <a:grpSpLocks/>
          </p:cNvGrpSpPr>
          <p:nvPr/>
        </p:nvGrpSpPr>
        <p:grpSpPr bwMode="auto">
          <a:xfrm flipH="1" flipV="1">
            <a:off x="4781550" y="4805363"/>
            <a:ext cx="295275" cy="114300"/>
            <a:chOff x="3228" y="1776"/>
            <a:chExt cx="252" cy="96"/>
          </a:xfrm>
        </p:grpSpPr>
        <p:sp>
          <p:nvSpPr>
            <p:cNvPr id="210098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099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9959" name="Text Box 34"/>
          <p:cNvSpPr txBox="1">
            <a:spLocks noChangeArrowheads="1"/>
          </p:cNvSpPr>
          <p:nvPr/>
        </p:nvSpPr>
        <p:spPr bwMode="auto">
          <a:xfrm>
            <a:off x="962025" y="3128963"/>
            <a:ext cx="15954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school network </a:t>
            </a:r>
          </a:p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68.80.2.0/24</a:t>
            </a:r>
          </a:p>
        </p:txBody>
      </p:sp>
      <p:pic>
        <p:nvPicPr>
          <p:cNvPr id="699793" name="Picture 4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82713" y="42084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99796" name="Text Box 404"/>
          <p:cNvSpPr txBox="1">
            <a:spLocks noChangeArrowheads="1"/>
          </p:cNvSpPr>
          <p:nvPr/>
        </p:nvSpPr>
        <p:spPr bwMode="auto">
          <a:xfrm>
            <a:off x="1563688" y="3940175"/>
            <a:ext cx="9525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smtClean="0">
                <a:solidFill>
                  <a:srgbClr val="FF0000"/>
                </a:solidFill>
                <a:latin typeface="Arial" charset="0"/>
              </a:rPr>
              <a:t>web page</a:t>
            </a:r>
          </a:p>
        </p:txBody>
      </p:sp>
      <p:grpSp>
        <p:nvGrpSpPr>
          <p:cNvPr id="699797" name="Group 405"/>
          <p:cNvGrpSpPr>
            <a:grpSpLocks/>
          </p:cNvGrpSpPr>
          <p:nvPr/>
        </p:nvGrpSpPr>
        <p:grpSpPr bwMode="auto">
          <a:xfrm>
            <a:off x="288925" y="1162050"/>
            <a:ext cx="1416050" cy="1265238"/>
            <a:chOff x="146" y="690"/>
            <a:chExt cx="892" cy="797"/>
          </a:xfrm>
        </p:grpSpPr>
        <p:grpSp>
          <p:nvGrpSpPr>
            <p:cNvPr id="21009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21009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009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87217" name="Picture 393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87218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7216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213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smtClean="0">
                  <a:solidFill>
                    <a:srgbClr val="FF0000"/>
                  </a:solidFill>
                  <a:latin typeface="Arial" charset="0"/>
                </a:rPr>
                <a:t>browser</a:t>
              </a:r>
            </a:p>
          </p:txBody>
        </p:sp>
      </p:grpSp>
      <p:grpSp>
        <p:nvGrpSpPr>
          <p:cNvPr id="209963" name="Group 356"/>
          <p:cNvGrpSpPr>
            <a:grpSpLocks/>
          </p:cNvGrpSpPr>
          <p:nvPr/>
        </p:nvGrpSpPr>
        <p:grpSpPr bwMode="auto">
          <a:xfrm>
            <a:off x="1511300" y="1898650"/>
            <a:ext cx="842963" cy="814388"/>
            <a:chOff x="313" y="1497"/>
            <a:chExt cx="1152" cy="1014"/>
          </a:xfrm>
        </p:grpSpPr>
        <p:pic>
          <p:nvPicPr>
            <p:cNvPr id="210089" name="Picture 354" descr="laptop_stylized_small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0090" name="Picture 355" descr="antenna_stylized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99788" name="AutoShape 396"/>
          <p:cNvSpPr>
            <a:spLocks noChangeArrowheads="1"/>
          </p:cNvSpPr>
          <p:nvPr/>
        </p:nvSpPr>
        <p:spPr bwMode="auto">
          <a:xfrm>
            <a:off x="668338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87086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90863" y="2444750"/>
            <a:ext cx="91440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96" name="Rectangle 43"/>
          <p:cNvSpPr>
            <a:spLocks noChangeArrowheads="1"/>
          </p:cNvSpPr>
          <p:nvPr/>
        </p:nvSpPr>
        <p:spPr bwMode="auto">
          <a:xfrm rot="-5400000">
            <a:off x="3416300" y="3551238"/>
            <a:ext cx="147638" cy="188912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a typeface="+mn-ea"/>
            </a:endParaRPr>
          </a:p>
        </p:txBody>
      </p:sp>
      <p:sp>
        <p:nvSpPr>
          <p:cNvPr id="198" name="Rectangle 43"/>
          <p:cNvSpPr>
            <a:spLocks noChangeArrowheads="1"/>
          </p:cNvSpPr>
          <p:nvPr/>
        </p:nvSpPr>
        <p:spPr bwMode="auto">
          <a:xfrm rot="2460490">
            <a:off x="3074988" y="3208338"/>
            <a:ext cx="136525" cy="3063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a typeface="+mn-ea"/>
            </a:endParaRPr>
          </a:p>
        </p:txBody>
      </p:sp>
      <p:sp>
        <p:nvSpPr>
          <p:cNvPr id="209968" name="Oval 407"/>
          <p:cNvSpPr>
            <a:spLocks noChangeArrowheads="1"/>
          </p:cNvSpPr>
          <p:nvPr/>
        </p:nvSpPr>
        <p:spPr bwMode="auto">
          <a:xfrm>
            <a:off x="2552700" y="3619500"/>
            <a:ext cx="850900" cy="25082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 i="0">
              <a:solidFill>
                <a:srgbClr val="000000"/>
              </a:solidFill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209969" name="Rectangle 410"/>
          <p:cNvSpPr>
            <a:spLocks noChangeArrowheads="1"/>
          </p:cNvSpPr>
          <p:nvPr/>
        </p:nvSpPr>
        <p:spPr bwMode="auto">
          <a:xfrm>
            <a:off x="2552700" y="3590925"/>
            <a:ext cx="854075" cy="15716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 i="0">
              <a:solidFill>
                <a:srgbClr val="000000"/>
              </a:solidFill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209970" name="Oval 411"/>
          <p:cNvSpPr>
            <a:spLocks noChangeArrowheads="1"/>
          </p:cNvSpPr>
          <p:nvPr/>
        </p:nvSpPr>
        <p:spPr bwMode="auto">
          <a:xfrm>
            <a:off x="2549525" y="3421063"/>
            <a:ext cx="850900" cy="293687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 i="0">
              <a:solidFill>
                <a:srgbClr val="000000"/>
              </a:solidFill>
              <a:latin typeface="Times New Roman" pitchFamily="18" charset="0"/>
              <a:cs typeface="Arial" pitchFamily="34" charset="0"/>
            </a:endParaRPr>
          </a:p>
        </p:txBody>
      </p:sp>
      <p:grpSp>
        <p:nvGrpSpPr>
          <p:cNvPr id="209971" name="Group 1189"/>
          <p:cNvGrpSpPr>
            <a:grpSpLocks/>
          </p:cNvGrpSpPr>
          <p:nvPr/>
        </p:nvGrpSpPr>
        <p:grpSpPr bwMode="auto">
          <a:xfrm>
            <a:off x="2720975" y="3497263"/>
            <a:ext cx="481013" cy="136525"/>
            <a:chOff x="2468" y="1332"/>
            <a:chExt cx="310" cy="60"/>
          </a:xfrm>
        </p:grpSpPr>
        <p:sp>
          <p:nvSpPr>
            <p:cNvPr id="210087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0088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093" name="Line 1192"/>
          <p:cNvSpPr>
            <a:spLocks noChangeShapeType="1"/>
          </p:cNvSpPr>
          <p:nvPr/>
        </p:nvSpPr>
        <p:spPr bwMode="auto">
          <a:xfrm>
            <a:off x="2552700" y="355758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87094" name="Line 1193"/>
          <p:cNvSpPr>
            <a:spLocks noChangeShapeType="1"/>
          </p:cNvSpPr>
          <p:nvPr/>
        </p:nvSpPr>
        <p:spPr bwMode="auto">
          <a:xfrm>
            <a:off x="3400425" y="3567113"/>
            <a:ext cx="0" cy="19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207" name="Rectangle 43"/>
          <p:cNvSpPr>
            <a:spLocks noChangeArrowheads="1"/>
          </p:cNvSpPr>
          <p:nvPr/>
        </p:nvSpPr>
        <p:spPr bwMode="auto">
          <a:xfrm rot="-5400000">
            <a:off x="2338388" y="2365375"/>
            <a:ext cx="146050" cy="31432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a typeface="+mn-ea"/>
            </a:endParaRPr>
          </a:p>
        </p:txBody>
      </p:sp>
      <p:grpSp>
        <p:nvGrpSpPr>
          <p:cNvPr id="209975" name="Group 1185"/>
          <p:cNvGrpSpPr>
            <a:grpSpLocks/>
          </p:cNvGrpSpPr>
          <p:nvPr/>
        </p:nvGrpSpPr>
        <p:grpSpPr bwMode="auto">
          <a:xfrm>
            <a:off x="5338763" y="2667000"/>
            <a:ext cx="830262" cy="455613"/>
            <a:chOff x="4650" y="1129"/>
            <a:chExt cx="246" cy="95"/>
          </a:xfrm>
        </p:grpSpPr>
        <p:sp>
          <p:nvSpPr>
            <p:cNvPr id="210079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80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81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grpSp>
          <p:nvGrpSpPr>
            <p:cNvPr id="210082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85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86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204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205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209976" name="Group 1185"/>
          <p:cNvGrpSpPr>
            <a:grpSpLocks/>
          </p:cNvGrpSpPr>
          <p:nvPr/>
        </p:nvGrpSpPr>
        <p:grpSpPr bwMode="auto">
          <a:xfrm>
            <a:off x="6729413" y="2401888"/>
            <a:ext cx="808037" cy="425450"/>
            <a:chOff x="4650" y="1129"/>
            <a:chExt cx="246" cy="95"/>
          </a:xfrm>
        </p:grpSpPr>
        <p:sp>
          <p:nvSpPr>
            <p:cNvPr id="21007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7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7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grpSp>
          <p:nvGrpSpPr>
            <p:cNvPr id="21007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7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7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19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9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209977" name="Group 1185"/>
          <p:cNvGrpSpPr>
            <a:grpSpLocks/>
          </p:cNvGrpSpPr>
          <p:nvPr/>
        </p:nvGrpSpPr>
        <p:grpSpPr bwMode="auto">
          <a:xfrm>
            <a:off x="7343775" y="3338513"/>
            <a:ext cx="892175" cy="390525"/>
            <a:chOff x="4650" y="1129"/>
            <a:chExt cx="246" cy="95"/>
          </a:xfrm>
        </p:grpSpPr>
        <p:sp>
          <p:nvSpPr>
            <p:cNvPr id="21006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6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6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grpSp>
          <p:nvGrpSpPr>
            <p:cNvPr id="21006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7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18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8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209978" name="Group 1185"/>
          <p:cNvGrpSpPr>
            <a:grpSpLocks/>
          </p:cNvGrpSpPr>
          <p:nvPr/>
        </p:nvGrpSpPr>
        <p:grpSpPr bwMode="auto">
          <a:xfrm>
            <a:off x="5754688" y="4344988"/>
            <a:ext cx="808037" cy="425450"/>
            <a:chOff x="4650" y="1129"/>
            <a:chExt cx="246" cy="95"/>
          </a:xfrm>
        </p:grpSpPr>
        <p:sp>
          <p:nvSpPr>
            <p:cNvPr id="21005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5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5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grpSp>
          <p:nvGrpSpPr>
            <p:cNvPr id="21005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6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180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81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209979" name="Group 1185"/>
          <p:cNvGrpSpPr>
            <a:grpSpLocks/>
          </p:cNvGrpSpPr>
          <p:nvPr/>
        </p:nvGrpSpPr>
        <p:grpSpPr bwMode="auto">
          <a:xfrm>
            <a:off x="4013200" y="4710113"/>
            <a:ext cx="808038" cy="425450"/>
            <a:chOff x="4650" y="1129"/>
            <a:chExt cx="246" cy="95"/>
          </a:xfrm>
        </p:grpSpPr>
        <p:sp>
          <p:nvSpPr>
            <p:cNvPr id="210047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48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210049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grpSp>
          <p:nvGrpSpPr>
            <p:cNvPr id="210050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53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54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172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73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209980" name="Group 248"/>
          <p:cNvGrpSpPr>
            <a:grpSpLocks/>
          </p:cNvGrpSpPr>
          <p:nvPr/>
        </p:nvGrpSpPr>
        <p:grpSpPr bwMode="auto">
          <a:xfrm>
            <a:off x="7218363" y="1558925"/>
            <a:ext cx="358775" cy="623888"/>
            <a:chOff x="4140" y="429"/>
            <a:chExt cx="1425" cy="2396"/>
          </a:xfrm>
        </p:grpSpPr>
        <p:sp>
          <p:nvSpPr>
            <p:cNvPr id="210015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137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0017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0018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140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0020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66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67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42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0022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64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65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44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45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0025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62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63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210026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0027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60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61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4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0029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0030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152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0032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154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5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6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7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9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209981" name="Group 248"/>
          <p:cNvGrpSpPr>
            <a:grpSpLocks/>
          </p:cNvGrpSpPr>
          <p:nvPr/>
        </p:nvGrpSpPr>
        <p:grpSpPr bwMode="auto">
          <a:xfrm>
            <a:off x="2876550" y="4454525"/>
            <a:ext cx="358775" cy="623888"/>
            <a:chOff x="4140" y="429"/>
            <a:chExt cx="1425" cy="2396"/>
          </a:xfrm>
        </p:grpSpPr>
        <p:sp>
          <p:nvSpPr>
            <p:cNvPr id="20998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10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0998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998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10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0998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3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3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1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0999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3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3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1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1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0999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3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3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20999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999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2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2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1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0999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999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12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000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12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pic>
        <p:nvPicPr>
          <p:cNvPr id="209982" name="Picture 22" descr="underline_base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" y="746125"/>
            <a:ext cx="4570413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9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796" grpId="0"/>
      <p:bldP spid="69978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5" name="Group 156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106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106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06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06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06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18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106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112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112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88190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6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167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168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grpSp>
          <p:nvGrpSpPr>
            <p:cNvPr id="21107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108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1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109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09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1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109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23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4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821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109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23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3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821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1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109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23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3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1109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110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823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3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822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110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10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2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110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2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2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2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3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3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3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107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819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9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9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9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8820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108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820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0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0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108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820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0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0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8806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charset="0"/>
              </a:rPr>
              <a:t>Link </a:t>
            </a:r>
            <a:r>
              <a:rPr lang="en-US" i="0" dirty="0">
                <a:solidFill>
                  <a:srgbClr val="000000"/>
                </a:solidFill>
                <a:latin typeface="Arial" charset="0"/>
              </a:rPr>
              <a:t>Layer</a:t>
            </a:r>
          </a:p>
        </p:txBody>
      </p:sp>
      <p:sp>
        <p:nvSpPr>
          <p:cNvPr id="880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5-</a:t>
            </a:r>
            <a:fld id="{524A2895-1A62-4C57-89AE-675A0D974F05}" type="slidenum">
              <a:rPr lang="en-US">
                <a:solidFill>
                  <a:srgbClr val="000000"/>
                </a:solidFill>
              </a:rPr>
              <a:pPr/>
              <a:t>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r>
              <a:rPr lang="en-US" sz="3200" smtClean="0">
                <a:ea typeface="ＭＳ Ｐゴシック" pitchFamily="34" charset="-128"/>
              </a:rPr>
              <a:t>A day in the life… connecting to the Internet</a:t>
            </a:r>
          </a:p>
        </p:txBody>
      </p:sp>
      <p:sp>
        <p:nvSpPr>
          <p:cNvPr id="701629" name="Rectangle 189"/>
          <p:cNvSpPr>
            <a:spLocks noGrp="1" noChangeArrowheads="1"/>
          </p:cNvSpPr>
          <p:nvPr>
            <p:ph type="body" idx="1"/>
          </p:nvPr>
        </p:nvSpPr>
        <p:spPr>
          <a:xfrm>
            <a:off x="5037138" y="1128713"/>
            <a:ext cx="3732212" cy="1262062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200">
                <a:cs typeface="+mn-cs"/>
              </a:rPr>
              <a:t>connecting laptop needs to get its own IP address, addr of first-hop router, addr of DNS server: use </a:t>
            </a:r>
            <a:r>
              <a:rPr lang="en-US" sz="2200" i="1">
                <a:solidFill>
                  <a:srgbClr val="C00000"/>
                </a:solidFill>
                <a:cs typeface="+mn-cs"/>
              </a:rPr>
              <a:t>DHCP</a:t>
            </a:r>
          </a:p>
        </p:txBody>
      </p:sp>
      <p:sp>
        <p:nvSpPr>
          <p:cNvPr id="701661" name="AutoShape 221"/>
          <p:cNvSpPr>
            <a:spLocks noChangeArrowheads="1"/>
          </p:cNvSpPr>
          <p:nvPr/>
        </p:nvSpPr>
        <p:spPr bwMode="auto">
          <a:xfrm>
            <a:off x="830263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1690" name="Group 250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1054" name="Freeform 249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1055" name="Group 248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8177" name="Rectangle 242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78" name="Text Box 241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88179" name="Line 243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80" name="Line 244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81" name="Line 245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82" name="Line 246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1693" name="Group 253"/>
          <p:cNvGrpSpPr>
            <a:grpSpLocks/>
          </p:cNvGrpSpPr>
          <p:nvPr/>
        </p:nvGrpSpPr>
        <p:grpSpPr bwMode="auto">
          <a:xfrm>
            <a:off x="520700" y="1162050"/>
            <a:ext cx="544513" cy="244475"/>
            <a:chOff x="844" y="3337"/>
            <a:chExt cx="343" cy="154"/>
          </a:xfrm>
        </p:grpSpPr>
        <p:sp>
          <p:nvSpPr>
            <p:cNvPr id="88173" name="Rectangle 251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8174" name="Text Box 252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smtClean="0">
                  <a:solidFill>
                    <a:srgbClr val="FFFFFF"/>
                  </a:solidFill>
                  <a:latin typeface="Arial" charset="0"/>
                </a:rPr>
                <a:t>DHCP</a:t>
              </a:r>
            </a:p>
          </p:txBody>
        </p:sp>
      </p:grpSp>
      <p:grpSp>
        <p:nvGrpSpPr>
          <p:cNvPr id="701739" name="Group 299"/>
          <p:cNvGrpSpPr>
            <a:grpSpLocks/>
          </p:cNvGrpSpPr>
          <p:nvPr/>
        </p:nvGrpSpPr>
        <p:grpSpPr bwMode="auto">
          <a:xfrm>
            <a:off x="66675" y="1181100"/>
            <a:ext cx="1081088" cy="1166813"/>
            <a:chOff x="42" y="744"/>
            <a:chExt cx="681" cy="735"/>
          </a:xfrm>
        </p:grpSpPr>
        <p:grpSp>
          <p:nvGrpSpPr>
            <p:cNvPr id="211020" name="Group 296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1022" name="Group 29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1047" name="Group 25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71" name="Rectangle 25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72" name="Text Box 2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88169" name="Rectangle 266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70" name="Rectangle 267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1023" name="Group 274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1041" name="Group 26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66" name="Rectangle 26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67" name="Text Box 2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211042" name="Group 27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64" name="Rectangle 27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65" name="Rectangle 27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11024" name="Group 293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60" name="Rectangle 276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61" name="Rectangle 277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1025" name="Group 29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026" name="Group 287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030" name="Group 278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1033" name="Group 2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58" name="Rectangle 2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8159" name="Text Box 28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smtClean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1034" name="Group 2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56" name="Rectangle 2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8157" name="Rectangle 2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88152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53" name="Rectangle 286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148" name="Rectangle 288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49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50" name="Rectangle 291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88142" name="AutoShape 297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1758" name="Group 318"/>
          <p:cNvGrpSpPr>
            <a:grpSpLocks/>
          </p:cNvGrpSpPr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1007" name="Group 319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1011" name="Group 320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1014" name="Group 321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39" name="Rectangle 322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40" name="Text Box 3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211015" name="Group 324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37" name="Rectangle 325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38" name="Rectangle 32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88133" name="Rectangle 327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34" name="Rectangle 328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8129" name="Rectangle 329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8130" name="Rectangle 330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8131" name="Rectangle 331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1782" name="Group 342"/>
          <p:cNvGrpSpPr>
            <a:grpSpLocks/>
          </p:cNvGrpSpPr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0999" name="Freeform 334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1000" name="Group 335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8122" name="Rectangle 33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23" name="Text Box 337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88124" name="Line 33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25" name="Line 33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26" name="Line 34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27" name="Line 34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1882" name="Group 442"/>
          <p:cNvGrpSpPr>
            <a:grpSpLocks/>
          </p:cNvGrpSpPr>
          <p:nvPr/>
        </p:nvGrpSpPr>
        <p:grpSpPr bwMode="auto">
          <a:xfrm>
            <a:off x="339725" y="2981325"/>
            <a:ext cx="1081088" cy="1217613"/>
            <a:chOff x="1404" y="3105"/>
            <a:chExt cx="681" cy="767"/>
          </a:xfrm>
        </p:grpSpPr>
        <p:grpSp>
          <p:nvGrpSpPr>
            <p:cNvPr id="210964" name="Group 34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0969" name="Group 34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0994" name="Group 34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18" name="Rectangle 34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19" name="Text Box 3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88116" name="Rectangle 34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17" name="Rectangle 35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0970" name="Group 35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0988" name="Group 35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13" name="Rectangle 35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14" name="Text Box 3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210989" name="Group 35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11" name="Rectangle 35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12" name="Rectangle 35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10971" name="Group 35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07" name="Rectangle 35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08" name="Rectangle 36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0972" name="Group 36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0973" name="Group 36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0977" name="Group 36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0980" name="Group 3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05" name="Rectangle 3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8106" name="Text Box 36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smtClean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0981" name="Group 3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03" name="Rectangle 3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8104" name="Rectangle 3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88099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00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095" name="Rectangle 37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096" name="Rectangle 37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097" name="Rectangle 37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88086" name="AutoShape 37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0966" name="Group 379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8088" name="Rectangle 38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089" name="Text Box 38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FFFFFF"/>
                    </a:solidFill>
                    <a:latin typeface="Arial" charset="0"/>
                  </a:rPr>
                  <a:t>DHCP</a:t>
                </a:r>
              </a:p>
            </p:txBody>
          </p:sp>
        </p:grpSp>
      </p:grpSp>
      <p:grpSp>
        <p:nvGrpSpPr>
          <p:cNvPr id="701916" name="Group 476"/>
          <p:cNvGrpSpPr>
            <a:grpSpLocks/>
          </p:cNvGrpSpPr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8083" name="Rectangle 477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8084" name="Text Box 478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smtClean="0">
                  <a:solidFill>
                    <a:srgbClr val="FFFFFF"/>
                  </a:solidFill>
                  <a:latin typeface="Arial" charset="0"/>
                </a:rPr>
                <a:t>DHCP</a:t>
              </a:r>
            </a:p>
          </p:txBody>
        </p:sp>
      </p:grpSp>
      <p:sp>
        <p:nvSpPr>
          <p:cNvPr id="701919" name="Rectangle 479"/>
          <p:cNvSpPr>
            <a:spLocks noChangeArrowheads="1"/>
          </p:cNvSpPr>
          <p:nvPr/>
        </p:nvSpPr>
        <p:spPr bwMode="auto">
          <a:xfrm>
            <a:off x="5037138" y="2568575"/>
            <a:ext cx="3892550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DHCP request </a:t>
            </a:r>
            <a:r>
              <a:rPr lang="en-US" sz="2200">
                <a:solidFill>
                  <a:srgbClr val="3333CC"/>
                </a:solidFill>
                <a:latin typeface="Gill Sans MT" charset="0"/>
                <a:ea typeface="ＭＳ Ｐゴシック" charset="0"/>
              </a:rPr>
              <a:t>encapsulated</a:t>
            </a:r>
            <a:r>
              <a:rPr lang="en-US" sz="2200" i="0">
                <a:solidFill>
                  <a:srgbClr val="3333CC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in </a:t>
            </a:r>
            <a:r>
              <a:rPr lang="en-US" sz="22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UDP</a:t>
            </a: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, encapsulated in </a:t>
            </a:r>
            <a:r>
              <a:rPr lang="en-US" sz="22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IP</a:t>
            </a: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, encapsulated in </a:t>
            </a:r>
            <a:r>
              <a:rPr lang="en-US" sz="22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802.3</a:t>
            </a:r>
            <a:r>
              <a:rPr lang="en-US" sz="2200" i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Ethernet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200" i="0">
              <a:solidFill>
                <a:srgbClr val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701920" name="Rectangle 480"/>
          <p:cNvSpPr>
            <a:spLocks noChangeArrowheads="1"/>
          </p:cNvSpPr>
          <p:nvPr/>
        </p:nvSpPr>
        <p:spPr bwMode="auto">
          <a:xfrm>
            <a:off x="5035550" y="3979863"/>
            <a:ext cx="3924300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Ethernet frame </a:t>
            </a:r>
            <a:r>
              <a:rPr lang="en-US" sz="2200">
                <a:solidFill>
                  <a:srgbClr val="000099"/>
                </a:solidFill>
                <a:latin typeface="Gill Sans MT" charset="0"/>
                <a:ea typeface="ＭＳ Ｐゴシック" charset="0"/>
              </a:rPr>
              <a:t>broadcast</a:t>
            </a: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(dest: FFFFFFFFFFFF) on LAN, received at router running </a:t>
            </a:r>
            <a:r>
              <a:rPr lang="en-US" sz="22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DHCP</a:t>
            </a:r>
            <a:r>
              <a:rPr lang="en-US" sz="2200" i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server</a:t>
            </a:r>
          </a:p>
        </p:txBody>
      </p:sp>
      <p:sp>
        <p:nvSpPr>
          <p:cNvPr id="701921" name="Rectangle 481"/>
          <p:cNvSpPr>
            <a:spLocks noChangeArrowheads="1"/>
          </p:cNvSpPr>
          <p:nvPr/>
        </p:nvSpPr>
        <p:spPr bwMode="auto">
          <a:xfrm>
            <a:off x="5033963" y="5316538"/>
            <a:ext cx="3802062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Ethernet </a:t>
            </a:r>
            <a:r>
              <a:rPr lang="en-US" sz="2200">
                <a:solidFill>
                  <a:srgbClr val="000099"/>
                </a:solidFill>
                <a:latin typeface="Gill Sans MT" charset="0"/>
                <a:ea typeface="ＭＳ Ｐゴシック" charset="0"/>
              </a:rPr>
              <a:t>demuxed</a:t>
            </a: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to IP demuxed, UDP demuxed to DHCP </a:t>
            </a:r>
          </a:p>
        </p:txBody>
      </p:sp>
      <p:pic>
        <p:nvPicPr>
          <p:cNvPr id="210961" name="Picture 15" descr="underline_base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0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0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1144E-6 L 0.26823 -0.00139 L 0.10833 0.27287 L -0.01806 0.271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1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70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629" grpId="0" build="p"/>
      <p:bldP spid="701661" grpId="0" animBg="1"/>
      <p:bldP spid="701661" grpId="1" animBg="1"/>
      <p:bldP spid="701919" grpId="0"/>
      <p:bldP spid="701920" grpId="0"/>
      <p:bldP spid="7019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969" name="Group 152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208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208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8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8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8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20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208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214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214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89210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16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164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grpSp>
          <p:nvGrpSpPr>
            <p:cNvPr id="21209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210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3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211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11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3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211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925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6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923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211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925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5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923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3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211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925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5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1211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212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925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5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924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212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12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4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212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4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4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4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5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5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5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209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921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1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1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1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8922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210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922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2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2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210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922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2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2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8909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charset="0"/>
              </a:rPr>
              <a:t>Link </a:t>
            </a:r>
            <a:r>
              <a:rPr lang="en-US" i="0" dirty="0">
                <a:solidFill>
                  <a:srgbClr val="000000"/>
                </a:solidFill>
                <a:latin typeface="Arial" charset="0"/>
              </a:rPr>
              <a:t>Layer</a:t>
            </a:r>
          </a:p>
        </p:txBody>
      </p:sp>
      <p:sp>
        <p:nvSpPr>
          <p:cNvPr id="890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5-</a:t>
            </a:r>
            <a:fld id="{576AAAD0-6ACB-4BD3-9037-385AB2B0C65D}" type="slidenum">
              <a:rPr lang="en-US">
                <a:solidFill>
                  <a:srgbClr val="000000"/>
                </a:solidFill>
              </a:rPr>
              <a:pPr/>
              <a:t>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7138" y="1158875"/>
            <a:ext cx="3430587" cy="15732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smtClean="0">
                <a:ea typeface="ＭＳ Ｐゴシック" pitchFamily="34" charset="-128"/>
              </a:rPr>
              <a:t>DHCP server formulates </a:t>
            </a:r>
            <a:r>
              <a:rPr lang="en-US" sz="2000" i="1" smtClean="0">
                <a:solidFill>
                  <a:srgbClr val="C00000"/>
                </a:solidFill>
                <a:ea typeface="ＭＳ Ｐゴシック" pitchFamily="34" charset="-128"/>
              </a:rPr>
              <a:t>DHCP ACK</a:t>
            </a:r>
            <a:r>
              <a:rPr lang="en-US" sz="2000" smtClean="0">
                <a:solidFill>
                  <a:srgbClr val="C00000"/>
                </a:solidFill>
                <a:ea typeface="ＭＳ Ｐゴシック" pitchFamily="34" charset="-128"/>
              </a:rPr>
              <a:t> </a:t>
            </a:r>
            <a:r>
              <a:rPr lang="en-US" sz="2000" smtClean="0">
                <a:ea typeface="ＭＳ Ｐゴシック" pitchFamily="34" charset="-128"/>
              </a:rPr>
              <a:t>containing client</a:t>
            </a:r>
            <a:r>
              <a:rPr lang="ja-JP" altLang="en-US" sz="2000" smtClean="0">
                <a:ea typeface="ＭＳ Ｐゴシック" pitchFamily="34" charset="-128"/>
              </a:rPr>
              <a:t>’</a:t>
            </a:r>
            <a:r>
              <a:rPr lang="en-US" altLang="ja-JP" sz="2000" smtClean="0">
                <a:ea typeface="ＭＳ Ｐゴシック" pitchFamily="34" charset="-128"/>
              </a:rPr>
              <a:t>s IP address, IP address of first-hop router for client, name &amp; IP address of DNS server</a:t>
            </a:r>
          </a:p>
          <a:p>
            <a:pPr>
              <a:lnSpc>
                <a:spcPct val="80000"/>
              </a:lnSpc>
            </a:pPr>
            <a:endParaRPr lang="en-US" sz="2000" smtClean="0">
              <a:ea typeface="ＭＳ Ｐゴシック" pitchFamily="34" charset="-128"/>
            </a:endParaRPr>
          </a:p>
        </p:txBody>
      </p:sp>
      <p:grpSp>
        <p:nvGrpSpPr>
          <p:cNvPr id="703533" name="Group 4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2074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2075" name="Group 47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9197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98" name="Text Box 49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89199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00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01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02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3545" name="Group 57"/>
          <p:cNvGrpSpPr>
            <a:grpSpLocks/>
          </p:cNvGrpSpPr>
          <p:nvPr/>
        </p:nvGrpSpPr>
        <p:grpSpPr bwMode="auto">
          <a:xfrm>
            <a:off x="352425" y="3152775"/>
            <a:ext cx="1081088" cy="1166813"/>
            <a:chOff x="42" y="744"/>
            <a:chExt cx="681" cy="735"/>
          </a:xfrm>
        </p:grpSpPr>
        <p:grpSp>
          <p:nvGrpSpPr>
            <p:cNvPr id="212042" name="Group 58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2044" name="Group 59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69" name="Group 60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93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94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89191" name="Rectangle 63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92" name="Rectangle 64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2045" name="Group 65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63" name="Group 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88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89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64" name="Group 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86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87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12046" name="Group 72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82" name="Rectangle 73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83" name="Rectangle 74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2047" name="Group 75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2048" name="Group 76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2052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55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80" name="Rectangle 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9181" name="Text Box 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smtClean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2056" name="Group 8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78" name="Rectangle 8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9179" name="Rectangle 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8917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75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170" name="Rectangle 86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71" name="Rectangle 87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72" name="Rectangle 88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89164" name="AutoShape 89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3578" name="Group 90"/>
          <p:cNvGrpSpPr>
            <a:grpSpLocks/>
          </p:cNvGrpSpPr>
          <p:nvPr/>
        </p:nvGrpSpPr>
        <p:grpSpPr bwMode="auto">
          <a:xfrm>
            <a:off x="449263" y="4238625"/>
            <a:ext cx="1081087" cy="244475"/>
            <a:chOff x="504" y="3523"/>
            <a:chExt cx="681" cy="154"/>
          </a:xfrm>
        </p:grpSpPr>
        <p:grpSp>
          <p:nvGrpSpPr>
            <p:cNvPr id="212029" name="Group 91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2033" name="Group 92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2036" name="Group 93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61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62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37" name="Group 96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59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60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89155" name="Rectangle 99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56" name="Rectangle 100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9151" name="Rectangle 101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9152" name="Rectangle 102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9153" name="Rectangle 103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3592" name="Group 104"/>
          <p:cNvGrpSpPr>
            <a:grpSpLocks/>
          </p:cNvGrpSpPr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2021" name="Freeform 105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2022" name="Group 106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9144" name="Rectangle 10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45" name="Text Box 108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89146" name="Line 10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47" name="Line 11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48" name="Line 11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49" name="Line 11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3601" name="Group 113"/>
          <p:cNvGrpSpPr>
            <a:grpSpLocks/>
          </p:cNvGrpSpPr>
          <p:nvPr/>
        </p:nvGrpSpPr>
        <p:grpSpPr bwMode="auto">
          <a:xfrm>
            <a:off x="71438" y="969963"/>
            <a:ext cx="1081087" cy="1217612"/>
            <a:chOff x="1404" y="3105"/>
            <a:chExt cx="681" cy="767"/>
          </a:xfrm>
        </p:grpSpPr>
        <p:grpSp>
          <p:nvGrpSpPr>
            <p:cNvPr id="211986" name="Group 11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1991" name="Group 11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16" name="Group 11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4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41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89138" name="Rectangle 11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3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1992" name="Group 12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10" name="Group 12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35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36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11" name="Group 12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33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3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11993" name="Group 12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29" name="Rectangle 12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30" name="Rectangle 13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1994" name="Group 13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995" name="Group 13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999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02" name="Group 13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27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9128" name="Text Box 1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smtClean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2003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25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9126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89121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22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117" name="Rectangle 14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18" name="Rectangle 14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19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89108" name="AutoShape 14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1988" name="Group 146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9110" name="Rectangle 147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11" name="Text Box 148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FFFFFF"/>
                    </a:solidFill>
                    <a:latin typeface="Arial" charset="0"/>
                  </a:rPr>
                  <a:t>DHCP</a:t>
                </a:r>
              </a:p>
            </p:txBody>
          </p:sp>
        </p:grpSp>
      </p:grpSp>
      <p:grpSp>
        <p:nvGrpSpPr>
          <p:cNvPr id="703637" name="Group 149"/>
          <p:cNvGrpSpPr>
            <a:grpSpLocks/>
          </p:cNvGrpSpPr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9105" name="Rectangle 150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9106" name="Text Box 151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smtClean="0">
                  <a:solidFill>
                    <a:srgbClr val="FFFFFF"/>
                  </a:solidFill>
                  <a:latin typeface="Arial" charset="0"/>
                </a:rPr>
                <a:t>DHCP</a:t>
              </a:r>
            </a:p>
          </p:txBody>
        </p:sp>
      </p:grpSp>
      <p:sp>
        <p:nvSpPr>
          <p:cNvPr id="703643" name="Rectangle 155"/>
          <p:cNvSpPr>
            <a:spLocks noChangeArrowheads="1"/>
          </p:cNvSpPr>
          <p:nvPr/>
        </p:nvSpPr>
        <p:spPr bwMode="auto">
          <a:xfrm>
            <a:off x="4997450" y="2709863"/>
            <a:ext cx="3421063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encapsulation at DHCP server, frame forwarded (</a:t>
            </a: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switch learning</a:t>
            </a: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) through LAN, demultiplexing at client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i="0">
              <a:solidFill>
                <a:srgbClr val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703644" name="Text Box 156"/>
          <p:cNvSpPr txBox="1">
            <a:spLocks noChangeArrowheads="1"/>
          </p:cNvSpPr>
          <p:nvPr/>
        </p:nvSpPr>
        <p:spPr bwMode="auto">
          <a:xfrm>
            <a:off x="1379538" y="5260975"/>
            <a:ext cx="6643687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smtClean="0">
                <a:solidFill>
                  <a:srgbClr val="000000"/>
                </a:solidFill>
                <a:latin typeface="Gill Sans MT" charset="0"/>
              </a:rPr>
              <a:t>Client now has IP address, knows name &amp; addr of DNS </a:t>
            </a:r>
          </a:p>
          <a:p>
            <a:pPr algn="ctr">
              <a:defRPr/>
            </a:pPr>
            <a:r>
              <a:rPr lang="en-US" sz="2400" smtClean="0">
                <a:solidFill>
                  <a:srgbClr val="000000"/>
                </a:solidFill>
                <a:latin typeface="Gill Sans MT" charset="0"/>
              </a:rPr>
              <a:t>server, IP address of its first-hop router</a:t>
            </a:r>
          </a:p>
        </p:txBody>
      </p:sp>
      <p:sp>
        <p:nvSpPr>
          <p:cNvPr id="703645" name="Rectangle 157"/>
          <p:cNvSpPr>
            <a:spLocks noChangeArrowheads="1"/>
          </p:cNvSpPr>
          <p:nvPr/>
        </p:nvSpPr>
        <p:spPr bwMode="auto">
          <a:xfrm>
            <a:off x="4989513" y="4111625"/>
            <a:ext cx="3421062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DHCP client receives DHCP ACK reply</a:t>
            </a:r>
          </a:p>
        </p:txBody>
      </p:sp>
      <p:sp>
        <p:nvSpPr>
          <p:cNvPr id="8910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r>
              <a:rPr lang="en-US" sz="3200" smtClean="0">
                <a:ea typeface="ＭＳ Ｐゴシック" pitchFamily="34" charset="-128"/>
              </a:rPr>
              <a:t>A day in the life… connecting to the Internet</a:t>
            </a:r>
          </a:p>
        </p:txBody>
      </p:sp>
      <p:pic>
        <p:nvPicPr>
          <p:cNvPr id="211983" name="Picture 15" descr="underline_base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0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9 0.03081 L 0.1533 0.0322 L 0.34896 -0.28446 L -0.04115 -0.28886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" y="-1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0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70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1" grpId="0" build="p"/>
      <p:bldP spid="703643" grpId="0" build="p"/>
      <p:bldP spid="703644" grpId="0"/>
      <p:bldP spid="70364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93" name="Group 92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305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05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05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06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06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18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306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311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311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90185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0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10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104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grpSp>
          <p:nvGrpSpPr>
            <p:cNvPr id="21306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308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308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08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308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023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3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021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309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023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3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021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1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309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023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3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1309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309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022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2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021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309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09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310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306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019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9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9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9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9019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307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020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0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0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307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019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19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0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9011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charset="0"/>
              </a:rPr>
              <a:t>Link </a:t>
            </a:r>
            <a:r>
              <a:rPr lang="en-US" i="0" dirty="0">
                <a:solidFill>
                  <a:srgbClr val="000000"/>
                </a:solidFill>
                <a:latin typeface="Arial" charset="0"/>
              </a:rPr>
              <a:t>Layer</a:t>
            </a:r>
          </a:p>
        </p:txBody>
      </p:sp>
      <p:sp>
        <p:nvSpPr>
          <p:cNvPr id="901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5-</a:t>
            </a:r>
            <a:fld id="{554275AC-F78A-42B0-9C4B-F180677BCEAA}" type="slidenum">
              <a:rPr lang="en-US">
                <a:solidFill>
                  <a:srgbClr val="000000"/>
                </a:solidFill>
              </a:rPr>
              <a:pPr/>
              <a:t>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53488" cy="1001713"/>
          </a:xfrm>
        </p:spPr>
        <p:txBody>
          <a:bodyPr/>
          <a:lstStyle/>
          <a:p>
            <a:r>
              <a:rPr lang="en-US" sz="3200" smtClean="0">
                <a:ea typeface="ＭＳ Ｐゴシック" pitchFamily="34" charset="-128"/>
              </a:rPr>
              <a:t>A day in the life… ARP (before DNS, before HTTP)</a:t>
            </a:r>
          </a:p>
        </p:txBody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1025" y="1014413"/>
            <a:ext cx="4667250" cy="1262062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200">
                <a:cs typeface="+mn-cs"/>
              </a:rPr>
              <a:t>before sending </a:t>
            </a:r>
            <a:r>
              <a:rPr lang="en-US" sz="2200" i="1">
                <a:solidFill>
                  <a:srgbClr val="C00000"/>
                </a:solidFill>
                <a:cs typeface="+mn-cs"/>
              </a:rPr>
              <a:t>HTTP</a:t>
            </a:r>
            <a:r>
              <a:rPr lang="en-US" sz="2200" b="1" i="1">
                <a:solidFill>
                  <a:srgbClr val="C00000"/>
                </a:solidFill>
                <a:cs typeface="+mn-cs"/>
              </a:rPr>
              <a:t> </a:t>
            </a:r>
            <a:r>
              <a:rPr lang="en-US" sz="2200">
                <a:cs typeface="+mn-cs"/>
              </a:rPr>
              <a:t>request, need IP address of www.google.com:  </a:t>
            </a:r>
            <a:r>
              <a:rPr lang="en-US" sz="2200" i="1">
                <a:solidFill>
                  <a:srgbClr val="C00000"/>
                </a:solidFill>
                <a:cs typeface="+mn-cs"/>
              </a:rPr>
              <a:t>DNS</a:t>
            </a:r>
          </a:p>
        </p:txBody>
      </p:sp>
      <p:sp>
        <p:nvSpPr>
          <p:cNvPr id="212998" name="Line 43"/>
          <p:cNvSpPr>
            <a:spLocks noChangeShapeType="1"/>
          </p:cNvSpPr>
          <p:nvPr/>
        </p:nvSpPr>
        <p:spPr bwMode="auto">
          <a:xfrm flipV="1">
            <a:off x="2665413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04557" name="Group 4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3049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3050" name="Group 4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0172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73" name="Text Box 49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0174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75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76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77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4788" name="Group 276"/>
          <p:cNvGrpSpPr>
            <a:grpSpLocks/>
          </p:cNvGrpSpPr>
          <p:nvPr/>
        </p:nvGrpSpPr>
        <p:grpSpPr bwMode="auto">
          <a:xfrm>
            <a:off x="280988" y="1157288"/>
            <a:ext cx="762000" cy="876300"/>
            <a:chOff x="177" y="729"/>
            <a:chExt cx="480" cy="552"/>
          </a:xfrm>
        </p:grpSpPr>
        <p:grpSp>
          <p:nvGrpSpPr>
            <p:cNvPr id="213029" name="Group 54"/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0168" name="Rectangle 55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69" name="Text Box 56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FFFFFF"/>
                    </a:solidFill>
                    <a:latin typeface="Arial" charset="0"/>
                  </a:rPr>
                  <a:t>DNS</a:t>
                </a:r>
              </a:p>
            </p:txBody>
          </p:sp>
        </p:grpSp>
        <p:grpSp>
          <p:nvGrpSpPr>
            <p:cNvPr id="213030" name="Group 59"/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213042" name="Group 60"/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0166" name="Rectangle 61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167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smtClean="0">
                      <a:solidFill>
                        <a:srgbClr val="FFFFFF"/>
                      </a:solidFill>
                      <a:latin typeface="Arial" charset="0"/>
                    </a:rPr>
                    <a:t>DNS</a:t>
                  </a:r>
                </a:p>
              </p:txBody>
            </p:sp>
          </p:grpSp>
          <p:sp>
            <p:nvSpPr>
              <p:cNvPr id="90164" name="Rectangle 63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65" name="Rectangle 64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3031" name="Group 65"/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213036" name="Group 66"/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0161" name="Rectangle 67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162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smtClean="0">
                      <a:solidFill>
                        <a:srgbClr val="FFFFFF"/>
                      </a:solidFill>
                      <a:latin typeface="Arial" charset="0"/>
                    </a:rPr>
                    <a:t>DNS</a:t>
                  </a:r>
                </a:p>
              </p:txBody>
            </p:sp>
          </p:grpSp>
          <p:grpSp>
            <p:nvGrpSpPr>
              <p:cNvPr id="213037" name="Group 69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159" name="Rectangle 70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160" name="Rectangle 71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13032" name="Group 72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0155" name="Rectangle 73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56" name="Rectangle 74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0154" name="AutoShape 89"/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704664" name="Rectangle 152"/>
          <p:cNvSpPr>
            <a:spLocks noChangeArrowheads="1"/>
          </p:cNvSpPr>
          <p:nvPr/>
        </p:nvSpPr>
        <p:spPr bwMode="auto">
          <a:xfrm>
            <a:off x="4387850" y="2051050"/>
            <a:ext cx="4586288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DNS query created, encapsulated in UDP, encapsulated in IP, encapsulated in Eth.  To send frame to router, need MAC address of router interface: </a:t>
            </a:r>
            <a:r>
              <a:rPr lang="en-US" sz="22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ARP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200" b="1">
              <a:solidFill>
                <a:srgbClr val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704665" name="Rectangle 153"/>
          <p:cNvSpPr>
            <a:spLocks noChangeArrowheads="1"/>
          </p:cNvSpPr>
          <p:nvPr/>
        </p:nvSpPr>
        <p:spPr bwMode="auto">
          <a:xfrm>
            <a:off x="4470400" y="3684588"/>
            <a:ext cx="4386263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ARP query</a:t>
            </a:r>
            <a:r>
              <a:rPr lang="en-US" sz="2200" i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broadcast, received by router, which replies with </a:t>
            </a:r>
            <a:r>
              <a:rPr lang="en-US" sz="22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ARP reply</a:t>
            </a:r>
            <a:r>
              <a:rPr lang="en-US" sz="2200" i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giving MAC address of router interface</a:t>
            </a:r>
          </a:p>
        </p:txBody>
      </p:sp>
      <p:sp>
        <p:nvSpPr>
          <p:cNvPr id="704666" name="Rectangle 154"/>
          <p:cNvSpPr>
            <a:spLocks noChangeArrowheads="1"/>
          </p:cNvSpPr>
          <p:nvPr/>
        </p:nvSpPr>
        <p:spPr bwMode="auto">
          <a:xfrm>
            <a:off x="4471988" y="5000625"/>
            <a:ext cx="428625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client now knows MAC address of first hop router, so can now send frame containing DNS query </a:t>
            </a:r>
          </a:p>
        </p:txBody>
      </p:sp>
      <p:grpSp>
        <p:nvGrpSpPr>
          <p:cNvPr id="704775" name="Group 263"/>
          <p:cNvGrpSpPr>
            <a:grpSpLocks/>
          </p:cNvGrpSpPr>
          <p:nvPr/>
        </p:nvGrpSpPr>
        <p:grpSpPr bwMode="auto">
          <a:xfrm>
            <a:off x="92075" y="1868488"/>
            <a:ext cx="1081088" cy="244475"/>
            <a:chOff x="76" y="2296"/>
            <a:chExt cx="681" cy="154"/>
          </a:xfrm>
        </p:grpSpPr>
        <p:sp>
          <p:nvSpPr>
            <p:cNvPr id="90145" name="Rectangle 103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6" name="Rectangle 101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7" name="Rectangle 102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8" name="Rectangle 100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9" name="Text Box 95"/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smtClean="0">
                  <a:solidFill>
                    <a:srgbClr val="000000"/>
                  </a:solidFill>
                  <a:latin typeface="Arial" charset="0"/>
                </a:rPr>
                <a:t>ARP query</a:t>
              </a:r>
            </a:p>
          </p:txBody>
        </p:sp>
      </p:grpSp>
      <p:grpSp>
        <p:nvGrpSpPr>
          <p:cNvPr id="704767" name="Group 255"/>
          <p:cNvGrpSpPr>
            <a:grpSpLocks/>
          </p:cNvGrpSpPr>
          <p:nvPr/>
        </p:nvGrpSpPr>
        <p:grpSpPr bwMode="auto">
          <a:xfrm>
            <a:off x="2241550" y="2982913"/>
            <a:ext cx="1016000" cy="877887"/>
            <a:chOff x="719" y="2137"/>
            <a:chExt cx="640" cy="553"/>
          </a:xfrm>
        </p:grpSpPr>
        <p:sp>
          <p:nvSpPr>
            <p:cNvPr id="213016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38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9" name="Text Box 247"/>
            <p:cNvSpPr txBox="1">
              <a:spLocks noChangeArrowheads="1"/>
            </p:cNvSpPr>
            <p:nvPr/>
          </p:nvSpPr>
          <p:spPr bwMode="auto">
            <a:xfrm>
              <a:off x="835" y="2235"/>
              <a:ext cx="33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i="0" smtClean="0">
                  <a:solidFill>
                    <a:srgbClr val="000000"/>
                  </a:solidFill>
                  <a:latin typeface="Arial" charset="0"/>
                </a:rPr>
                <a:t>Eth</a:t>
              </a:r>
            </a:p>
            <a:p>
              <a:pPr algn="ctr">
                <a:defRPr/>
              </a:pPr>
              <a:r>
                <a:rPr lang="en-US" sz="1600" i="0" smtClean="0">
                  <a:solidFill>
                    <a:srgbClr val="000000"/>
                  </a:solidFill>
                  <a:latin typeface="Arial" charset="0"/>
                </a:rPr>
                <a:t>Phy</a:t>
              </a:r>
            </a:p>
          </p:txBody>
        </p:sp>
        <p:sp>
          <p:nvSpPr>
            <p:cNvPr id="90140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1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3021" name="Group 252"/>
            <p:cNvGrpSpPr>
              <a:grpSpLocks/>
            </p:cNvGrpSpPr>
            <p:nvPr/>
          </p:nvGrpSpPr>
          <p:grpSpPr bwMode="auto">
            <a:xfrm>
              <a:off x="719" y="2137"/>
              <a:ext cx="280" cy="154"/>
              <a:chOff x="161" y="1354"/>
              <a:chExt cx="280" cy="154"/>
            </a:xfrm>
          </p:grpSpPr>
          <p:sp>
            <p:nvSpPr>
              <p:cNvPr id="90143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44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ARP</a:t>
                </a:r>
              </a:p>
            </p:txBody>
          </p:sp>
        </p:grpSp>
      </p:grpSp>
      <p:grpSp>
        <p:nvGrpSpPr>
          <p:cNvPr id="704754" name="Group 242"/>
          <p:cNvGrpSpPr>
            <a:grpSpLocks/>
          </p:cNvGrpSpPr>
          <p:nvPr/>
        </p:nvGrpSpPr>
        <p:grpSpPr bwMode="auto">
          <a:xfrm>
            <a:off x="1150938" y="1720850"/>
            <a:ext cx="444500" cy="244475"/>
            <a:chOff x="161" y="1354"/>
            <a:chExt cx="280" cy="154"/>
          </a:xfrm>
        </p:grpSpPr>
        <p:sp>
          <p:nvSpPr>
            <p:cNvPr id="90135" name="Rectangle 241"/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6" name="Text Box 240"/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smtClean="0">
                  <a:solidFill>
                    <a:srgbClr val="000000"/>
                  </a:solidFill>
                  <a:latin typeface="Arial" charset="0"/>
                </a:rPr>
                <a:t>ARP</a:t>
              </a:r>
            </a:p>
          </p:txBody>
        </p:sp>
      </p:grpSp>
      <p:grpSp>
        <p:nvGrpSpPr>
          <p:cNvPr id="704782" name="Group 270"/>
          <p:cNvGrpSpPr>
            <a:grpSpLocks/>
          </p:cNvGrpSpPr>
          <p:nvPr/>
        </p:nvGrpSpPr>
        <p:grpSpPr bwMode="auto">
          <a:xfrm>
            <a:off x="1177925" y="3187700"/>
            <a:ext cx="1081088" cy="244475"/>
            <a:chOff x="76" y="2296"/>
            <a:chExt cx="681" cy="154"/>
          </a:xfrm>
        </p:grpSpPr>
        <p:sp>
          <p:nvSpPr>
            <p:cNvPr id="90130" name="Rectangle 271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1" name="Rectangle 272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2" name="Rectangle 273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3" name="Rectangle 274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4" name="Text Box 275"/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smtClean="0">
                  <a:solidFill>
                    <a:srgbClr val="000000"/>
                  </a:solidFill>
                  <a:latin typeface="Arial" charset="0"/>
                </a:rPr>
                <a:t>ARP reply</a:t>
              </a:r>
            </a:p>
          </p:txBody>
        </p:sp>
      </p:grpSp>
      <p:pic>
        <p:nvPicPr>
          <p:cNvPr id="213008" name="Picture 6" descr="underline_bas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5263" y="641350"/>
            <a:ext cx="8228012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22222E-6 L -0.00052 0.08056 L 0.4151 0.075 L 0.26701 0.2757 L 0.1151 0.27431 L 0.1151 0.18889 " pathEditMode="relative" ptsTypes="AAAAAA">
                                      <p:cBhvr>
                                        <p:cTn id="25" dur="2000" fill="hold"/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111E-6 L 0.00052 0.0794 L 0.1467 0.08009 L 0.29444 -0.12222 L -0.11597 -0.12014 L -0.11597 -0.16181 L -0.11754 -0.1882 " pathEditMode="relative" rAng="0" ptsTypes="AAAAAAA">
                                      <p:cBhvr>
                                        <p:cTn id="43" dur="2000" fill="hold"/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" y="-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664" grpId="0"/>
      <p:bldP spid="704665" grpId="0"/>
      <p:bldP spid="7046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017" name="Group 230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4233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234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235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236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237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359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4239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4291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4292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91361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grpSp>
          <p:nvGrpSpPr>
            <p:cNvPr id="214244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4259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81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4261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262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84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4264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1410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411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1386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4266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1408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409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1388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89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4269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1406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407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14270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4271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1404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405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1393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4273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274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96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4276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98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99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400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401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402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403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4245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1367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68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69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70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91371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4251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1377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378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379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4252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1374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375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376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9113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charset="0"/>
              </a:rPr>
              <a:t>Link </a:t>
            </a:r>
            <a:r>
              <a:rPr lang="en-US" i="0" dirty="0">
                <a:latin typeface="Arial" charset="0"/>
              </a:rPr>
              <a:t>Layer</a:t>
            </a:r>
          </a:p>
        </p:txBody>
      </p:sp>
      <p:sp>
        <p:nvSpPr>
          <p:cNvPr id="911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5-</a:t>
            </a:r>
            <a:fld id="{7196068B-F0CA-4D4E-825E-172ABBC66FAF}" type="slidenum">
              <a:rPr lang="en-US"/>
              <a:pPr/>
              <a:t>7</a:t>
            </a:fld>
            <a:endParaRPr lang="en-US"/>
          </a:p>
        </p:txBody>
      </p:sp>
      <p:sp>
        <p:nvSpPr>
          <p:cNvPr id="214020" name="Freeform 236"/>
          <p:cNvSpPr>
            <a:spLocks/>
          </p:cNvSpPr>
          <p:nvPr/>
        </p:nvSpPr>
        <p:spPr bwMode="auto">
          <a:xfrm>
            <a:off x="4751388" y="706438"/>
            <a:ext cx="3759200" cy="2473325"/>
          </a:xfrm>
          <a:custGeom>
            <a:avLst/>
            <a:gdLst>
              <a:gd name="T0" fmla="*/ 2147483647 w 2368"/>
              <a:gd name="T1" fmla="*/ 2147483647 h 1558"/>
              <a:gd name="T2" fmla="*/ 2147483647 w 2368"/>
              <a:gd name="T3" fmla="*/ 2147483647 h 1558"/>
              <a:gd name="T4" fmla="*/ 2147483647 w 2368"/>
              <a:gd name="T5" fmla="*/ 2147483647 h 1558"/>
              <a:gd name="T6" fmla="*/ 2147483647 w 2368"/>
              <a:gd name="T7" fmla="*/ 2147483647 h 1558"/>
              <a:gd name="T8" fmla="*/ 2147483647 w 2368"/>
              <a:gd name="T9" fmla="*/ 2147483647 h 1558"/>
              <a:gd name="T10" fmla="*/ 2147483647 w 2368"/>
              <a:gd name="T11" fmla="*/ 2147483647 h 1558"/>
              <a:gd name="T12" fmla="*/ 2147483647 w 2368"/>
              <a:gd name="T13" fmla="*/ 2147483647 h 1558"/>
              <a:gd name="T14" fmla="*/ 2147483647 w 2368"/>
              <a:gd name="T15" fmla="*/ 2147483647 h 1558"/>
              <a:gd name="T16" fmla="*/ 2147483647 w 2368"/>
              <a:gd name="T17" fmla="*/ 2147483647 h 1558"/>
              <a:gd name="T18" fmla="*/ 2147483647 w 2368"/>
              <a:gd name="T19" fmla="*/ 2147483647 h 1558"/>
              <a:gd name="T20" fmla="*/ 2147483647 w 2368"/>
              <a:gd name="T21" fmla="*/ 2147483647 h 1558"/>
              <a:gd name="T22" fmla="*/ 2147483647 w 2368"/>
              <a:gd name="T23" fmla="*/ 2147483647 h 1558"/>
              <a:gd name="T24" fmla="*/ 2147483647 w 2368"/>
              <a:gd name="T25" fmla="*/ 2147483647 h 1558"/>
              <a:gd name="T26" fmla="*/ 2147483647 w 2368"/>
              <a:gd name="T27" fmla="*/ 2147483647 h 1558"/>
              <a:gd name="T28" fmla="*/ 2147483647 w 2368"/>
              <a:gd name="T29" fmla="*/ 2147483647 h 1558"/>
              <a:gd name="T30" fmla="*/ 2147483647 w 2368"/>
              <a:gd name="T31" fmla="*/ 2147483647 h 1558"/>
              <a:gd name="T32" fmla="*/ 2147483647 w 2368"/>
              <a:gd name="T33" fmla="*/ 2147483647 h 1558"/>
              <a:gd name="T34" fmla="*/ 2147483647 w 2368"/>
              <a:gd name="T35" fmla="*/ 2147483647 h 1558"/>
              <a:gd name="T36" fmla="*/ 2147483647 w 2368"/>
              <a:gd name="T37" fmla="*/ 2147483647 h 1558"/>
              <a:gd name="T38" fmla="*/ 2147483647 w 2368"/>
              <a:gd name="T39" fmla="*/ 2147483647 h 1558"/>
              <a:gd name="T40" fmla="*/ 2147483647 w 2368"/>
              <a:gd name="T41" fmla="*/ 2147483647 h 1558"/>
              <a:gd name="T42" fmla="*/ 2147483647 w 2368"/>
              <a:gd name="T43" fmla="*/ 2147483647 h 1558"/>
              <a:gd name="T44" fmla="*/ 2147483647 w 2368"/>
              <a:gd name="T45" fmla="*/ 2147483647 h 155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368" h="1558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23" y="1428"/>
                  <a:pt x="280" y="1446"/>
                </a:cubicBezTo>
                <a:cubicBezTo>
                  <a:pt x="337" y="1464"/>
                  <a:pt x="397" y="1472"/>
                  <a:pt x="510" y="1473"/>
                </a:cubicBezTo>
                <a:cubicBezTo>
                  <a:pt x="623" y="1474"/>
                  <a:pt x="854" y="1457"/>
                  <a:pt x="958" y="1452"/>
                </a:cubicBezTo>
                <a:cubicBezTo>
                  <a:pt x="1062" y="1447"/>
                  <a:pt x="1065" y="1440"/>
                  <a:pt x="1134" y="1446"/>
                </a:cubicBezTo>
                <a:cubicBezTo>
                  <a:pt x="1203" y="1452"/>
                  <a:pt x="1293" y="1468"/>
                  <a:pt x="1371" y="1486"/>
                </a:cubicBezTo>
                <a:cubicBezTo>
                  <a:pt x="1449" y="1504"/>
                  <a:pt x="1495" y="1550"/>
                  <a:pt x="1601" y="1554"/>
                </a:cubicBezTo>
                <a:cubicBezTo>
                  <a:pt x="1707" y="1558"/>
                  <a:pt x="1893" y="1556"/>
                  <a:pt x="2008" y="1513"/>
                </a:cubicBezTo>
                <a:cubicBezTo>
                  <a:pt x="2123" y="1470"/>
                  <a:pt x="2236" y="1409"/>
                  <a:pt x="2293" y="1297"/>
                </a:cubicBezTo>
                <a:cubicBezTo>
                  <a:pt x="2350" y="1185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grpSp>
        <p:nvGrpSpPr>
          <p:cNvPr id="214021" name="Group 44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4225" name="Freeform 45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4226" name="Group 46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1348" name="Rectangle 4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49" name="Text Box 48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Phy</a:t>
                </a:r>
              </a:p>
            </p:txBody>
          </p:sp>
          <p:sp>
            <p:nvSpPr>
              <p:cNvPr id="91350" name="Line 4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51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52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53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5589" name="Group 53"/>
          <p:cNvGrpSpPr>
            <a:grpSpLocks/>
          </p:cNvGrpSpPr>
          <p:nvPr/>
        </p:nvGrpSpPr>
        <p:grpSpPr bwMode="auto">
          <a:xfrm>
            <a:off x="520700" y="1162050"/>
            <a:ext cx="460375" cy="244475"/>
            <a:chOff x="844" y="3337"/>
            <a:chExt cx="290" cy="154"/>
          </a:xfrm>
        </p:grpSpPr>
        <p:sp>
          <p:nvSpPr>
            <p:cNvPr id="91344" name="Rectangle 54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45" name="Text Box 55"/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smtClean="0">
                  <a:solidFill>
                    <a:schemeClr val="bg1"/>
                  </a:solidFill>
                  <a:latin typeface="Arial" charset="0"/>
                </a:rPr>
                <a:t>DNS</a:t>
              </a:r>
            </a:p>
          </p:txBody>
        </p:sp>
      </p:grpSp>
      <p:grpSp>
        <p:nvGrpSpPr>
          <p:cNvPr id="214023" name="Group 58"/>
          <p:cNvGrpSpPr>
            <a:grpSpLocks/>
          </p:cNvGrpSpPr>
          <p:nvPr/>
        </p:nvGrpSpPr>
        <p:grpSpPr bwMode="auto">
          <a:xfrm>
            <a:off x="460375" y="1387475"/>
            <a:ext cx="561975" cy="244475"/>
            <a:chOff x="740" y="3209"/>
            <a:chExt cx="354" cy="154"/>
          </a:xfrm>
        </p:grpSpPr>
        <p:grpSp>
          <p:nvGrpSpPr>
            <p:cNvPr id="214218" name="Group 59"/>
            <p:cNvGrpSpPr>
              <a:grpSpLocks/>
            </p:cNvGrpSpPr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91342" name="Rectangle 6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43" name="Text Box 6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chemeClr val="bg1"/>
                    </a:solidFill>
                    <a:latin typeface="Arial" charset="0"/>
                  </a:rPr>
                  <a:t>DNS</a:t>
                </a:r>
              </a:p>
            </p:txBody>
          </p:sp>
        </p:grpSp>
        <p:sp>
          <p:nvSpPr>
            <p:cNvPr id="91340" name="Rectangle 62"/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41" name="Rectangle 63"/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214024" name="Group 64"/>
          <p:cNvGrpSpPr>
            <a:grpSpLocks/>
          </p:cNvGrpSpPr>
          <p:nvPr/>
        </p:nvGrpSpPr>
        <p:grpSpPr bwMode="auto">
          <a:xfrm>
            <a:off x="460375" y="1622425"/>
            <a:ext cx="561975" cy="244475"/>
            <a:chOff x="836" y="3305"/>
            <a:chExt cx="354" cy="154"/>
          </a:xfrm>
        </p:grpSpPr>
        <p:grpSp>
          <p:nvGrpSpPr>
            <p:cNvPr id="214212" name="Group 65"/>
            <p:cNvGrpSpPr>
              <a:grpSpLocks/>
            </p:cNvGrpSpPr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91337" name="Rectangle 6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38" name="Text Box 6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chemeClr val="bg1"/>
                    </a:solidFill>
                    <a:latin typeface="Arial" charset="0"/>
                  </a:rPr>
                  <a:t>DNS</a:t>
                </a:r>
              </a:p>
            </p:txBody>
          </p:sp>
        </p:grpSp>
        <p:grpSp>
          <p:nvGrpSpPr>
            <p:cNvPr id="214213" name="Group 68"/>
            <p:cNvGrpSpPr>
              <a:grpSpLocks/>
            </p:cNvGrpSpPr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91335" name="Rectangle 69"/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36" name="Rectangle 70"/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4025" name="Group 71"/>
          <p:cNvGrpSpPr>
            <a:grpSpLocks/>
          </p:cNvGrpSpPr>
          <p:nvPr/>
        </p:nvGrpSpPr>
        <p:grpSpPr bwMode="auto">
          <a:xfrm>
            <a:off x="280988" y="1654175"/>
            <a:ext cx="762000" cy="177800"/>
            <a:chOff x="627" y="3377"/>
            <a:chExt cx="480" cy="112"/>
          </a:xfrm>
        </p:grpSpPr>
        <p:sp>
          <p:nvSpPr>
            <p:cNvPr id="91331" name="Rectangle 72"/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32" name="Rectangle 73"/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214026" name="Group 74"/>
          <p:cNvGrpSpPr>
            <a:grpSpLocks/>
          </p:cNvGrpSpPr>
          <p:nvPr/>
        </p:nvGrpSpPr>
        <p:grpSpPr bwMode="auto">
          <a:xfrm>
            <a:off x="85725" y="1885950"/>
            <a:ext cx="1081088" cy="244475"/>
            <a:chOff x="504" y="3523"/>
            <a:chExt cx="681" cy="154"/>
          </a:xfrm>
        </p:grpSpPr>
        <p:grpSp>
          <p:nvGrpSpPr>
            <p:cNvPr id="214197" name="Group 75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201" name="Group 76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204" name="Group 77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29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330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chemeClr val="bg1"/>
                        </a:solidFill>
                        <a:latin typeface="Arial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214205" name="Group 80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27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328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1323" name="Rectangle 83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24" name="Rectangle 84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319" name="Rectangle 85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20" name="Rectangle 86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21" name="Rectangle 87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91148" name="AutoShape 88"/>
          <p:cNvSpPr>
            <a:spLocks noChangeArrowheads="1"/>
          </p:cNvSpPr>
          <p:nvPr/>
        </p:nvSpPr>
        <p:spPr bwMode="auto">
          <a:xfrm>
            <a:off x="628650" y="1162050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705625" name="Group 89"/>
          <p:cNvGrpSpPr>
            <a:grpSpLocks/>
          </p:cNvGrpSpPr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4184" name="Group 90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188" name="Group 91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191" name="Group 9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16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317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chemeClr val="bg1"/>
                        </a:solidFill>
                        <a:latin typeface="Arial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214192" name="Group 9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1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31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1310" name="Rectangle 98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11" name="Rectangle 99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306" name="Rectangle 100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07" name="Rectangle 101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08" name="Rectangle 102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705639" name="Rectangle 103"/>
          <p:cNvSpPr>
            <a:spLocks noChangeArrowheads="1"/>
          </p:cNvSpPr>
          <p:nvPr/>
        </p:nvSpPr>
        <p:spPr bwMode="auto">
          <a:xfrm>
            <a:off x="549275" y="4376738"/>
            <a:ext cx="3892550" cy="130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/>
            </a:pPr>
            <a:r>
              <a:rPr lang="en-US" sz="2200" i="0" dirty="0">
                <a:latin typeface="+mn-lt"/>
                <a:ea typeface="+mn-ea"/>
              </a:rPr>
              <a:t>IP datagram containing DNS query forwarded via LAN switch from client to 1</a:t>
            </a:r>
            <a:r>
              <a:rPr lang="en-US" sz="2200" i="0" baseline="30000" dirty="0">
                <a:latin typeface="+mn-lt"/>
                <a:ea typeface="+mn-ea"/>
              </a:rPr>
              <a:t>st</a:t>
            </a:r>
            <a:r>
              <a:rPr lang="en-US" sz="2200" i="0" dirty="0">
                <a:latin typeface="+mn-lt"/>
                <a:ea typeface="+mn-ea"/>
              </a:rPr>
              <a:t> hop router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  <a:defRPr/>
            </a:pPr>
            <a:endParaRPr lang="en-US" sz="2000" i="0" dirty="0">
              <a:ea typeface="+mn-ea"/>
            </a:endParaRPr>
          </a:p>
        </p:txBody>
      </p:sp>
      <p:sp>
        <p:nvSpPr>
          <p:cNvPr id="705640" name="Rectangle 104"/>
          <p:cNvSpPr>
            <a:spLocks noChangeArrowheads="1"/>
          </p:cNvSpPr>
          <p:nvPr/>
        </p:nvSpPr>
        <p:spPr bwMode="auto">
          <a:xfrm>
            <a:off x="4659313" y="3663950"/>
            <a:ext cx="4386262" cy="156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/>
            </a:pPr>
            <a:r>
              <a:rPr lang="en-US" sz="2200" i="0" dirty="0">
                <a:latin typeface="+mn-lt"/>
                <a:ea typeface="+mn-ea"/>
              </a:rPr>
              <a:t>IP datagram forwarded from campus network into </a:t>
            </a:r>
            <a:r>
              <a:rPr lang="en-US" sz="2200" i="0" dirty="0" err="1">
                <a:latin typeface="+mn-lt"/>
                <a:ea typeface="+mn-ea"/>
              </a:rPr>
              <a:t>comcast</a:t>
            </a:r>
            <a:r>
              <a:rPr lang="en-US" sz="2200" i="0" dirty="0">
                <a:latin typeface="+mn-lt"/>
                <a:ea typeface="+mn-ea"/>
              </a:rPr>
              <a:t> network, routed (tables created by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</a:rPr>
              <a:t>RIP, OSPF, IS-IS</a:t>
            </a:r>
            <a:r>
              <a:rPr lang="en-US" sz="2200" i="0" dirty="0">
                <a:solidFill>
                  <a:srgbClr val="C00000"/>
                </a:solidFill>
                <a:latin typeface="+mn-lt"/>
                <a:ea typeface="+mn-ea"/>
              </a:rPr>
              <a:t> </a:t>
            </a:r>
            <a:r>
              <a:rPr lang="en-US" sz="2200" i="0" dirty="0">
                <a:latin typeface="+mn-lt"/>
                <a:ea typeface="+mn-ea"/>
              </a:rPr>
              <a:t>and/or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</a:rPr>
              <a:t>BGP</a:t>
            </a:r>
            <a:r>
              <a:rPr lang="en-US" sz="2200" i="0" dirty="0">
                <a:latin typeface="+mn-lt"/>
                <a:ea typeface="+mn-ea"/>
              </a:rPr>
              <a:t> routing protocols) to DNS server</a:t>
            </a:r>
          </a:p>
        </p:txBody>
      </p:sp>
      <p:sp>
        <p:nvSpPr>
          <p:cNvPr id="705641" name="Rectangle 105"/>
          <p:cNvSpPr>
            <a:spLocks noChangeArrowheads="1"/>
          </p:cNvSpPr>
          <p:nvPr/>
        </p:nvSpPr>
        <p:spPr bwMode="auto">
          <a:xfrm>
            <a:off x="4657725" y="5297488"/>
            <a:ext cx="3802063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200" i="0">
                <a:latin typeface="Gill Sans MT" pitchFamily="34" charset="0"/>
              </a:rPr>
              <a:t>demux</a:t>
            </a:r>
            <a:r>
              <a:rPr lang="ja-JP" altLang="en-US" sz="2200" i="0">
                <a:latin typeface="Gill Sans MT" pitchFamily="34" charset="0"/>
              </a:rPr>
              <a:t>’</a:t>
            </a:r>
            <a:r>
              <a:rPr lang="en-US" altLang="ja-JP" sz="2200" i="0">
                <a:latin typeface="Gill Sans MT" pitchFamily="34" charset="0"/>
              </a:rPr>
              <a:t>ed to DNS server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200" i="0">
                <a:latin typeface="Gill Sans MT" pitchFamily="34" charset="0"/>
              </a:rPr>
              <a:t>DNS server replies to client with IP address of www.google.com </a:t>
            </a:r>
          </a:p>
        </p:txBody>
      </p:sp>
      <p:grpSp>
        <p:nvGrpSpPr>
          <p:cNvPr id="214032" name="Group 4"/>
          <p:cNvGrpSpPr>
            <a:grpSpLocks/>
          </p:cNvGrpSpPr>
          <p:nvPr/>
        </p:nvGrpSpPr>
        <p:grpSpPr bwMode="auto">
          <a:xfrm>
            <a:off x="5173663" y="2041525"/>
            <a:ext cx="757237" cy="379413"/>
            <a:chOff x="2466" y="2026"/>
            <a:chExt cx="477" cy="282"/>
          </a:xfrm>
        </p:grpSpPr>
        <p:sp>
          <p:nvSpPr>
            <p:cNvPr id="214170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latin typeface="Arial" pitchFamily="34" charset="0"/>
              </a:endParaRPr>
            </a:p>
          </p:txBody>
        </p:sp>
        <p:sp>
          <p:nvSpPr>
            <p:cNvPr id="214171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72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latin typeface="Times New Roman" pitchFamily="18" charset="0"/>
              </a:endParaRPr>
            </a:p>
          </p:txBody>
        </p:sp>
        <p:sp>
          <p:nvSpPr>
            <p:cNvPr id="214173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latin typeface="Arial" pitchFamily="34" charset="0"/>
              </a:endParaRPr>
            </a:p>
          </p:txBody>
        </p:sp>
        <p:grpSp>
          <p:nvGrpSpPr>
            <p:cNvPr id="214174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81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82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83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4175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78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79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80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4176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77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4033" name="Group 19"/>
          <p:cNvGrpSpPr>
            <a:grpSpLocks/>
          </p:cNvGrpSpPr>
          <p:nvPr/>
        </p:nvGrpSpPr>
        <p:grpSpPr bwMode="auto">
          <a:xfrm>
            <a:off x="6538913" y="1787525"/>
            <a:ext cx="757237" cy="379413"/>
            <a:chOff x="2466" y="2026"/>
            <a:chExt cx="477" cy="282"/>
          </a:xfrm>
        </p:grpSpPr>
        <p:sp>
          <p:nvSpPr>
            <p:cNvPr id="21415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latin typeface="Arial" pitchFamily="34" charset="0"/>
              </a:endParaRPr>
            </a:p>
          </p:txBody>
        </p:sp>
        <p:sp>
          <p:nvSpPr>
            <p:cNvPr id="21415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5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latin typeface="Times New Roman" pitchFamily="18" charset="0"/>
              </a:endParaRPr>
            </a:p>
          </p:txBody>
        </p:sp>
        <p:sp>
          <p:nvSpPr>
            <p:cNvPr id="21415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latin typeface="Arial" pitchFamily="34" charset="0"/>
              </a:endParaRPr>
            </a:p>
          </p:txBody>
        </p:sp>
        <p:grpSp>
          <p:nvGrpSpPr>
            <p:cNvPr id="21416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6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6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6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416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6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6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6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416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6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4034" name="Text Box 34"/>
          <p:cNvSpPr txBox="1">
            <a:spLocks noChangeArrowheads="1"/>
          </p:cNvSpPr>
          <p:nvPr/>
        </p:nvSpPr>
        <p:spPr bwMode="auto">
          <a:xfrm>
            <a:off x="5335588" y="2511425"/>
            <a:ext cx="181133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Comcast network </a:t>
            </a:r>
          </a:p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68.80.0.0/13</a:t>
            </a:r>
          </a:p>
        </p:txBody>
      </p:sp>
      <p:grpSp>
        <p:nvGrpSpPr>
          <p:cNvPr id="214035" name="Group 69"/>
          <p:cNvGrpSpPr>
            <a:grpSpLocks/>
          </p:cNvGrpSpPr>
          <p:nvPr/>
        </p:nvGrpSpPr>
        <p:grpSpPr bwMode="auto">
          <a:xfrm>
            <a:off x="7196138" y="2703513"/>
            <a:ext cx="757237" cy="379412"/>
            <a:chOff x="2466" y="2026"/>
            <a:chExt cx="477" cy="282"/>
          </a:xfrm>
        </p:grpSpPr>
        <p:sp>
          <p:nvSpPr>
            <p:cNvPr id="21414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latin typeface="Arial" pitchFamily="34" charset="0"/>
              </a:endParaRPr>
            </a:p>
          </p:txBody>
        </p:sp>
        <p:sp>
          <p:nvSpPr>
            <p:cNvPr id="21414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4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latin typeface="Times New Roman" pitchFamily="18" charset="0"/>
              </a:endParaRPr>
            </a:p>
          </p:txBody>
        </p:sp>
        <p:sp>
          <p:nvSpPr>
            <p:cNvPr id="21414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latin typeface="Arial" pitchFamily="34" charset="0"/>
              </a:endParaRPr>
            </a:p>
          </p:txBody>
        </p:sp>
        <p:grpSp>
          <p:nvGrpSpPr>
            <p:cNvPr id="214146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5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5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5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4147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5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5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15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414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14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4036" name="Line 93"/>
          <p:cNvSpPr>
            <a:spLocks noChangeShapeType="1"/>
          </p:cNvSpPr>
          <p:nvPr/>
        </p:nvSpPr>
        <p:spPr bwMode="auto">
          <a:xfrm flipH="1">
            <a:off x="6915150" y="1528763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4037" name="Text Box 139"/>
          <p:cNvSpPr txBox="1">
            <a:spLocks noChangeArrowheads="1"/>
          </p:cNvSpPr>
          <p:nvPr/>
        </p:nvSpPr>
        <p:spPr bwMode="auto">
          <a:xfrm>
            <a:off x="7367588" y="746125"/>
            <a:ext cx="12334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DNS server</a:t>
            </a:r>
          </a:p>
          <a:p>
            <a:pPr eaLnBrk="1" hangingPunct="1"/>
            <a:endParaRPr lang="en-US" sz="1600" i="0">
              <a:solidFill>
                <a:srgbClr val="000000"/>
              </a:solidFill>
              <a:latin typeface="Arial" pitchFamily="34" charset="0"/>
            </a:endParaRPr>
          </a:p>
        </p:txBody>
      </p:sp>
      <p:grpSp>
        <p:nvGrpSpPr>
          <p:cNvPr id="214038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4140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141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4039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4138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139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4040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4136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137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4041" name="Group 173"/>
          <p:cNvGrpSpPr>
            <a:grpSpLocks/>
          </p:cNvGrpSpPr>
          <p:nvPr/>
        </p:nvGrpSpPr>
        <p:grpSpPr bwMode="auto">
          <a:xfrm flipH="1" flipV="1">
            <a:off x="7853363" y="2590800"/>
            <a:ext cx="400050" cy="152400"/>
            <a:chOff x="3228" y="1776"/>
            <a:chExt cx="252" cy="96"/>
          </a:xfrm>
        </p:grpSpPr>
        <p:sp>
          <p:nvSpPr>
            <p:cNvPr id="214134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135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4042" name="Group 176"/>
          <p:cNvGrpSpPr>
            <a:grpSpLocks/>
          </p:cNvGrpSpPr>
          <p:nvPr/>
        </p:nvGrpSpPr>
        <p:grpSpPr bwMode="auto">
          <a:xfrm flipV="1">
            <a:off x="7029450" y="2609850"/>
            <a:ext cx="295275" cy="114300"/>
            <a:chOff x="3228" y="1776"/>
            <a:chExt cx="252" cy="96"/>
          </a:xfrm>
        </p:grpSpPr>
        <p:sp>
          <p:nvSpPr>
            <p:cNvPr id="214132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133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4043" name="Group 179"/>
          <p:cNvGrpSpPr>
            <a:grpSpLocks/>
          </p:cNvGrpSpPr>
          <p:nvPr/>
        </p:nvGrpSpPr>
        <p:grpSpPr bwMode="auto">
          <a:xfrm rot="409689" flipH="1" flipV="1">
            <a:off x="7300913" y="1952625"/>
            <a:ext cx="452437" cy="57150"/>
            <a:chOff x="3228" y="1776"/>
            <a:chExt cx="252" cy="96"/>
          </a:xfrm>
        </p:grpSpPr>
        <p:sp>
          <p:nvSpPr>
            <p:cNvPr id="214130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131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4044" name="Group 182"/>
          <p:cNvGrpSpPr>
            <a:grpSpLocks/>
          </p:cNvGrpSpPr>
          <p:nvPr/>
        </p:nvGrpSpPr>
        <p:grpSpPr bwMode="auto">
          <a:xfrm>
            <a:off x="6443663" y="2157413"/>
            <a:ext cx="295275" cy="114300"/>
            <a:chOff x="3228" y="1776"/>
            <a:chExt cx="252" cy="96"/>
          </a:xfrm>
        </p:grpSpPr>
        <p:sp>
          <p:nvSpPr>
            <p:cNvPr id="214128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129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4045" name="Group 185"/>
          <p:cNvGrpSpPr>
            <a:grpSpLocks/>
          </p:cNvGrpSpPr>
          <p:nvPr/>
        </p:nvGrpSpPr>
        <p:grpSpPr bwMode="auto">
          <a:xfrm flipH="1">
            <a:off x="7081838" y="2157413"/>
            <a:ext cx="295275" cy="114300"/>
            <a:chOff x="3228" y="1776"/>
            <a:chExt cx="252" cy="96"/>
          </a:xfrm>
        </p:grpSpPr>
        <p:sp>
          <p:nvSpPr>
            <p:cNvPr id="214126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127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5723" name="Group 187"/>
          <p:cNvGrpSpPr>
            <a:grpSpLocks/>
          </p:cNvGrpSpPr>
          <p:nvPr/>
        </p:nvGrpSpPr>
        <p:grpSpPr bwMode="auto">
          <a:xfrm>
            <a:off x="5980113" y="438150"/>
            <a:ext cx="1316037" cy="1314450"/>
            <a:chOff x="931" y="1941"/>
            <a:chExt cx="829" cy="828"/>
          </a:xfrm>
        </p:grpSpPr>
        <p:sp>
          <p:nvSpPr>
            <p:cNvPr id="214118" name="Freeform 188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2 w 551"/>
                <a:gd name="T1" fmla="*/ 0 h 801"/>
                <a:gd name="T2" fmla="*/ 76 w 551"/>
                <a:gd name="T3" fmla="*/ 402 h 801"/>
                <a:gd name="T4" fmla="*/ 1 w 551"/>
                <a:gd name="T5" fmla="*/ 801 h 801"/>
                <a:gd name="T6" fmla="*/ 2 w 551"/>
                <a:gd name="T7" fmla="*/ 535 h 801"/>
                <a:gd name="T8" fmla="*/ 0 w 551"/>
                <a:gd name="T9" fmla="*/ 371 h 801"/>
                <a:gd name="T10" fmla="*/ 2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4119" name="Group 189"/>
            <p:cNvGrpSpPr>
              <a:grpSpLocks/>
            </p:cNvGrpSpPr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91241" name="Rectangle 19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42" name="Text Box 191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latin typeface="Arial" charset="0"/>
                  </a:rPr>
                  <a:t>Phy</a:t>
                </a:r>
              </a:p>
            </p:txBody>
          </p:sp>
          <p:sp>
            <p:nvSpPr>
              <p:cNvPr id="91243" name="Line 19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44" name="Line 19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45" name="Line 19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46" name="Line 19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5732" name="Group 196"/>
          <p:cNvGrpSpPr>
            <a:grpSpLocks/>
          </p:cNvGrpSpPr>
          <p:nvPr/>
        </p:nvGrpSpPr>
        <p:grpSpPr bwMode="auto">
          <a:xfrm>
            <a:off x="4881563" y="558800"/>
            <a:ext cx="1081087" cy="1217613"/>
            <a:chOff x="1404" y="3105"/>
            <a:chExt cx="681" cy="767"/>
          </a:xfrm>
        </p:grpSpPr>
        <p:grpSp>
          <p:nvGrpSpPr>
            <p:cNvPr id="214083" name="Group 197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4088" name="Group 198"/>
              <p:cNvGrpSpPr>
                <a:grpSpLocks/>
              </p:cNvGrpSpPr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214113" name="Group 199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91237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238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chemeClr val="bg1"/>
                        </a:solidFill>
                        <a:latin typeface="Arial" charset="0"/>
                      </a:rPr>
                      <a:t>DNS</a:t>
                    </a:r>
                  </a:p>
                </p:txBody>
              </p:sp>
            </p:grpSp>
            <p:sp>
              <p:nvSpPr>
                <p:cNvPr id="91235" name="Rectangle 202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236" name="Rectangle 203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4089" name="Group 204"/>
              <p:cNvGrpSpPr>
                <a:grpSpLocks/>
              </p:cNvGrpSpPr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214107" name="Group 205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232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233" name="Text Box 2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chemeClr val="bg1"/>
                        </a:solidFill>
                        <a:latin typeface="Arial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214108" name="Group 208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230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231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14090" name="Group 211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1226" name="Rectangle 212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227" name="Rectangle 213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4091" name="Group 21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4092" name="Group 215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214096" name="Group 216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214099" name="Group 2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91224" name="Rectangle 2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1225" name="Text Box 2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smtClean="0">
                            <a:solidFill>
                              <a:schemeClr val="bg1"/>
                            </a:solidFill>
                            <a:latin typeface="Arial" charset="0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214100" name="Group 22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1222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1223" name="Rectangle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1218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219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1214" name="Rectangle 225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215" name="Rectangle 226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216" name="Rectangle 227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1205" name="AutoShape 228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4085" name="Group 229"/>
            <p:cNvGrpSpPr>
              <a:grpSpLocks/>
            </p:cNvGrpSpPr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91207" name="Rectangle 23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08" name="Text Box 23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chemeClr val="bg1"/>
                    </a:solidFill>
                    <a:latin typeface="Arial" charset="0"/>
                  </a:rPr>
                  <a:t>DNS</a:t>
                </a:r>
              </a:p>
            </p:txBody>
          </p:sp>
        </p:grpSp>
      </p:grpSp>
      <p:grpSp>
        <p:nvGrpSpPr>
          <p:cNvPr id="214048" name="Group 248"/>
          <p:cNvGrpSpPr>
            <a:grpSpLocks/>
          </p:cNvGrpSpPr>
          <p:nvPr/>
        </p:nvGrpSpPr>
        <p:grpSpPr bwMode="auto">
          <a:xfrm>
            <a:off x="7150100" y="963613"/>
            <a:ext cx="373063" cy="687387"/>
            <a:chOff x="4140" y="429"/>
            <a:chExt cx="1425" cy="2396"/>
          </a:xfrm>
        </p:grpSpPr>
        <p:sp>
          <p:nvSpPr>
            <p:cNvPr id="214051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173" name="Rectangle 149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4053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4054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176" name="Rectangle 152"/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4056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1202" name="AutoShape 154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03" name="AutoShape 155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178" name="Rectangle 156"/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4058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1200" name="AutoShape 158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01" name="AutoShape 159"/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180" name="Rectangle 160"/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81" name="Rectangle 161"/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4061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198" name="AutoShape 163"/>
              <p:cNvSpPr>
                <a:spLocks noChangeArrowheads="1"/>
              </p:cNvSpPr>
              <p:nvPr/>
            </p:nvSpPr>
            <p:spPr bwMode="auto">
              <a:xfrm>
                <a:off x="613" y="2581"/>
                <a:ext cx="725" cy="12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199" name="AutoShape 16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214062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4063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1196" name="AutoShape 16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197" name="AutoShape 168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185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4065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4066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188" name="Oval 172"/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4068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190" name="AutoShape 174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1" name="AutoShape 175"/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2" name="Oval 176"/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3" name="Oval 177"/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4" name="Oval 178"/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5" name="Rectangle 179"/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91170" name="Rectangle 3"/>
          <p:cNvSpPr>
            <a:spLocks noGrp="1" noChangeArrowheads="1"/>
          </p:cNvSpPr>
          <p:nvPr>
            <p:ph type="title"/>
          </p:nvPr>
        </p:nvSpPr>
        <p:spPr>
          <a:xfrm>
            <a:off x="246063" y="-39688"/>
            <a:ext cx="8034337" cy="1003301"/>
          </a:xfrm>
        </p:spPr>
        <p:txBody>
          <a:bodyPr/>
          <a:lstStyle/>
          <a:p>
            <a:r>
              <a:rPr lang="en-US" sz="3200" smtClean="0">
                <a:ea typeface="ＭＳ Ｐゴシック" pitchFamily="34" charset="-128"/>
              </a:rPr>
              <a:t>A day in the life… using DNS</a:t>
            </a:r>
          </a:p>
        </p:txBody>
      </p:sp>
      <p:pic>
        <p:nvPicPr>
          <p:cNvPr id="214050" name="Picture 21" descr="underline_base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2738" y="631825"/>
            <a:ext cx="5027612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995 L 0.32587 -0.01018 L 0.22726 0.1466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" y="7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26 0.14666 L 0.29844 0.14527 L 0.46528 -0.03516 L 0.46406 -0.16678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" y="-15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0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70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639" grpId="0"/>
      <p:bldP spid="705640" grpId="0"/>
      <p:bldP spid="7056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41" name="Group 231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526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6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6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7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7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9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527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532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32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92395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243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grpSp>
          <p:nvGrpSpPr>
            <p:cNvPr id="21527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529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1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529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9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1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529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244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4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242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530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244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4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242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2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530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244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4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1530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530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243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3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242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530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0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3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531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3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527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240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0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0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0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9240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528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241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1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1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528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240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0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1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9216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charset="0"/>
              </a:rPr>
              <a:t>Link </a:t>
            </a:r>
            <a:r>
              <a:rPr lang="en-US" i="0" dirty="0">
                <a:solidFill>
                  <a:srgbClr val="000000"/>
                </a:solidFill>
                <a:latin typeface="Arial" charset="0"/>
              </a:rPr>
              <a:t>Layer</a:t>
            </a:r>
          </a:p>
        </p:txBody>
      </p:sp>
      <p:sp>
        <p:nvSpPr>
          <p:cNvPr id="921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5-</a:t>
            </a:r>
            <a:fld id="{0E67034C-9D6F-4175-95EE-FA595BF2C627}" type="slidenum">
              <a:rPr lang="en-US">
                <a:solidFill>
                  <a:srgbClr val="000000"/>
                </a:solidFill>
              </a:rPr>
              <a:pPr/>
              <a:t>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5044" name="Freeform 293"/>
          <p:cNvSpPr>
            <a:spLocks/>
          </p:cNvSpPr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15045" name="Freeform 292"/>
          <p:cNvSpPr>
            <a:spLocks/>
          </p:cNvSpPr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92167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693150" cy="942975"/>
          </a:xfrm>
        </p:spPr>
        <p:txBody>
          <a:bodyPr/>
          <a:lstStyle/>
          <a:p>
            <a:r>
              <a:rPr lang="en-US" sz="3200" smtClean="0">
                <a:ea typeface="ＭＳ Ｐゴシック" pitchFamily="34" charset="-128"/>
              </a:rPr>
              <a:t>A day in the life…TCP connection carrying HTTP</a:t>
            </a:r>
          </a:p>
        </p:txBody>
      </p:sp>
      <p:grpSp>
        <p:nvGrpSpPr>
          <p:cNvPr id="706603" name="Group 43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5259" name="Freeform 44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5260" name="Group 45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2382" name="Rectangle 4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83" name="Text Box 47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2384" name="Line 4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85" name="Line 4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86" name="Line 5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87" name="Line 5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6885" name="Group 325"/>
          <p:cNvGrpSpPr>
            <a:grpSpLocks/>
          </p:cNvGrpSpPr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5255" name="Group 52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2378" name="Rectangle 53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79" name="Text Box 54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FFFFFF"/>
                    </a:solidFill>
                    <a:latin typeface="Arial" charset="0"/>
                  </a:rPr>
                  <a:t>HTTP</a:t>
                </a:r>
              </a:p>
            </p:txBody>
          </p:sp>
        </p:grpSp>
        <p:sp>
          <p:nvSpPr>
            <p:cNvPr id="92377" name="AutoShape 85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706660" name="Rectangle 100"/>
          <p:cNvSpPr>
            <a:spLocks noChangeArrowheads="1"/>
          </p:cNvSpPr>
          <p:nvPr/>
        </p:nvSpPr>
        <p:spPr bwMode="auto">
          <a:xfrm>
            <a:off x="5183188" y="2914650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to send HTTP request, client first opens </a:t>
            </a: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TCP socket</a:t>
            </a: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to web server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000" i="0">
              <a:solidFill>
                <a:srgbClr val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706661" name="Rectangle 101"/>
          <p:cNvSpPr>
            <a:spLocks noChangeArrowheads="1"/>
          </p:cNvSpPr>
          <p:nvPr/>
        </p:nvSpPr>
        <p:spPr bwMode="auto">
          <a:xfrm>
            <a:off x="5186363" y="3825875"/>
            <a:ext cx="377825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TCP </a:t>
            </a: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SYN segment</a:t>
            </a:r>
            <a:r>
              <a:rPr lang="en-US" sz="2000" i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(step 1 in 3-way handshake) 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inter-domain routed</a:t>
            </a: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to web server</a:t>
            </a:r>
          </a:p>
        </p:txBody>
      </p:sp>
      <p:sp>
        <p:nvSpPr>
          <p:cNvPr id="706662" name="Rectangle 102"/>
          <p:cNvSpPr>
            <a:spLocks noChangeArrowheads="1"/>
          </p:cNvSpPr>
          <p:nvPr/>
        </p:nvSpPr>
        <p:spPr bwMode="auto">
          <a:xfrm>
            <a:off x="5189538" y="5892800"/>
            <a:ext cx="40687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TCP </a:t>
            </a: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connection established!</a:t>
            </a:r>
          </a:p>
        </p:txBody>
      </p:sp>
      <p:grpSp>
        <p:nvGrpSpPr>
          <p:cNvPr id="215052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5253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54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53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5251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52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54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5249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50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55" name="Group 110"/>
          <p:cNvGrpSpPr>
            <a:grpSpLocks/>
          </p:cNvGrpSpPr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5235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5236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37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5238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5239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246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247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248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5240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243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244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245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241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42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056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57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64.233.169.105</a:t>
            </a:r>
          </a:p>
        </p:txBody>
      </p:sp>
      <p:sp>
        <p:nvSpPr>
          <p:cNvPr id="215058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web server</a:t>
            </a:r>
          </a:p>
        </p:txBody>
      </p:sp>
      <p:grpSp>
        <p:nvGrpSpPr>
          <p:cNvPr id="215059" name="Group 194"/>
          <p:cNvGrpSpPr>
            <a:grpSpLocks/>
          </p:cNvGrpSpPr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5233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34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60" name="Group 197"/>
          <p:cNvGrpSpPr>
            <a:grpSpLocks/>
          </p:cNvGrpSpPr>
          <p:nvPr/>
        </p:nvGrpSpPr>
        <p:grpSpPr bwMode="auto">
          <a:xfrm flipH="1">
            <a:off x="3608388" y="5649913"/>
            <a:ext cx="295275" cy="114300"/>
            <a:chOff x="3228" y="1776"/>
            <a:chExt cx="252" cy="96"/>
          </a:xfrm>
        </p:grpSpPr>
        <p:sp>
          <p:nvSpPr>
            <p:cNvPr id="215231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32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61" name="Group 200"/>
          <p:cNvGrpSpPr>
            <a:grpSpLocks/>
          </p:cNvGrpSpPr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5229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30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183" name="Line 290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706874" name="Group 314"/>
          <p:cNvGrpSpPr>
            <a:grpSpLocks/>
          </p:cNvGrpSpPr>
          <p:nvPr/>
        </p:nvGrpSpPr>
        <p:grpSpPr bwMode="auto">
          <a:xfrm>
            <a:off x="79375" y="1900238"/>
            <a:ext cx="1081088" cy="244475"/>
            <a:chOff x="410" y="1508"/>
            <a:chExt cx="681" cy="154"/>
          </a:xfrm>
        </p:grpSpPr>
        <p:sp>
          <p:nvSpPr>
            <p:cNvPr id="92341" name="Rectangle 99"/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342" name="Rectangle 95"/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343" name="Rectangle 96"/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344" name="Rectangle 97"/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345" name="Rectangle 98"/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5225" name="Group 310"/>
            <p:cNvGrpSpPr>
              <a:grpSpLocks/>
            </p:cNvGrpSpPr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92347" name="Rectangle 311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48" name="Rectangle 312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49" name="Text Box 313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</p:grpSp>
      <p:grpSp>
        <p:nvGrpSpPr>
          <p:cNvPr id="706886" name="Group 326"/>
          <p:cNvGrpSpPr>
            <a:grpSpLocks/>
          </p:cNvGrpSpPr>
          <p:nvPr/>
        </p:nvGrpSpPr>
        <p:grpSpPr bwMode="auto">
          <a:xfrm>
            <a:off x="307975" y="4241800"/>
            <a:ext cx="1081088" cy="782638"/>
            <a:chOff x="59" y="863"/>
            <a:chExt cx="681" cy="493"/>
          </a:xfrm>
        </p:grpSpPr>
        <p:grpSp>
          <p:nvGrpSpPr>
            <p:cNvPr id="215199" name="Group 6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39" name="Rectangle 6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40" name="Rectangle 7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5200" name="Group 30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36" name="Rectangle 59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37" name="Rectangle 60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38" name="Text Box 297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  <p:grpSp>
          <p:nvGrpSpPr>
            <p:cNvPr id="215201" name="Group 302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33" name="Rectangle 303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34" name="Rectangle 304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35" name="Text Box 305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  <p:grpSp>
          <p:nvGrpSpPr>
            <p:cNvPr id="215202" name="Group 315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324" name="Rectangle 316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25" name="Rectangle 317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26" name="Rectangle 318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27" name="Rectangle 319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28" name="Rectangle 320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5208" name="Group 321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30" name="Rectangle 322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331" name="Rectangle 323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332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smtClean="0">
                      <a:solidFill>
                        <a:srgbClr val="000000"/>
                      </a:solidFill>
                      <a:latin typeface="Arial" charset="0"/>
                    </a:rPr>
                    <a:t>SYN</a:t>
                  </a:r>
                </a:p>
              </p:txBody>
            </p:sp>
          </p:grpSp>
        </p:grpSp>
      </p:grpSp>
      <p:grpSp>
        <p:nvGrpSpPr>
          <p:cNvPr id="706896" name="Group 336"/>
          <p:cNvGrpSpPr>
            <a:grpSpLocks/>
          </p:cNvGrpSpPr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5191" name="Freeform 328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5192" name="Group 329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2314" name="Rectangle 33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5" name="Text Box 331"/>
              <p:cNvSpPr txBox="1">
                <a:spLocks noChangeArrowheads="1"/>
              </p:cNvSpPr>
              <p:nvPr/>
            </p:nvSpPr>
            <p:spPr bwMode="auto">
              <a:xfrm>
                <a:off x="646" y="2954"/>
                <a:ext cx="371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endParaRPr lang="en-US" sz="1600" i="0" smtClean="0">
                  <a:solidFill>
                    <a:srgbClr val="000000"/>
                  </a:solidFill>
                  <a:latin typeface="Arial" charset="0"/>
                </a:endParaRP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2316" name="Line 33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7" name="Line 33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8" name="Line 33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9" name="Line 33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6897" name="Group 337"/>
          <p:cNvGrpSpPr>
            <a:grpSpLocks/>
          </p:cNvGrpSpPr>
          <p:nvPr/>
        </p:nvGrpSpPr>
        <p:grpSpPr bwMode="auto">
          <a:xfrm>
            <a:off x="79375" y="1355725"/>
            <a:ext cx="1081088" cy="782638"/>
            <a:chOff x="59" y="863"/>
            <a:chExt cx="681" cy="493"/>
          </a:xfrm>
        </p:grpSpPr>
        <p:grpSp>
          <p:nvGrpSpPr>
            <p:cNvPr id="215170" name="Group 33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10" name="Rectangle 33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1" name="Rectangle 34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5171" name="Group 34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07" name="Rectangle 342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08" name="Rectangle 343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09" name="Text Box 344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  <p:grpSp>
          <p:nvGrpSpPr>
            <p:cNvPr id="215172" name="Group 345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04" name="Rectangle 346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05" name="Rectangle 347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06" name="Text Box 348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  <p:grpSp>
          <p:nvGrpSpPr>
            <p:cNvPr id="215173" name="Group 349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295" name="Rectangle 350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6" name="Rectangle 351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7" name="Rectangle 352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8" name="Rectangle 353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9" name="Rectangle 354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5179" name="Group 355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0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302" name="Rectangle 357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303" name="Text Box 358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smtClean="0">
                      <a:solidFill>
                        <a:srgbClr val="000000"/>
                      </a:solidFill>
                      <a:latin typeface="Arial" charset="0"/>
                    </a:rPr>
                    <a:t>SYN</a:t>
                  </a:r>
                </a:p>
              </p:txBody>
            </p:sp>
          </p:grpSp>
        </p:grpSp>
      </p:grpSp>
      <p:sp>
        <p:nvSpPr>
          <p:cNvPr id="92188" name="Rectangle 359"/>
          <p:cNvSpPr>
            <a:spLocks noChangeArrowheads="1"/>
          </p:cNvSpPr>
          <p:nvPr/>
        </p:nvSpPr>
        <p:spPr bwMode="auto">
          <a:xfrm>
            <a:off x="979488" y="4452938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1000" i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06951" name="Group 391"/>
          <p:cNvGrpSpPr>
            <a:grpSpLocks/>
          </p:cNvGrpSpPr>
          <p:nvPr/>
        </p:nvGrpSpPr>
        <p:grpSpPr bwMode="auto">
          <a:xfrm>
            <a:off x="306388" y="4241800"/>
            <a:ext cx="1081087" cy="782638"/>
            <a:chOff x="2675" y="3676"/>
            <a:chExt cx="681" cy="493"/>
          </a:xfrm>
        </p:grpSpPr>
        <p:grpSp>
          <p:nvGrpSpPr>
            <p:cNvPr id="215150" name="Group 361"/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92289" name="Rectangle 362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0" name="Rectangle 363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5151" name="Group 382"/>
            <p:cNvGrpSpPr>
              <a:grpSpLocks/>
            </p:cNvGrpSpPr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92286" name="Rectangle 365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7" name="Rectangle 366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8" name="Text Box 367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  <p:sp>
          <p:nvSpPr>
            <p:cNvPr id="92273" name="Rectangle 373"/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74" name="Rectangle 374"/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75" name="Rectangle 375"/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76" name="Rectangle 376"/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77" name="Rectangle 377"/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5157" name="Group 383"/>
            <p:cNvGrpSpPr>
              <a:grpSpLocks/>
            </p:cNvGrpSpPr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92283" name="Rectangle 384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4" name="Rectangle 385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5" name="Text Box 386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  <p:grpSp>
          <p:nvGrpSpPr>
            <p:cNvPr id="215158" name="Group 387"/>
            <p:cNvGrpSpPr>
              <a:grpSpLocks/>
            </p:cNvGrpSpPr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92280" name="Rectangle 388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1" name="Rectangle 389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2" name="Text Box 390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</p:grpSp>
      <p:grpSp>
        <p:nvGrpSpPr>
          <p:cNvPr id="706983" name="Group 423"/>
          <p:cNvGrpSpPr>
            <a:grpSpLocks/>
          </p:cNvGrpSpPr>
          <p:nvPr/>
        </p:nvGrpSpPr>
        <p:grpSpPr bwMode="auto">
          <a:xfrm>
            <a:off x="82550" y="1354138"/>
            <a:ext cx="1081088" cy="782637"/>
            <a:chOff x="2613" y="3554"/>
            <a:chExt cx="681" cy="493"/>
          </a:xfrm>
        </p:grpSpPr>
        <p:grpSp>
          <p:nvGrpSpPr>
            <p:cNvPr id="215130" name="Group 393"/>
            <p:cNvGrpSpPr>
              <a:grpSpLocks/>
            </p:cNvGrpSpPr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92269" name="Rectangle 39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70" name="Rectangle 39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5131" name="Group 396"/>
            <p:cNvGrpSpPr>
              <a:grpSpLocks/>
            </p:cNvGrpSpPr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92266" name="Rectangle 397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7" name="Rectangle 398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8" name="Text Box 399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  <p:sp>
          <p:nvSpPr>
            <p:cNvPr id="92253" name="Rectangle 400"/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54" name="Rectangle 401"/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55" name="Rectangle 402"/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56" name="Rectangle 403"/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57" name="Rectangle 404"/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5137" name="Group 405"/>
            <p:cNvGrpSpPr>
              <a:grpSpLocks/>
            </p:cNvGrpSpPr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92263" name="Rectangle 406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4" name="Rectangle 407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5" name="Text Box 408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  <p:grpSp>
          <p:nvGrpSpPr>
            <p:cNvPr id="215138" name="Group 409"/>
            <p:cNvGrpSpPr>
              <a:grpSpLocks/>
            </p:cNvGrpSpPr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92260" name="Rectangle 410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1" name="Rectangle 411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2" name="Text Box 412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</p:grpSp>
      <p:grpSp>
        <p:nvGrpSpPr>
          <p:cNvPr id="706982" name="Group 422"/>
          <p:cNvGrpSpPr>
            <a:grpSpLocks/>
          </p:cNvGrpSpPr>
          <p:nvPr/>
        </p:nvGrpSpPr>
        <p:grpSpPr bwMode="auto">
          <a:xfrm>
            <a:off x="311150" y="4772025"/>
            <a:ext cx="1081088" cy="244475"/>
            <a:chOff x="2709" y="3989"/>
            <a:chExt cx="681" cy="154"/>
          </a:xfrm>
        </p:grpSpPr>
        <p:sp>
          <p:nvSpPr>
            <p:cNvPr id="92242" name="Rectangle 413"/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43" name="Rectangle 414"/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44" name="Rectangle 415"/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45" name="Rectangle 416"/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46" name="Rectangle 417"/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5126" name="Group 418"/>
            <p:cNvGrpSpPr>
              <a:grpSpLocks/>
            </p:cNvGrpSpPr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92248" name="Rectangle 419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49" name="Rectangle 420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50" name="Text Box 421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</p:grpSp>
      <p:sp>
        <p:nvSpPr>
          <p:cNvPr id="706984" name="Rectangle 424"/>
          <p:cNvSpPr>
            <a:spLocks noChangeArrowheads="1"/>
          </p:cNvSpPr>
          <p:nvPr/>
        </p:nvSpPr>
        <p:spPr bwMode="auto">
          <a:xfrm>
            <a:off x="5183188" y="4916488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web server responds with </a:t>
            </a: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TCP SYNACK</a:t>
            </a:r>
            <a:r>
              <a:rPr lang="en-US" sz="2000" i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(step 2 in 3-way handshake)</a:t>
            </a:r>
          </a:p>
        </p:txBody>
      </p:sp>
      <p:grpSp>
        <p:nvGrpSpPr>
          <p:cNvPr id="215072" name="Group 110"/>
          <p:cNvGrpSpPr>
            <a:grpSpLocks/>
          </p:cNvGrpSpPr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5107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5108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09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5110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5111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118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119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120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5112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115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116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117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113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4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5073" name="Group 248"/>
          <p:cNvGrpSpPr>
            <a:grpSpLocks/>
          </p:cNvGrpSpPr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5075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197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5077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078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00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5080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2226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27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2202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5082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224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25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2204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05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5085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2222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23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215086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5087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2220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21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2209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5089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090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12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5092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14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5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6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7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9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pic>
        <p:nvPicPr>
          <p:cNvPr id="215074" name="Picture 6" descr="underline_bas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9413" y="641350"/>
            <a:ext cx="8228012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42 0.00625 L 0.00764 0.08467 L 0.36285 0.08767 L 0.26996 0.22878 L 0.33698 0.22739 L 0.55069 0.01874 L 0.29583 0.52209 L 0.02882 0.5251 L 0.02882 0.41545 " pathEditMode="relative" rAng="0" ptsTypes="AAAAAAAAA">
                                      <p:cBhvr>
                                        <p:cTn id="27" dur="2000" fill="hold"/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" y="25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7068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15591E-6 L -1.66667E-6 0.09415 L 0.28593 0.09091 L 0.52934 -0.40111 L 0.30937 -0.18182 L 0.23403 -0.19755 L 0.32118 -0.33079 L -0.01997 -0.33079 L -0.01875 -0.41846 " pathEditMode="relative" ptsTypes="AAAAAAAAA">
                                      <p:cBhvr>
                                        <p:cTn id="63" dur="2000" fill="hold"/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000"/>
                                        <p:tgtEl>
                                          <p:spTgt spid="70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60" grpId="0"/>
      <p:bldP spid="706661" grpId="0"/>
      <p:bldP spid="706662" grpId="0"/>
      <p:bldP spid="70698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065" name="Group 300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631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31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1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1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1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3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smtClean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631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637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637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93440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1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31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312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+mn-ea"/>
              </a:endParaRPr>
            </a:p>
          </p:txBody>
        </p:sp>
        <p:grpSp>
          <p:nvGrpSpPr>
            <p:cNvPr id="21632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633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6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634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4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6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634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348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9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46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634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348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8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46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6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634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348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8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1634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635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348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8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47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635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5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7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1635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7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7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7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8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8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8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632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344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4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4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4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9345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633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345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5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5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633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345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5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5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9318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charset="0"/>
              </a:rPr>
              <a:t>Link </a:t>
            </a:r>
            <a:r>
              <a:rPr lang="en-US" i="0" dirty="0">
                <a:solidFill>
                  <a:srgbClr val="000000"/>
                </a:solidFill>
                <a:latin typeface="Arial" charset="0"/>
              </a:rPr>
              <a:t>Layer</a:t>
            </a:r>
          </a:p>
        </p:txBody>
      </p:sp>
      <p:sp>
        <p:nvSpPr>
          <p:cNvPr id="931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5-</a:t>
            </a:r>
            <a:fld id="{BECDD830-A5A6-4820-8E5B-4EAD4689E1D3}" type="slidenum">
              <a:rPr lang="en-US">
                <a:solidFill>
                  <a:srgbClr val="000000"/>
                </a:solidFill>
              </a:rPr>
              <a:pPr/>
              <a:t>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6068" name="Freeform 2"/>
          <p:cNvSpPr>
            <a:spLocks/>
          </p:cNvSpPr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16069" name="Freeform 3"/>
          <p:cNvSpPr>
            <a:spLocks/>
          </p:cNvSpPr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93191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361363" cy="973138"/>
          </a:xfrm>
        </p:spPr>
        <p:txBody>
          <a:bodyPr/>
          <a:lstStyle/>
          <a:p>
            <a:r>
              <a:rPr lang="en-US" sz="3600" smtClean="0">
                <a:ea typeface="ＭＳ Ｐゴシック" pitchFamily="34" charset="-128"/>
              </a:rPr>
              <a:t>A day in the life… HTTP request/reply </a:t>
            </a:r>
          </a:p>
        </p:txBody>
      </p:sp>
      <p:grpSp>
        <p:nvGrpSpPr>
          <p:cNvPr id="216071" name="Group 3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6304" name="Freeform 3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6305" name="Group 3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3427" name="Rectangle 3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28" name="Text Box 3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3429" name="Line 4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30" name="Line 4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31" name="Line 4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32" name="Line 4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7628" name="Group 44"/>
          <p:cNvGrpSpPr>
            <a:grpSpLocks/>
          </p:cNvGrpSpPr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6300" name="Group 45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3423" name="Rectangle 4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24" name="Text Box 4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FFFFFF"/>
                    </a:solidFill>
                    <a:latin typeface="Arial" charset="0"/>
                  </a:rPr>
                  <a:t>HTTP</a:t>
                </a:r>
              </a:p>
            </p:txBody>
          </p:sp>
        </p:grpSp>
        <p:sp>
          <p:nvSpPr>
            <p:cNvPr id="93422" name="AutoShape 48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707633" name="Rectangle 49"/>
          <p:cNvSpPr>
            <a:spLocks noChangeArrowheads="1"/>
          </p:cNvSpPr>
          <p:nvPr/>
        </p:nvSpPr>
        <p:spPr bwMode="auto">
          <a:xfrm>
            <a:off x="5183188" y="3105150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HTTP request</a:t>
            </a:r>
            <a:r>
              <a:rPr lang="en-US" sz="2000" i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sent into TCP socket</a:t>
            </a:r>
          </a:p>
        </p:txBody>
      </p:sp>
      <p:sp>
        <p:nvSpPr>
          <p:cNvPr id="707634" name="Rectangle 50"/>
          <p:cNvSpPr>
            <a:spLocks noChangeArrowheads="1"/>
          </p:cNvSpPr>
          <p:nvPr/>
        </p:nvSpPr>
        <p:spPr bwMode="auto">
          <a:xfrm>
            <a:off x="5176838" y="3797300"/>
            <a:ext cx="3787775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IP datagram containing HTTP request routed to www.google.com</a:t>
            </a:r>
          </a:p>
        </p:txBody>
      </p:sp>
      <p:sp>
        <p:nvSpPr>
          <p:cNvPr id="707635" name="Rectangle 51"/>
          <p:cNvSpPr>
            <a:spLocks noChangeArrowheads="1"/>
          </p:cNvSpPr>
          <p:nvPr/>
        </p:nvSpPr>
        <p:spPr bwMode="auto">
          <a:xfrm>
            <a:off x="5189538" y="5702300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IP datagram containing HTTP reply routed back to client</a:t>
            </a:r>
          </a:p>
        </p:txBody>
      </p:sp>
      <p:grpSp>
        <p:nvGrpSpPr>
          <p:cNvPr id="216076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6298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99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6077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6296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97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6078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6294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95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6079" name="Group 110"/>
          <p:cNvGrpSpPr>
            <a:grpSpLocks/>
          </p:cNvGrpSpPr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6280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6281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282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6283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6284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291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292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293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6285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288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289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290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6286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287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6080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6081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64.233.169.105</a:t>
            </a:r>
          </a:p>
        </p:txBody>
      </p:sp>
      <p:sp>
        <p:nvSpPr>
          <p:cNvPr id="216082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i="0">
                <a:solidFill>
                  <a:srgbClr val="000000"/>
                </a:solidFill>
                <a:latin typeface="Arial" pitchFamily="34" charset="0"/>
              </a:rPr>
              <a:t>web server</a:t>
            </a:r>
          </a:p>
        </p:txBody>
      </p:sp>
      <p:grpSp>
        <p:nvGrpSpPr>
          <p:cNvPr id="216083" name="Group 194"/>
          <p:cNvGrpSpPr>
            <a:grpSpLocks/>
          </p:cNvGrpSpPr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6278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79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6084" name="Group 200"/>
          <p:cNvGrpSpPr>
            <a:grpSpLocks/>
          </p:cNvGrpSpPr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6276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77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206" name="Line 112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216086" name="Group 145"/>
          <p:cNvGrpSpPr>
            <a:grpSpLocks/>
          </p:cNvGrpSpPr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6268" name="Freeform 146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16269" name="Group 147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3391" name="Rectangle 1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92" name="Text Box 14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smtClean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3393" name="Line 1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94" name="Line 1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95" name="Line 1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96" name="Line 1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sp>
        <p:nvSpPr>
          <p:cNvPr id="707813" name="Rectangle 229"/>
          <p:cNvSpPr>
            <a:spLocks noChangeArrowheads="1"/>
          </p:cNvSpPr>
          <p:nvPr/>
        </p:nvSpPr>
        <p:spPr bwMode="auto">
          <a:xfrm>
            <a:off x="5183188" y="4735513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web server responds with </a:t>
            </a: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HTTP reply</a:t>
            </a:r>
            <a:r>
              <a:rPr lang="en-US" sz="2000" i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(containing web page)</a:t>
            </a:r>
          </a:p>
        </p:txBody>
      </p:sp>
      <p:grpSp>
        <p:nvGrpSpPr>
          <p:cNvPr id="707941" name="Group 357"/>
          <p:cNvGrpSpPr>
            <a:grpSpLocks/>
          </p:cNvGrpSpPr>
          <p:nvPr/>
        </p:nvGrpSpPr>
        <p:grpSpPr bwMode="auto">
          <a:xfrm>
            <a:off x="88900" y="1363663"/>
            <a:ext cx="1081088" cy="1058862"/>
            <a:chOff x="56" y="859"/>
            <a:chExt cx="681" cy="667"/>
          </a:xfrm>
        </p:grpSpPr>
        <p:grpSp>
          <p:nvGrpSpPr>
            <p:cNvPr id="216237" name="Group 230"/>
            <p:cNvGrpSpPr>
              <a:grpSpLocks/>
            </p:cNvGrpSpPr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216263" name="Group 231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87" name="Rectangle 232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88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smtClean="0">
                      <a:solidFill>
                        <a:srgbClr val="FFFFFF"/>
                      </a:solidFill>
                      <a:latin typeface="Arial" charset="0"/>
                    </a:rPr>
                    <a:t>HTTP</a:t>
                  </a:r>
                </a:p>
              </p:txBody>
            </p:sp>
          </p:grpSp>
          <p:sp>
            <p:nvSpPr>
              <p:cNvPr id="93385" name="Rectangle 234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86" name="Rectangle 235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6238" name="Group 236"/>
            <p:cNvGrpSpPr>
              <a:grpSpLocks/>
            </p:cNvGrpSpPr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216257" name="Group 237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82" name="Rectangle 238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83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smtClean="0">
                      <a:solidFill>
                        <a:srgbClr val="FFFFFF"/>
                      </a:solidFill>
                      <a:latin typeface="Arial" charset="0"/>
                    </a:rPr>
                    <a:t>HTTP</a:t>
                  </a:r>
                </a:p>
              </p:txBody>
            </p:sp>
          </p:grpSp>
          <p:grpSp>
            <p:nvGrpSpPr>
              <p:cNvPr id="216258" name="Group 240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80" name="Rectangle 241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81" name="Rectangle 242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16239" name="Group 243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3376" name="Rectangle 24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77" name="Rectangle 24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6240" name="Group 246"/>
            <p:cNvGrpSpPr>
              <a:grpSpLocks/>
            </p:cNvGrpSpPr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216242" name="Group 247"/>
              <p:cNvGrpSpPr>
                <a:grpSpLocks/>
              </p:cNvGrpSpPr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216246" name="Group 248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249" name="Group 249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374" name="Rectangle 2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3375" name="Text Box 25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smtClean="0">
                          <a:solidFill>
                            <a:srgbClr val="FFFFFF"/>
                          </a:solidFill>
                          <a:latin typeface="Arial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216250" name="Group 252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372" name="Rectangle 2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3373" name="Rectangle 2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93368" name="Rectangle 255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69" name="Rectangle 256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364" name="Rectangle 257"/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65" name="Rectangle 258"/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66" name="Rectangle 259"/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362" name="AutoShape 356"/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7973" name="Group 389"/>
          <p:cNvGrpSpPr>
            <a:grpSpLocks/>
          </p:cNvGrpSpPr>
          <p:nvPr/>
        </p:nvGrpSpPr>
        <p:grpSpPr bwMode="auto">
          <a:xfrm>
            <a:off x="92075" y="1890713"/>
            <a:ext cx="1081088" cy="244475"/>
            <a:chOff x="0" y="2762"/>
            <a:chExt cx="681" cy="154"/>
          </a:xfrm>
        </p:grpSpPr>
        <p:sp>
          <p:nvSpPr>
            <p:cNvPr id="93345" name="Rectangle 388"/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6225" name="Group 376"/>
            <p:cNvGrpSpPr>
              <a:grpSpLocks/>
            </p:cNvGrpSpPr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216228" name="Group 377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231" name="Group 37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56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57" name="Text Box 3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232" name="Group 381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54" name="Rectangle 382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55" name="Rectangle 383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3350" name="Rectangle 384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51" name="Rectangle 385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347" name="Rectangle 386"/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348" name="Rectangle 387"/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7975" name="Group 391"/>
          <p:cNvGrpSpPr>
            <a:grpSpLocks/>
          </p:cNvGrpSpPr>
          <p:nvPr/>
        </p:nvGrpSpPr>
        <p:grpSpPr bwMode="auto">
          <a:xfrm>
            <a:off x="411163" y="4051300"/>
            <a:ext cx="1081087" cy="949325"/>
            <a:chOff x="2231" y="3555"/>
            <a:chExt cx="681" cy="598"/>
          </a:xfrm>
        </p:grpSpPr>
        <p:grpSp>
          <p:nvGrpSpPr>
            <p:cNvPr id="216190" name="Group 392"/>
            <p:cNvGrpSpPr>
              <a:grpSpLocks/>
            </p:cNvGrpSpPr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216194" name="Group 393"/>
              <p:cNvGrpSpPr>
                <a:grpSpLocks/>
              </p:cNvGrpSpPr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216219" name="Group 39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93343" name="Rectangle 39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44" name="Text Box 3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HTTP</a:t>
                    </a:r>
                  </a:p>
                </p:txBody>
              </p:sp>
            </p:grpSp>
            <p:sp>
              <p:nvSpPr>
                <p:cNvPr id="93341" name="Rectangle 397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42" name="Rectangle 398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6195" name="Group 399"/>
              <p:cNvGrpSpPr>
                <a:grpSpLocks/>
              </p:cNvGrpSpPr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216213" name="Group 400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38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39" name="Text Box 4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214" name="Group 40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36" name="Rectangle 404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37" name="Rectangle 405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16196" name="Group 406"/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93332" name="Rectangle 407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33" name="Rectangle 408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16197" name="Group 409"/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216198" name="Group 410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216202" name="Group 411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216205" name="Group 4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93330" name="Rectangle 4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3331" name="Text Box 4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smtClean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216206" name="Group 41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3328" name="Rectangle 4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3329" name="Rectangle 4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3324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25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3320" name="Rectangle 420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21" name="Rectangle 421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22" name="Rectangle 422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16191" name="Group 423"/>
            <p:cNvGrpSpPr>
              <a:grpSpLocks/>
            </p:cNvGrpSpPr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93313" name="Rectangle 424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14" name="Text Box 425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FFFFFF"/>
                    </a:solidFill>
                    <a:latin typeface="Arial" charset="0"/>
                  </a:rPr>
                  <a:t>HTTP</a:t>
                </a:r>
              </a:p>
            </p:txBody>
          </p:sp>
        </p:grpSp>
      </p:grpSp>
      <p:grpSp>
        <p:nvGrpSpPr>
          <p:cNvPr id="708061" name="Group 477"/>
          <p:cNvGrpSpPr>
            <a:grpSpLocks/>
          </p:cNvGrpSpPr>
          <p:nvPr/>
        </p:nvGrpSpPr>
        <p:grpSpPr bwMode="auto">
          <a:xfrm>
            <a:off x="76200" y="1119188"/>
            <a:ext cx="1081088" cy="1016000"/>
            <a:chOff x="2256" y="3531"/>
            <a:chExt cx="681" cy="640"/>
          </a:xfrm>
        </p:grpSpPr>
        <p:grpSp>
          <p:nvGrpSpPr>
            <p:cNvPr id="216157" name="Group 321"/>
            <p:cNvGrpSpPr>
              <a:grpSpLocks/>
            </p:cNvGrpSpPr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216185" name="Group 322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09" name="Rectangle 323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10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smtClean="0">
                      <a:solidFill>
                        <a:srgbClr val="FFFFFF"/>
                      </a:solidFill>
                      <a:latin typeface="Arial" charset="0"/>
                    </a:rPr>
                    <a:t>HTTP</a:t>
                  </a:r>
                </a:p>
              </p:txBody>
            </p:sp>
          </p:grpSp>
          <p:sp>
            <p:nvSpPr>
              <p:cNvPr id="93307" name="Rectangle 325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08" name="Rectangle 326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6158" name="Group 327"/>
            <p:cNvGrpSpPr>
              <a:grpSpLocks/>
            </p:cNvGrpSpPr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216179" name="Group 328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04" name="Rectangle 329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05" name="Text Box 330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smtClean="0">
                      <a:solidFill>
                        <a:srgbClr val="FFFFFF"/>
                      </a:solidFill>
                      <a:latin typeface="Arial" charset="0"/>
                    </a:rPr>
                    <a:t>HTTP</a:t>
                  </a:r>
                </a:p>
              </p:txBody>
            </p:sp>
          </p:grpSp>
          <p:grpSp>
            <p:nvGrpSpPr>
              <p:cNvPr id="216180" name="Group 331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02" name="Rectangle 332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03" name="Rectangle 333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16159" name="Group 334"/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93298" name="Rectangle 335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99" name="Rectangle 336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216160" name="Group 360"/>
            <p:cNvGrpSpPr>
              <a:grpSpLocks/>
            </p:cNvGrpSpPr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93296" name="Rectangle 361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97" name="Text Box 362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smtClean="0">
                    <a:solidFill>
                      <a:srgbClr val="FFFFFF"/>
                    </a:solidFill>
                    <a:latin typeface="Arial" charset="0"/>
                  </a:rPr>
                  <a:t>HTTP</a:t>
                </a:r>
              </a:p>
            </p:txBody>
          </p:sp>
        </p:grpSp>
        <p:grpSp>
          <p:nvGrpSpPr>
            <p:cNvPr id="216161" name="Group 461"/>
            <p:cNvGrpSpPr>
              <a:grpSpLocks/>
            </p:cNvGrpSpPr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93283" name="Rectangle 457"/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216163" name="Group 445"/>
              <p:cNvGrpSpPr>
                <a:grpSpLocks/>
              </p:cNvGrpSpPr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216166" name="Group 446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169" name="Group 447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294" name="Rectangle 4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3295" name="Text Box 4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smtClean="0">
                          <a:solidFill>
                            <a:srgbClr val="FFFFFF"/>
                          </a:solidFill>
                          <a:latin typeface="Arial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216170" name="Group 450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292" name="Rectangle 4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3293" name="Rectangle 4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93288" name="Rectangle 453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289" name="Rectangle 454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285" name="Rectangle 455"/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86" name="Rectangle 456"/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8046" name="Group 462"/>
          <p:cNvGrpSpPr>
            <a:grpSpLocks/>
          </p:cNvGrpSpPr>
          <p:nvPr/>
        </p:nvGrpSpPr>
        <p:grpSpPr bwMode="auto">
          <a:xfrm>
            <a:off x="414338" y="4756150"/>
            <a:ext cx="1081087" cy="244475"/>
            <a:chOff x="-341" y="3180"/>
            <a:chExt cx="681" cy="154"/>
          </a:xfrm>
        </p:grpSpPr>
        <p:sp>
          <p:nvSpPr>
            <p:cNvPr id="93265" name="Rectangle 463"/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6145" name="Group 464"/>
            <p:cNvGrpSpPr>
              <a:grpSpLocks/>
            </p:cNvGrpSpPr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216148" name="Group 465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151" name="Group 4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276" name="Rectangle 4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277" name="Text Box 4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smtClean="0">
                        <a:solidFill>
                          <a:srgbClr val="FFFFFF"/>
                        </a:solidFill>
                        <a:latin typeface="Arial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152" name="Group 4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274" name="Rectangle 4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275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3270" name="Rectangle 472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71" name="Rectangle 473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267" name="Rectangle 474"/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68" name="Rectangle 475"/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pic>
        <p:nvPicPr>
          <p:cNvPr id="708062" name="Picture 47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06613" y="8556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8064" name="Rectangle 480"/>
          <p:cNvSpPr>
            <a:spLocks noChangeArrowheads="1"/>
          </p:cNvSpPr>
          <p:nvPr/>
        </p:nvSpPr>
        <p:spPr bwMode="auto">
          <a:xfrm>
            <a:off x="3357563" y="1019175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web page </a:t>
            </a: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finally (!!!)</a:t>
            </a:r>
            <a:r>
              <a:rPr lang="en-US" sz="2000" i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000" i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displayed</a:t>
            </a:r>
          </a:p>
        </p:txBody>
      </p:sp>
      <p:grpSp>
        <p:nvGrpSpPr>
          <p:cNvPr id="216095" name="Group 248"/>
          <p:cNvGrpSpPr>
            <a:grpSpLocks/>
          </p:cNvGrpSpPr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6112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234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6114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6115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237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6117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263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64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239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6119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261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62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241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42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216122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59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60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216123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6124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257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58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246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6126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6127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249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16129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251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2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3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4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6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216096" name="Group 110"/>
          <p:cNvGrpSpPr>
            <a:grpSpLocks/>
          </p:cNvGrpSpPr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609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1609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10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i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610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grpSp>
          <p:nvGrpSpPr>
            <p:cNvPr id="21610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10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11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11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610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10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10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10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610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10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6097" name="Picture 15" descr="underline_base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2425" y="671513"/>
            <a:ext cx="7769225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07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6.03747E-6 L -1.66667E-6 0.07357 L 0.36771 0.07056 L 0.26545 0.23434 L 0.35625 0.23133 L 0.54826 0.0199 L 0.30347 0.51932 L 0.03437 0.51932 L 0.03437 0.41962 " pathEditMode="relative" ptsTypes="AAAAAAAAA">
                                      <p:cBhvr>
                                        <p:cTn id="24" dur="2000" fill="hold"/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07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5.8501E-6 L 0.00573 0.09969 L 0.28159 0.09646 L 0.52534 -0.418 L 0.31614 -0.18367 L 0.22986 -0.18668 L 0.32309 -0.36295 L -0.03438 -0.36295 L -0.03334 -0.42101 " pathEditMode="relative" ptsTypes="AAAAAAAAA">
                                      <p:cBhvr>
                                        <p:cTn id="54" dur="2000" fill="hold"/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0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1000"/>
                                        <p:tgtEl>
                                          <p:spTgt spid="70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0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33" grpId="0"/>
      <p:bldP spid="707634" grpId="0"/>
      <p:bldP spid="707635" grpId="0"/>
      <p:bldP spid="707813" grpId="0"/>
      <p:bldP spid="708064" grpId="0"/>
      <p:bldP spid="70806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672" y="2757791"/>
            <a:ext cx="77724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omic Sans MS" pitchFamily="66" charset="0"/>
              </a:rPr>
              <a:t>The End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Data Link Layer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5-</a:t>
            </a:r>
            <a:fld id="{3EF34B26-6776-483A-B4C6-F878F73E4CC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28098</TotalTime>
  <Words>764</Words>
  <Application>Microsoft Office PowerPoint</Application>
  <PresentationFormat>On-screen Show (4:3)</PresentationFormat>
  <Paragraphs>225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Comic Sans MS</vt:lpstr>
      <vt:lpstr>ＭＳ Ｐゴシック</vt:lpstr>
      <vt:lpstr>Arial</vt:lpstr>
      <vt:lpstr>Gill Sans MT</vt:lpstr>
      <vt:lpstr>Wingdings</vt:lpstr>
      <vt:lpstr>Times New Roman</vt:lpstr>
      <vt:lpstr>Calibri</vt:lpstr>
      <vt:lpstr>Tahoma</vt:lpstr>
      <vt:lpstr>Courier New</vt:lpstr>
      <vt:lpstr>Courier</vt:lpstr>
      <vt:lpstr>MS Mincho</vt:lpstr>
      <vt:lpstr>Gulim</vt:lpstr>
      <vt:lpstr>Default Design</vt:lpstr>
      <vt:lpstr>Link layer, LANs: outline</vt:lpstr>
      <vt:lpstr>Synthesis: a day in the life of a web request</vt:lpstr>
      <vt:lpstr>A day in the life: scenario</vt:lpstr>
      <vt:lpstr>A day in the life… connecting to the Internet</vt:lpstr>
      <vt:lpstr>A day in the life… connecting to the Internet</vt:lpstr>
      <vt:lpstr>A day in the life… ARP (before DNS, before HTTP)</vt:lpstr>
      <vt:lpstr>A day in the life… using DNS</vt:lpstr>
      <vt:lpstr>A day in the life…TCP connection carrying HTTP</vt:lpstr>
      <vt:lpstr>A day in the life… HTTP request/reply </vt:lpstr>
      <vt:lpstr>The End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Edition, Chapter 5</dc:title>
  <dc:creator>Jim Kurose and Keith Ross</dc:creator>
  <cp:lastModifiedBy>Simon Lam</cp:lastModifiedBy>
  <cp:revision>335</cp:revision>
  <cp:lastPrinted>2011-11-07T02:22:15Z</cp:lastPrinted>
  <dcterms:created xsi:type="dcterms:W3CDTF">1999-10-08T19:08:27Z</dcterms:created>
  <dcterms:modified xsi:type="dcterms:W3CDTF">2012-10-02T05:11:23Z</dcterms:modified>
</cp:coreProperties>
</file>