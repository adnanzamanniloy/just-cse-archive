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70"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D348-742D-4855-A184-B22FE470CE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B37541-0AEF-4593-8E91-D65D42C92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4878B3-0226-490A-9ACC-7E9064338107}"/>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5FE60962-0CB2-430A-8845-861D2D1513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66E07-AAA9-4900-9399-315E8E8BDCC6}"/>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09959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4B5B-B5FC-4CE0-9A4E-EFCBA83DDA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EC1BD-7DE2-4081-9F91-A09D902D8A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82DF1-7E9E-4886-A3C6-77C53E8EEEA1}"/>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22A80ACD-1402-4FFF-B46B-8937C2F5D4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11EC33-B2C6-4EAF-824F-B332971EFE02}"/>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33195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455D-989D-470F-B72C-9F38977B1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207AAC-B020-4A73-9CCE-9EFF1B383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6EB46E-793F-497A-9BD9-45EF8661A5DA}"/>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74C88EF0-983A-48C6-AE48-95C198456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B6BE7-A493-4361-9A3E-274AF38CAA3F}"/>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535521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E6DBE-D8DB-4848-AA7A-000726365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45D303-2E1C-4EF8-AAEF-741F39E026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A9FEE9-A548-4AA7-AAF4-9FA8CCD563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002771-B615-4C10-87EB-4ED4F5D7D731}"/>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6" name="Footer Placeholder 5">
            <a:extLst>
              <a:ext uri="{FF2B5EF4-FFF2-40B4-BE49-F238E27FC236}">
                <a16:creationId xmlns:a16="http://schemas.microsoft.com/office/drawing/2014/main" id="{513DB3AC-BB39-4A65-91C9-29D26E118D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898696-BF00-4483-83CB-4F1EF224554C}"/>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70632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55A25-731B-467F-ABD1-27E5F0FB2E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EBACD0-323E-4119-9BE9-FA46792476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CAFBCB-B393-440B-9FE7-F39332B732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F2E259-6649-4F87-B403-FBA63D74C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B507E3-E273-4C66-8FCE-3856DB119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95EE0F-FD18-456C-8063-14B83DA9AF79}"/>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8" name="Footer Placeholder 7">
            <a:extLst>
              <a:ext uri="{FF2B5EF4-FFF2-40B4-BE49-F238E27FC236}">
                <a16:creationId xmlns:a16="http://schemas.microsoft.com/office/drawing/2014/main" id="{1CB024B3-8DF5-470D-8328-D05FEAC8AC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7D3285-37AA-40A4-B7AE-B08F288D68A7}"/>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500234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A290-43EF-40CE-816F-C59C942547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23F7E-44CE-4F7D-A5AE-6E002BA3E1C8}"/>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4" name="Footer Placeholder 3">
            <a:extLst>
              <a:ext uri="{FF2B5EF4-FFF2-40B4-BE49-F238E27FC236}">
                <a16:creationId xmlns:a16="http://schemas.microsoft.com/office/drawing/2014/main" id="{708E5B3F-EADB-430B-A06D-DFC26861BE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38B945-A336-482F-8A59-685CE95CD596}"/>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888732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FE5E5-8BDC-4BF4-B87C-A2F39B87596D}"/>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3" name="Footer Placeholder 2">
            <a:extLst>
              <a:ext uri="{FF2B5EF4-FFF2-40B4-BE49-F238E27FC236}">
                <a16:creationId xmlns:a16="http://schemas.microsoft.com/office/drawing/2014/main" id="{A425F9AC-CE50-4017-89CF-84FC37E7A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335227-7D4B-44CF-B1E5-530D6AA78FE5}"/>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239178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3BFF-A1FA-4A93-9A82-54A3B3E6CF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76767-BE5A-41B9-9447-CDE9651B1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47D7BF-FC44-4ED9-8C84-E896C2190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BD444-7215-4C5C-B9ED-43AB008B313A}"/>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6" name="Footer Placeholder 5">
            <a:extLst>
              <a:ext uri="{FF2B5EF4-FFF2-40B4-BE49-F238E27FC236}">
                <a16:creationId xmlns:a16="http://schemas.microsoft.com/office/drawing/2014/main" id="{3821EED3-4D0C-47C2-9C97-F4716C4F8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27BE0B-5BDB-4CFC-8F1C-B2062B43B4E3}"/>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807429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ACE6-4D4A-4C15-B4E9-8CFBD6023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5EF7FD-81C7-4C96-9B70-199E35EDFA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2677B6-528A-4022-B43F-E153BB952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4E9EDD-6D27-4B79-AEAE-4322AE68157F}"/>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6" name="Footer Placeholder 5">
            <a:extLst>
              <a:ext uri="{FF2B5EF4-FFF2-40B4-BE49-F238E27FC236}">
                <a16:creationId xmlns:a16="http://schemas.microsoft.com/office/drawing/2014/main" id="{410569CB-80BB-410A-AFCE-ABDA4005D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A82F96-E142-4895-9727-4CC3ECB93CBE}"/>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4136701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D12B-5340-4E4A-8CDF-6229F2E449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662D01-4386-4B35-882C-1A3698CF68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E94CF3-2A9D-4885-AC45-2465CF25C2D3}"/>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348DB897-9623-47BD-87BF-FC1F184BC6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10B70-BFFF-4940-B013-9B399F99FE87}"/>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1035511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4D9E8-BF6B-426D-BDBC-C1D0CBACF6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BBCCC0-1F7C-4DE7-9F94-3D9DB683E0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6240B-2CA9-481B-81AB-228F2C551549}"/>
              </a:ext>
            </a:extLst>
          </p:cNvPr>
          <p:cNvSpPr>
            <a:spLocks noGrp="1"/>
          </p:cNvSpPr>
          <p:nvPr>
            <p:ph type="dt" sz="half" idx="10"/>
          </p:nvPr>
        </p:nvSpPr>
        <p:spPr/>
        <p:txBody>
          <a:body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05E4C2DF-0A22-492C-9603-00E8BC3B1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45A31-F538-4076-9171-E31439C65678}"/>
              </a:ext>
            </a:extLst>
          </p:cNvPr>
          <p:cNvSpPr>
            <a:spLocks noGrp="1"/>
          </p:cNvSpPr>
          <p:nvPr>
            <p:ph type="sldNum" sz="quarter" idx="12"/>
          </p:nvPr>
        </p:nvSpPr>
        <p:spPr/>
        <p:txBody>
          <a:bodyPr/>
          <a:lstStyle/>
          <a:p>
            <a:fld id="{4EB853F4-8258-43BD-A09B-FC0859680983}" type="slidenum">
              <a:rPr lang="en-US" smtClean="0"/>
              <a:pPr/>
              <a:t>‹#›</a:t>
            </a:fld>
            <a:endParaRPr lang="en-US"/>
          </a:p>
        </p:txBody>
      </p:sp>
    </p:spTree>
    <p:extLst>
      <p:ext uri="{BB962C8B-B14F-4D97-AF65-F5344CB8AC3E}">
        <p14:creationId xmlns:p14="http://schemas.microsoft.com/office/powerpoint/2010/main" val="7187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D89C0F-E2B0-4D56-A8C8-482FA1CB07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91A10C-B73A-47AD-BFFA-05CD58B6B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D40BA-CB07-48F4-BC3B-61EBB8C38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CCDA5-EFF6-4A65-85FC-ADC08B627054}" type="datetimeFigureOut">
              <a:rPr lang="en-US" smtClean="0"/>
              <a:pPr/>
              <a:t>11/1/2025</a:t>
            </a:fld>
            <a:endParaRPr lang="en-US"/>
          </a:p>
        </p:txBody>
      </p:sp>
      <p:sp>
        <p:nvSpPr>
          <p:cNvPr id="5" name="Footer Placeholder 4">
            <a:extLst>
              <a:ext uri="{FF2B5EF4-FFF2-40B4-BE49-F238E27FC236}">
                <a16:creationId xmlns:a16="http://schemas.microsoft.com/office/drawing/2014/main" id="{804F9D5E-1E0E-4087-8A3C-CF05569D05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5AACA4-FC0B-47A1-BB93-3C2096C14C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B853F4-8258-43BD-A09B-FC0859680983}" type="slidenum">
              <a:rPr lang="en-US" smtClean="0"/>
              <a:pPr/>
              <a:t>‹#›</a:t>
            </a:fld>
            <a:endParaRPr lang="en-US"/>
          </a:p>
        </p:txBody>
      </p:sp>
    </p:spTree>
    <p:extLst>
      <p:ext uri="{BB962C8B-B14F-4D97-AF65-F5344CB8AC3E}">
        <p14:creationId xmlns:p14="http://schemas.microsoft.com/office/powerpoint/2010/main" val="1583395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902C-BD72-4C0D-BAA7-BBA9F91DF304}"/>
              </a:ext>
            </a:extLst>
          </p:cNvPr>
          <p:cNvSpPr>
            <a:spLocks noGrp="1"/>
          </p:cNvSpPr>
          <p:nvPr>
            <p:ph type="ctrTitle"/>
          </p:nvPr>
        </p:nvSpPr>
        <p:spPr/>
        <p:txBody>
          <a:bodyPr/>
          <a:lstStyle/>
          <a:p>
            <a:r>
              <a:rPr lang="en-US" dirty="0"/>
              <a:t>Simulation Modeling and Analysis</a:t>
            </a:r>
          </a:p>
        </p:txBody>
      </p:sp>
      <p:sp>
        <p:nvSpPr>
          <p:cNvPr id="3" name="Subtitle 2">
            <a:extLst>
              <a:ext uri="{FF2B5EF4-FFF2-40B4-BE49-F238E27FC236}">
                <a16:creationId xmlns:a16="http://schemas.microsoft.com/office/drawing/2014/main" id="{26623654-51CD-42D4-9557-C46A22F7CE3D}"/>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4099270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BFB67-DF77-4C79-9439-41842688FF7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D49B6A5-E9BF-429C-A20A-411EAA08A620}"/>
              </a:ext>
            </a:extLst>
          </p:cNvPr>
          <p:cNvSpPr>
            <a:spLocks noGrp="1"/>
          </p:cNvSpPr>
          <p:nvPr>
            <p:ph idx="1"/>
          </p:nvPr>
        </p:nvSpPr>
        <p:spPr>
          <a:xfrm>
            <a:off x="838200" y="1690688"/>
            <a:ext cx="10515600" cy="4802187"/>
          </a:xfrm>
        </p:spPr>
        <p:txBody>
          <a:bodyPr>
            <a:normAutofit lnSpcReduction="10000"/>
          </a:bodyPr>
          <a:lstStyle/>
          <a:p>
            <a:pPr algn="just"/>
            <a:r>
              <a:rPr lang="en-GB" dirty="0"/>
              <a:t>In studying the simulation examples, the reader probably noticed several features needed in programming most discrete-event simulation models, including:</a:t>
            </a:r>
          </a:p>
          <a:p>
            <a:pPr lvl="1" algn="just"/>
            <a:r>
              <a:rPr lang="en-GB" dirty="0"/>
              <a:t>Generating random numbers, that is, observations from a U(0,1) probability distribution</a:t>
            </a:r>
          </a:p>
          <a:p>
            <a:pPr lvl="1" algn="just"/>
            <a:r>
              <a:rPr lang="en-GB" dirty="0"/>
              <a:t>Generating random variates from a specified probability distribution (e.g., exponential)</a:t>
            </a:r>
          </a:p>
          <a:p>
            <a:pPr lvl="1" algn="just"/>
            <a:r>
              <a:rPr lang="en-GB" dirty="0"/>
              <a:t>Advancing simulated time</a:t>
            </a:r>
          </a:p>
          <a:p>
            <a:pPr lvl="1" algn="just"/>
            <a:r>
              <a:rPr lang="en-GB" dirty="0"/>
              <a:t>Determining the next event from the event list and passing control to the appropriate block of code</a:t>
            </a:r>
          </a:p>
          <a:p>
            <a:pPr lvl="1" algn="just"/>
            <a:r>
              <a:rPr lang="en-GB" dirty="0"/>
              <a:t>Adding records to, or deleting records from, a list</a:t>
            </a:r>
          </a:p>
          <a:p>
            <a:pPr lvl="1" algn="just"/>
            <a:r>
              <a:rPr lang="en-GB" dirty="0"/>
              <a:t>Collecting output statistics and reporting the results</a:t>
            </a:r>
          </a:p>
          <a:p>
            <a:pPr lvl="1" algn="just"/>
            <a:r>
              <a:rPr lang="en-GB" dirty="0"/>
              <a:t>Detecting error conditions</a:t>
            </a:r>
            <a:endParaRPr lang="en-US" dirty="0"/>
          </a:p>
        </p:txBody>
      </p:sp>
    </p:spTree>
    <p:extLst>
      <p:ext uri="{BB962C8B-B14F-4D97-AF65-F5344CB8AC3E}">
        <p14:creationId xmlns:p14="http://schemas.microsoft.com/office/powerpoint/2010/main" val="57931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algn="just"/>
            <a:r>
              <a:rPr lang="en-GB" dirty="0"/>
              <a:t>One of the most important decisions a modeler or analyst must make in performing a simulation study concerns the choice of software.</a:t>
            </a:r>
          </a:p>
          <a:p>
            <a:pPr algn="just"/>
            <a:r>
              <a:rPr lang="en-GB" dirty="0"/>
              <a:t>If the selected software is not flexible enough or is too difficult to use, then the simulation project may produce erroneous results or may not even be completed.</a:t>
            </a:r>
          </a:p>
          <a:p>
            <a:pPr algn="just"/>
            <a:r>
              <a:rPr lang="en-GB" dirty="0"/>
              <a:t>The following are some advantages of using a simulation package rather than a general-purpose programming language:</a:t>
            </a:r>
          </a:p>
          <a:p>
            <a:pPr lvl="1" algn="just"/>
            <a:r>
              <a:rPr lang="en-GB" dirty="0"/>
              <a:t>Simulation packages automatically provide most of the features needed to build a simulation model, resulting in a significant decrease in “programming” time and a reduction in overall project cost.</a:t>
            </a:r>
            <a:endParaRPr lang="en-US" dirty="0"/>
          </a:p>
        </p:txBody>
      </p:sp>
    </p:spTree>
    <p:extLst>
      <p:ext uri="{BB962C8B-B14F-4D97-AF65-F5344CB8AC3E}">
        <p14:creationId xmlns:p14="http://schemas.microsoft.com/office/powerpoint/2010/main" val="3828451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lvl="1" algn="just"/>
            <a:r>
              <a:rPr lang="en-GB" sz="2800" dirty="0"/>
              <a:t>They provide a natural framework for simulation </a:t>
            </a:r>
            <a:r>
              <a:rPr lang="en-GB" sz="2800" dirty="0" err="1"/>
              <a:t>modeling</a:t>
            </a:r>
            <a:r>
              <a:rPr lang="en-GB" sz="2800" dirty="0"/>
              <a:t>. Their basic modelling constructs are more closely akin to simulation than are those in a general-purpose programming language like C.</a:t>
            </a:r>
          </a:p>
          <a:p>
            <a:pPr lvl="1" algn="just"/>
            <a:r>
              <a:rPr lang="en-GB" sz="2800" b="1" i="1" dirty="0"/>
              <a:t>Simulation models are generally easier to modify and maintain when written in a simulation package</a:t>
            </a:r>
            <a:r>
              <a:rPr lang="en-GB" sz="2800" dirty="0"/>
              <a:t>.</a:t>
            </a:r>
          </a:p>
          <a:p>
            <a:pPr lvl="1" algn="just"/>
            <a:r>
              <a:rPr lang="en-GB" sz="2800" dirty="0"/>
              <a:t>They provide better error detection because many potential types of errors are checked for automatically. Since fewer </a:t>
            </a:r>
            <a:r>
              <a:rPr lang="en-GB" sz="2800" dirty="0" err="1"/>
              <a:t>modeling</a:t>
            </a:r>
            <a:r>
              <a:rPr lang="en-GB" sz="2800" dirty="0"/>
              <a:t> constructs need to be included in a model, the chance of making an error will probably be smaller.</a:t>
            </a:r>
            <a:endParaRPr lang="en-US" sz="2800" dirty="0"/>
          </a:p>
        </p:txBody>
      </p:sp>
    </p:spTree>
    <p:extLst>
      <p:ext uri="{BB962C8B-B14F-4D97-AF65-F5344CB8AC3E}">
        <p14:creationId xmlns:p14="http://schemas.microsoft.com/office/powerpoint/2010/main" val="62208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4D39-2BD9-4FBC-844F-C01CD1465031}"/>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CF72BC94-FBAD-4361-AC94-560192ED451C}"/>
              </a:ext>
            </a:extLst>
          </p:cNvPr>
          <p:cNvSpPr>
            <a:spLocks noGrp="1"/>
          </p:cNvSpPr>
          <p:nvPr>
            <p:ph idx="1"/>
          </p:nvPr>
        </p:nvSpPr>
        <p:spPr/>
        <p:txBody>
          <a:bodyPr>
            <a:normAutofit/>
          </a:bodyPr>
          <a:lstStyle/>
          <a:p>
            <a:pPr algn="just"/>
            <a:r>
              <a:rPr lang="en-GB" dirty="0"/>
              <a:t>On the other hand, some simulation models (particularly for </a:t>
            </a:r>
            <a:r>
              <a:rPr lang="en-GB" dirty="0" err="1"/>
              <a:t>defense</a:t>
            </a:r>
            <a:r>
              <a:rPr lang="en-GB" dirty="0"/>
              <a:t>-related applications) are still written in a general-purpose programming language.</a:t>
            </a:r>
          </a:p>
          <a:p>
            <a:pPr algn="just"/>
            <a:r>
              <a:rPr lang="en-GB" dirty="0"/>
              <a:t>Some advantages of such a choice are as follows:</a:t>
            </a:r>
          </a:p>
          <a:p>
            <a:pPr lvl="1" algn="just"/>
            <a:r>
              <a:rPr lang="en-GB" dirty="0"/>
              <a:t>Most modelers already know a programming language, but this is often not the case with a simulation package.</a:t>
            </a:r>
          </a:p>
          <a:p>
            <a:pPr lvl="1" algn="just"/>
            <a:r>
              <a:rPr lang="en-GB" dirty="0"/>
              <a:t>A simulation model efficiently written in C, C++, Java or Python may require less execution time than a model developed in a simulation package.</a:t>
            </a:r>
          </a:p>
          <a:p>
            <a:pPr lvl="1" algn="just"/>
            <a:r>
              <a:rPr lang="en-GB" dirty="0"/>
              <a:t>This is so because a simulation package is designed to address a wide variety of systems with one set of </a:t>
            </a:r>
            <a:r>
              <a:rPr lang="en-GB" dirty="0" err="1"/>
              <a:t>modeling</a:t>
            </a:r>
            <a:r>
              <a:rPr lang="en-GB" dirty="0"/>
              <a:t> constructs, whereas a Python program can be more closely tailored to a particular application.</a:t>
            </a:r>
            <a:endParaRPr lang="en-US" dirty="0"/>
          </a:p>
        </p:txBody>
      </p:sp>
    </p:spTree>
    <p:extLst>
      <p:ext uri="{BB962C8B-B14F-4D97-AF65-F5344CB8AC3E}">
        <p14:creationId xmlns:p14="http://schemas.microsoft.com/office/powerpoint/2010/main" val="101586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580F-9614-48ED-AFA3-BD513E6B01C4}"/>
              </a:ext>
            </a:extLst>
          </p:cNvPr>
          <p:cNvSpPr>
            <a:spLocks noGrp="1"/>
          </p:cNvSpPr>
          <p:nvPr>
            <p:ph type="title"/>
          </p:nvPr>
        </p:nvSpPr>
        <p:spPr/>
        <p:txBody>
          <a:bodyPr/>
          <a:lstStyle/>
          <a:p>
            <a:r>
              <a:rPr lang="en-GB" dirty="0"/>
              <a:t>COMPARISON OF SIMULATION PACKAGES</a:t>
            </a:r>
            <a:br>
              <a:rPr lang="en-GB" dirty="0"/>
            </a:br>
            <a:r>
              <a:rPr lang="en-GB" dirty="0"/>
              <a:t>WITH PROGRAMMING LANGUAGES</a:t>
            </a:r>
            <a:endParaRPr lang="en-US" dirty="0"/>
          </a:p>
        </p:txBody>
      </p:sp>
      <p:sp>
        <p:nvSpPr>
          <p:cNvPr id="3" name="Content Placeholder 2">
            <a:extLst>
              <a:ext uri="{FF2B5EF4-FFF2-40B4-BE49-F238E27FC236}">
                <a16:creationId xmlns:a16="http://schemas.microsoft.com/office/drawing/2014/main" id="{F276DE4B-E4D7-40CD-B48C-27BAC83F4543}"/>
              </a:ext>
            </a:extLst>
          </p:cNvPr>
          <p:cNvSpPr>
            <a:spLocks noGrp="1"/>
          </p:cNvSpPr>
          <p:nvPr>
            <p:ph idx="1"/>
          </p:nvPr>
        </p:nvSpPr>
        <p:spPr/>
        <p:txBody>
          <a:bodyPr>
            <a:normAutofit fontScale="92500" lnSpcReduction="10000"/>
          </a:bodyPr>
          <a:lstStyle/>
          <a:p>
            <a:pPr lvl="1" algn="just"/>
            <a:r>
              <a:rPr lang="en-GB" sz="2800" dirty="0"/>
              <a:t>Programming languages may allow </a:t>
            </a:r>
            <a:r>
              <a:rPr lang="en-GB" sz="2800" b="1" i="1" dirty="0"/>
              <a:t>greater programming flexibility than certain simulation packages</a:t>
            </a:r>
            <a:r>
              <a:rPr lang="en-GB" sz="2800" dirty="0"/>
              <a:t>.</a:t>
            </a:r>
          </a:p>
          <a:p>
            <a:pPr lvl="1" algn="just"/>
            <a:r>
              <a:rPr lang="en-GB" sz="2800" dirty="0"/>
              <a:t>The programming languages C++, Java and Python are object-oriented, which is of considerable importance to many analysts and programmers, such as those in the </a:t>
            </a:r>
            <a:r>
              <a:rPr lang="en-GB" sz="2800" dirty="0" err="1"/>
              <a:t>defense</a:t>
            </a:r>
            <a:r>
              <a:rPr lang="en-GB" sz="2800" dirty="0"/>
              <a:t> industry.</a:t>
            </a:r>
          </a:p>
          <a:p>
            <a:pPr lvl="1" algn="just"/>
            <a:r>
              <a:rPr lang="en-GB" sz="2800" dirty="0"/>
              <a:t>On the other hand, most simulation packages are not truly object-oriented.</a:t>
            </a:r>
          </a:p>
          <a:p>
            <a:pPr lvl="1" algn="just"/>
            <a:r>
              <a:rPr lang="en-GB" sz="2800" dirty="0"/>
              <a:t>Software cost is generally lower, but total project cost may not be.</a:t>
            </a:r>
          </a:p>
          <a:p>
            <a:pPr algn="just"/>
            <a:r>
              <a:rPr lang="en-GB" sz="3200" dirty="0"/>
              <a:t>Although there are advantages to using both types of software, we believe, in general, that a modeler would be prudent to give serious consideration to using a simulation package.</a:t>
            </a:r>
            <a:endParaRPr lang="en-US" sz="3200" dirty="0"/>
          </a:p>
        </p:txBody>
      </p:sp>
    </p:spTree>
    <p:extLst>
      <p:ext uri="{BB962C8B-B14F-4D97-AF65-F5344CB8AC3E}">
        <p14:creationId xmlns:p14="http://schemas.microsoft.com/office/powerpoint/2010/main" val="4025187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p:txBody>
          <a:bodyPr>
            <a:normAutofit lnSpcReduction="10000"/>
          </a:bodyPr>
          <a:lstStyle/>
          <a:p>
            <a:pPr algn="just"/>
            <a:r>
              <a:rPr lang="en-US" dirty="0"/>
              <a:t>General-Purpose vs. Application-Oriented Simulation Packages:</a:t>
            </a:r>
          </a:p>
          <a:p>
            <a:pPr algn="just"/>
            <a:r>
              <a:rPr lang="en-GB" dirty="0"/>
              <a:t>There are two main types of simulation packages for </a:t>
            </a:r>
            <a:r>
              <a:rPr lang="en-GB" b="1" i="1" dirty="0"/>
              <a:t>discrete-event simulation</a:t>
            </a:r>
            <a:r>
              <a:rPr lang="en-GB" dirty="0"/>
              <a:t>, namely, general-purpose simulation software and application-oriented simulation software</a:t>
            </a:r>
          </a:p>
          <a:p>
            <a:pPr algn="just"/>
            <a:r>
              <a:rPr lang="en-GB" dirty="0"/>
              <a:t> A general-purpose simulation package can be used for any application, but might have special features for certain ones (e.g., for manufacturing or process reengineering).</a:t>
            </a:r>
          </a:p>
          <a:p>
            <a:pPr algn="just"/>
            <a:r>
              <a:rPr lang="en-GB" dirty="0"/>
              <a:t>On the other hand, an application-oriented simulation package is designed to be used for a certain class of applications such as manufacturing, health care, or communications networks (Cisco Packet Tracer).</a:t>
            </a:r>
            <a:endParaRPr lang="en-US" dirty="0"/>
          </a:p>
        </p:txBody>
      </p:sp>
    </p:spTree>
    <p:extLst>
      <p:ext uri="{BB962C8B-B14F-4D97-AF65-F5344CB8AC3E}">
        <p14:creationId xmlns:p14="http://schemas.microsoft.com/office/powerpoint/2010/main" val="127467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pPr algn="just"/>
            <a:r>
              <a:rPr lang="en-US" dirty="0"/>
              <a:t>Modeling Approaches: </a:t>
            </a:r>
            <a:r>
              <a:rPr lang="en-GB" dirty="0"/>
              <a:t>event-scheduling approach</a:t>
            </a:r>
            <a:endParaRPr lang="en-US" dirty="0"/>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p:txBody>
          <a:bodyPr>
            <a:normAutofit/>
          </a:bodyPr>
          <a:lstStyle/>
          <a:p>
            <a:pPr algn="just"/>
            <a:r>
              <a:rPr lang="en-GB" dirty="0"/>
              <a:t>So far we have used the </a:t>
            </a:r>
            <a:r>
              <a:rPr lang="en-GB" b="1" dirty="0"/>
              <a:t>event-scheduling approach</a:t>
            </a:r>
            <a:r>
              <a:rPr lang="en-GB" dirty="0"/>
              <a:t> to discrete-event simulation </a:t>
            </a:r>
            <a:r>
              <a:rPr lang="en-GB" dirty="0" err="1"/>
              <a:t>modeling</a:t>
            </a:r>
            <a:r>
              <a:rPr lang="en-GB" dirty="0"/>
              <a:t>.</a:t>
            </a:r>
          </a:p>
          <a:p>
            <a:pPr algn="just"/>
            <a:r>
              <a:rPr lang="en-GB" dirty="0"/>
              <a:t>A system is </a:t>
            </a:r>
            <a:r>
              <a:rPr lang="en-GB" dirty="0" err="1"/>
              <a:t>modeled</a:t>
            </a:r>
            <a:r>
              <a:rPr lang="en-GB" dirty="0"/>
              <a:t> by identifying its characteristic events and then writing a set of event routines that give a detailed description of the state changes taking place at the time of each event.</a:t>
            </a:r>
          </a:p>
          <a:p>
            <a:pPr algn="just"/>
            <a:r>
              <a:rPr lang="en-GB" dirty="0"/>
              <a:t>The simulation evolves over time by executing the events in increasing order of their time of occurrence.</a:t>
            </a:r>
          </a:p>
          <a:p>
            <a:pPr algn="just"/>
            <a:r>
              <a:rPr lang="en-GB" dirty="0"/>
              <a:t>Here a basic property of an event routine is that </a:t>
            </a:r>
            <a:r>
              <a:rPr lang="en-GB" b="1" dirty="0"/>
              <a:t>no simulated time passes during its execution</a:t>
            </a:r>
            <a:r>
              <a:rPr lang="en-GB" dirty="0"/>
              <a:t>.</a:t>
            </a:r>
            <a:endParaRPr lang="en-US" dirty="0"/>
          </a:p>
        </p:txBody>
      </p:sp>
    </p:spTree>
    <p:extLst>
      <p:ext uri="{BB962C8B-B14F-4D97-AF65-F5344CB8AC3E}">
        <p14:creationId xmlns:p14="http://schemas.microsoft.com/office/powerpoint/2010/main" val="3890509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82C3-C8F4-49BD-8744-E9FC388F44C7}"/>
              </a:ext>
            </a:extLst>
          </p:cNvPr>
          <p:cNvSpPr>
            <a:spLocks noGrp="1"/>
          </p:cNvSpPr>
          <p:nvPr>
            <p:ph type="title"/>
          </p:nvPr>
        </p:nvSpPr>
        <p:spPr/>
        <p:txBody>
          <a:bodyPr/>
          <a:lstStyle/>
          <a:p>
            <a:r>
              <a:rPr lang="en-US" dirty="0"/>
              <a:t>Modeling Approaches: </a:t>
            </a:r>
            <a:r>
              <a:rPr lang="en-GB" dirty="0"/>
              <a:t>process approach</a:t>
            </a:r>
            <a:endParaRPr lang="en-US" dirty="0"/>
          </a:p>
        </p:txBody>
      </p:sp>
      <p:sp>
        <p:nvSpPr>
          <p:cNvPr id="3" name="Content Placeholder 2">
            <a:extLst>
              <a:ext uri="{FF2B5EF4-FFF2-40B4-BE49-F238E27FC236}">
                <a16:creationId xmlns:a16="http://schemas.microsoft.com/office/drawing/2014/main" id="{080D9B40-2B96-44E6-A914-350CFB283982}"/>
              </a:ext>
            </a:extLst>
          </p:cNvPr>
          <p:cNvSpPr>
            <a:spLocks noGrp="1"/>
          </p:cNvSpPr>
          <p:nvPr>
            <p:ph idx="1"/>
          </p:nvPr>
        </p:nvSpPr>
        <p:spPr>
          <a:xfrm>
            <a:off x="838200" y="1690688"/>
            <a:ext cx="10670628" cy="4909809"/>
          </a:xfrm>
        </p:spPr>
        <p:txBody>
          <a:bodyPr>
            <a:normAutofit/>
          </a:bodyPr>
          <a:lstStyle/>
          <a:p>
            <a:pPr algn="just"/>
            <a:r>
              <a:rPr lang="en-GB" dirty="0"/>
              <a:t>On the other hand, most contemporary simulation packages use the process approach to simulation </a:t>
            </a:r>
            <a:r>
              <a:rPr lang="en-GB" dirty="0" err="1"/>
              <a:t>modeling</a:t>
            </a:r>
            <a:r>
              <a:rPr lang="en-GB" dirty="0"/>
              <a:t>.</a:t>
            </a:r>
          </a:p>
          <a:p>
            <a:pPr algn="just"/>
            <a:r>
              <a:rPr lang="en-GB" dirty="0"/>
              <a:t>A process is a </a:t>
            </a:r>
            <a:r>
              <a:rPr lang="en-GB" b="1" dirty="0"/>
              <a:t>time-ordered sequence of interrelated events</a:t>
            </a:r>
            <a:r>
              <a:rPr lang="en-GB" dirty="0"/>
              <a:t> separated by intervals of time, which describes </a:t>
            </a:r>
            <a:r>
              <a:rPr lang="en-GB" b="1" dirty="0"/>
              <a:t>the entire experience of an “entity” as it flows through a “system.</a:t>
            </a:r>
            <a:r>
              <a:rPr lang="en-GB" dirty="0"/>
              <a:t>”</a:t>
            </a:r>
          </a:p>
          <a:p>
            <a:pPr algn="just"/>
            <a:r>
              <a:rPr lang="en-GB" dirty="0"/>
              <a:t>The process corresponding to an entity arriving to and being served at a single server is shown in the next figure.</a:t>
            </a:r>
          </a:p>
          <a:p>
            <a:pPr algn="just"/>
            <a:r>
              <a:rPr lang="en-GB" dirty="0"/>
              <a:t>A system or simulation model may have several different types of processes. Corresponding to each process in the model, there is a process “routine” that describes the entire history of its “process-entity” as it moves through.</a:t>
            </a:r>
            <a:endParaRPr lang="en-US" dirty="0"/>
          </a:p>
        </p:txBody>
      </p:sp>
    </p:spTree>
    <p:extLst>
      <p:ext uri="{BB962C8B-B14F-4D97-AF65-F5344CB8AC3E}">
        <p14:creationId xmlns:p14="http://schemas.microsoft.com/office/powerpoint/2010/main" val="2469573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41DE-A9FF-4D34-A14F-94BA1086733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977038D-CD8C-444F-993A-BF0E2C8304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4575" y="2264569"/>
            <a:ext cx="7562850" cy="3473450"/>
          </a:xfrm>
        </p:spPr>
      </p:pic>
    </p:spTree>
    <p:extLst>
      <p:ext uri="{BB962C8B-B14F-4D97-AF65-F5344CB8AC3E}">
        <p14:creationId xmlns:p14="http://schemas.microsoft.com/office/powerpoint/2010/main" val="118346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825625"/>
            <a:ext cx="10828283" cy="4522623"/>
          </a:xfrm>
        </p:spPr>
        <p:txBody>
          <a:bodyPr>
            <a:normAutofit/>
          </a:bodyPr>
          <a:lstStyle/>
          <a:p>
            <a:pPr algn="just"/>
            <a:r>
              <a:rPr lang="en-GB" dirty="0"/>
              <a:t>To illustrate the nature of the process approach more clearly, the next figure gives a flowchart for a prototype customer-process routine in the case of a single server queueing system.</a:t>
            </a:r>
          </a:p>
          <a:p>
            <a:pPr algn="just"/>
            <a:r>
              <a:rPr lang="en-GB" dirty="0"/>
              <a:t>Entry into this routine at block 1 corresponds to the arrival event for a customer entity that is the most imminent event in the event list.</a:t>
            </a:r>
          </a:p>
          <a:p>
            <a:pPr algn="just"/>
            <a:r>
              <a:rPr lang="en-GB" dirty="0"/>
              <a:t>At block 1 an arrival event record is placed in the event list for the next customer entity to arrive. (This next customer entity will arrive at a time equal to the time the current customer entity arrives plus an interarrival time.)</a:t>
            </a:r>
            <a:endParaRPr lang="en-US" dirty="0"/>
          </a:p>
        </p:txBody>
      </p:sp>
    </p:spTree>
    <p:extLst>
      <p:ext uri="{BB962C8B-B14F-4D97-AF65-F5344CB8AC3E}">
        <p14:creationId xmlns:p14="http://schemas.microsoft.com/office/powerpoint/2010/main" val="792503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006C-45E9-4600-8B9F-E9559FE20A1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1512A5D-18C9-4F5A-A216-1749D6BDBF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4634" y="0"/>
            <a:ext cx="5812221" cy="6858000"/>
          </a:xfrm>
        </p:spPr>
      </p:pic>
    </p:spTree>
    <p:extLst>
      <p:ext uri="{BB962C8B-B14F-4D97-AF65-F5344CB8AC3E}">
        <p14:creationId xmlns:p14="http://schemas.microsoft.com/office/powerpoint/2010/main" val="1892906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825625"/>
            <a:ext cx="10828283" cy="4522623"/>
          </a:xfrm>
        </p:spPr>
        <p:txBody>
          <a:bodyPr>
            <a:normAutofit/>
          </a:bodyPr>
          <a:lstStyle/>
          <a:p>
            <a:pPr algn="just"/>
            <a:r>
              <a:rPr lang="en-GB" dirty="0"/>
              <a:t>To determine whether the customer entity currently arriving can begin service, a check is made (at block 2) to see whether the server is idle.</a:t>
            </a:r>
          </a:p>
          <a:p>
            <a:pPr algn="just"/>
            <a:r>
              <a:rPr lang="en-GB" dirty="0"/>
              <a:t>If the server is busy, this customer entity is placed at the end of the queue (block 3) and is made to wait (at block 4) until selected for service at some undetermined time in the future (This is called a conditional wait.)</a:t>
            </a:r>
          </a:p>
          <a:p>
            <a:pPr algn="just"/>
            <a:r>
              <a:rPr lang="en-GB" dirty="0"/>
              <a:t>Control is then returned to the “timing routine” to determine which customer entity’s event is the most imminent now.</a:t>
            </a:r>
          </a:p>
          <a:p>
            <a:pPr algn="just"/>
            <a:endParaRPr lang="en-US" dirty="0"/>
          </a:p>
        </p:txBody>
      </p:sp>
    </p:spTree>
    <p:extLst>
      <p:ext uri="{BB962C8B-B14F-4D97-AF65-F5344CB8AC3E}">
        <p14:creationId xmlns:p14="http://schemas.microsoft.com/office/powerpoint/2010/main" val="2208317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8BFB-A77A-4500-9D8F-9628CA7BC427}"/>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2229E6F3-2D42-4E84-AA4B-CB1D9406EBE4}"/>
              </a:ext>
            </a:extLst>
          </p:cNvPr>
          <p:cNvSpPr>
            <a:spLocks noGrp="1"/>
          </p:cNvSpPr>
          <p:nvPr>
            <p:ph idx="1"/>
          </p:nvPr>
        </p:nvSpPr>
        <p:spPr>
          <a:xfrm>
            <a:off x="838199" y="1690689"/>
            <a:ext cx="10828283" cy="4802186"/>
          </a:xfrm>
        </p:spPr>
        <p:txBody>
          <a:bodyPr>
            <a:normAutofit fontScale="92500"/>
          </a:bodyPr>
          <a:lstStyle/>
          <a:p>
            <a:pPr algn="just"/>
            <a:r>
              <a:rPr lang="en-GB" dirty="0"/>
              <a:t>When this customer entity (the one made to wait at block 4) is activated at some point in the future (when it is first in queue and another customer completes service and makes the server idle), it is removed from the queue at block 5 and begins service immediately, thereby making the server busy (block 6).</a:t>
            </a:r>
          </a:p>
          <a:p>
            <a:pPr algn="just"/>
            <a:r>
              <a:rPr lang="en-GB" dirty="0"/>
              <a:t>A customer entity arriving to find the server idle also begins service immediately (at block 6); in either case, we are now at block 7.</a:t>
            </a:r>
          </a:p>
          <a:p>
            <a:pPr algn="just"/>
            <a:r>
              <a:rPr lang="en-GB" dirty="0"/>
              <a:t>There the departure time for the customer beginning service is determined, and a corresponding event record is placed in the event list.</a:t>
            </a:r>
          </a:p>
          <a:p>
            <a:pPr algn="just"/>
            <a:r>
              <a:rPr lang="en-GB" dirty="0"/>
              <a:t>This customer entity is then made to wait (at block 8) until its service has been completed. This is an unconditional wait, since its activation time is known.</a:t>
            </a:r>
            <a:endParaRPr lang="en-US" dirty="0"/>
          </a:p>
        </p:txBody>
      </p:sp>
    </p:spTree>
    <p:extLst>
      <p:ext uri="{BB962C8B-B14F-4D97-AF65-F5344CB8AC3E}">
        <p14:creationId xmlns:p14="http://schemas.microsoft.com/office/powerpoint/2010/main" val="3300922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D6CB-A174-4EDF-8598-F0531E5B062D}"/>
              </a:ext>
            </a:extLst>
          </p:cNvPr>
          <p:cNvSpPr>
            <a:spLocks noGrp="1"/>
          </p:cNvSpPr>
          <p:nvPr>
            <p:ph type="title"/>
          </p:nvPr>
        </p:nvSpPr>
        <p:spPr/>
        <p:txBody>
          <a:bodyPr/>
          <a:lstStyle/>
          <a:p>
            <a:r>
              <a:rPr lang="en-US" dirty="0"/>
              <a:t>CLASSIFICATION OF SIMULATION SOFTWARE</a:t>
            </a:r>
          </a:p>
        </p:txBody>
      </p:sp>
      <p:sp>
        <p:nvSpPr>
          <p:cNvPr id="3" name="Content Placeholder 2">
            <a:extLst>
              <a:ext uri="{FF2B5EF4-FFF2-40B4-BE49-F238E27FC236}">
                <a16:creationId xmlns:a16="http://schemas.microsoft.com/office/drawing/2014/main" id="{108BFEB2-7FBA-4AB4-A7D6-34E831E09B89}"/>
              </a:ext>
            </a:extLst>
          </p:cNvPr>
          <p:cNvSpPr>
            <a:spLocks noGrp="1"/>
          </p:cNvSpPr>
          <p:nvPr>
            <p:ph idx="1"/>
          </p:nvPr>
        </p:nvSpPr>
        <p:spPr/>
        <p:txBody>
          <a:bodyPr/>
          <a:lstStyle/>
          <a:p>
            <a:pPr algn="just"/>
            <a:r>
              <a:rPr lang="en-GB" dirty="0"/>
              <a:t>Control is returned to the timing routine to determine what customer entity will be processed next.</a:t>
            </a:r>
          </a:p>
          <a:p>
            <a:pPr algn="just"/>
            <a:r>
              <a:rPr lang="en-GB" dirty="0"/>
              <a:t>When the customer made to wait at block 8 is activated at the end of its service, this makes the server idle at block 9 (allowing the first customer in the queue to become active immediately), and then this customer is removed from the system at block 10.</a:t>
            </a:r>
            <a:endParaRPr lang="en-US" dirty="0"/>
          </a:p>
        </p:txBody>
      </p:sp>
    </p:spTree>
    <p:extLst>
      <p:ext uri="{BB962C8B-B14F-4D97-AF65-F5344CB8AC3E}">
        <p14:creationId xmlns:p14="http://schemas.microsoft.com/office/powerpoint/2010/main" val="895521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EE67-F7B5-4C61-987D-5E772BEFB8FA}"/>
              </a:ext>
            </a:extLst>
          </p:cNvPr>
          <p:cNvSpPr>
            <a:spLocks noGrp="1"/>
          </p:cNvSpPr>
          <p:nvPr>
            <p:ph type="title"/>
          </p:nvPr>
        </p:nvSpPr>
        <p:spPr/>
        <p:txBody>
          <a:bodyPr/>
          <a:lstStyle/>
          <a:p>
            <a:r>
              <a:rPr lang="en-US" dirty="0"/>
              <a:t>Common Modeling Elements</a:t>
            </a:r>
          </a:p>
        </p:txBody>
      </p:sp>
      <p:sp>
        <p:nvSpPr>
          <p:cNvPr id="3" name="Content Placeholder 2">
            <a:extLst>
              <a:ext uri="{FF2B5EF4-FFF2-40B4-BE49-F238E27FC236}">
                <a16:creationId xmlns:a16="http://schemas.microsoft.com/office/drawing/2014/main" id="{99303FA0-35C6-4EAC-8447-570D943682B6}"/>
              </a:ext>
            </a:extLst>
          </p:cNvPr>
          <p:cNvSpPr>
            <a:spLocks noGrp="1"/>
          </p:cNvSpPr>
          <p:nvPr>
            <p:ph idx="1"/>
          </p:nvPr>
        </p:nvSpPr>
        <p:spPr>
          <a:xfrm>
            <a:off x="838200" y="1825624"/>
            <a:ext cx="10817772" cy="4575175"/>
          </a:xfrm>
        </p:spPr>
        <p:txBody>
          <a:bodyPr>
            <a:normAutofit lnSpcReduction="10000"/>
          </a:bodyPr>
          <a:lstStyle/>
          <a:p>
            <a:pPr algn="just"/>
            <a:r>
              <a:rPr lang="en-GB" dirty="0"/>
              <a:t>Simulation packages typically include entities, attributes, resources, and queues as part of their </a:t>
            </a:r>
            <a:r>
              <a:rPr lang="en-GB" dirty="0" err="1"/>
              <a:t>modeling</a:t>
            </a:r>
            <a:r>
              <a:rPr lang="en-GB" dirty="0"/>
              <a:t> framework.</a:t>
            </a:r>
          </a:p>
          <a:p>
            <a:pPr algn="just"/>
            <a:r>
              <a:rPr lang="en-GB" dirty="0"/>
              <a:t>An entity is created, travels through some part of the simulated system, and then is usually destroyed.</a:t>
            </a:r>
          </a:p>
          <a:p>
            <a:pPr algn="just"/>
            <a:r>
              <a:rPr lang="en-GB" dirty="0"/>
              <a:t>Entities are distinguished from each other by their attributes, which are pieces of information stored with the entity. As an entity moves through the simulated system, it requests the use of resources. If a requested resource is not available, then the entity joins a queue.</a:t>
            </a:r>
          </a:p>
          <a:p>
            <a:pPr algn="just"/>
            <a:r>
              <a:rPr lang="en-GB" dirty="0"/>
              <a:t>The entities in a particular queue may be served in a FIFO (first-in, first-out) manner, served in a LIFO (last-in, first-out) manner, or ranked on some attribute in increasing or decreasing order.</a:t>
            </a:r>
            <a:endParaRPr lang="en-US" dirty="0"/>
          </a:p>
        </p:txBody>
      </p:sp>
    </p:spTree>
    <p:extLst>
      <p:ext uri="{BB962C8B-B14F-4D97-AF65-F5344CB8AC3E}">
        <p14:creationId xmlns:p14="http://schemas.microsoft.com/office/powerpoint/2010/main" val="73943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F0A4-8FCA-42C5-BB0C-4E5FCDD2EEC5}"/>
              </a:ext>
            </a:extLst>
          </p:cNvPr>
          <p:cNvSpPr>
            <a:spLocks noGrp="1"/>
          </p:cNvSpPr>
          <p:nvPr>
            <p:ph type="title"/>
          </p:nvPr>
        </p:nvSpPr>
        <p:spPr/>
        <p:txBody>
          <a:bodyPr/>
          <a:lstStyle/>
          <a:p>
            <a:r>
              <a:rPr lang="en-US" dirty="0"/>
              <a:t>DESIRABLE SOFTWARE FEATURES</a:t>
            </a:r>
          </a:p>
        </p:txBody>
      </p:sp>
      <p:sp>
        <p:nvSpPr>
          <p:cNvPr id="3" name="Content Placeholder 2">
            <a:extLst>
              <a:ext uri="{FF2B5EF4-FFF2-40B4-BE49-F238E27FC236}">
                <a16:creationId xmlns:a16="http://schemas.microsoft.com/office/drawing/2014/main" id="{E7B99F64-CA96-405D-829C-46764F99B5D1}"/>
              </a:ext>
            </a:extLst>
          </p:cNvPr>
          <p:cNvSpPr>
            <a:spLocks noGrp="1"/>
          </p:cNvSpPr>
          <p:nvPr>
            <p:ph idx="1"/>
          </p:nvPr>
        </p:nvSpPr>
        <p:spPr/>
        <p:txBody>
          <a:bodyPr>
            <a:normAutofit/>
          </a:bodyPr>
          <a:lstStyle/>
          <a:p>
            <a:pPr algn="just"/>
            <a:r>
              <a:rPr lang="en-GB" dirty="0"/>
              <a:t>There are numerous features to consider when selecting simulation software. We categorize these features as being in one of the following groups:</a:t>
            </a:r>
          </a:p>
          <a:p>
            <a:pPr lvl="1" algn="just"/>
            <a:r>
              <a:rPr lang="en-GB" dirty="0"/>
              <a:t>General capabilities (including </a:t>
            </a:r>
            <a:r>
              <a:rPr lang="en-GB" dirty="0" err="1"/>
              <a:t>modeling</a:t>
            </a:r>
            <a:r>
              <a:rPr lang="en-GB" dirty="0"/>
              <a:t> flexibility and ease of use)</a:t>
            </a:r>
          </a:p>
          <a:p>
            <a:pPr lvl="1" algn="just"/>
            <a:r>
              <a:rPr lang="en-GB" dirty="0"/>
              <a:t>Hardware and software requirements</a:t>
            </a:r>
          </a:p>
          <a:p>
            <a:pPr lvl="1" algn="just"/>
            <a:r>
              <a:rPr lang="en-GB" dirty="0"/>
              <a:t>Animation and dynamic graphics</a:t>
            </a:r>
          </a:p>
          <a:p>
            <a:pPr lvl="1" algn="just"/>
            <a:r>
              <a:rPr lang="en-GB" dirty="0"/>
              <a:t>Statistical capabilities</a:t>
            </a:r>
          </a:p>
          <a:p>
            <a:pPr lvl="1" algn="just"/>
            <a:r>
              <a:rPr lang="en-GB" dirty="0"/>
              <a:t>Customer support and documentation</a:t>
            </a:r>
          </a:p>
          <a:p>
            <a:pPr lvl="1" algn="just"/>
            <a:r>
              <a:rPr lang="en-GB" dirty="0"/>
              <a:t>Output reports and graphics</a:t>
            </a:r>
          </a:p>
          <a:p>
            <a:pPr algn="just"/>
            <a:r>
              <a:rPr lang="en-GB" dirty="0"/>
              <a:t>We now discuss each group of features in turn.</a:t>
            </a:r>
            <a:endParaRPr lang="en-US" dirty="0"/>
          </a:p>
        </p:txBody>
      </p:sp>
    </p:spTree>
    <p:extLst>
      <p:ext uri="{BB962C8B-B14F-4D97-AF65-F5344CB8AC3E}">
        <p14:creationId xmlns:p14="http://schemas.microsoft.com/office/powerpoint/2010/main" val="3994922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5BAD-2737-48A0-8EBC-CF3E37A4E9AC}"/>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23DC007-56F2-4777-9574-834E86781706}"/>
              </a:ext>
            </a:extLst>
          </p:cNvPr>
          <p:cNvSpPr>
            <a:spLocks noGrp="1"/>
          </p:cNvSpPr>
          <p:nvPr>
            <p:ph idx="1"/>
          </p:nvPr>
        </p:nvSpPr>
        <p:spPr>
          <a:xfrm>
            <a:off x="838199" y="1576552"/>
            <a:ext cx="10828283" cy="4813737"/>
          </a:xfrm>
        </p:spPr>
        <p:txBody>
          <a:bodyPr>
            <a:normAutofit/>
          </a:bodyPr>
          <a:lstStyle/>
          <a:p>
            <a:pPr algn="just"/>
            <a:r>
              <a:rPr lang="en-GB" dirty="0"/>
              <a:t>In our opinion, the most important feature for a simulation-software product to have is </a:t>
            </a:r>
            <a:r>
              <a:rPr lang="en-GB" dirty="0" err="1"/>
              <a:t>modeling</a:t>
            </a:r>
            <a:r>
              <a:rPr lang="en-GB" dirty="0"/>
              <a:t> flexibility or, in other words, the ability to model a system whose operating procedures can have any amount of complexity.</a:t>
            </a:r>
          </a:p>
          <a:p>
            <a:pPr algn="just"/>
            <a:r>
              <a:rPr lang="en-GB" dirty="0"/>
              <a:t>Note that no two systems are exactly alike. Thus, a simulation package that relies on a fixed number of modelling constructs with no capability to do some kind of programming in any manner is bound to be inadequate for certain systems encountered in practice.</a:t>
            </a:r>
          </a:p>
          <a:p>
            <a:pPr algn="just"/>
            <a:r>
              <a:rPr lang="en-GB" dirty="0"/>
              <a:t>Ideally, it should be possible to model any system using only the constructs provided in the software—it should not be necessary to use routines written in a programming language such as C.</a:t>
            </a:r>
            <a:endParaRPr lang="en-US" dirty="0"/>
          </a:p>
        </p:txBody>
      </p:sp>
    </p:spTree>
    <p:extLst>
      <p:ext uri="{BB962C8B-B14F-4D97-AF65-F5344CB8AC3E}">
        <p14:creationId xmlns:p14="http://schemas.microsoft.com/office/powerpoint/2010/main" val="3284796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The following are some specific capabilities that make a simulation product flexible:</a:t>
            </a:r>
          </a:p>
          <a:p>
            <a:pPr lvl="1" algn="just"/>
            <a:r>
              <a:rPr lang="en-GB" sz="2800" dirty="0"/>
              <a:t>Ability to define and change attributes for entities and also global variables, and to use both in decision logic (e.g., if-then-else constructs)</a:t>
            </a:r>
          </a:p>
          <a:p>
            <a:pPr lvl="1" algn="just"/>
            <a:r>
              <a:rPr lang="en-GB" sz="2800" dirty="0"/>
              <a:t>Ability to use mathematical expressions and mathematical functions (logarithms, exponentiation, etc.)</a:t>
            </a:r>
          </a:p>
          <a:p>
            <a:pPr lvl="1" algn="just"/>
            <a:r>
              <a:rPr lang="en-GB" sz="2800" dirty="0"/>
              <a:t>Ability to create new </a:t>
            </a:r>
            <a:r>
              <a:rPr lang="en-GB" sz="2800" dirty="0" err="1"/>
              <a:t>modeling</a:t>
            </a:r>
            <a:r>
              <a:rPr lang="en-GB" sz="2800" dirty="0"/>
              <a:t> constructs and to modify existing ones, and to store them in libraries for use in current and future models</a:t>
            </a:r>
            <a:endParaRPr lang="en-US" sz="2800" dirty="0"/>
          </a:p>
        </p:txBody>
      </p:sp>
    </p:spTree>
    <p:extLst>
      <p:ext uri="{BB962C8B-B14F-4D97-AF65-F5344CB8AC3E}">
        <p14:creationId xmlns:p14="http://schemas.microsoft.com/office/powerpoint/2010/main" val="2140892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The second most important feature for a simulation product is ease of use (and ease of learning), and many contemporary simulation packages have a graphical user interface to facilitate this.</a:t>
            </a:r>
          </a:p>
          <a:p>
            <a:pPr algn="just"/>
            <a:r>
              <a:rPr lang="en-GB" dirty="0"/>
              <a:t>The software product should have modelling constructs (e.g., icons or blocks) that are neither too “primitive” nor too “macro.”</a:t>
            </a:r>
          </a:p>
          <a:p>
            <a:pPr algn="just"/>
            <a:r>
              <a:rPr lang="en-GB" dirty="0"/>
              <a:t>In the former case, a large number of constructs will be required to model even a relatively simple situation; in the latter case, each construct’s dialog box will contain an excessive number of options if it is to allow for adequate flexibility.</a:t>
            </a:r>
            <a:endParaRPr lang="en-US" dirty="0"/>
          </a:p>
        </p:txBody>
      </p:sp>
    </p:spTree>
    <p:extLst>
      <p:ext uri="{BB962C8B-B14F-4D97-AF65-F5344CB8AC3E}">
        <p14:creationId xmlns:p14="http://schemas.microsoft.com/office/powerpoint/2010/main" val="1915704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Hierarchical </a:t>
            </a:r>
            <a:r>
              <a:rPr lang="en-GB" dirty="0" err="1"/>
              <a:t>modeling</a:t>
            </a:r>
            <a:r>
              <a:rPr lang="en-GB" dirty="0"/>
              <a:t> is useful in </a:t>
            </a:r>
            <a:r>
              <a:rPr lang="en-GB" dirty="0" err="1"/>
              <a:t>modeling</a:t>
            </a:r>
            <a:r>
              <a:rPr lang="en-GB" dirty="0"/>
              <a:t> complex systems. Hierarchy allows a user to combine several basic </a:t>
            </a:r>
            <a:r>
              <a:rPr lang="en-GB" dirty="0" err="1"/>
              <a:t>modeling</a:t>
            </a:r>
            <a:r>
              <a:rPr lang="en-GB" dirty="0"/>
              <a:t> constructs into a new higher-level construct.</a:t>
            </a:r>
          </a:p>
          <a:p>
            <a:pPr algn="just"/>
            <a:r>
              <a:rPr lang="en-GB" dirty="0"/>
              <a:t>The software should have good debugging aids such as an interactive debugger. A powerful debugger allows the user to do things such as:</a:t>
            </a:r>
          </a:p>
          <a:p>
            <a:pPr lvl="1" algn="just"/>
            <a:r>
              <a:rPr lang="en-GB" dirty="0"/>
              <a:t>Follow a single entity through the model to see if it is processed correctly</a:t>
            </a:r>
          </a:p>
          <a:p>
            <a:pPr lvl="1" algn="just"/>
            <a:r>
              <a:rPr lang="en-GB" dirty="0"/>
              <a:t>See the state of the model every time a particular event occurs</a:t>
            </a:r>
          </a:p>
          <a:p>
            <a:pPr lvl="1" algn="just"/>
            <a:r>
              <a:rPr lang="en-GB" dirty="0"/>
              <a:t>Set the value of certain attributes or variables to “force” an entity down a logical path that occurs with small probability</a:t>
            </a:r>
            <a:endParaRPr lang="en-US" dirty="0"/>
          </a:p>
        </p:txBody>
      </p:sp>
    </p:spTree>
    <p:extLst>
      <p:ext uri="{BB962C8B-B14F-4D97-AF65-F5344CB8AC3E}">
        <p14:creationId xmlns:p14="http://schemas.microsoft.com/office/powerpoint/2010/main" val="1752509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88D9-FB0C-413A-BDEA-91190EB474A5}"/>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DEAB8F31-F81D-499E-A9B1-C82A4CB24EA3}"/>
              </a:ext>
            </a:extLst>
          </p:cNvPr>
          <p:cNvSpPr>
            <a:spLocks noGrp="1"/>
          </p:cNvSpPr>
          <p:nvPr>
            <p:ph idx="1"/>
          </p:nvPr>
        </p:nvSpPr>
        <p:spPr/>
        <p:txBody>
          <a:bodyPr>
            <a:normAutofit/>
          </a:bodyPr>
          <a:lstStyle/>
          <a:p>
            <a:pPr algn="just"/>
            <a:r>
              <a:rPr lang="en-GB" dirty="0"/>
              <a:t>Fast model execution speed is important for certain applications such as large military models and models in which a large number of entities must be processed (e.g., for a high-speed communications network).</a:t>
            </a:r>
          </a:p>
          <a:p>
            <a:pPr algn="just"/>
            <a:r>
              <a:rPr lang="en-GB" dirty="0"/>
              <a:t>It is desirable to be able to develop user-friendly model “front ends” when the simulation model is to be used by someone other than the model developer.</a:t>
            </a:r>
          </a:p>
          <a:p>
            <a:pPr algn="just"/>
            <a:r>
              <a:rPr lang="en-GB" dirty="0"/>
              <a:t>This capability allows the developer to create an interface by which the nonexpert user can easily enter model parameters such as the mean service time or how long to run the simulation.</a:t>
            </a:r>
            <a:endParaRPr lang="en-US" dirty="0"/>
          </a:p>
        </p:txBody>
      </p:sp>
    </p:spTree>
    <p:extLst>
      <p:ext uri="{BB962C8B-B14F-4D97-AF65-F5344CB8AC3E}">
        <p14:creationId xmlns:p14="http://schemas.microsoft.com/office/powerpoint/2010/main" val="1446550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7778-8F65-45D5-B529-89BCD6B38BD7}"/>
              </a:ext>
            </a:extLst>
          </p:cNvPr>
          <p:cNvSpPr>
            <a:spLocks noGrp="1"/>
          </p:cNvSpPr>
          <p:nvPr>
            <p:ph type="title"/>
          </p:nvPr>
        </p:nvSpPr>
        <p:spPr/>
        <p:txBody>
          <a:bodyPr/>
          <a:lstStyle/>
          <a:p>
            <a:r>
              <a:rPr lang="en-US" dirty="0"/>
              <a:t>General Capabilities</a:t>
            </a:r>
          </a:p>
        </p:txBody>
      </p:sp>
      <p:sp>
        <p:nvSpPr>
          <p:cNvPr id="3" name="Content Placeholder 2">
            <a:extLst>
              <a:ext uri="{FF2B5EF4-FFF2-40B4-BE49-F238E27FC236}">
                <a16:creationId xmlns:a16="http://schemas.microsoft.com/office/drawing/2014/main" id="{6CAEF0E0-4F35-4309-8300-239BBFEB76A4}"/>
              </a:ext>
            </a:extLst>
          </p:cNvPr>
          <p:cNvSpPr>
            <a:spLocks noGrp="1"/>
          </p:cNvSpPr>
          <p:nvPr>
            <p:ph idx="1"/>
          </p:nvPr>
        </p:nvSpPr>
        <p:spPr/>
        <p:txBody>
          <a:bodyPr>
            <a:normAutofit lnSpcReduction="10000"/>
          </a:bodyPr>
          <a:lstStyle/>
          <a:p>
            <a:pPr algn="just"/>
            <a:r>
              <a:rPr lang="en-GB" dirty="0"/>
              <a:t>Most simulation software vendors offer a run-time version of their software, which, roughly speaking, allows the user to change model data but not logic by employing a user-friendly “front end.” </a:t>
            </a:r>
          </a:p>
          <a:p>
            <a:pPr algn="just"/>
            <a:r>
              <a:rPr lang="en-GB" dirty="0"/>
              <a:t>Applications of a run-time version include:</a:t>
            </a:r>
          </a:p>
          <a:p>
            <a:pPr lvl="1" algn="just"/>
            <a:r>
              <a:rPr lang="en-GB" dirty="0"/>
              <a:t>Allowing a person in one division of an organization to run a model that was developed by a person in another division who owns a developmental version of the simulation software</a:t>
            </a:r>
          </a:p>
          <a:p>
            <a:pPr lvl="1" algn="just"/>
            <a:r>
              <a:rPr lang="en-GB" dirty="0"/>
              <a:t>Sales tool for equipment suppliers or system integrators</a:t>
            </a:r>
          </a:p>
          <a:p>
            <a:pPr lvl="1" algn="just"/>
            <a:r>
              <a:rPr lang="en-GB" dirty="0"/>
              <a:t>Training</a:t>
            </a:r>
          </a:p>
          <a:p>
            <a:pPr algn="just"/>
            <a:r>
              <a:rPr lang="en-GB" dirty="0"/>
              <a:t>Note that a run-time license generally has a considerably lower cost than a normal developmental license or is free.</a:t>
            </a:r>
            <a:endParaRPr lang="en-US" dirty="0"/>
          </a:p>
        </p:txBody>
      </p:sp>
    </p:spTree>
    <p:extLst>
      <p:ext uri="{BB962C8B-B14F-4D97-AF65-F5344CB8AC3E}">
        <p14:creationId xmlns:p14="http://schemas.microsoft.com/office/powerpoint/2010/main" val="843603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A1C3-9E3F-4F90-9B89-A1E74F7EE342}"/>
              </a:ext>
            </a:extLst>
          </p:cNvPr>
          <p:cNvSpPr>
            <a:spLocks noGrp="1"/>
          </p:cNvSpPr>
          <p:nvPr>
            <p:ph type="title"/>
          </p:nvPr>
        </p:nvSpPr>
        <p:spPr/>
        <p:txBody>
          <a:bodyPr/>
          <a:lstStyle/>
          <a:p>
            <a:r>
              <a:rPr lang="en-US" dirty="0"/>
              <a:t>Hardware and Software Requirements</a:t>
            </a:r>
          </a:p>
        </p:txBody>
      </p:sp>
      <p:sp>
        <p:nvSpPr>
          <p:cNvPr id="3" name="Content Placeholder 2">
            <a:extLst>
              <a:ext uri="{FF2B5EF4-FFF2-40B4-BE49-F238E27FC236}">
                <a16:creationId xmlns:a16="http://schemas.microsoft.com/office/drawing/2014/main" id="{88765F93-B72B-4817-BB2C-C35A8CCCBAC0}"/>
              </a:ext>
            </a:extLst>
          </p:cNvPr>
          <p:cNvSpPr>
            <a:spLocks noGrp="1"/>
          </p:cNvSpPr>
          <p:nvPr>
            <p:ph idx="1"/>
          </p:nvPr>
        </p:nvSpPr>
        <p:spPr>
          <a:xfrm>
            <a:off x="838199" y="1690688"/>
            <a:ext cx="10786241" cy="4699601"/>
          </a:xfrm>
        </p:spPr>
        <p:txBody>
          <a:bodyPr>
            <a:normAutofit/>
          </a:bodyPr>
          <a:lstStyle/>
          <a:p>
            <a:pPr algn="just"/>
            <a:r>
              <a:rPr lang="en-GB" dirty="0"/>
              <a:t>In selecting simulation software, one must consider what computer platforms the software is available for. Almost all software is available for Windows-based PCs, and some products are also available for Apple computers.</a:t>
            </a:r>
          </a:p>
          <a:p>
            <a:pPr algn="just"/>
            <a:r>
              <a:rPr lang="en-GB" dirty="0"/>
              <a:t>If a software package is available for several platforms, then it should be compatible across platforms.</a:t>
            </a:r>
          </a:p>
          <a:p>
            <a:pPr algn="just"/>
            <a:r>
              <a:rPr lang="en-GB" dirty="0"/>
              <a:t>The amount of RAM required to run the software should be considered as well as what operating systems are supported.</a:t>
            </a:r>
          </a:p>
          <a:p>
            <a:pPr algn="just"/>
            <a:r>
              <a:rPr lang="en-GB" dirty="0"/>
              <a:t>It is highly desirable if independent replications of a simulation model can be made simultaneously on multiple processor cores or on networked computers.</a:t>
            </a:r>
            <a:endParaRPr lang="en-US" dirty="0"/>
          </a:p>
        </p:txBody>
      </p:sp>
    </p:spTree>
    <p:extLst>
      <p:ext uri="{BB962C8B-B14F-4D97-AF65-F5344CB8AC3E}">
        <p14:creationId xmlns:p14="http://schemas.microsoft.com/office/powerpoint/2010/main" val="1885315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C882-1629-4465-BD75-401ED8E8B543}"/>
              </a:ext>
            </a:extLst>
          </p:cNvPr>
          <p:cNvSpPr>
            <a:spLocks noGrp="1"/>
          </p:cNvSpPr>
          <p:nvPr>
            <p:ph type="title"/>
          </p:nvPr>
        </p:nvSpPr>
        <p:spPr/>
        <p:txBody>
          <a:bodyPr/>
          <a:lstStyle/>
          <a:p>
            <a:r>
              <a:rPr lang="en-US" dirty="0"/>
              <a:t>Animation and Dynamic Graphics</a:t>
            </a:r>
          </a:p>
        </p:txBody>
      </p:sp>
      <p:sp>
        <p:nvSpPr>
          <p:cNvPr id="3" name="Content Placeholder 2">
            <a:extLst>
              <a:ext uri="{FF2B5EF4-FFF2-40B4-BE49-F238E27FC236}">
                <a16:creationId xmlns:a16="http://schemas.microsoft.com/office/drawing/2014/main" id="{64F9E77F-5702-4ADE-A613-7C79A31D9A28}"/>
              </a:ext>
            </a:extLst>
          </p:cNvPr>
          <p:cNvSpPr>
            <a:spLocks noGrp="1"/>
          </p:cNvSpPr>
          <p:nvPr>
            <p:ph idx="1"/>
          </p:nvPr>
        </p:nvSpPr>
        <p:spPr/>
        <p:txBody>
          <a:bodyPr>
            <a:normAutofit/>
          </a:bodyPr>
          <a:lstStyle/>
          <a:p>
            <a:pPr algn="just"/>
            <a:r>
              <a:rPr lang="en-GB" dirty="0"/>
              <a:t>The availability of built-in animation is one of the reasons for the increased use of simulation </a:t>
            </a:r>
            <a:r>
              <a:rPr lang="en-GB" dirty="0" err="1"/>
              <a:t>modeling</a:t>
            </a:r>
            <a:r>
              <a:rPr lang="en-GB" dirty="0"/>
              <a:t>.</a:t>
            </a:r>
          </a:p>
          <a:p>
            <a:pPr algn="just"/>
            <a:r>
              <a:rPr lang="en-GB" dirty="0"/>
              <a:t>In an animation, key elements of the system are represented on the screen by icons that dynamically change position, </a:t>
            </a:r>
            <a:r>
              <a:rPr lang="en-GB" dirty="0" err="1"/>
              <a:t>color</a:t>
            </a:r>
            <a:r>
              <a:rPr lang="en-GB" dirty="0"/>
              <a:t>, and shape as the simulation model evolves through time.</a:t>
            </a:r>
          </a:p>
          <a:p>
            <a:pPr algn="just"/>
            <a:r>
              <a:rPr lang="en-GB" dirty="0"/>
              <a:t>For example, in a manufacturing system, an icon representing a forklift truck will change position when there is a corresponding change in the model, and an icon representing a machine might change </a:t>
            </a:r>
            <a:r>
              <a:rPr lang="en-GB" dirty="0" err="1"/>
              <a:t>color</a:t>
            </a:r>
            <a:r>
              <a:rPr lang="en-GB" dirty="0"/>
              <a:t> when the machine changes state (e.g., idle to busy) in the model.</a:t>
            </a:r>
            <a:endParaRPr lang="en-US" dirty="0"/>
          </a:p>
        </p:txBody>
      </p:sp>
    </p:spTree>
    <p:extLst>
      <p:ext uri="{BB962C8B-B14F-4D97-AF65-F5344CB8AC3E}">
        <p14:creationId xmlns:p14="http://schemas.microsoft.com/office/powerpoint/2010/main" val="3550393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C882-1629-4465-BD75-401ED8E8B543}"/>
              </a:ext>
            </a:extLst>
          </p:cNvPr>
          <p:cNvSpPr>
            <a:spLocks noGrp="1"/>
          </p:cNvSpPr>
          <p:nvPr>
            <p:ph type="title"/>
          </p:nvPr>
        </p:nvSpPr>
        <p:spPr/>
        <p:txBody>
          <a:bodyPr/>
          <a:lstStyle/>
          <a:p>
            <a:r>
              <a:rPr lang="en-US" dirty="0"/>
              <a:t>Animation and Dynamic Graphics</a:t>
            </a:r>
          </a:p>
        </p:txBody>
      </p:sp>
      <p:sp>
        <p:nvSpPr>
          <p:cNvPr id="3" name="Content Placeholder 2">
            <a:extLst>
              <a:ext uri="{FF2B5EF4-FFF2-40B4-BE49-F238E27FC236}">
                <a16:creationId xmlns:a16="http://schemas.microsoft.com/office/drawing/2014/main" id="{64F9E77F-5702-4ADE-A613-7C79A31D9A28}"/>
              </a:ext>
            </a:extLst>
          </p:cNvPr>
          <p:cNvSpPr>
            <a:spLocks noGrp="1"/>
          </p:cNvSpPr>
          <p:nvPr>
            <p:ph idx="1"/>
          </p:nvPr>
        </p:nvSpPr>
        <p:spPr/>
        <p:txBody>
          <a:bodyPr>
            <a:normAutofit/>
          </a:bodyPr>
          <a:lstStyle/>
          <a:p>
            <a:pPr algn="just"/>
            <a:r>
              <a:rPr lang="en-GB" dirty="0"/>
              <a:t>The following are some of the uses of animation:</a:t>
            </a:r>
          </a:p>
          <a:p>
            <a:pPr lvl="1" algn="just"/>
            <a:r>
              <a:rPr lang="en-GB" dirty="0"/>
              <a:t>Communicating the essence of a simulation model (or simulation itself) to a manager or to other people who may not be aware of (or care about) the technical details of the model</a:t>
            </a:r>
          </a:p>
          <a:p>
            <a:pPr lvl="1" algn="just"/>
            <a:r>
              <a:rPr lang="en-GB" dirty="0"/>
              <a:t>Debugging the simulation computer program</a:t>
            </a:r>
          </a:p>
          <a:p>
            <a:pPr lvl="1" algn="just"/>
            <a:r>
              <a:rPr lang="en-GB" dirty="0"/>
              <a:t>Showing that a simulation model is not valid</a:t>
            </a:r>
          </a:p>
          <a:p>
            <a:pPr lvl="1" algn="just"/>
            <a:r>
              <a:rPr lang="en-GB" dirty="0"/>
              <a:t>Suggesting improved operational procedures for a system (some things may not be apparent from looking at just the simulation’s numerical results)</a:t>
            </a:r>
          </a:p>
          <a:p>
            <a:pPr lvl="1" algn="just"/>
            <a:r>
              <a:rPr lang="en-GB" dirty="0"/>
              <a:t>Training operational personnel</a:t>
            </a:r>
          </a:p>
          <a:p>
            <a:pPr lvl="1" algn="just"/>
            <a:r>
              <a:rPr lang="en-GB" dirty="0"/>
              <a:t>Promoting communication among the project team</a:t>
            </a:r>
            <a:endParaRPr lang="en-US" dirty="0"/>
          </a:p>
        </p:txBody>
      </p:sp>
    </p:spTree>
    <p:extLst>
      <p:ext uri="{BB962C8B-B14F-4D97-AF65-F5344CB8AC3E}">
        <p14:creationId xmlns:p14="http://schemas.microsoft.com/office/powerpoint/2010/main" val="2663439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9351-151E-4D0D-9DA1-5E86360B76B1}"/>
              </a:ext>
            </a:extLst>
          </p:cNvPr>
          <p:cNvSpPr>
            <a:spLocks noGrp="1"/>
          </p:cNvSpPr>
          <p:nvPr>
            <p:ph type="title"/>
          </p:nvPr>
        </p:nvSpPr>
        <p:spPr/>
        <p:txBody>
          <a:bodyPr/>
          <a:lstStyle/>
          <a:p>
            <a:r>
              <a:rPr lang="en-US" dirty="0"/>
              <a:t>Statistical Capabilities</a:t>
            </a:r>
          </a:p>
        </p:txBody>
      </p:sp>
      <p:sp>
        <p:nvSpPr>
          <p:cNvPr id="3" name="Content Placeholder 2">
            <a:extLst>
              <a:ext uri="{FF2B5EF4-FFF2-40B4-BE49-F238E27FC236}">
                <a16:creationId xmlns:a16="http://schemas.microsoft.com/office/drawing/2014/main" id="{9D42AA58-B7D4-4BDB-9DF2-85A31353DDF8}"/>
              </a:ext>
            </a:extLst>
          </p:cNvPr>
          <p:cNvSpPr>
            <a:spLocks noGrp="1"/>
          </p:cNvSpPr>
          <p:nvPr>
            <p:ph idx="1"/>
          </p:nvPr>
        </p:nvSpPr>
        <p:spPr/>
        <p:txBody>
          <a:bodyPr>
            <a:normAutofit/>
          </a:bodyPr>
          <a:lstStyle/>
          <a:p>
            <a:pPr algn="just"/>
            <a:r>
              <a:rPr lang="en-GB" dirty="0"/>
              <a:t>If a simulation product does not have good statistical-analysis features, then it is impossible to obtain correct results from a simulation study. First, the software must have a good random-number generator, that is, a mechanism for generating independent observations from a uniform distribution on the interval [0, 1].</a:t>
            </a:r>
          </a:p>
          <a:p>
            <a:pPr algn="just"/>
            <a:r>
              <a:rPr lang="en-GB" dirty="0"/>
              <a:t>Note that not all random-number generators found on computers or in software products have acceptable statistical properties.</a:t>
            </a:r>
            <a:endParaRPr lang="en-US" dirty="0"/>
          </a:p>
        </p:txBody>
      </p:sp>
    </p:spTree>
    <p:extLst>
      <p:ext uri="{BB962C8B-B14F-4D97-AF65-F5344CB8AC3E}">
        <p14:creationId xmlns:p14="http://schemas.microsoft.com/office/powerpoint/2010/main" val="126983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E2C75-7862-45E2-9F2F-5D98CC75BB98}"/>
              </a:ext>
            </a:extLst>
          </p:cNvPr>
          <p:cNvSpPr>
            <a:spLocks noGrp="1"/>
          </p:cNvSpPr>
          <p:nvPr>
            <p:ph type="title"/>
          </p:nvPr>
        </p:nvSpPr>
        <p:spPr/>
        <p:txBody>
          <a:bodyPr/>
          <a:lstStyle/>
          <a:p>
            <a:r>
              <a:rPr lang="en-US" dirty="0"/>
              <a:t>Customer Support and Documentation</a:t>
            </a:r>
          </a:p>
        </p:txBody>
      </p:sp>
      <p:sp>
        <p:nvSpPr>
          <p:cNvPr id="3" name="Content Placeholder 2">
            <a:extLst>
              <a:ext uri="{FF2B5EF4-FFF2-40B4-BE49-F238E27FC236}">
                <a16:creationId xmlns:a16="http://schemas.microsoft.com/office/drawing/2014/main" id="{3C5E7CD7-5002-4E2F-8B5D-6D489BF7658B}"/>
              </a:ext>
            </a:extLst>
          </p:cNvPr>
          <p:cNvSpPr>
            <a:spLocks noGrp="1"/>
          </p:cNvSpPr>
          <p:nvPr>
            <p:ph idx="1"/>
          </p:nvPr>
        </p:nvSpPr>
        <p:spPr/>
        <p:txBody>
          <a:bodyPr>
            <a:normAutofit/>
          </a:bodyPr>
          <a:lstStyle/>
          <a:p>
            <a:pPr algn="just"/>
            <a:r>
              <a:rPr lang="en-GB" dirty="0"/>
              <a:t>The simulation software vendor should provide public training on the software on a regular basis, and it should also be possible to have customized training presented at the client’s site.</a:t>
            </a:r>
          </a:p>
          <a:p>
            <a:pPr algn="just"/>
            <a:r>
              <a:rPr lang="en-GB" dirty="0"/>
              <a:t>Good technical support is extremely important for questions on how to use the software and in case a bug in the software is discovered.</a:t>
            </a:r>
          </a:p>
          <a:p>
            <a:pPr algn="just"/>
            <a:r>
              <a:rPr lang="en-GB" dirty="0"/>
              <a:t>Technical support, which can be in the form of telephone help, should be such that a response is received in at most one day.</a:t>
            </a:r>
          </a:p>
          <a:p>
            <a:pPr algn="just"/>
            <a:endParaRPr lang="en-US" dirty="0"/>
          </a:p>
        </p:txBody>
      </p:sp>
    </p:spTree>
    <p:extLst>
      <p:ext uri="{BB962C8B-B14F-4D97-AF65-F5344CB8AC3E}">
        <p14:creationId xmlns:p14="http://schemas.microsoft.com/office/powerpoint/2010/main" val="2834631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53AD-FE8D-44C1-90C1-0311C090230E}"/>
              </a:ext>
            </a:extLst>
          </p:cNvPr>
          <p:cNvSpPr>
            <a:spLocks noGrp="1"/>
          </p:cNvSpPr>
          <p:nvPr>
            <p:ph type="title"/>
          </p:nvPr>
        </p:nvSpPr>
        <p:spPr/>
        <p:txBody>
          <a:bodyPr/>
          <a:lstStyle/>
          <a:p>
            <a:r>
              <a:rPr lang="en-US" dirty="0"/>
              <a:t>Customer Support and Documentation</a:t>
            </a:r>
          </a:p>
        </p:txBody>
      </p:sp>
      <p:sp>
        <p:nvSpPr>
          <p:cNvPr id="3" name="Content Placeholder 2">
            <a:extLst>
              <a:ext uri="{FF2B5EF4-FFF2-40B4-BE49-F238E27FC236}">
                <a16:creationId xmlns:a16="http://schemas.microsoft.com/office/drawing/2014/main" id="{F6557522-4497-4A99-8DBA-1E250BBF260D}"/>
              </a:ext>
            </a:extLst>
          </p:cNvPr>
          <p:cNvSpPr>
            <a:spLocks noGrp="1"/>
          </p:cNvSpPr>
          <p:nvPr>
            <p:ph idx="1"/>
          </p:nvPr>
        </p:nvSpPr>
        <p:spPr/>
        <p:txBody>
          <a:bodyPr>
            <a:normAutofit/>
          </a:bodyPr>
          <a:lstStyle/>
          <a:p>
            <a:pPr algn="just"/>
            <a:r>
              <a:rPr lang="en-GB" dirty="0"/>
              <a:t>Good documentation is a crucial requirement for using any software product. It should be possible, in our opinion, to learn a simulation package without taking a formal training course.</a:t>
            </a:r>
          </a:p>
          <a:p>
            <a:pPr algn="just"/>
            <a:r>
              <a:rPr lang="en-GB" dirty="0"/>
              <a:t>Generally, there will be a user’s guide or reference manual.</a:t>
            </a:r>
          </a:p>
          <a:p>
            <a:pPr algn="just"/>
            <a:r>
              <a:rPr lang="en-GB" dirty="0"/>
              <a:t>There should be numerous detailed examples available. Most products now have context-dependent online help, which we consider very important.</a:t>
            </a:r>
          </a:p>
          <a:p>
            <a:pPr algn="just"/>
            <a:r>
              <a:rPr lang="en-GB" dirty="0"/>
              <a:t>Several products have a library of “mini examples” to illustrate the various modelling constructs.</a:t>
            </a:r>
            <a:endParaRPr lang="en-US" dirty="0"/>
          </a:p>
        </p:txBody>
      </p:sp>
    </p:spTree>
    <p:extLst>
      <p:ext uri="{BB962C8B-B14F-4D97-AF65-F5344CB8AC3E}">
        <p14:creationId xmlns:p14="http://schemas.microsoft.com/office/powerpoint/2010/main" val="2444257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6D23-F3E8-4659-935F-5FF2771A5AAC}"/>
              </a:ext>
            </a:extLst>
          </p:cNvPr>
          <p:cNvSpPr>
            <a:spLocks noGrp="1"/>
          </p:cNvSpPr>
          <p:nvPr>
            <p:ph type="title"/>
          </p:nvPr>
        </p:nvSpPr>
        <p:spPr/>
        <p:txBody>
          <a:bodyPr/>
          <a:lstStyle/>
          <a:p>
            <a:r>
              <a:rPr lang="en-US" dirty="0"/>
              <a:t>Output Reports and Graphics</a:t>
            </a:r>
          </a:p>
        </p:txBody>
      </p:sp>
      <p:sp>
        <p:nvSpPr>
          <p:cNvPr id="3" name="Content Placeholder 2">
            <a:extLst>
              <a:ext uri="{FF2B5EF4-FFF2-40B4-BE49-F238E27FC236}">
                <a16:creationId xmlns:a16="http://schemas.microsoft.com/office/drawing/2014/main" id="{6C474973-4537-42F1-8217-359F983031B7}"/>
              </a:ext>
            </a:extLst>
          </p:cNvPr>
          <p:cNvSpPr>
            <a:spLocks noGrp="1"/>
          </p:cNvSpPr>
          <p:nvPr>
            <p:ph idx="1"/>
          </p:nvPr>
        </p:nvSpPr>
        <p:spPr>
          <a:xfrm>
            <a:off x="838199" y="1524000"/>
            <a:ext cx="10702159" cy="4968875"/>
          </a:xfrm>
        </p:spPr>
        <p:txBody>
          <a:bodyPr>
            <a:normAutofit fontScale="92500" lnSpcReduction="10000"/>
          </a:bodyPr>
          <a:lstStyle/>
          <a:p>
            <a:pPr algn="just"/>
            <a:r>
              <a:rPr lang="en-GB" dirty="0"/>
              <a:t>Standard reports should be provided for the estimated performance measures.</a:t>
            </a:r>
          </a:p>
          <a:p>
            <a:pPr algn="just"/>
            <a:r>
              <a:rPr lang="en-GB" dirty="0"/>
              <a:t>It should also be possible to customize reports, perhaps for management presentations.</a:t>
            </a:r>
          </a:p>
          <a:p>
            <a:pPr algn="just"/>
            <a:r>
              <a:rPr lang="en-GB" dirty="0"/>
              <a:t>Since a simulation product should be flexible enough so that it can compute estimates of user-defi ned performance measures, it should also be possible to write these estimates into a custom report.</a:t>
            </a:r>
          </a:p>
          <a:p>
            <a:pPr algn="just"/>
            <a:r>
              <a:rPr lang="en-GB" dirty="0"/>
              <a:t>For each performance measure (e.g., time in system for a factory), the average observed value, the minimum observed value, and the maximum observed value are usually given.</a:t>
            </a:r>
          </a:p>
          <a:p>
            <a:pPr algn="just"/>
            <a:r>
              <a:rPr lang="en-GB" dirty="0"/>
              <a:t>If a standard deviation is also given (based on one simulation run), then the user should be sure that it is based on a statistically acceptable method, or else it should be viewed as highly suspect.</a:t>
            </a:r>
            <a:endParaRPr lang="en-US" dirty="0"/>
          </a:p>
        </p:txBody>
      </p:sp>
    </p:spTree>
    <p:extLst>
      <p:ext uri="{BB962C8B-B14F-4D97-AF65-F5344CB8AC3E}">
        <p14:creationId xmlns:p14="http://schemas.microsoft.com/office/powerpoint/2010/main" val="896475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6D23-F3E8-4659-935F-5FF2771A5AAC}"/>
              </a:ext>
            </a:extLst>
          </p:cNvPr>
          <p:cNvSpPr>
            <a:spLocks noGrp="1"/>
          </p:cNvSpPr>
          <p:nvPr>
            <p:ph type="title"/>
          </p:nvPr>
        </p:nvSpPr>
        <p:spPr/>
        <p:txBody>
          <a:bodyPr/>
          <a:lstStyle/>
          <a:p>
            <a:r>
              <a:rPr lang="en-US" dirty="0"/>
              <a:t>Output Reports and Graphics</a:t>
            </a:r>
          </a:p>
        </p:txBody>
      </p:sp>
      <p:sp>
        <p:nvSpPr>
          <p:cNvPr id="3" name="Content Placeholder 2">
            <a:extLst>
              <a:ext uri="{FF2B5EF4-FFF2-40B4-BE49-F238E27FC236}">
                <a16:creationId xmlns:a16="http://schemas.microsoft.com/office/drawing/2014/main" id="{6C474973-4537-42F1-8217-359F983031B7}"/>
              </a:ext>
            </a:extLst>
          </p:cNvPr>
          <p:cNvSpPr>
            <a:spLocks noGrp="1"/>
          </p:cNvSpPr>
          <p:nvPr>
            <p:ph idx="1"/>
          </p:nvPr>
        </p:nvSpPr>
        <p:spPr>
          <a:xfrm>
            <a:off x="838199" y="1524000"/>
            <a:ext cx="10702159" cy="4968875"/>
          </a:xfrm>
        </p:spPr>
        <p:txBody>
          <a:bodyPr>
            <a:normAutofit/>
          </a:bodyPr>
          <a:lstStyle/>
          <a:p>
            <a:pPr algn="just"/>
            <a:r>
              <a:rPr lang="en-GB" dirty="0"/>
              <a:t>The simulation product should provide a variety of (static) graphics.</a:t>
            </a:r>
          </a:p>
          <a:p>
            <a:pPr algn="just"/>
            <a:r>
              <a:rPr lang="en-GB" dirty="0"/>
              <a:t>First, it should be possible to make a histogram for a set of observed data.</a:t>
            </a:r>
          </a:p>
          <a:p>
            <a:pPr algn="just"/>
            <a:r>
              <a:rPr lang="en-GB" dirty="0"/>
              <a:t>In a time plot one or more key system variables (e.g., the numbers in certain queues) are plotted over the length of the simulation, providing a long-term indication of the dynamic </a:t>
            </a:r>
            <a:r>
              <a:rPr lang="en-GB" dirty="0" err="1"/>
              <a:t>behavior</a:t>
            </a:r>
            <a:r>
              <a:rPr lang="en-GB" dirty="0"/>
              <a:t> of the simulated system.</a:t>
            </a:r>
          </a:p>
          <a:p>
            <a:pPr algn="just"/>
            <a:r>
              <a:rPr lang="en-GB" dirty="0"/>
              <a:t>Some simulation products allow the simulation results to be presented in bar charts or pie charts.</a:t>
            </a:r>
          </a:p>
          <a:p>
            <a:pPr algn="just"/>
            <a:r>
              <a:rPr lang="en-GB" dirty="0"/>
              <a:t>Finally, a correlation plot is a useful way to measure the dependence in the output data produced from one simulation run.</a:t>
            </a:r>
            <a:endParaRPr lang="en-US" dirty="0"/>
          </a:p>
        </p:txBody>
      </p:sp>
    </p:spTree>
    <p:extLst>
      <p:ext uri="{BB962C8B-B14F-4D97-AF65-F5344CB8AC3E}">
        <p14:creationId xmlns:p14="http://schemas.microsoft.com/office/powerpoint/2010/main" val="2860446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1747</TotalTime>
  <Words>2921</Words>
  <Application>Microsoft Office PowerPoint</Application>
  <PresentationFormat>Widescreen</PresentationFormat>
  <Paragraphs>148</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Simulation Modeling and Analysis</vt:lpstr>
      <vt:lpstr>INTRODUCTION</vt:lpstr>
      <vt:lpstr>COMPARISON OF SIMULATION PACKAGES WITH PROGRAMMING LANGUAGES</vt:lpstr>
      <vt:lpstr>COMPARISON OF SIMULATION PACKAGES WITH PROGRAMMING LANGUAGES</vt:lpstr>
      <vt:lpstr>COMPARISON OF SIMULATION PACKAGES WITH PROGRAMMING LANGUAGES</vt:lpstr>
      <vt:lpstr>COMPARISON OF SIMULATION PACKAGES WITH PROGRAMMING LANGUAGES</vt:lpstr>
      <vt:lpstr>CLASSIFICATION OF SIMULATION SOFTWARE</vt:lpstr>
      <vt:lpstr>Modeling Approaches: event-scheduling approach</vt:lpstr>
      <vt:lpstr>Modeling Approaches: process approach</vt:lpstr>
      <vt:lpstr>PowerPoint Presentation</vt:lpstr>
      <vt:lpstr>…</vt:lpstr>
      <vt:lpstr>PowerPoint Presentation</vt:lpstr>
      <vt:lpstr>…</vt:lpstr>
      <vt:lpstr>CLASSIFICATION OF SIMULATION SOFTWARE</vt:lpstr>
      <vt:lpstr>CLASSIFICATION OF SIMULATION SOFTWARE</vt:lpstr>
      <vt:lpstr>Common Modeling Elements</vt:lpstr>
      <vt:lpstr>DESIRABLE SOFTWARE FEATURES</vt:lpstr>
      <vt:lpstr>General Capabilities</vt:lpstr>
      <vt:lpstr>General Capabilities</vt:lpstr>
      <vt:lpstr>General Capabilities</vt:lpstr>
      <vt:lpstr>General Capabilities</vt:lpstr>
      <vt:lpstr>General Capabilities</vt:lpstr>
      <vt:lpstr>General Capabilities</vt:lpstr>
      <vt:lpstr>Hardware and Software Requirements</vt:lpstr>
      <vt:lpstr>Animation and Dynamic Graphics</vt:lpstr>
      <vt:lpstr>Animation and Dynamic Graphics</vt:lpstr>
      <vt:lpstr>Statistical Capabilities</vt:lpstr>
      <vt:lpstr>Customer Support and Documentation</vt:lpstr>
      <vt:lpstr>Customer Support and Documentation</vt:lpstr>
      <vt:lpstr>Output Reports and Graphics</vt:lpstr>
      <vt:lpstr>Output Reports and 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Md. Nasim Adnan</dc:creator>
  <cp:lastModifiedBy>Md. Nasim Adnan</cp:lastModifiedBy>
  <cp:revision>52</cp:revision>
  <dcterms:created xsi:type="dcterms:W3CDTF">2023-08-27T07:40:29Z</dcterms:created>
  <dcterms:modified xsi:type="dcterms:W3CDTF">2025-11-01T01:08:35Z</dcterms:modified>
</cp:coreProperties>
</file>