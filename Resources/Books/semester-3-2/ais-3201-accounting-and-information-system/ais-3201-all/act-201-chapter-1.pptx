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776" r:id="rId2"/>
    <p:sldId id="777" r:id="rId3"/>
    <p:sldId id="450" r:id="rId4"/>
    <p:sldId id="708" r:id="rId5"/>
    <p:sldId id="528" r:id="rId6"/>
    <p:sldId id="709" r:id="rId7"/>
    <p:sldId id="774" r:id="rId8"/>
    <p:sldId id="658" r:id="rId9"/>
    <p:sldId id="710" r:id="rId10"/>
    <p:sldId id="569" r:id="rId11"/>
    <p:sldId id="624" r:id="rId12"/>
    <p:sldId id="530" r:id="rId13"/>
    <p:sldId id="625" r:id="rId14"/>
    <p:sldId id="533" r:id="rId15"/>
    <p:sldId id="659" r:id="rId16"/>
    <p:sldId id="534" r:id="rId17"/>
    <p:sldId id="535" r:id="rId18"/>
    <p:sldId id="571" r:id="rId19"/>
    <p:sldId id="663" r:id="rId20"/>
    <p:sldId id="739" r:id="rId21"/>
    <p:sldId id="666" r:id="rId22"/>
    <p:sldId id="667" r:id="rId23"/>
    <p:sldId id="668" r:id="rId24"/>
    <p:sldId id="669" r:id="rId25"/>
    <p:sldId id="778" r:id="rId26"/>
    <p:sldId id="779" r:id="rId27"/>
    <p:sldId id="673" r:id="rId28"/>
    <p:sldId id="543" r:id="rId29"/>
    <p:sldId id="544" r:id="rId30"/>
    <p:sldId id="597" r:id="rId31"/>
    <p:sldId id="780" r:id="rId32"/>
    <p:sldId id="754" r:id="rId33"/>
    <p:sldId id="755" r:id="rId34"/>
    <p:sldId id="756" r:id="rId35"/>
    <p:sldId id="757" r:id="rId36"/>
    <p:sldId id="758" r:id="rId37"/>
    <p:sldId id="759" r:id="rId38"/>
    <p:sldId id="760" r:id="rId39"/>
    <p:sldId id="762" r:id="rId40"/>
    <p:sldId id="763" r:id="rId41"/>
    <p:sldId id="764" r:id="rId42"/>
    <p:sldId id="765" r:id="rId43"/>
    <p:sldId id="766" r:id="rId44"/>
    <p:sldId id="767" r:id="rId45"/>
    <p:sldId id="768" r:id="rId46"/>
    <p:sldId id="769" r:id="rId47"/>
    <p:sldId id="555" r:id="rId48"/>
    <p:sldId id="572" r:id="rId49"/>
    <p:sldId id="558" r:id="rId50"/>
    <p:sldId id="645" r:id="rId51"/>
    <p:sldId id="646" r:id="rId52"/>
    <p:sldId id="712" r:id="rId53"/>
    <p:sldId id="713" r:id="rId54"/>
    <p:sldId id="714" r:id="rId55"/>
    <p:sldId id="719" r:id="rId56"/>
    <p:sldId id="573" r:id="rId57"/>
    <p:sldId id="695" r:id="rId58"/>
    <p:sldId id="770" r:id="rId59"/>
    <p:sldId id="781" r:id="rId60"/>
    <p:sldId id="782" r:id="rId61"/>
    <p:sldId id="783" r:id="rId62"/>
    <p:sldId id="575" r:id="rId63"/>
  </p:sldIdLst>
  <p:sldSz cx="9144000" cy="6858000" type="screen4x3"/>
  <p:notesSz cx="7004050" cy="929005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00"/>
    <a:srgbClr val="FF9900"/>
    <a:srgbClr val="0027A4"/>
    <a:srgbClr val="E6AF00"/>
    <a:srgbClr val="FFFF99"/>
    <a:srgbClr val="0000CC"/>
    <a:srgbClr val="A50021"/>
    <a:srgbClr val="00589A"/>
    <a:srgbClr val="003E6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2" autoAdjust="0"/>
    <p:restoredTop sz="94494" autoAdjust="0"/>
  </p:normalViewPr>
  <p:slideViewPr>
    <p:cSldViewPr>
      <p:cViewPr>
        <p:scale>
          <a:sx n="70" d="100"/>
          <a:sy n="70" d="100"/>
        </p:scale>
        <p:origin x="-138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15096"/>
    </p:cViewPr>
  </p:sorterViewPr>
  <p:notesViewPr>
    <p:cSldViewPr>
      <p:cViewPr>
        <p:scale>
          <a:sx n="75" d="100"/>
          <a:sy n="75" d="100"/>
        </p:scale>
        <p:origin x="-1776" y="-246"/>
      </p:cViewPr>
      <p:guideLst>
        <p:guide orient="horz" pos="2925"/>
        <p:guide pos="22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7.xml"/><Relationship Id="rId18" Type="http://schemas.openxmlformats.org/officeDocument/2006/relationships/slide" Target="slides/slide26.xml"/><Relationship Id="rId26" Type="http://schemas.openxmlformats.org/officeDocument/2006/relationships/slide" Target="slides/slide34.xml"/><Relationship Id="rId39" Type="http://schemas.openxmlformats.org/officeDocument/2006/relationships/slide" Target="slides/slide47.xml"/><Relationship Id="rId3" Type="http://schemas.openxmlformats.org/officeDocument/2006/relationships/slide" Target="slides/slide4.xml"/><Relationship Id="rId21" Type="http://schemas.openxmlformats.org/officeDocument/2006/relationships/slide" Target="slides/slide29.xml"/><Relationship Id="rId34" Type="http://schemas.openxmlformats.org/officeDocument/2006/relationships/slide" Target="slides/slide42.xml"/><Relationship Id="rId42" Type="http://schemas.openxmlformats.org/officeDocument/2006/relationships/slide" Target="slides/slide50.xml"/><Relationship Id="rId47" Type="http://schemas.openxmlformats.org/officeDocument/2006/relationships/slide" Target="slides/slide55.xml"/><Relationship Id="rId50" Type="http://schemas.openxmlformats.org/officeDocument/2006/relationships/slide" Target="slides/slide60.xml"/><Relationship Id="rId7" Type="http://schemas.openxmlformats.org/officeDocument/2006/relationships/slide" Target="slides/slide8.xml"/><Relationship Id="rId12" Type="http://schemas.openxmlformats.org/officeDocument/2006/relationships/slide" Target="slides/slide16.xml"/><Relationship Id="rId17" Type="http://schemas.openxmlformats.org/officeDocument/2006/relationships/slide" Target="slides/slide25.xml"/><Relationship Id="rId25" Type="http://schemas.openxmlformats.org/officeDocument/2006/relationships/slide" Target="slides/slide33.xml"/><Relationship Id="rId33" Type="http://schemas.openxmlformats.org/officeDocument/2006/relationships/slide" Target="slides/slide41.xml"/><Relationship Id="rId38" Type="http://schemas.openxmlformats.org/officeDocument/2006/relationships/slide" Target="slides/slide46.xml"/><Relationship Id="rId46" Type="http://schemas.openxmlformats.org/officeDocument/2006/relationships/slide" Target="slides/slide54.xml"/><Relationship Id="rId2" Type="http://schemas.openxmlformats.org/officeDocument/2006/relationships/slide" Target="slides/slide3.xml"/><Relationship Id="rId16" Type="http://schemas.openxmlformats.org/officeDocument/2006/relationships/slide" Target="slides/slide20.xml"/><Relationship Id="rId20" Type="http://schemas.openxmlformats.org/officeDocument/2006/relationships/slide" Target="slides/slide28.xml"/><Relationship Id="rId29" Type="http://schemas.openxmlformats.org/officeDocument/2006/relationships/slide" Target="slides/slide37.xml"/><Relationship Id="rId41" Type="http://schemas.openxmlformats.org/officeDocument/2006/relationships/slide" Target="slides/slide49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11" Type="http://schemas.openxmlformats.org/officeDocument/2006/relationships/slide" Target="slides/slide15.xml"/><Relationship Id="rId24" Type="http://schemas.openxmlformats.org/officeDocument/2006/relationships/slide" Target="slides/slide32.xml"/><Relationship Id="rId32" Type="http://schemas.openxmlformats.org/officeDocument/2006/relationships/slide" Target="slides/slide40.xml"/><Relationship Id="rId37" Type="http://schemas.openxmlformats.org/officeDocument/2006/relationships/slide" Target="slides/slide45.xml"/><Relationship Id="rId40" Type="http://schemas.openxmlformats.org/officeDocument/2006/relationships/slide" Target="slides/slide48.xml"/><Relationship Id="rId45" Type="http://schemas.openxmlformats.org/officeDocument/2006/relationships/slide" Target="slides/slide53.xml"/><Relationship Id="rId5" Type="http://schemas.openxmlformats.org/officeDocument/2006/relationships/slide" Target="slides/slide6.xml"/><Relationship Id="rId15" Type="http://schemas.openxmlformats.org/officeDocument/2006/relationships/slide" Target="slides/slide19.xml"/><Relationship Id="rId23" Type="http://schemas.openxmlformats.org/officeDocument/2006/relationships/slide" Target="slides/slide31.xml"/><Relationship Id="rId28" Type="http://schemas.openxmlformats.org/officeDocument/2006/relationships/slide" Target="slides/slide36.xml"/><Relationship Id="rId36" Type="http://schemas.openxmlformats.org/officeDocument/2006/relationships/slide" Target="slides/slide44.xml"/><Relationship Id="rId49" Type="http://schemas.openxmlformats.org/officeDocument/2006/relationships/slide" Target="slides/slide59.xml"/><Relationship Id="rId10" Type="http://schemas.openxmlformats.org/officeDocument/2006/relationships/slide" Target="slides/slide14.xml"/><Relationship Id="rId19" Type="http://schemas.openxmlformats.org/officeDocument/2006/relationships/slide" Target="slides/slide27.xml"/><Relationship Id="rId31" Type="http://schemas.openxmlformats.org/officeDocument/2006/relationships/slide" Target="slides/slide39.xml"/><Relationship Id="rId44" Type="http://schemas.openxmlformats.org/officeDocument/2006/relationships/slide" Target="slides/slide52.xml"/><Relationship Id="rId4" Type="http://schemas.openxmlformats.org/officeDocument/2006/relationships/slide" Target="slides/slide5.xml"/><Relationship Id="rId9" Type="http://schemas.openxmlformats.org/officeDocument/2006/relationships/slide" Target="slides/slide12.xml"/><Relationship Id="rId14" Type="http://schemas.openxmlformats.org/officeDocument/2006/relationships/slide" Target="slides/slide18.xml"/><Relationship Id="rId22" Type="http://schemas.openxmlformats.org/officeDocument/2006/relationships/slide" Target="slides/slide30.xml"/><Relationship Id="rId27" Type="http://schemas.openxmlformats.org/officeDocument/2006/relationships/slide" Target="slides/slide35.xml"/><Relationship Id="rId30" Type="http://schemas.openxmlformats.org/officeDocument/2006/relationships/slide" Target="slides/slide38.xml"/><Relationship Id="rId35" Type="http://schemas.openxmlformats.org/officeDocument/2006/relationships/slide" Target="slides/slide43.xml"/><Relationship Id="rId43" Type="http://schemas.openxmlformats.org/officeDocument/2006/relationships/slide" Target="slides/slide51.xml"/><Relationship Id="rId48" Type="http://schemas.openxmlformats.org/officeDocument/2006/relationships/slide" Target="slides/slide58.xml"/><Relationship Id="rId8" Type="http://schemas.openxmlformats.org/officeDocument/2006/relationships/slide" Target="slides/slide9.xml"/><Relationship Id="rId51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131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88938" y="4413250"/>
            <a:ext cx="6303962" cy="417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871" tIns="45130" rIns="91871" bIns="451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88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9038" y="703263"/>
            <a:ext cx="4627562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890609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4850"/>
            <a:ext cx="4624388" cy="3468688"/>
          </a:xfrm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9114" y="4413020"/>
            <a:ext cx="6303645" cy="4179379"/>
          </a:xfrm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7563" cy="3470275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7563" cy="3470275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4850"/>
            <a:ext cx="4624388" cy="3468688"/>
          </a:xfrm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9114" y="4413020"/>
            <a:ext cx="6303645" cy="4179379"/>
          </a:xfrm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25975" cy="347027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25975" cy="3470275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25975" cy="3470275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100355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0262" cy="3479800"/>
          </a:xfrm>
          <a:ln cap="flat"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3250"/>
            <a:ext cx="5137150" cy="41798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751" tIns="46876" rIns="93751" bIns="46876"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0262" cy="3479800"/>
          </a:xfrm>
          <a:ln cap="flat"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3250"/>
            <a:ext cx="5137150" cy="41798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751" tIns="46876" rIns="93751" bIns="46876"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0262" cy="3479800"/>
          </a:xfrm>
          <a:ln cap="flat"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3250"/>
            <a:ext cx="5137150" cy="41798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751" tIns="46876" rIns="93751" bIns="46876"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0262" cy="3479800"/>
          </a:xfrm>
          <a:ln cap="flat"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3250"/>
            <a:ext cx="5137150" cy="41798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751" tIns="46876" rIns="93751" bIns="46876"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25975" cy="347027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79630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17799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423879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96835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4363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68862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30486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880385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8826465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82917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54013"/>
            <a:ext cx="2095500" cy="55895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54013"/>
            <a:ext cx="6134100" cy="55895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56181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350" y="354013"/>
            <a:ext cx="7607300" cy="5603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8661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149350" y="354013"/>
            <a:ext cx="7607300" cy="560387"/>
          </a:xfrm>
          <a:prstGeom prst="rect">
            <a:avLst/>
          </a:prstGeom>
          <a:solidFill>
            <a:srgbClr val="003399"/>
          </a:solidFill>
          <a:ln w="63500">
            <a:solidFill>
              <a:srgbClr val="54385C"/>
            </a:solidFill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480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82562" tIns="46038" rIns="182562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76200" y="6400800"/>
            <a:ext cx="6858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 dirty="0">
                <a:latin typeface="Arial" charset="0"/>
              </a:rPr>
              <a:t>1-</a:t>
            </a:r>
            <a:fld id="{7968B8A9-B123-4627-BD2C-A76E745EAADC}" type="slidenum">
              <a:rPr lang="en-US" altLang="en-US" sz="1200" b="1">
                <a:latin typeface="Arial" charset="0"/>
              </a:rPr>
              <a:pPr>
                <a:spcBef>
                  <a:spcPct val="50000"/>
                </a:spcBef>
              </a:pPr>
              <a:t>‹#›</a:t>
            </a:fld>
            <a:endParaRPr lang="en-US" altLang="en-US" sz="1200" b="1" dirty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000" b="1" i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8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7.wdp"/><Relationship Id="rId5" Type="http://schemas.openxmlformats.org/officeDocument/2006/relationships/image" Target="../media/image11.png"/><Relationship Id="rId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22.png"/><Relationship Id="rId4" Type="http://schemas.microsoft.com/office/2007/relationships/hdphoto" Target="../media/hdphoto12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4.wdp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3352800"/>
            <a:ext cx="1378857" cy="6772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algn="ctr"/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0" y="2590800"/>
            <a:ext cx="1378857" cy="6772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algn="ctr"/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35429" y="1981200"/>
            <a:ext cx="4209143" cy="5066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6493" tIns="43247" rIns="86493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62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lang="en-US" altLang="en-US" sz="2500" b="1" dirty="0">
                <a:latin typeface="Liberation Sans" panose="020B0604020202020204" pitchFamily="34" charset="0"/>
              </a:rPr>
              <a:t>Learning Objectives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378857" y="2590800"/>
            <a:ext cx="7765143" cy="67722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tIns="27432" anchor="ctr"/>
          <a:lstStyle/>
          <a:p>
            <a:pPr marL="117475" algn="l"/>
            <a:r>
              <a:rPr lang="en-US" sz="18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Identify the activities and users associated with accounting.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378857" y="3352800"/>
            <a:ext cx="7765143" cy="67722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tIns="27432" anchor="ctr"/>
          <a:lstStyle/>
          <a:p>
            <a:pPr marL="117475" algn="l"/>
            <a:r>
              <a:rPr lang="en-US" sz="18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Explain the building blocks of accounting: ethics, principles, and assumptions.</a:t>
            </a: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0" y="4114800"/>
            <a:ext cx="1378857" cy="6772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algn="ctr"/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378857" y="4114800"/>
            <a:ext cx="7765143" cy="67722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tIns="27432" anchor="ctr"/>
          <a:lstStyle/>
          <a:p>
            <a:pPr marL="117475" algn="l"/>
            <a:r>
              <a:rPr lang="en-US" sz="18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State the accounting equation, and define its components.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653143" y="4194810"/>
            <a:ext cx="522514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3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378857" y="4876800"/>
            <a:ext cx="7765143" cy="67722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tIns="27432" anchor="ctr"/>
          <a:lstStyle/>
          <a:p>
            <a:pPr marL="117475" algn="l"/>
            <a:r>
              <a:rPr lang="en-US" sz="18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Analyze the effects of business transactions on the accounting equation.</a:t>
            </a:r>
          </a:p>
        </p:txBody>
      </p:sp>
      <p:sp>
        <p:nvSpPr>
          <p:cNvPr id="25" name="Oval 24"/>
          <p:cNvSpPr/>
          <p:nvPr/>
        </p:nvSpPr>
        <p:spPr bwMode="auto">
          <a:xfrm>
            <a:off x="653143" y="3444241"/>
            <a:ext cx="522514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2</a:t>
            </a:r>
          </a:p>
        </p:txBody>
      </p:sp>
      <p:sp>
        <p:nvSpPr>
          <p:cNvPr id="26" name="Oval 25"/>
          <p:cNvSpPr/>
          <p:nvPr/>
        </p:nvSpPr>
        <p:spPr bwMode="auto">
          <a:xfrm>
            <a:off x="653143" y="2655570"/>
            <a:ext cx="522514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1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4876800"/>
            <a:ext cx="1378857" cy="6772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algn="ctr"/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653143" y="4968241"/>
            <a:ext cx="522514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1380744" y="5647372"/>
            <a:ext cx="7765143" cy="67722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tIns="27432" anchor="ctr"/>
          <a:lstStyle/>
          <a:p>
            <a:pPr marL="117475" algn="l"/>
            <a:r>
              <a:rPr lang="en-US" sz="18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Describe the four financial statements and how they are</a:t>
            </a:r>
          </a:p>
          <a:p>
            <a:pPr marL="117475" algn="l"/>
            <a:r>
              <a:rPr lang="en-US" sz="18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prepared.</a:t>
            </a: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4064" y="5647372"/>
            <a:ext cx="1378857" cy="6772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algn="ctr"/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658368" y="5738813"/>
            <a:ext cx="522514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5</a:t>
            </a: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0" y="228600"/>
            <a:ext cx="9144000" cy="1752600"/>
          </a:xfrm>
          <a:prstGeom prst="rect">
            <a:avLst/>
          </a:prstGeom>
          <a:solidFill>
            <a:srgbClr val="C5C5FF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0" y="685800"/>
            <a:ext cx="2514600" cy="914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32" name="Rectangle 8"/>
          <p:cNvSpPr txBox="1">
            <a:spLocks noChangeArrowheads="1"/>
          </p:cNvSpPr>
          <p:nvPr/>
        </p:nvSpPr>
        <p:spPr>
          <a:xfrm>
            <a:off x="2514600" y="533400"/>
            <a:ext cx="5943600" cy="1200329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</p:spPr>
        <p:txBody>
          <a:bodyPr wrap="square" lIns="91440" tIns="45720" rIns="91440" bIns="45720"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58738" indent="0">
              <a:spcBef>
                <a:spcPct val="50000"/>
              </a:spcBef>
              <a:buSzTx/>
              <a:buFontTx/>
              <a:buNone/>
            </a:pPr>
            <a:r>
              <a:rPr lang="en-US" altLang="en-US" sz="3800" kern="0" dirty="0" smtClean="0">
                <a:solidFill>
                  <a:srgbClr val="CC0000"/>
                </a:solidFill>
                <a:effectLst/>
                <a:latin typeface="Liberation Sans" panose="020B0604020202020204" pitchFamily="34" charset="0"/>
              </a:rPr>
              <a:t>Accounting in Action</a:t>
            </a:r>
            <a:endParaRPr lang="en-US" altLang="en-US" sz="3800" kern="0" dirty="0">
              <a:solidFill>
                <a:srgbClr val="CC0000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762000" y="381000"/>
            <a:ext cx="1447800" cy="1447800"/>
          </a:xfrm>
          <a:prstGeom prst="ellipse">
            <a:avLst/>
          </a:prstGeom>
          <a:solidFill>
            <a:srgbClr val="0027A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0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1</a:t>
            </a:r>
            <a:endParaRPr lang="en-US" sz="10000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2066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ChangeArrowheads="1"/>
          </p:cNvSpPr>
          <p:nvPr/>
        </p:nvSpPr>
        <p:spPr bwMode="auto">
          <a:xfrm>
            <a:off x="533400" y="1487487"/>
            <a:ext cx="8153400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70000"/>
              </a:spcBef>
              <a:buClrTx/>
              <a:buSzPct val="95000"/>
              <a:buFontTx/>
              <a:buNone/>
            </a:pPr>
            <a:r>
              <a:rPr lang="en-US" altLang="en-US" sz="2500" dirty="0">
                <a:solidFill>
                  <a:schemeClr val="hlink"/>
                </a:solidFill>
                <a:latin typeface="Liberation Sans" panose="020B0604020202020204" pitchFamily="34" charset="0"/>
              </a:rPr>
              <a:t>Accounting</a:t>
            </a:r>
            <a:r>
              <a:rPr lang="en-US" altLang="en-US" sz="2300" dirty="0">
                <a:solidFill>
                  <a:schemeClr val="hlink"/>
                </a:solidFill>
                <a:latin typeface="Liberation Sans" panose="020B0604020202020204" pitchFamily="34" charset="0"/>
              </a:rPr>
              <a:t> </a:t>
            </a: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consists of three basic activities—it</a:t>
            </a:r>
          </a:p>
          <a:p>
            <a:pPr lvl="1">
              <a:lnSpc>
                <a:spcPct val="120000"/>
              </a:lnSpc>
              <a:spcBef>
                <a:spcPct val="7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</a:rPr>
              <a:t>identifies</a:t>
            </a: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, </a:t>
            </a:r>
          </a:p>
          <a:p>
            <a:pPr lvl="1">
              <a:lnSpc>
                <a:spcPct val="120000"/>
              </a:lnSpc>
              <a:spcBef>
                <a:spcPct val="7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</a:rPr>
              <a:t>records</a:t>
            </a: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, and </a:t>
            </a:r>
          </a:p>
          <a:p>
            <a:pPr lvl="1">
              <a:lnSpc>
                <a:spcPct val="120000"/>
              </a:lnSpc>
              <a:spcBef>
                <a:spcPct val="7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</a:rPr>
              <a:t>communicates</a:t>
            </a: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 </a:t>
            </a:r>
          </a:p>
          <a:p>
            <a:pPr lvl="1">
              <a:lnSpc>
                <a:spcPct val="120000"/>
              </a:lnSpc>
              <a:spcBef>
                <a:spcPct val="70000"/>
              </a:spcBef>
              <a:buClr>
                <a:srgbClr val="800000"/>
              </a:buClr>
              <a:buSzPct val="80000"/>
              <a:buFont typeface="Wingdings" pitchFamily="2" charset="2"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economic events of an organization to interested users.	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405765"/>
            <a:ext cx="2540000" cy="677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LEARNING</a:t>
            </a:r>
          </a:p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OBJECTIVE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540000" y="274320"/>
            <a:ext cx="6604000" cy="92868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tIns="27432" anchor="ctr"/>
          <a:lstStyle/>
          <a:p>
            <a:pPr marL="117475" algn="l"/>
            <a:r>
              <a:rPr lang="en-US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Identify the activities and users </a:t>
            </a:r>
          </a:p>
          <a:p>
            <a:pPr marL="117475" algn="l"/>
            <a:r>
              <a:rPr lang="en-US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associated with accounting.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1872343" y="485775"/>
            <a:ext cx="522514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6493" tIns="0" rIns="86493" bIns="43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1</a:t>
            </a:r>
          </a:p>
        </p:txBody>
      </p:sp>
      <p:sp>
        <p:nvSpPr>
          <p:cNvPr id="11" name="Text Box 1037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>
                <a:latin typeface="Liberation Sans" panose="020B0604020202020204" pitchFamily="34" charset="0"/>
              </a:rPr>
              <a:t>LO 1</a:t>
            </a:r>
          </a:p>
        </p:txBody>
      </p:sp>
    </p:spTree>
    <p:extLst>
      <p:ext uri="{BB962C8B-B14F-4D97-AF65-F5344CB8AC3E}">
        <p14:creationId xmlns:p14="http://schemas.microsoft.com/office/powerpoint/2010/main" val="32118549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Text Box 15"/>
          <p:cNvSpPr txBox="1">
            <a:spLocks noChangeArrowheads="1"/>
          </p:cNvSpPr>
          <p:nvPr/>
        </p:nvSpPr>
        <p:spPr bwMode="auto">
          <a:xfrm>
            <a:off x="533400" y="1334869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8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activities of the accounting process</a:t>
            </a:r>
          </a:p>
        </p:txBody>
      </p:sp>
      <p:sp>
        <p:nvSpPr>
          <p:cNvPr id="6151" name="AutoShape 18"/>
          <p:cNvSpPr>
            <a:spLocks noChangeArrowheads="1"/>
          </p:cNvSpPr>
          <p:nvPr/>
        </p:nvSpPr>
        <p:spPr bwMode="auto">
          <a:xfrm>
            <a:off x="914400" y="4876800"/>
            <a:ext cx="4648200" cy="1219200"/>
          </a:xfrm>
          <a:prstGeom prst="bevel">
            <a:avLst>
              <a:gd name="adj" fmla="val 12500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accounting process includes</a:t>
            </a:r>
            <a:r>
              <a:rPr lang="en-US" altLang="en-US" sz="2000" dirty="0">
                <a:solidFill>
                  <a:schemeClr val="tx1"/>
                </a:solidFill>
                <a:latin typeface="Liberation Sans" panose="020B0604020202020204" pitchFamily="34" charset="0"/>
              </a:rPr>
              <a:t> </a:t>
            </a:r>
          </a:p>
          <a:p>
            <a:pPr algn="ctr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altLang="en-US" sz="2000" dirty="0">
                <a:solidFill>
                  <a:schemeClr val="hlink"/>
                </a:solidFill>
                <a:latin typeface="Liberation Sans" panose="020B0604020202020204" pitchFamily="34" charset="0"/>
              </a:rPr>
              <a:t>bookkeeping</a:t>
            </a:r>
            <a:r>
              <a:rPr lang="en-US" alt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 function.</a:t>
            </a:r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533400" y="304800"/>
            <a:ext cx="7620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Three Activities</a:t>
            </a:r>
          </a:p>
        </p:txBody>
      </p:sp>
      <p:sp>
        <p:nvSpPr>
          <p:cNvPr id="6153" name="Line 1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6155" name="Text Box 1037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>
                <a:latin typeface="Liberation Sans" panose="020B0604020202020204" pitchFamily="34" charset="0"/>
              </a:rPr>
              <a:t>LO 1</a:t>
            </a:r>
          </a:p>
        </p:txBody>
      </p:sp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63" y="2397125"/>
            <a:ext cx="3006037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24918"/>
            <a:ext cx="2790825" cy="2166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15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62" y="1295400"/>
            <a:ext cx="3081338" cy="215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159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66960"/>
            <a:ext cx="2669967" cy="207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3848100"/>
            <a:ext cx="200342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52550"/>
            <a:ext cx="2709863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3890963"/>
            <a:ext cx="2576512" cy="243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304925"/>
            <a:ext cx="266700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9" name="Text Box 26"/>
          <p:cNvSpPr txBox="1">
            <a:spLocks noChangeArrowheads="1"/>
          </p:cNvSpPr>
          <p:nvPr/>
        </p:nvSpPr>
        <p:spPr bwMode="auto">
          <a:xfrm>
            <a:off x="533400" y="1447800"/>
            <a:ext cx="1981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6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INTERNAL USERS</a:t>
            </a:r>
            <a:endParaRPr lang="en-US" altLang="en-US" sz="260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200" name="Rectangle 13"/>
          <p:cNvSpPr>
            <a:spLocks noChangeArrowheads="1"/>
          </p:cNvSpPr>
          <p:nvPr/>
        </p:nvSpPr>
        <p:spPr bwMode="auto">
          <a:xfrm>
            <a:off x="6858000" y="5181600"/>
            <a:ext cx="17526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1-2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Questions that internal users ask</a:t>
            </a:r>
          </a:p>
        </p:txBody>
      </p:sp>
      <p:sp>
        <p:nvSpPr>
          <p:cNvPr id="8201" name="Rectangle 7"/>
          <p:cNvSpPr>
            <a:spLocks noChangeArrowheads="1"/>
          </p:cNvSpPr>
          <p:nvPr/>
        </p:nvSpPr>
        <p:spPr bwMode="auto">
          <a:xfrm>
            <a:off x="533400" y="304800"/>
            <a:ext cx="7620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Who Uses Accounting Data</a:t>
            </a:r>
          </a:p>
        </p:txBody>
      </p:sp>
      <p:sp>
        <p:nvSpPr>
          <p:cNvPr id="8202" name="Line 28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0" name="Text Box 1037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>
                <a:latin typeface="Liberation Sans" panose="020B0604020202020204" pitchFamily="34" charset="0"/>
              </a:rPr>
              <a:t>LO 1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1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4" y="900912"/>
            <a:ext cx="8031162" cy="41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1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0244" name="Rectangle 10"/>
          <p:cNvSpPr>
            <a:spLocks noChangeArrowheads="1"/>
          </p:cNvSpPr>
          <p:nvPr/>
        </p:nvSpPr>
        <p:spPr bwMode="auto">
          <a:xfrm>
            <a:off x="1600200" y="5867400"/>
            <a:ext cx="19812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Questions that external users ask</a:t>
            </a:r>
          </a:p>
        </p:txBody>
      </p:sp>
      <p:pic>
        <p:nvPicPr>
          <p:cNvPr id="1024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373188"/>
            <a:ext cx="4038600" cy="228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8" y="3956050"/>
            <a:ext cx="3630612" cy="236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3124200"/>
            <a:ext cx="2551112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533400" y="304800"/>
            <a:ext cx="7620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Who Uses Accounting Data</a:t>
            </a:r>
          </a:p>
        </p:txBody>
      </p:sp>
      <p:sp>
        <p:nvSpPr>
          <p:cNvPr id="10249" name="Line 28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0" name="Text Box 26"/>
          <p:cNvSpPr txBox="1">
            <a:spLocks noChangeArrowheads="1"/>
          </p:cNvSpPr>
          <p:nvPr/>
        </p:nvSpPr>
        <p:spPr bwMode="auto">
          <a:xfrm>
            <a:off x="533400" y="1447800"/>
            <a:ext cx="1981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6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EXTERNAL USERS</a:t>
            </a:r>
            <a:endParaRPr lang="en-US" altLang="en-US" sz="260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467428" y="428625"/>
            <a:ext cx="435429" cy="641336"/>
          </a:xfrm>
          <a:prstGeom prst="rect">
            <a:avLst/>
          </a:prstGeom>
          <a:noFill/>
        </p:spPr>
        <p:txBody>
          <a:bodyPr wrap="square" lIns="86493" tIns="43247" rIns="86493" bIns="43247" rtlCol="0">
            <a:spAutoFit/>
          </a:bodyPr>
          <a:lstStyle/>
          <a:p>
            <a:r>
              <a:rPr lang="en-US" sz="3600" b="1" dirty="0">
                <a:solidFill>
                  <a:srgbClr val="FF9900"/>
                </a:solidFill>
                <a:latin typeface="Liberation Sans" panose="020B0604020202020204" pitchFamily="34" charset="0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1</a:t>
            </a:r>
          </a:p>
        </p:txBody>
      </p:sp>
      <p:sp>
        <p:nvSpPr>
          <p:cNvPr id="372758" name="Rectangle 22"/>
          <p:cNvSpPr>
            <a:spLocks noChangeArrowheads="1"/>
          </p:cNvSpPr>
          <p:nvPr/>
        </p:nvSpPr>
        <p:spPr bwMode="auto">
          <a:xfrm>
            <a:off x="362857" y="5640586"/>
            <a:ext cx="8628743" cy="41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3247" rIns="0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10000"/>
              </a:lnSpc>
              <a:spcBef>
                <a:spcPct val="30000"/>
              </a:spcBef>
              <a:tabLst>
                <a:tab pos="1651000" algn="r"/>
                <a:tab pos="2974975" algn="r"/>
                <a:tab pos="4340225" algn="r"/>
                <a:tab pos="5718175" algn="r"/>
                <a:tab pos="7083425" algn="r"/>
              </a:tabLst>
            </a:pPr>
            <a:r>
              <a:rPr lang="en-US" altLang="en-US" sz="2100" b="1" dirty="0">
                <a:solidFill>
                  <a:srgbClr val="800000"/>
                </a:solidFill>
                <a:latin typeface="Liberation Sans" panose="020B0604020202020204" pitchFamily="34" charset="0"/>
              </a:rPr>
              <a:t> Solution</a:t>
            </a:r>
            <a:r>
              <a:rPr lang="en-US" altLang="en-US" sz="2100" b="1" dirty="0" smtClean="0">
                <a:solidFill>
                  <a:srgbClr val="800000"/>
                </a:solidFill>
                <a:latin typeface="Liberation Sans" panose="020B0604020202020204" pitchFamily="34" charset="0"/>
              </a:rPr>
              <a:t>:	</a:t>
            </a:r>
            <a:r>
              <a:rPr lang="en-US" altLang="en-US" sz="2100" b="1" dirty="0" smtClean="0">
                <a:latin typeface="Liberation Sans" panose="020B0604020202020204" pitchFamily="34" charset="0"/>
              </a:rPr>
              <a:t>1.	2.	3.	4.	5.</a:t>
            </a:r>
            <a:endParaRPr lang="en-US" altLang="en-US" sz="2100" b="1" dirty="0">
              <a:latin typeface="Liberation Sans" panose="020B0604020202020204" pitchFamily="34" charset="0"/>
            </a:endParaRPr>
          </a:p>
        </p:txBody>
      </p:sp>
      <p:sp>
        <p:nvSpPr>
          <p:cNvPr id="372756" name="Rectangle 20"/>
          <p:cNvSpPr>
            <a:spLocks noChangeArrowheads="1"/>
          </p:cNvSpPr>
          <p:nvPr/>
        </p:nvSpPr>
        <p:spPr bwMode="auto">
          <a:xfrm>
            <a:off x="435429" y="1379709"/>
            <a:ext cx="8345714" cy="3896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493" tIns="43247" rIns="86493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1200"/>
              </a:spcBef>
            </a:pPr>
            <a:r>
              <a:rPr lang="en-US" altLang="en-US" sz="2000" dirty="0">
                <a:latin typeface="Liberation Sans" panose="020B0604020202020204" pitchFamily="34" charset="0"/>
              </a:rPr>
              <a:t>Indicate whether the following statements are </a:t>
            </a:r>
            <a:r>
              <a:rPr lang="en-US" altLang="en-US" sz="2000" b="1" dirty="0">
                <a:latin typeface="Liberation Sans" panose="020B0604020202020204" pitchFamily="34" charset="0"/>
              </a:rPr>
              <a:t>true</a:t>
            </a:r>
            <a:r>
              <a:rPr lang="en-US" altLang="en-US" sz="2000" dirty="0">
                <a:latin typeface="Liberation Sans" panose="020B0604020202020204" pitchFamily="34" charset="0"/>
              </a:rPr>
              <a:t> </a:t>
            </a:r>
            <a:r>
              <a:rPr lang="en-US" altLang="en-US" sz="2000" b="1" dirty="0">
                <a:latin typeface="Liberation Sans" panose="020B0604020202020204" pitchFamily="34" charset="0"/>
              </a:rPr>
              <a:t>or</a:t>
            </a:r>
            <a:r>
              <a:rPr lang="en-US" altLang="en-US" sz="2000" dirty="0">
                <a:latin typeface="Liberation Sans" panose="020B0604020202020204" pitchFamily="34" charset="0"/>
              </a:rPr>
              <a:t> </a:t>
            </a:r>
            <a:r>
              <a:rPr lang="en-US" altLang="en-US" sz="2000" b="1" dirty="0">
                <a:latin typeface="Liberation Sans" panose="020B0604020202020204" pitchFamily="34" charset="0"/>
              </a:rPr>
              <a:t>false</a:t>
            </a:r>
            <a:r>
              <a:rPr lang="en-US" altLang="en-US" sz="2000" dirty="0">
                <a:latin typeface="Liberation Sans" panose="020B0604020202020204" pitchFamily="34" charset="0"/>
              </a:rPr>
              <a:t>.</a:t>
            </a:r>
          </a:p>
          <a:p>
            <a:pPr algn="l" eaLnBrk="1" hangingPunct="1">
              <a:lnSpc>
                <a:spcPct val="125000"/>
              </a:lnSpc>
              <a:spcBef>
                <a:spcPts val="1200"/>
              </a:spcBef>
              <a:buFontTx/>
              <a:buAutoNum type="arabicPeriod"/>
            </a:pPr>
            <a:r>
              <a:rPr lang="en-US" sz="2000" dirty="0" smtClean="0">
                <a:latin typeface="Liberation Sans" panose="020B0604020202020204" pitchFamily="34" charset="0"/>
              </a:rPr>
              <a:t>The </a:t>
            </a:r>
            <a:r>
              <a:rPr lang="en-US" sz="2000" dirty="0">
                <a:latin typeface="Liberation Sans" panose="020B0604020202020204" pitchFamily="34" charset="0"/>
              </a:rPr>
              <a:t>three steps in the accounting process are </a:t>
            </a:r>
            <a:r>
              <a:rPr lang="en-US" sz="2000" dirty="0" smtClean="0">
                <a:latin typeface="Liberation Sans" panose="020B0604020202020204" pitchFamily="34" charset="0"/>
              </a:rPr>
              <a:t>identification</a:t>
            </a:r>
            <a:r>
              <a:rPr lang="en-US" sz="2000" dirty="0">
                <a:latin typeface="Liberation Sans" panose="020B0604020202020204" pitchFamily="34" charset="0"/>
              </a:rPr>
              <a:t>, recording, and </a:t>
            </a:r>
            <a:r>
              <a:rPr lang="en-US" sz="2000" dirty="0" smtClean="0">
                <a:latin typeface="Liberation Sans" panose="020B0604020202020204" pitchFamily="34" charset="0"/>
              </a:rPr>
              <a:t>communication.</a:t>
            </a:r>
          </a:p>
          <a:p>
            <a:pPr algn="l" eaLnBrk="1" hangingPunct="1">
              <a:lnSpc>
                <a:spcPct val="125000"/>
              </a:lnSpc>
              <a:spcBef>
                <a:spcPts val="1200"/>
              </a:spcBef>
              <a:buFontTx/>
              <a:buAutoNum type="arabicPeriod"/>
            </a:pPr>
            <a:r>
              <a:rPr lang="en-US" sz="2000" dirty="0" smtClean="0">
                <a:latin typeface="Liberation Sans" panose="020B0604020202020204" pitchFamily="34" charset="0"/>
              </a:rPr>
              <a:t>Bookkeeping </a:t>
            </a:r>
            <a:r>
              <a:rPr lang="en-US" sz="2000" dirty="0">
                <a:latin typeface="Liberation Sans" panose="020B0604020202020204" pitchFamily="34" charset="0"/>
              </a:rPr>
              <a:t>encompasses all steps in the accounting </a:t>
            </a:r>
            <a:r>
              <a:rPr lang="en-US" sz="2000" dirty="0" smtClean="0">
                <a:latin typeface="Liberation Sans" panose="020B0604020202020204" pitchFamily="34" charset="0"/>
              </a:rPr>
              <a:t>process.</a:t>
            </a:r>
          </a:p>
          <a:p>
            <a:pPr algn="l" eaLnBrk="1" hangingPunct="1">
              <a:lnSpc>
                <a:spcPct val="125000"/>
              </a:lnSpc>
              <a:spcBef>
                <a:spcPts val="1200"/>
              </a:spcBef>
              <a:buFontTx/>
              <a:buAutoNum type="arabicPeriod"/>
            </a:pPr>
            <a:r>
              <a:rPr lang="en-US" sz="2000" dirty="0" smtClean="0">
                <a:latin typeface="Liberation Sans" panose="020B0604020202020204" pitchFamily="34" charset="0"/>
              </a:rPr>
              <a:t>Accountants </a:t>
            </a:r>
            <a:r>
              <a:rPr lang="en-US" sz="2000" dirty="0">
                <a:latin typeface="Liberation Sans" panose="020B0604020202020204" pitchFamily="34" charset="0"/>
              </a:rPr>
              <a:t>prepare, but do not interpret, </a:t>
            </a:r>
            <a:r>
              <a:rPr lang="en-US" sz="2000" dirty="0" smtClean="0">
                <a:latin typeface="Liberation Sans" panose="020B0604020202020204" pitchFamily="34" charset="0"/>
              </a:rPr>
              <a:t>financial reports.</a:t>
            </a:r>
          </a:p>
          <a:p>
            <a:pPr algn="l" eaLnBrk="1" hangingPunct="1">
              <a:lnSpc>
                <a:spcPct val="125000"/>
              </a:lnSpc>
              <a:spcBef>
                <a:spcPts val="1200"/>
              </a:spcBef>
              <a:buFontTx/>
              <a:buAutoNum type="arabicPeriod"/>
            </a:pPr>
            <a:r>
              <a:rPr lang="en-US" sz="2000" dirty="0" smtClean="0">
                <a:latin typeface="Liberation Sans" panose="020B0604020202020204" pitchFamily="34" charset="0"/>
              </a:rPr>
              <a:t>The </a:t>
            </a:r>
            <a:r>
              <a:rPr lang="en-US" sz="2000" dirty="0">
                <a:latin typeface="Liberation Sans" panose="020B0604020202020204" pitchFamily="34" charset="0"/>
              </a:rPr>
              <a:t>two most common types of external users are investors and company </a:t>
            </a:r>
            <a:r>
              <a:rPr lang="en-US" sz="2000" dirty="0" smtClean="0">
                <a:latin typeface="Liberation Sans" panose="020B0604020202020204" pitchFamily="34" charset="0"/>
              </a:rPr>
              <a:t>officers.</a:t>
            </a:r>
          </a:p>
          <a:p>
            <a:pPr algn="l" eaLnBrk="1" hangingPunct="1">
              <a:lnSpc>
                <a:spcPct val="125000"/>
              </a:lnSpc>
              <a:spcBef>
                <a:spcPts val="1200"/>
              </a:spcBef>
              <a:buFontTx/>
              <a:buAutoNum type="arabicPeriod"/>
            </a:pPr>
            <a:r>
              <a:rPr lang="en-US" sz="2000" dirty="0" smtClean="0">
                <a:latin typeface="Liberation Sans" panose="020B0604020202020204" pitchFamily="34" charset="0"/>
              </a:rPr>
              <a:t>Managerial </a:t>
            </a:r>
            <a:r>
              <a:rPr lang="en-US" sz="2000" dirty="0">
                <a:latin typeface="Liberation Sans" panose="020B0604020202020204" pitchFamily="34" charset="0"/>
              </a:rPr>
              <a:t>accounting activities focus on reports for internal users.</a:t>
            </a:r>
            <a:endParaRPr lang="en-US" altLang="en-US" sz="2000" dirty="0">
              <a:latin typeface="Liberation Sans" panose="020B0604020202020204" pitchFamily="34" charset="0"/>
            </a:endParaRPr>
          </a:p>
        </p:txBody>
      </p:sp>
      <p:sp>
        <p:nvSpPr>
          <p:cNvPr id="17" name="Text Box 1037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>
                <a:latin typeface="Liberation Sans" panose="020B0604020202020204" pitchFamily="34" charset="0"/>
              </a:rPr>
              <a:t>LO 1</a:t>
            </a:r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2115457" y="5638800"/>
            <a:ext cx="1008743" cy="442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3247" rIns="0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10000"/>
              </a:lnSpc>
              <a:spcBef>
                <a:spcPct val="30000"/>
              </a:spcBef>
              <a:tabLst>
                <a:tab pos="1651000" algn="r"/>
                <a:tab pos="2974975" algn="r"/>
                <a:tab pos="4230688" algn="r"/>
                <a:tab pos="5595938" algn="r"/>
                <a:tab pos="6973888" algn="r"/>
              </a:tabLst>
            </a:pPr>
            <a:r>
              <a:rPr lang="en-US" altLang="en-US" sz="2100" b="1" dirty="0">
                <a:latin typeface="Liberation Sans" panose="020B0604020202020204" pitchFamily="34" charset="0"/>
              </a:rPr>
              <a:t> </a:t>
            </a:r>
            <a:r>
              <a:rPr lang="en-US" altLang="en-US" sz="2100" b="1" dirty="0" smtClean="0">
                <a:latin typeface="Liberation Sans" panose="020B0604020202020204" pitchFamily="34" charset="0"/>
              </a:rPr>
              <a:t>True</a:t>
            </a:r>
            <a:endParaRPr lang="en-US" altLang="en-US" sz="2100" b="1" dirty="0">
              <a:latin typeface="Liberation Sans" panose="020B0604020202020204" pitchFamily="34" charset="0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3410857" y="5638800"/>
            <a:ext cx="1008743" cy="41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3247" rIns="0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10000"/>
              </a:lnSpc>
              <a:spcBef>
                <a:spcPct val="30000"/>
              </a:spcBef>
              <a:tabLst>
                <a:tab pos="1651000" algn="r"/>
                <a:tab pos="2974975" algn="r"/>
                <a:tab pos="4230688" algn="r"/>
                <a:tab pos="5595938" algn="r"/>
                <a:tab pos="6973888" algn="r"/>
              </a:tabLst>
            </a:pPr>
            <a:r>
              <a:rPr lang="en-US" altLang="en-US" sz="2100" b="1" dirty="0">
                <a:latin typeface="Liberation Sans" panose="020B0604020202020204" pitchFamily="34" charset="0"/>
              </a:rPr>
              <a:t> </a:t>
            </a:r>
            <a:r>
              <a:rPr lang="en-US" altLang="en-US" sz="2100" b="1" dirty="0" smtClean="0">
                <a:latin typeface="Liberation Sans" panose="020B0604020202020204" pitchFamily="34" charset="0"/>
              </a:rPr>
              <a:t>False</a:t>
            </a:r>
            <a:endParaRPr lang="en-US" altLang="en-US" sz="2100" b="1" dirty="0">
              <a:latin typeface="Liberation Sans" panose="020B0604020202020204" pitchFamily="34" charset="0"/>
            </a:endParaRP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4782457" y="5638800"/>
            <a:ext cx="1008743" cy="41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3247" rIns="0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10000"/>
              </a:lnSpc>
              <a:spcBef>
                <a:spcPct val="30000"/>
              </a:spcBef>
              <a:tabLst>
                <a:tab pos="1651000" algn="r"/>
                <a:tab pos="2974975" algn="r"/>
                <a:tab pos="4230688" algn="r"/>
                <a:tab pos="5595938" algn="r"/>
                <a:tab pos="6973888" algn="r"/>
              </a:tabLst>
            </a:pPr>
            <a:r>
              <a:rPr lang="en-US" altLang="en-US" sz="2100" b="1" dirty="0">
                <a:latin typeface="Liberation Sans" panose="020B0604020202020204" pitchFamily="34" charset="0"/>
              </a:rPr>
              <a:t> </a:t>
            </a:r>
            <a:r>
              <a:rPr lang="en-US" altLang="en-US" sz="2100" b="1" dirty="0" smtClean="0">
                <a:latin typeface="Liberation Sans" panose="020B0604020202020204" pitchFamily="34" charset="0"/>
              </a:rPr>
              <a:t>False</a:t>
            </a:r>
            <a:endParaRPr lang="en-US" altLang="en-US" sz="2100" b="1" dirty="0">
              <a:latin typeface="Liberation Sans" panose="020B0604020202020204" pitchFamily="34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154057" y="5638800"/>
            <a:ext cx="1008743" cy="41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3247" rIns="0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10000"/>
              </a:lnSpc>
              <a:spcBef>
                <a:spcPct val="30000"/>
              </a:spcBef>
              <a:tabLst>
                <a:tab pos="1651000" algn="r"/>
                <a:tab pos="2974975" algn="r"/>
                <a:tab pos="4230688" algn="r"/>
                <a:tab pos="5595938" algn="r"/>
                <a:tab pos="6973888" algn="r"/>
              </a:tabLst>
            </a:pPr>
            <a:r>
              <a:rPr lang="en-US" altLang="en-US" sz="2100" b="1" dirty="0">
                <a:latin typeface="Liberation Sans" panose="020B0604020202020204" pitchFamily="34" charset="0"/>
              </a:rPr>
              <a:t> </a:t>
            </a:r>
            <a:r>
              <a:rPr lang="en-US" altLang="en-US" sz="2100" b="1" dirty="0" smtClean="0">
                <a:latin typeface="Liberation Sans" panose="020B0604020202020204" pitchFamily="34" charset="0"/>
              </a:rPr>
              <a:t>False</a:t>
            </a:r>
            <a:endParaRPr lang="en-US" altLang="en-US" sz="2100" b="1" dirty="0">
              <a:latin typeface="Liberation Sans" panose="020B0604020202020204" pitchFamily="34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7525657" y="5638800"/>
            <a:ext cx="1008743" cy="41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3247" rIns="0" bIns="43247">
            <a:spAutoFit/>
          </a:bodyPr>
          <a:lstStyle>
            <a:lvl1pPr marL="461963" indent="-461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33463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lnSpc>
                <a:spcPct val="110000"/>
              </a:lnSpc>
              <a:spcBef>
                <a:spcPct val="30000"/>
              </a:spcBef>
              <a:tabLst>
                <a:tab pos="1651000" algn="r"/>
                <a:tab pos="2974975" algn="r"/>
                <a:tab pos="4230688" algn="r"/>
                <a:tab pos="5595938" algn="r"/>
                <a:tab pos="6973888" algn="r"/>
              </a:tabLst>
            </a:pPr>
            <a:r>
              <a:rPr lang="en-US" altLang="en-US" sz="2100" b="1" dirty="0">
                <a:latin typeface="Liberation Sans" panose="020B0604020202020204" pitchFamily="34" charset="0"/>
              </a:rPr>
              <a:t> </a:t>
            </a:r>
            <a:r>
              <a:rPr lang="en-US" altLang="en-US" sz="2100" b="1" dirty="0" smtClean="0">
                <a:latin typeface="Liberation Sans" panose="020B0604020202020204" pitchFamily="34" charset="0"/>
              </a:rPr>
              <a:t>True</a:t>
            </a:r>
            <a:endParaRPr lang="en-US" altLang="en-US" sz="2100" b="1" dirty="0">
              <a:latin typeface="Liberation Sans" panose="020B0604020202020204" pitchFamily="34" charset="0"/>
            </a:endParaRPr>
          </a:p>
        </p:txBody>
      </p:sp>
      <p:pic>
        <p:nvPicPr>
          <p:cNvPr id="27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857" y="586815"/>
            <a:ext cx="3144567" cy="41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Basic Concepts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7753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533400" y="1474788"/>
            <a:ext cx="7772400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Ethics </a:t>
            </a:r>
            <a:r>
              <a:rPr lang="en-US" altLang="en-US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in </a:t>
            </a:r>
            <a:r>
              <a:rPr lang="en-US" altLang="en-US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Financial Reporting</a:t>
            </a:r>
          </a:p>
        </p:txBody>
      </p:sp>
      <p:sp>
        <p:nvSpPr>
          <p:cNvPr id="12293" name="Text Box 3"/>
          <p:cNvSpPr txBox="1">
            <a:spLocks noChangeArrowheads="1"/>
          </p:cNvSpPr>
          <p:nvPr/>
        </p:nvSpPr>
        <p:spPr bwMode="auto">
          <a:xfrm>
            <a:off x="533400" y="2057400"/>
            <a:ext cx="7772400" cy="3695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CC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90563" indent="-460375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lvl="1">
              <a:lnSpc>
                <a:spcPct val="125000"/>
              </a:lnSpc>
              <a:spcBef>
                <a:spcPct val="6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000" b="0" dirty="0" smtClean="0">
                <a:solidFill>
                  <a:srgbClr val="000000"/>
                </a:solidFill>
                <a:latin typeface="Liberation Sans" panose="020B0604020202020204" pitchFamily="34" charset="0"/>
              </a:rPr>
              <a:t>Recent 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financial scandals include:  </a:t>
            </a:r>
            <a:r>
              <a:rPr lang="en-US" altLang="en-US" sz="2000" dirty="0">
                <a:solidFill>
                  <a:srgbClr val="800000"/>
                </a:solidFill>
                <a:latin typeface="Liberation Sans" panose="020B0604020202020204" pitchFamily="34" charset="0"/>
              </a:rPr>
              <a:t>Enron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, </a:t>
            </a:r>
            <a:r>
              <a:rPr lang="en-US" altLang="en-US" sz="2000" dirty="0">
                <a:solidFill>
                  <a:srgbClr val="800000"/>
                </a:solidFill>
                <a:latin typeface="Liberation Sans" panose="020B0604020202020204" pitchFamily="34" charset="0"/>
              </a:rPr>
              <a:t>WorldCom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, </a:t>
            </a:r>
            <a:r>
              <a:rPr lang="en-US" altLang="en-US" sz="2000" dirty="0">
                <a:solidFill>
                  <a:srgbClr val="800000"/>
                </a:solidFill>
                <a:latin typeface="Liberation Sans" panose="020B0604020202020204" pitchFamily="34" charset="0"/>
              </a:rPr>
              <a:t>HealthSouth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, </a:t>
            </a:r>
            <a:r>
              <a:rPr lang="en-US" altLang="en-US" sz="2000" dirty="0">
                <a:solidFill>
                  <a:srgbClr val="800000"/>
                </a:solidFill>
                <a:latin typeface="Liberation Sans" panose="020B0604020202020204" pitchFamily="34" charset="0"/>
              </a:rPr>
              <a:t>AIG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, and </a:t>
            </a:r>
            <a:r>
              <a:rPr lang="en-US" altLang="en-US" sz="2000" b="0" dirty="0" smtClean="0">
                <a:solidFill>
                  <a:srgbClr val="000000"/>
                </a:solidFill>
                <a:latin typeface="Liberation Sans" panose="020B0604020202020204" pitchFamily="34" charset="0"/>
              </a:rPr>
              <a:t>other companies.</a:t>
            </a:r>
          </a:p>
          <a:p>
            <a:pPr lvl="1">
              <a:lnSpc>
                <a:spcPct val="125000"/>
              </a:lnSpc>
              <a:spcBef>
                <a:spcPct val="6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000" b="0" dirty="0" smtClean="0">
                <a:solidFill>
                  <a:srgbClr val="000000"/>
                </a:solidFill>
                <a:latin typeface="Liberation Sans" panose="020B0604020202020204" pitchFamily="34" charset="0"/>
              </a:rPr>
              <a:t>Regulators 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and lawmakers </a:t>
            </a:r>
            <a:r>
              <a:rPr lang="en-US" altLang="en-US" sz="2000" b="0" dirty="0" smtClean="0">
                <a:solidFill>
                  <a:srgbClr val="000000"/>
                </a:solidFill>
                <a:latin typeface="Liberation Sans" panose="020B0604020202020204" pitchFamily="34" charset="0"/>
              </a:rPr>
              <a:t>concerned 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that </a:t>
            </a:r>
            <a:r>
              <a:rPr lang="en-US" altLang="en-US" sz="2000" b="0" dirty="0" smtClean="0">
                <a:solidFill>
                  <a:srgbClr val="000000"/>
                </a:solidFill>
                <a:latin typeface="Liberation Sans" panose="020B0604020202020204" pitchFamily="34" charset="0"/>
              </a:rPr>
              <a:t>economy </a:t>
            </a:r>
            <a:r>
              <a:rPr lang="en-US" altLang="en-US" sz="20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would suffer if investors lost confidence in corporate </a:t>
            </a:r>
            <a:r>
              <a:rPr lang="en-US" altLang="en-US" sz="2000" b="0" dirty="0" smtClean="0">
                <a:solidFill>
                  <a:srgbClr val="000000"/>
                </a:solidFill>
                <a:latin typeface="Liberation Sans" panose="020B0604020202020204" pitchFamily="34" charset="0"/>
              </a:rPr>
              <a:t>accounting.  In response,</a:t>
            </a:r>
            <a:endParaRPr lang="en-US" altLang="en-US" sz="1900" b="0" dirty="0">
              <a:solidFill>
                <a:srgbClr val="000000"/>
              </a:solidFill>
              <a:latin typeface="Liberation Sans" panose="020B0604020202020204" pitchFamily="34" charset="0"/>
            </a:endParaRPr>
          </a:p>
          <a:p>
            <a:pPr marL="1377950" lvl="2" indent="-463550">
              <a:lnSpc>
                <a:spcPct val="125000"/>
              </a:lnSpc>
              <a:spcBef>
                <a:spcPct val="60000"/>
              </a:spcBef>
              <a:buClr>
                <a:srgbClr val="800000"/>
              </a:buClr>
              <a:buSzPct val="80000"/>
              <a:buFont typeface="Arial" panose="020B0604020202020204" pitchFamily="34" charset="0"/>
              <a:buChar char="►"/>
            </a:pPr>
            <a:r>
              <a:rPr lang="en-US" altLang="en-US" sz="19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Congress passed </a:t>
            </a:r>
            <a:r>
              <a:rPr lang="en-US" altLang="en-US" sz="1900" dirty="0">
                <a:solidFill>
                  <a:srgbClr val="0000CC"/>
                </a:solidFill>
                <a:latin typeface="Liberation Sans" panose="020B0604020202020204" pitchFamily="34" charset="0"/>
              </a:rPr>
              <a:t>Sarbanes-Oxley Act </a:t>
            </a:r>
            <a:r>
              <a:rPr lang="en-US" altLang="en-US" sz="1900" dirty="0" smtClean="0">
                <a:solidFill>
                  <a:srgbClr val="0000CC"/>
                </a:solidFill>
                <a:latin typeface="Liberation Sans" panose="020B0604020202020204" pitchFamily="34" charset="0"/>
              </a:rPr>
              <a:t> </a:t>
            </a:r>
            <a:r>
              <a:rPr lang="en-US" altLang="en-US" sz="1900" dirty="0">
                <a:solidFill>
                  <a:srgbClr val="0000CC"/>
                </a:solidFill>
                <a:latin typeface="Liberation Sans" panose="020B0604020202020204" pitchFamily="34" charset="0"/>
              </a:rPr>
              <a:t>(SOX)</a:t>
            </a:r>
            <a:r>
              <a:rPr lang="en-US" altLang="en-US" sz="1900" b="0" dirty="0">
                <a:solidFill>
                  <a:srgbClr val="000000"/>
                </a:solidFill>
                <a:latin typeface="Liberation Sans" panose="020B0604020202020204" pitchFamily="34" charset="0"/>
              </a:rPr>
              <a:t>. </a:t>
            </a:r>
            <a:endParaRPr lang="en-US" altLang="en-US" sz="1900" b="0" dirty="0" smtClean="0">
              <a:solidFill>
                <a:srgbClr val="000000"/>
              </a:solidFill>
              <a:latin typeface="Liberation Sans" panose="020B0604020202020204" pitchFamily="34" charset="0"/>
            </a:endParaRPr>
          </a:p>
          <a:p>
            <a:pPr marL="682625" lvl="2" indent="-450850">
              <a:lnSpc>
                <a:spcPct val="125000"/>
              </a:lnSpc>
              <a:spcBef>
                <a:spcPct val="600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b="0" dirty="0">
                <a:solidFill>
                  <a:srgbClr val="000000"/>
                </a:solidFill>
                <a:latin typeface="Liberation Sans" panose="020B0604020202020204" pitchFamily="34" charset="0"/>
              </a:rPr>
              <a:t>Effective financial reporting depends on sound ethical behavior.</a:t>
            </a:r>
          </a:p>
        </p:txBody>
      </p:sp>
      <p:sp>
        <p:nvSpPr>
          <p:cNvPr id="1229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405765"/>
            <a:ext cx="2540000" cy="677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LEARNING</a:t>
            </a:r>
          </a:p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OBJECTIVE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540000" y="274320"/>
            <a:ext cx="6604000" cy="92868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lIns="86493" tIns="34597" rIns="86493" bIns="43247" anchor="ctr"/>
          <a:lstStyle/>
          <a:p>
            <a:pPr marL="111120" algn="l"/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Explain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the building blocks of accounting</a:t>
            </a:r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: ethics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, principles, and assumptions.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1828800" y="485775"/>
            <a:ext cx="522514" cy="514350"/>
          </a:xfrm>
          <a:prstGeom prst="ellipse">
            <a:avLst/>
          </a:prstGeom>
          <a:solidFill>
            <a:srgbClr val="FF99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6493" tIns="0" rIns="86493" bIns="43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2</a:t>
            </a:r>
            <a:endParaRPr lang="en-US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>
            <a:spLocks noChangeArrowheads="1"/>
          </p:cNvSpPr>
          <p:nvPr/>
        </p:nvSpPr>
        <p:spPr bwMode="auto">
          <a:xfrm>
            <a:off x="2971800" y="3124200"/>
            <a:ext cx="228600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13315" name="Rectangle 14"/>
          <p:cNvSpPr>
            <a:spLocks noChangeArrowheads="1"/>
          </p:cNvSpPr>
          <p:nvPr/>
        </p:nvSpPr>
        <p:spPr bwMode="auto">
          <a:xfrm>
            <a:off x="2971800" y="3352800"/>
            <a:ext cx="228600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13316" name="Rectangle 15"/>
          <p:cNvSpPr>
            <a:spLocks noChangeArrowheads="1"/>
          </p:cNvSpPr>
          <p:nvPr/>
        </p:nvSpPr>
        <p:spPr bwMode="auto">
          <a:xfrm rot="-5400000">
            <a:off x="2895600" y="3200400"/>
            <a:ext cx="228600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13317" name="Rectangle 10"/>
          <p:cNvSpPr>
            <a:spLocks noChangeArrowheads="1"/>
          </p:cNvSpPr>
          <p:nvPr/>
        </p:nvSpPr>
        <p:spPr bwMode="auto">
          <a:xfrm>
            <a:off x="4419600" y="5791200"/>
            <a:ext cx="2362200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Steps in analyzing ethics cases and situations</a:t>
            </a:r>
          </a:p>
        </p:txBody>
      </p: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610600" cy="314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9" name="Line 5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533400" y="304800"/>
            <a:ext cx="7620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Ethics in Financial Reporting</a:t>
            </a:r>
          </a:p>
        </p:txBody>
      </p:sp>
      <p:sp>
        <p:nvSpPr>
          <p:cNvPr id="1332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62400"/>
            <a:ext cx="2667000" cy="2504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457200" y="1905000"/>
            <a:ext cx="8153400" cy="3505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562" tIns="46038" rIns="182562" bIns="46038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5613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None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Ethics are the standards of conduct by which one's actions are judged as: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right or wrong.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honest or dishonest.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fair or not fair.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all of these options.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533400" y="1295400"/>
            <a:ext cx="5334000" cy="5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dirty="0">
                <a:solidFill>
                  <a:schemeClr val="tx1"/>
                </a:solidFill>
                <a:latin typeface="Liberation Sans" panose="020B0604020202020204" pitchFamily="34" charset="0"/>
              </a:rPr>
              <a:t>Question</a:t>
            </a:r>
          </a:p>
        </p:txBody>
      </p:sp>
      <p:sp>
        <p:nvSpPr>
          <p:cNvPr id="14340" name="Line 7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4341" name="Rectangle 7"/>
          <p:cNvSpPr>
            <a:spLocks noChangeArrowheads="1"/>
          </p:cNvSpPr>
          <p:nvPr/>
        </p:nvSpPr>
        <p:spPr bwMode="auto">
          <a:xfrm>
            <a:off x="533400" y="304800"/>
            <a:ext cx="7620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Ethics in Financial Reporting</a:t>
            </a:r>
          </a:p>
        </p:txBody>
      </p:sp>
      <p:sp>
        <p:nvSpPr>
          <p:cNvPr id="1434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" name="Notched Right Arrow 8"/>
          <p:cNvSpPr/>
          <p:nvPr/>
        </p:nvSpPr>
        <p:spPr bwMode="auto">
          <a:xfrm>
            <a:off x="152400" y="4724400"/>
            <a:ext cx="609600" cy="457200"/>
          </a:xfrm>
          <a:prstGeom prst="notchedRightArrow">
            <a:avLst/>
          </a:prstGeom>
          <a:solidFill>
            <a:schemeClr val="tx2">
              <a:lumMod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109664"/>
            <a:ext cx="8610599" cy="345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838200" y="1752600"/>
            <a:ext cx="2362200" cy="1125538"/>
          </a:xfrm>
          <a:prstGeom prst="rect">
            <a:avLst/>
          </a:prstGeom>
          <a:solidFill>
            <a:srgbClr val="FFFFFF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Various users need financial information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28600" y="3997607"/>
            <a:ext cx="3657600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accounting profession has </a:t>
            </a:r>
            <a:r>
              <a:rPr lang="en-US" alt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developed standards </a:t>
            </a: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that are generally accepted and universally practiced.</a:t>
            </a:r>
          </a:p>
        </p:txBody>
      </p:sp>
      <p:sp>
        <p:nvSpPr>
          <p:cNvPr id="17412" name="AutoShape 4"/>
          <p:cNvSpPr>
            <a:spLocks noChangeArrowheads="1"/>
          </p:cNvSpPr>
          <p:nvPr/>
        </p:nvSpPr>
        <p:spPr bwMode="auto">
          <a:xfrm>
            <a:off x="3733800" y="2209800"/>
            <a:ext cx="8382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9900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953000" y="1524000"/>
            <a:ext cx="3505200" cy="1689100"/>
          </a:xfrm>
          <a:prstGeom prst="rect">
            <a:avLst/>
          </a:prstGeom>
          <a:solidFill>
            <a:srgbClr val="FFFFFF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57150" indent="-3175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5143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Financial Statements</a:t>
            </a:r>
          </a:p>
          <a:p>
            <a:pPr lvl="1">
              <a:lnSpc>
                <a:spcPct val="105000"/>
              </a:lnSpc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4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Balance Sheet</a:t>
            </a:r>
          </a:p>
          <a:p>
            <a:pPr lvl="1">
              <a:lnSpc>
                <a:spcPct val="105000"/>
              </a:lnSpc>
              <a:spcBef>
                <a:spcPct val="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4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Income Statement</a:t>
            </a:r>
          </a:p>
          <a:p>
            <a:pPr lvl="1">
              <a:lnSpc>
                <a:spcPct val="105000"/>
              </a:lnSpc>
              <a:spcBef>
                <a:spcPct val="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4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Statement of </a:t>
            </a:r>
            <a:r>
              <a:rPr lang="en-US" altLang="en-US" sz="14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Owner's Equity</a:t>
            </a:r>
            <a:endParaRPr lang="en-US" altLang="en-US" sz="1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 lvl="1">
              <a:lnSpc>
                <a:spcPct val="105000"/>
              </a:lnSpc>
              <a:spcBef>
                <a:spcPct val="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4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Statement of Cash Flows</a:t>
            </a:r>
          </a:p>
          <a:p>
            <a:pPr lvl="1">
              <a:lnSpc>
                <a:spcPct val="105000"/>
              </a:lnSpc>
              <a:spcBef>
                <a:spcPct val="0"/>
              </a:spcBef>
              <a:spcAft>
                <a:spcPct val="25000"/>
              </a:spcAft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4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Note Disclosure</a:t>
            </a:r>
          </a:p>
          <a:p>
            <a:pPr lvl="1">
              <a:lnSpc>
                <a:spcPct val="105000"/>
              </a:lnSpc>
              <a:spcBef>
                <a:spcPct val="0"/>
              </a:spcBef>
              <a:spcAft>
                <a:spcPct val="25000"/>
              </a:spcAft>
              <a:buClr>
                <a:srgbClr val="800000"/>
              </a:buClr>
              <a:buSzPct val="80000"/>
              <a:buFont typeface="Wingdings" pitchFamily="2" charset="2"/>
              <a:buChar char="u"/>
            </a:pPr>
            <a:endParaRPr lang="en-US" altLang="en-US" sz="1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519174" name="Rectangle 6"/>
          <p:cNvSpPr>
            <a:spLocks noChangeArrowheads="1"/>
          </p:cNvSpPr>
          <p:nvPr/>
        </p:nvSpPr>
        <p:spPr bwMode="auto">
          <a:xfrm>
            <a:off x="5105400" y="4114800"/>
            <a:ext cx="3200400" cy="1600200"/>
          </a:xfrm>
          <a:prstGeom prst="rect">
            <a:avLst/>
          </a:prstGeom>
          <a:solidFill>
            <a:srgbClr val="0000CC"/>
          </a:solidFill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0" anchor="ctr"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iberation Sans" panose="020B0604020202020204" pitchFamily="34" charset="0"/>
              </a:rPr>
              <a:t>Generally Accepted Accounting Principles (GAAP)</a:t>
            </a:r>
          </a:p>
        </p:txBody>
      </p:sp>
      <p:sp>
        <p:nvSpPr>
          <p:cNvPr id="17415" name="AutoShape 7"/>
          <p:cNvSpPr>
            <a:spLocks noChangeArrowheads="1"/>
          </p:cNvSpPr>
          <p:nvPr/>
        </p:nvSpPr>
        <p:spPr bwMode="auto">
          <a:xfrm>
            <a:off x="4038600" y="4724400"/>
            <a:ext cx="7620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9900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7416" name="AutoShape 8"/>
          <p:cNvSpPr>
            <a:spLocks noChangeArrowheads="1"/>
          </p:cNvSpPr>
          <p:nvPr/>
        </p:nvSpPr>
        <p:spPr bwMode="auto">
          <a:xfrm rot="-5400000">
            <a:off x="6400800" y="3505200"/>
            <a:ext cx="5334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9900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7417" name="Line 1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457200" y="304800"/>
            <a:ext cx="8458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Generally Accepted Accounting Principles</a:t>
            </a:r>
          </a:p>
        </p:txBody>
      </p:sp>
      <p:sp>
        <p:nvSpPr>
          <p:cNvPr id="17419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ChangeArrowheads="1"/>
          </p:cNvSpPr>
          <p:nvPr/>
        </p:nvSpPr>
        <p:spPr bwMode="auto">
          <a:xfrm>
            <a:off x="457200" y="1295400"/>
            <a:ext cx="8077200" cy="126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Generally Accepted Accounting Principles (GAAP) </a:t>
            </a: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– </a:t>
            </a: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Standards that are generally accepted and universally practiced. These standards indicate how to report economic events.</a:t>
            </a:r>
          </a:p>
        </p:txBody>
      </p:sp>
      <p:sp>
        <p:nvSpPr>
          <p:cNvPr id="18435" name="Line 8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8436" name="Rectangle 6"/>
          <p:cNvSpPr>
            <a:spLocks noChangeArrowheads="1"/>
          </p:cNvSpPr>
          <p:nvPr/>
        </p:nvSpPr>
        <p:spPr bwMode="auto">
          <a:xfrm>
            <a:off x="457200" y="2716537"/>
            <a:ext cx="4953000" cy="3266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Standard-setting bodies:</a:t>
            </a:r>
            <a:endParaRPr lang="en-US" altLang="en-US" sz="21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Arial" charset="0"/>
              <a:buChar char="►"/>
            </a:pP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Financial Accounting Standards Board (FASB)</a:t>
            </a: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Arial" charset="0"/>
              <a:buChar char="►"/>
            </a:pP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Securities and Exchange Commission (SEC)</a:t>
            </a: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Arial" charset="0"/>
              <a:buChar char="►"/>
            </a:pP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International Accounting Standards Board (IASB)</a:t>
            </a: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457200" y="304800"/>
            <a:ext cx="8458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Generally Accepted Accounting Principles</a:t>
            </a:r>
          </a:p>
        </p:txBody>
      </p:sp>
      <p:sp>
        <p:nvSpPr>
          <p:cNvPr id="18439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657600"/>
            <a:ext cx="2996032" cy="248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288" y="3810000"/>
            <a:ext cx="2412112" cy="198120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9458" name="Line 7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533400" y="304800"/>
            <a:ext cx="8458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Measurement Principles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8001000" cy="240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25000"/>
              </a:lnSpc>
              <a:spcBef>
                <a:spcPts val="1200"/>
              </a:spcBef>
              <a:spcAft>
                <a:spcPct val="20000"/>
              </a:spcAft>
              <a:buSzPct val="80000"/>
              <a:defRPr/>
            </a:pPr>
            <a:r>
              <a:rPr lang="en-US" sz="2300" b="1" dirty="0" smtClean="0">
                <a:latin typeface="Liberation Sans" panose="020B0604020202020204" pitchFamily="34" charset="0"/>
              </a:rPr>
              <a:t>HISTORICAL COST PRINCIPLE </a:t>
            </a:r>
            <a:r>
              <a:rPr lang="en-US" sz="2100" dirty="0" smtClean="0">
                <a:latin typeface="Liberation Sans" panose="020B0604020202020204" pitchFamily="34" charset="0"/>
              </a:rPr>
              <a:t>(or cost principle) dictates that companies record assets at their cost.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defRPr/>
            </a:pPr>
            <a:r>
              <a:rPr lang="en-US" sz="2300" b="1" dirty="0" smtClean="0">
                <a:latin typeface="Liberation Sans" panose="020B0604020202020204" pitchFamily="34" charset="0"/>
              </a:rPr>
              <a:t>FAIR VALUE PRINCIPLE </a:t>
            </a:r>
            <a:r>
              <a:rPr lang="en-US" sz="2100" dirty="0" smtClean="0">
                <a:latin typeface="Liberation Sans" panose="020B0604020202020204" pitchFamily="34" charset="0"/>
              </a:rPr>
              <a:t>states that assets and liabilities should be reported at fair value (the price received to sell an asset or settle a liability). 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33400" y="3778240"/>
            <a:ext cx="4495800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25000"/>
              </a:lnSpc>
              <a:spcBef>
                <a:spcPts val="1200"/>
              </a:spcBef>
              <a:defRPr/>
            </a:pPr>
            <a:r>
              <a:rPr lang="en-US" sz="2100" dirty="0" smtClean="0">
                <a:latin typeface="Liberation Sans" panose="020B0604020202020204" pitchFamily="34" charset="0"/>
              </a:rPr>
              <a:t>Selection of which principle to follow generally relates to trade-offs between </a:t>
            </a:r>
            <a:r>
              <a:rPr lang="en-US" sz="2100" b="1" dirty="0" smtClean="0">
                <a:solidFill>
                  <a:srgbClr val="000099"/>
                </a:solidFill>
                <a:latin typeface="Liberation Sans" panose="020B0604020202020204" pitchFamily="34" charset="0"/>
              </a:rPr>
              <a:t>relevance</a:t>
            </a:r>
            <a:r>
              <a:rPr lang="en-US" sz="2100" dirty="0" smtClean="0">
                <a:latin typeface="Liberation Sans" panose="020B0604020202020204" pitchFamily="34" charset="0"/>
              </a:rPr>
              <a:t> and </a:t>
            </a:r>
            <a:r>
              <a:rPr lang="en-US" sz="2100" b="1" dirty="0">
                <a:solidFill>
                  <a:srgbClr val="000099"/>
                </a:solidFill>
                <a:latin typeface="Liberation Sans" panose="020B0604020202020204" pitchFamily="34" charset="0"/>
              </a:rPr>
              <a:t>faithful</a:t>
            </a:r>
            <a:r>
              <a:rPr lang="en-US" sz="2100" dirty="0" smtClean="0">
                <a:solidFill>
                  <a:srgbClr val="0000CC"/>
                </a:solidFill>
                <a:latin typeface="Liberation Sans" panose="020B0604020202020204" pitchFamily="34" charset="0"/>
              </a:rPr>
              <a:t> </a:t>
            </a:r>
            <a:r>
              <a:rPr lang="en-US" sz="2100" b="1" dirty="0">
                <a:solidFill>
                  <a:srgbClr val="000099"/>
                </a:solidFill>
                <a:latin typeface="Liberation Sans" panose="020B0604020202020204" pitchFamily="34" charset="0"/>
              </a:rPr>
              <a:t>representation</a:t>
            </a:r>
            <a:r>
              <a:rPr lang="en-US" sz="2100" dirty="0" smtClean="0">
                <a:latin typeface="Liberation Sans" panose="020B0604020202020204" pitchFamily="34" charset="0"/>
              </a:rPr>
              <a:t>.</a:t>
            </a:r>
          </a:p>
        </p:txBody>
      </p:sp>
      <p:sp>
        <p:nvSpPr>
          <p:cNvPr id="1946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8001000" cy="4523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5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573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25000"/>
              </a:lnSpc>
              <a:spcBef>
                <a:spcPts val="1200"/>
              </a:spcBef>
              <a:spcAft>
                <a:spcPct val="20000"/>
              </a:spcAft>
              <a:buSzPct val="80000"/>
              <a:defRPr/>
            </a:pPr>
            <a:r>
              <a:rPr lang="en-US" sz="2300" b="1" dirty="0" smtClean="0">
                <a:latin typeface="Liberation Sans" panose="020B0604020202020204" pitchFamily="34" charset="0"/>
              </a:rPr>
              <a:t>MONETARY UNIT ASSUMPTION </a:t>
            </a:r>
            <a:r>
              <a:rPr lang="en-US" sz="2100" dirty="0" smtClean="0">
                <a:latin typeface="Liberation Sans" panose="020B0604020202020204" pitchFamily="34" charset="0"/>
              </a:rPr>
              <a:t>requires that companies include in the accounting records only transaction data that can be expressed in terms of money.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defRPr/>
            </a:pPr>
            <a:r>
              <a:rPr lang="en-US" sz="2300" b="1" dirty="0">
                <a:latin typeface="Liberation Sans" panose="020B0604020202020204" pitchFamily="34" charset="0"/>
              </a:rPr>
              <a:t>ECONOMIC</a:t>
            </a:r>
            <a:r>
              <a:rPr lang="en-US" sz="2500" b="1" dirty="0" smtClean="0">
                <a:solidFill>
                  <a:srgbClr val="000099"/>
                </a:solidFill>
                <a:latin typeface="Liberation Sans" panose="020B0604020202020204" pitchFamily="34" charset="0"/>
              </a:rPr>
              <a:t> </a:t>
            </a:r>
            <a:r>
              <a:rPr lang="en-US" sz="2300" b="1" dirty="0">
                <a:latin typeface="Liberation Sans" panose="020B0604020202020204" pitchFamily="34" charset="0"/>
              </a:rPr>
              <a:t>ENTITY</a:t>
            </a:r>
            <a:r>
              <a:rPr lang="en-US" sz="2500" b="1" dirty="0" smtClean="0">
                <a:solidFill>
                  <a:srgbClr val="000099"/>
                </a:solidFill>
                <a:latin typeface="Liberation Sans" panose="020B0604020202020204" pitchFamily="34" charset="0"/>
              </a:rPr>
              <a:t> </a:t>
            </a:r>
            <a:r>
              <a:rPr lang="en-US" sz="2300" b="1" dirty="0">
                <a:latin typeface="Liberation Sans" panose="020B0604020202020204" pitchFamily="34" charset="0"/>
              </a:rPr>
              <a:t>ASSUMPTION</a:t>
            </a:r>
            <a:r>
              <a:rPr lang="en-US" sz="2500" b="1" dirty="0" smtClean="0">
                <a:solidFill>
                  <a:srgbClr val="000099"/>
                </a:solidFill>
                <a:latin typeface="Liberation Sans" panose="020B0604020202020204" pitchFamily="34" charset="0"/>
              </a:rPr>
              <a:t> </a:t>
            </a:r>
            <a:r>
              <a:rPr lang="en-US" sz="2100" dirty="0" smtClean="0">
                <a:latin typeface="Liberation Sans" panose="020B0604020202020204" pitchFamily="34" charset="0"/>
              </a:rPr>
              <a:t>requires that activities of the entity be kept separate and distinct from the activities of its owner and all other economic entities.</a:t>
            </a:r>
          </a:p>
          <a:p>
            <a:pPr lvl="1" algn="l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  <a:defRPr/>
            </a:pPr>
            <a:r>
              <a:rPr lang="en-US" sz="2100" b="1" dirty="0" smtClean="0">
                <a:latin typeface="Liberation Sans" panose="020B0604020202020204" pitchFamily="34" charset="0"/>
              </a:rPr>
              <a:t>Proprietorship</a:t>
            </a:r>
          </a:p>
          <a:p>
            <a:pPr lvl="1" algn="l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  <a:defRPr/>
            </a:pPr>
            <a:r>
              <a:rPr lang="en-US" sz="2100" b="1" dirty="0" smtClean="0">
                <a:latin typeface="Liberation Sans" panose="020B0604020202020204" pitchFamily="34" charset="0"/>
              </a:rPr>
              <a:t>Partnership</a:t>
            </a:r>
          </a:p>
          <a:p>
            <a:pPr lvl="1" algn="l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  <a:defRPr/>
            </a:pPr>
            <a:r>
              <a:rPr lang="en-US" sz="2100" b="1" dirty="0" smtClean="0">
                <a:latin typeface="Liberation Sans" panose="020B0604020202020204" pitchFamily="34" charset="0"/>
              </a:rPr>
              <a:t>Corporation</a:t>
            </a:r>
          </a:p>
        </p:txBody>
      </p:sp>
      <p:sp>
        <p:nvSpPr>
          <p:cNvPr id="22531" name="AutoShape 5"/>
          <p:cNvSpPr>
            <a:spLocks/>
          </p:cNvSpPr>
          <p:nvPr/>
        </p:nvSpPr>
        <p:spPr bwMode="auto">
          <a:xfrm>
            <a:off x="3581400" y="42672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4419600" y="4572000"/>
            <a:ext cx="3276600" cy="830997"/>
          </a:xfrm>
          <a:prstGeom prst="rect">
            <a:avLst/>
          </a:prstGeom>
          <a:solidFill>
            <a:srgbClr val="FFFF99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innerShdw blurRad="114300">
              <a:prstClr val="black"/>
            </a:innerShdw>
          </a:effectLst>
        </p:spPr>
        <p:txBody>
          <a:bodyPr tIns="91440" bIns="9144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Forms of Business Ownership</a:t>
            </a:r>
          </a:p>
        </p:txBody>
      </p:sp>
      <p:sp>
        <p:nvSpPr>
          <p:cNvPr id="22533" name="Line 6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533400" y="304800"/>
            <a:ext cx="8458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Assumptions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22536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609600" y="1371600"/>
            <a:ext cx="2362200" cy="762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lIns="90488" tIns="0" rIns="90488" bIns="44450" anchor="ctr"/>
          <a:lstStyle/>
          <a:p>
            <a:pPr>
              <a:spcBef>
                <a:spcPct val="15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b="1" dirty="0">
                <a:latin typeface="Liberation Sans" panose="020B0604020202020204" pitchFamily="34" charset="0"/>
              </a:rPr>
              <a:t>Proprietorship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429000" y="1371600"/>
            <a:ext cx="2362200" cy="762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lIns="90488" tIns="0" rIns="90488" bIns="44450" anchor="ctr"/>
          <a:lstStyle/>
          <a:p>
            <a:pPr>
              <a:spcBef>
                <a:spcPct val="15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b="1" dirty="0">
                <a:latin typeface="Liberation Sans" panose="020B0604020202020204" pitchFamily="34" charset="0"/>
              </a:rPr>
              <a:t>Partnership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221413" y="1390650"/>
            <a:ext cx="2465387" cy="74295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lIns="90488" tIns="0" rIns="90488" bIns="44450" anchor="ctr"/>
          <a:lstStyle/>
          <a:p>
            <a:pPr>
              <a:spcBef>
                <a:spcPct val="15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b="1" dirty="0">
                <a:latin typeface="Liberation Sans" panose="020B0604020202020204" pitchFamily="34" charset="0"/>
              </a:rPr>
              <a:t>Corporation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352800" y="2228850"/>
            <a:ext cx="2455863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109728" rIns="90488" bIns="44450"/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Owned by two or more </a:t>
            </a: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persons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Often retail and service-type businesses</a:t>
            </a: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Generally unlimited personal liability</a:t>
            </a: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Partnership agreement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6221413" y="2228850"/>
            <a:ext cx="2455862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109728" rIns="90488" bIns="44450"/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Ownership divided into shares of stock</a:t>
            </a: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Separate legal entity organized under state corporation law</a:t>
            </a: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Limited liability</a:t>
            </a: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3559" name="Rectangle 8"/>
          <p:cNvSpPr>
            <a:spLocks noChangeArrowheads="1"/>
          </p:cNvSpPr>
          <p:nvPr/>
        </p:nvSpPr>
        <p:spPr bwMode="auto">
          <a:xfrm>
            <a:off x="533400" y="2209800"/>
            <a:ext cx="25908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109728" rIns="90488" bIns="44450"/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Owned </a:t>
            </a: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by one </a:t>
            </a: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person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 is often manager/operator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45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Owner receives any profits, suffers any losses, and is personally liable for all </a:t>
            </a: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debts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3560" name="Line 10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latin typeface="Liberation Sans" panose="020B0604020202020204" pitchFamily="34" charset="0"/>
              </a:rPr>
              <a:t>Forms of Business Ownership</a:t>
            </a:r>
          </a:p>
        </p:txBody>
      </p:sp>
      <p:sp>
        <p:nvSpPr>
          <p:cNvPr id="2356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8" grpId="0"/>
      <p:bldP spid="235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533400" y="1295400"/>
            <a:ext cx="5334000" cy="5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altLang="en-US" sz="3000" b="1" dirty="0">
                <a:latin typeface="Liberation Sans" panose="020B0604020202020204" pitchFamily="34" charset="0"/>
              </a:rPr>
              <a:t>Question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533400" y="1905000"/>
            <a:ext cx="7696200" cy="3352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46038" bIns="46038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5613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None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Combining the activities of Kellogg and General Mills would violate the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cost principle.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economic entity assumption.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monetary unit assumption.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ethics principle.</a:t>
            </a:r>
          </a:p>
        </p:txBody>
      </p:sp>
      <p:sp>
        <p:nvSpPr>
          <p:cNvPr id="26628" name="Line 7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0" name="Notched Right Arrow 9"/>
          <p:cNvSpPr/>
          <p:nvPr/>
        </p:nvSpPr>
        <p:spPr bwMode="auto">
          <a:xfrm>
            <a:off x="152400" y="3566160"/>
            <a:ext cx="609600" cy="457200"/>
          </a:xfrm>
          <a:prstGeom prst="notchedRightArrow">
            <a:avLst/>
          </a:prstGeom>
          <a:solidFill>
            <a:schemeClr val="tx2">
              <a:lumMod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33400" y="304800"/>
            <a:ext cx="8458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Assumptions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533400" y="1905000"/>
            <a:ext cx="8153400" cy="3733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46038" bIns="46038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5613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None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A business organized as a separate legal entity under state law having ownership divided into shares of stock is a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proprietorship.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partnership.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corporation.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sole proprietorship.</a:t>
            </a:r>
          </a:p>
        </p:txBody>
      </p:sp>
      <p:sp>
        <p:nvSpPr>
          <p:cNvPr id="27651" name="Rectangle 6"/>
          <p:cNvSpPr>
            <a:spLocks noChangeArrowheads="1"/>
          </p:cNvSpPr>
          <p:nvPr/>
        </p:nvSpPr>
        <p:spPr bwMode="auto">
          <a:xfrm>
            <a:off x="533400" y="1295400"/>
            <a:ext cx="5334000" cy="5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dirty="0">
                <a:solidFill>
                  <a:schemeClr val="tx1"/>
                </a:solidFill>
                <a:latin typeface="Liberation Sans" panose="020B0604020202020204" pitchFamily="34" charset="0"/>
              </a:rPr>
              <a:t>Question</a:t>
            </a:r>
          </a:p>
        </p:txBody>
      </p:sp>
      <p:sp>
        <p:nvSpPr>
          <p:cNvPr id="27652" name="Line 7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2765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0" name="Notched Right Arrow 9"/>
          <p:cNvSpPr/>
          <p:nvPr/>
        </p:nvSpPr>
        <p:spPr bwMode="auto">
          <a:xfrm>
            <a:off x="152400" y="4151376"/>
            <a:ext cx="609600" cy="457200"/>
          </a:xfrm>
          <a:prstGeom prst="notchedRightArrow">
            <a:avLst/>
          </a:prstGeom>
          <a:solidFill>
            <a:schemeClr val="tx2">
              <a:lumMod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dirty="0">
              <a:latin typeface="Liberation Sans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33400" y="304800"/>
            <a:ext cx="8458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Assumptions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09600" y="1393825"/>
            <a:ext cx="7924800" cy="8322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Indicate whether each of the following statements presented below is </a:t>
            </a:r>
            <a:r>
              <a:rPr lang="en-US" altLang="en-US" sz="2100" dirty="0">
                <a:solidFill>
                  <a:schemeClr val="hlink"/>
                </a:solidFill>
                <a:latin typeface="Liberation Sans" panose="020B0604020202020204" pitchFamily="34" charset="0"/>
              </a:rPr>
              <a:t>true</a:t>
            </a: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 or </a:t>
            </a:r>
            <a:r>
              <a:rPr lang="en-US" altLang="en-US" sz="2100" dirty="0">
                <a:solidFill>
                  <a:srgbClr val="800000"/>
                </a:solidFill>
                <a:latin typeface="Liberation Sans" panose="020B0604020202020204" pitchFamily="34" charset="0"/>
              </a:rPr>
              <a:t>false</a:t>
            </a: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.</a:t>
            </a:r>
          </a:p>
        </p:txBody>
      </p:sp>
      <p:sp>
        <p:nvSpPr>
          <p:cNvPr id="24579" name="Rectangle 7"/>
          <p:cNvSpPr>
            <a:spLocks noChangeArrowheads="1"/>
          </p:cNvSpPr>
          <p:nvPr/>
        </p:nvSpPr>
        <p:spPr bwMode="auto">
          <a:xfrm>
            <a:off x="609600" y="2346325"/>
            <a:ext cx="6324600" cy="41565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ct val="70000"/>
              </a:spcBef>
              <a:buClrTx/>
              <a:buSzTx/>
              <a:buFontTx/>
              <a:buAutoNum type="arabicPeriod"/>
            </a:pP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Congress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passed the Sarbanes-Oxley Act to reduce unethical behavior and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decrease the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likelihood of future corporate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scandals.</a:t>
            </a:r>
          </a:p>
          <a:p>
            <a:pPr>
              <a:lnSpc>
                <a:spcPct val="125000"/>
              </a:lnSpc>
              <a:spcBef>
                <a:spcPct val="70000"/>
              </a:spcBef>
              <a:buClrTx/>
              <a:buSzTx/>
              <a:buFontTx/>
              <a:buAutoNum type="arabicPeriod"/>
            </a:pP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primary accounting standard-setting body in the United States is the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Financial Accounting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Standards Board (FASB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).</a:t>
            </a:r>
          </a:p>
          <a:p>
            <a:pPr>
              <a:lnSpc>
                <a:spcPct val="125000"/>
              </a:lnSpc>
              <a:spcBef>
                <a:spcPct val="70000"/>
              </a:spcBef>
              <a:buClrTx/>
              <a:buSzTx/>
              <a:buFontTx/>
              <a:buAutoNum type="arabicPeriod"/>
            </a:pP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historical cost principle dictates that companies record assets at their cost.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In later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periods, however, the fair value of the asset must be used if fair value is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higher than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its cost.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78536" name="AutoShape 8"/>
          <p:cNvSpPr>
            <a:spLocks noChangeArrowheads="1"/>
          </p:cNvSpPr>
          <p:nvPr/>
        </p:nvSpPr>
        <p:spPr bwMode="auto">
          <a:xfrm>
            <a:off x="7391400" y="2568575"/>
            <a:ext cx="1143000" cy="533400"/>
          </a:xfrm>
          <a:prstGeom prst="bevel">
            <a:avLst>
              <a:gd name="adj" fmla="val 12500"/>
            </a:avLst>
          </a:prstGeom>
          <a:solidFill>
            <a:srgbClr val="0000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27432" anchor="ctr"/>
          <a:lstStyle/>
          <a:p>
            <a:r>
              <a:rPr lang="en-US" altLang="en-US" b="1" dirty="0">
                <a:solidFill>
                  <a:schemeClr val="bg1"/>
                </a:solidFill>
                <a:latin typeface="Liberation Sans" panose="020B0604020202020204" pitchFamily="34" charset="0"/>
              </a:rPr>
              <a:t>True</a:t>
            </a:r>
          </a:p>
        </p:txBody>
      </p:sp>
      <p:sp>
        <p:nvSpPr>
          <p:cNvPr id="278537" name="AutoShape 9"/>
          <p:cNvSpPr>
            <a:spLocks noChangeArrowheads="1"/>
          </p:cNvSpPr>
          <p:nvPr/>
        </p:nvSpPr>
        <p:spPr bwMode="auto">
          <a:xfrm>
            <a:off x="7391400" y="5181600"/>
            <a:ext cx="1143000" cy="533400"/>
          </a:xfrm>
          <a:prstGeom prst="bevel">
            <a:avLst>
              <a:gd name="adj" fmla="val 12500"/>
            </a:avLst>
          </a:prstGeom>
          <a:solidFill>
            <a:srgbClr val="80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27432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iberation Sans" panose="020B0604020202020204" pitchFamily="34" charset="0"/>
              </a:rPr>
              <a:t>False</a:t>
            </a:r>
          </a:p>
        </p:txBody>
      </p:sp>
      <p:sp>
        <p:nvSpPr>
          <p:cNvPr id="278538" name="AutoShape 10"/>
          <p:cNvSpPr>
            <a:spLocks noChangeArrowheads="1"/>
          </p:cNvSpPr>
          <p:nvPr/>
        </p:nvSpPr>
        <p:spPr bwMode="auto">
          <a:xfrm>
            <a:off x="7391400" y="3810000"/>
            <a:ext cx="1143000" cy="533400"/>
          </a:xfrm>
          <a:prstGeom prst="bevel">
            <a:avLst>
              <a:gd name="adj" fmla="val 12500"/>
            </a:avLst>
          </a:prstGeom>
          <a:solidFill>
            <a:srgbClr val="0000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27432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iberation Sans" panose="020B0604020202020204" pitchFamily="34" charset="0"/>
              </a:rPr>
              <a:t>True</a:t>
            </a:r>
          </a:p>
        </p:txBody>
      </p:sp>
      <p:sp>
        <p:nvSpPr>
          <p:cNvPr id="2458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17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Building Blocks of Accounting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6" grpId="0" animBg="1"/>
      <p:bldP spid="278537" grpId="0" animBg="1"/>
      <p:bldP spid="2785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7"/>
          <p:cNvSpPr>
            <a:spLocks noChangeArrowheads="1"/>
          </p:cNvSpPr>
          <p:nvPr/>
        </p:nvSpPr>
        <p:spPr bwMode="auto">
          <a:xfrm>
            <a:off x="609600" y="2346325"/>
            <a:ext cx="6324600" cy="21244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ct val="70000"/>
              </a:spcBef>
              <a:buClrTx/>
              <a:buSzTx/>
              <a:buFont typeface="+mj-lt"/>
              <a:buAutoNum type="arabicPeriod" startAt="4"/>
            </a:pP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Relevance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means that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financial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information matches what really happened; the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information is factual.</a:t>
            </a:r>
          </a:p>
          <a:p>
            <a:pPr>
              <a:lnSpc>
                <a:spcPct val="125000"/>
              </a:lnSpc>
              <a:spcBef>
                <a:spcPct val="70000"/>
              </a:spcBef>
              <a:buClrTx/>
              <a:buSzTx/>
              <a:buFont typeface="+mj-lt"/>
              <a:buAutoNum type="arabicPeriod" startAt="4"/>
            </a:pP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A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business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owner’s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personal expenses must be separated from expenses of the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business to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comply with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accounting’s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economic entity assumption.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78537" name="AutoShape 9"/>
          <p:cNvSpPr>
            <a:spLocks noChangeArrowheads="1"/>
          </p:cNvSpPr>
          <p:nvPr/>
        </p:nvSpPr>
        <p:spPr bwMode="auto">
          <a:xfrm>
            <a:off x="7391400" y="2514600"/>
            <a:ext cx="1143000" cy="533400"/>
          </a:xfrm>
          <a:prstGeom prst="bevel">
            <a:avLst>
              <a:gd name="adj" fmla="val 12500"/>
            </a:avLst>
          </a:prstGeom>
          <a:solidFill>
            <a:srgbClr val="80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27432" anchor="ctr"/>
          <a:lstStyle/>
          <a:p>
            <a:r>
              <a:rPr lang="en-US" altLang="en-US" b="1" dirty="0">
                <a:solidFill>
                  <a:schemeClr val="bg1"/>
                </a:solidFill>
                <a:latin typeface="Liberation Sans" panose="020B0604020202020204" pitchFamily="34" charset="0"/>
              </a:rPr>
              <a:t>False</a:t>
            </a:r>
          </a:p>
        </p:txBody>
      </p:sp>
      <p:sp>
        <p:nvSpPr>
          <p:cNvPr id="278538" name="AutoShape 10"/>
          <p:cNvSpPr>
            <a:spLocks noChangeArrowheads="1"/>
          </p:cNvSpPr>
          <p:nvPr/>
        </p:nvSpPr>
        <p:spPr bwMode="auto">
          <a:xfrm>
            <a:off x="7391400" y="3505200"/>
            <a:ext cx="1143000" cy="533400"/>
          </a:xfrm>
          <a:prstGeom prst="bevel">
            <a:avLst>
              <a:gd name="adj" fmla="val 12500"/>
            </a:avLst>
          </a:prstGeom>
          <a:solidFill>
            <a:srgbClr val="0000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27432" anchor="ctr"/>
          <a:lstStyle/>
          <a:p>
            <a:r>
              <a:rPr lang="en-US" altLang="en-US" b="1" dirty="0">
                <a:solidFill>
                  <a:schemeClr val="bg1"/>
                </a:solidFill>
                <a:latin typeface="Liberation Sans" panose="020B0604020202020204" pitchFamily="34" charset="0"/>
              </a:rPr>
              <a:t>True</a:t>
            </a:r>
          </a:p>
        </p:txBody>
      </p:sp>
      <p:sp>
        <p:nvSpPr>
          <p:cNvPr id="2458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2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17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609600" y="1393825"/>
            <a:ext cx="7924800" cy="8322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Indicate whether each of the following statements presented below is </a:t>
            </a:r>
            <a:r>
              <a:rPr lang="en-US" altLang="en-US" sz="2100" dirty="0">
                <a:solidFill>
                  <a:schemeClr val="hlink"/>
                </a:solidFill>
                <a:latin typeface="Liberation Sans" panose="020B0604020202020204" pitchFamily="34" charset="0"/>
              </a:rPr>
              <a:t>true</a:t>
            </a: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 or </a:t>
            </a:r>
            <a:r>
              <a:rPr lang="en-US" altLang="en-US" sz="2100" dirty="0">
                <a:solidFill>
                  <a:srgbClr val="800000"/>
                </a:solidFill>
                <a:latin typeface="Liberation Sans" panose="020B0604020202020204" pitchFamily="34" charset="0"/>
              </a:rPr>
              <a:t>false</a:t>
            </a:r>
            <a:r>
              <a:rPr lang="en-US" altLang="en-US" sz="2100" dirty="0">
                <a:solidFill>
                  <a:schemeClr val="tx1"/>
                </a:solidFill>
                <a:latin typeface="Liberation Sans" panose="020B0604020202020204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Building Blocks of Accounting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08961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7" grpId="0" animBg="1"/>
      <p:bldP spid="2785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ChangeArrowheads="1"/>
          </p:cNvSpPr>
          <p:nvPr/>
        </p:nvSpPr>
        <p:spPr bwMode="auto">
          <a:xfrm>
            <a:off x="685800" y="1600200"/>
            <a:ext cx="2057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/>
          <a:p>
            <a: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b="1" dirty="0">
                <a:latin typeface="Liberation Sans" panose="020B0604020202020204" pitchFamily="34" charset="0"/>
              </a:rPr>
              <a:t>Assets</a:t>
            </a: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3429000" y="1600200"/>
            <a:ext cx="2057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Liabilities</a:t>
            </a:r>
          </a:p>
        </p:txBody>
      </p:sp>
      <p:sp>
        <p:nvSpPr>
          <p:cNvPr id="529412" name="Text Box 4"/>
          <p:cNvSpPr txBox="1">
            <a:spLocks noChangeArrowheads="1"/>
          </p:cNvSpPr>
          <p:nvPr/>
        </p:nvSpPr>
        <p:spPr bwMode="auto">
          <a:xfrm>
            <a:off x="6096000" y="1600200"/>
            <a:ext cx="2438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Equity</a:t>
            </a:r>
            <a:endParaRPr lang="en-US" dirty="0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2895600" y="1831975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=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5562600" y="1817688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+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1295400" y="3581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3073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405765"/>
            <a:ext cx="2540000" cy="677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LEARNING</a:t>
            </a:r>
          </a:p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OBJECTIVE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540000" y="274320"/>
            <a:ext cx="6604000" cy="92868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lIns="86493" tIns="34597" rIns="365760" bIns="43247" anchor="ctr"/>
          <a:lstStyle/>
          <a:p>
            <a:pPr marL="111120" algn="l">
              <a:tabLst>
                <a:tab pos="6169025" algn="r"/>
              </a:tabLst>
            </a:pPr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State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the accounting equation, and </a:t>
            </a:r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define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its components.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1872343" y="485775"/>
            <a:ext cx="522514" cy="514350"/>
          </a:xfrm>
          <a:prstGeom prst="ellipse">
            <a:avLst/>
          </a:prstGeom>
          <a:solidFill>
            <a:srgbClr val="FF99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6493" tIns="0" rIns="86493" bIns="43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3</a:t>
            </a:r>
            <a:endParaRPr lang="en-US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533400" y="2895600"/>
            <a:ext cx="77724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Basic Accounting Equation</a:t>
            </a:r>
            <a:endParaRPr lang="en-US" altLang="en-US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33400" y="3478213"/>
            <a:ext cx="82296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682625" indent="-450850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0" dirty="0" smtClean="0">
                <a:latin typeface="Liberation Sans" panose="020B0604020202020204" pitchFamily="34" charset="0"/>
              </a:rPr>
              <a:t>Provides </a:t>
            </a:r>
            <a:r>
              <a:rPr lang="en-US" altLang="en-US" sz="2100" b="0" dirty="0">
                <a:latin typeface="Liberation Sans" panose="020B0604020202020204" pitchFamily="34" charset="0"/>
              </a:rPr>
              <a:t>the </a:t>
            </a:r>
            <a:r>
              <a:rPr lang="en-US" altLang="en-US" sz="2100" dirty="0">
                <a:latin typeface="Liberation Sans" panose="020B0604020202020204" pitchFamily="34" charset="0"/>
              </a:rPr>
              <a:t>underlying framework</a:t>
            </a:r>
            <a:r>
              <a:rPr lang="en-US" altLang="en-US" sz="2100" b="0" dirty="0">
                <a:latin typeface="Liberation Sans" panose="020B0604020202020204" pitchFamily="34" charset="0"/>
              </a:rPr>
              <a:t> for recording and summarizing economic events.</a:t>
            </a:r>
          </a:p>
          <a:p>
            <a:pPr marL="682625" indent="-450850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0" dirty="0">
                <a:latin typeface="Liberation Sans" panose="020B0604020202020204" pitchFamily="34" charset="0"/>
              </a:rPr>
              <a:t>Assets are claimed by either creditors or owners.</a:t>
            </a:r>
          </a:p>
          <a:p>
            <a:pPr marL="682625" indent="-450850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0" dirty="0">
                <a:latin typeface="Liberation Sans" panose="020B0604020202020204" pitchFamily="34" charset="0"/>
              </a:rPr>
              <a:t>If a business is liquidated, claims of creditors must be paid before ownership claims.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ChangeArrowheads="1"/>
          </p:cNvSpPr>
          <p:nvPr/>
        </p:nvSpPr>
        <p:spPr bwMode="auto">
          <a:xfrm>
            <a:off x="685800" y="1600200"/>
            <a:ext cx="20574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/>
          <a:p>
            <a: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b="1" dirty="0">
                <a:latin typeface="Liberation Sans" panose="020B0604020202020204" pitchFamily="34" charset="0"/>
              </a:rPr>
              <a:t>Assets</a:t>
            </a:r>
          </a:p>
        </p:txBody>
      </p:sp>
      <p:sp>
        <p:nvSpPr>
          <p:cNvPr id="31747" name="Text Box 7"/>
          <p:cNvSpPr txBox="1">
            <a:spLocks noChangeArrowheads="1"/>
          </p:cNvSpPr>
          <p:nvPr/>
        </p:nvSpPr>
        <p:spPr bwMode="auto">
          <a:xfrm>
            <a:off x="1295400" y="3581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3429000" y="1600200"/>
            <a:ext cx="2057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Liabilities</a:t>
            </a:r>
          </a:p>
        </p:txBody>
      </p:sp>
      <p:sp>
        <p:nvSpPr>
          <p:cNvPr id="529412" name="Text Box 4"/>
          <p:cNvSpPr txBox="1">
            <a:spLocks noChangeArrowheads="1"/>
          </p:cNvSpPr>
          <p:nvPr/>
        </p:nvSpPr>
        <p:spPr bwMode="auto">
          <a:xfrm>
            <a:off x="6096000" y="1600200"/>
            <a:ext cx="2438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Equity</a:t>
            </a:r>
            <a:endParaRPr lang="en-US" dirty="0"/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2895600" y="1831975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=</a:t>
            </a:r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5562600" y="1817688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+</a:t>
            </a:r>
          </a:p>
        </p:txBody>
      </p:sp>
      <p:sp>
        <p:nvSpPr>
          <p:cNvPr id="31752" name="Line 13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31754" name="Text Box 11"/>
          <p:cNvSpPr txBox="1">
            <a:spLocks noChangeArrowheads="1"/>
          </p:cNvSpPr>
          <p:nvPr/>
        </p:nvSpPr>
        <p:spPr bwMode="auto">
          <a:xfrm>
            <a:off x="533400" y="3478213"/>
            <a:ext cx="8229600" cy="1649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Resources a business owns.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Provide future services or benefits.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Cash, Supplies, Equipment, etc.</a:t>
            </a:r>
          </a:p>
        </p:txBody>
      </p:sp>
      <p:sp>
        <p:nvSpPr>
          <p:cNvPr id="31755" name="Text Box 3"/>
          <p:cNvSpPr txBox="1">
            <a:spLocks noChangeArrowheads="1"/>
          </p:cNvSpPr>
          <p:nvPr/>
        </p:nvSpPr>
        <p:spPr bwMode="auto">
          <a:xfrm>
            <a:off x="533400" y="2895600"/>
            <a:ext cx="77724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Assets</a:t>
            </a:r>
          </a:p>
        </p:txBody>
      </p:sp>
      <p:sp>
        <p:nvSpPr>
          <p:cNvPr id="31756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Basic </a:t>
            </a:r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Accounting Equation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7"/>
          <p:cNvSpPr txBox="1">
            <a:spLocks noChangeArrowheads="1"/>
          </p:cNvSpPr>
          <p:nvPr/>
        </p:nvSpPr>
        <p:spPr bwMode="auto">
          <a:xfrm>
            <a:off x="1295400" y="3581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529410" name="Rectangle 2"/>
          <p:cNvSpPr>
            <a:spLocks noChangeArrowheads="1"/>
          </p:cNvSpPr>
          <p:nvPr/>
        </p:nvSpPr>
        <p:spPr bwMode="auto">
          <a:xfrm>
            <a:off x="685800" y="1600200"/>
            <a:ext cx="2057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/>
          <a:p>
            <a: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b="1" dirty="0">
                <a:latin typeface="Liberation Sans" panose="020B0604020202020204" pitchFamily="34" charset="0"/>
              </a:rPr>
              <a:t>Assets</a:t>
            </a: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3429000" y="1600200"/>
            <a:ext cx="20574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Liabilities</a:t>
            </a:r>
          </a:p>
        </p:txBody>
      </p:sp>
      <p:sp>
        <p:nvSpPr>
          <p:cNvPr id="529412" name="Text Box 4"/>
          <p:cNvSpPr txBox="1">
            <a:spLocks noChangeArrowheads="1"/>
          </p:cNvSpPr>
          <p:nvPr/>
        </p:nvSpPr>
        <p:spPr bwMode="auto">
          <a:xfrm>
            <a:off x="6096000" y="1600200"/>
            <a:ext cx="2438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Equity</a:t>
            </a:r>
            <a:endParaRPr lang="en-US" dirty="0"/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2895600" y="1831975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=</a:t>
            </a: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5562600" y="1817688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+</a:t>
            </a:r>
          </a:p>
        </p:txBody>
      </p:sp>
      <p:sp>
        <p:nvSpPr>
          <p:cNvPr id="32776" name="Line 13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32777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Basic </a:t>
            </a:r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Accounting Equation</a:t>
            </a:r>
          </a:p>
        </p:txBody>
      </p:sp>
      <p:sp>
        <p:nvSpPr>
          <p:cNvPr id="32778" name="Text Box 11"/>
          <p:cNvSpPr txBox="1">
            <a:spLocks noChangeArrowheads="1"/>
          </p:cNvSpPr>
          <p:nvPr/>
        </p:nvSpPr>
        <p:spPr bwMode="auto">
          <a:xfrm>
            <a:off x="533400" y="3478213"/>
            <a:ext cx="8229600" cy="205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5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Claims against assets (debts and obligations).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Creditors </a:t>
            </a:r>
            <a:r>
              <a:rPr lang="en-US" altLang="en-US" sz="2200" b="0" dirty="0" smtClean="0">
                <a:latin typeface="Liberation Sans" panose="020B0604020202020204" pitchFamily="34" charset="0"/>
              </a:rPr>
              <a:t>(party </a:t>
            </a:r>
            <a:r>
              <a:rPr lang="en-US" altLang="en-US" sz="2200" b="0" dirty="0">
                <a:latin typeface="Liberation Sans" panose="020B0604020202020204" pitchFamily="34" charset="0"/>
              </a:rPr>
              <a:t>to whom money is </a:t>
            </a:r>
            <a:r>
              <a:rPr lang="en-US" altLang="en-US" sz="2200" b="0" dirty="0" smtClean="0">
                <a:latin typeface="Liberation Sans" panose="020B0604020202020204" pitchFamily="34" charset="0"/>
              </a:rPr>
              <a:t>owed).</a:t>
            </a:r>
            <a:endParaRPr lang="en-US" altLang="en-US" sz="2200" b="0" dirty="0">
              <a:latin typeface="Liberation Sans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Accounts </a:t>
            </a:r>
            <a:r>
              <a:rPr lang="en-US" altLang="en-US" sz="2200" b="0" dirty="0" smtClean="0">
                <a:latin typeface="Liberation Sans" panose="020B0604020202020204" pitchFamily="34" charset="0"/>
              </a:rPr>
              <a:t>Payable</a:t>
            </a:r>
            <a:r>
              <a:rPr lang="en-US" altLang="en-US" sz="2200" b="0" dirty="0">
                <a:latin typeface="Liberation Sans" panose="020B0604020202020204" pitchFamily="34" charset="0"/>
              </a:rPr>
              <a:t>, Notes </a:t>
            </a:r>
            <a:r>
              <a:rPr lang="en-US" altLang="en-US" sz="2200" b="0" dirty="0" smtClean="0">
                <a:latin typeface="Liberation Sans" panose="020B0604020202020204" pitchFamily="34" charset="0"/>
              </a:rPr>
              <a:t>Payable</a:t>
            </a:r>
            <a:r>
              <a:rPr lang="en-US" altLang="en-US" sz="2200" b="0" dirty="0">
                <a:latin typeface="Liberation Sans" panose="020B0604020202020204" pitchFamily="34" charset="0"/>
              </a:rPr>
              <a:t>, </a:t>
            </a:r>
            <a:r>
              <a:rPr lang="en-US" altLang="en-US" sz="2200" b="0" dirty="0" smtClean="0">
                <a:latin typeface="Liberation Sans" panose="020B0604020202020204" pitchFamily="34" charset="0"/>
              </a:rPr>
              <a:t>Salaries and Wages Payable, etc</a:t>
            </a:r>
            <a:r>
              <a:rPr lang="en-US" altLang="en-US" sz="2200" b="0" dirty="0">
                <a:latin typeface="Liberation Sans" panose="020B0604020202020204" pitchFamily="34" charset="0"/>
              </a:rPr>
              <a:t>.</a:t>
            </a:r>
          </a:p>
        </p:txBody>
      </p:sp>
      <p:sp>
        <p:nvSpPr>
          <p:cNvPr id="32779" name="Text Box 3"/>
          <p:cNvSpPr txBox="1">
            <a:spLocks noChangeArrowheads="1"/>
          </p:cNvSpPr>
          <p:nvPr/>
        </p:nvSpPr>
        <p:spPr bwMode="auto">
          <a:xfrm>
            <a:off x="533400" y="2895600"/>
            <a:ext cx="77724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defPPr>
              <a:defRPr lang="en-US"/>
            </a:defPPr>
            <a:lvl1pPr algn="l">
              <a:buClrTx/>
              <a:buSzTx/>
              <a:buFontTx/>
              <a:buNone/>
              <a:defRPr sz="2800" b="1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Liabilities</a:t>
            </a:r>
          </a:p>
        </p:txBody>
      </p:sp>
      <p:sp>
        <p:nvSpPr>
          <p:cNvPr id="3278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7"/>
          <p:cNvSpPr txBox="1">
            <a:spLocks noChangeArrowheads="1"/>
          </p:cNvSpPr>
          <p:nvPr/>
        </p:nvSpPr>
        <p:spPr bwMode="auto">
          <a:xfrm>
            <a:off x="1295400" y="3581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33796" name="Rectangle 12"/>
          <p:cNvSpPr>
            <a:spLocks noChangeArrowheads="1"/>
          </p:cNvSpPr>
          <p:nvPr/>
        </p:nvSpPr>
        <p:spPr bwMode="auto">
          <a:xfrm>
            <a:off x="533400" y="28956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28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Owner's Equity</a:t>
            </a:r>
            <a:endParaRPr lang="en-US" altLang="en-US" sz="28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529410" name="Rectangle 2"/>
          <p:cNvSpPr>
            <a:spLocks noChangeArrowheads="1"/>
          </p:cNvSpPr>
          <p:nvPr/>
        </p:nvSpPr>
        <p:spPr bwMode="auto">
          <a:xfrm>
            <a:off x="685800" y="1600200"/>
            <a:ext cx="2057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/>
          <a:p>
            <a: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b="1" dirty="0">
                <a:latin typeface="Liberation Sans" panose="020B0604020202020204" pitchFamily="34" charset="0"/>
              </a:rPr>
              <a:t>Assets</a:t>
            </a: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3429000" y="1600200"/>
            <a:ext cx="2057400" cy="914400"/>
          </a:xfrm>
          <a:prstGeom prst="rect">
            <a:avLst/>
          </a:prstGeom>
          <a:solidFill>
            <a:srgbClr val="CBD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Liabilities</a:t>
            </a:r>
          </a:p>
        </p:txBody>
      </p:sp>
      <p:sp>
        <p:nvSpPr>
          <p:cNvPr id="529412" name="Text Box 4"/>
          <p:cNvSpPr txBox="1">
            <a:spLocks noChangeArrowheads="1"/>
          </p:cNvSpPr>
          <p:nvPr/>
        </p:nvSpPr>
        <p:spPr bwMode="auto">
          <a:xfrm>
            <a:off x="6096000" y="1600200"/>
            <a:ext cx="24384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562" tIns="0" rIns="182562" bIns="64008" anchor="ctr" anchorCtr="0"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Equity</a:t>
            </a:r>
            <a:endParaRPr lang="en-US" dirty="0"/>
          </a:p>
        </p:txBody>
      </p:sp>
      <p:sp>
        <p:nvSpPr>
          <p:cNvPr id="33800" name="Rectangle 5"/>
          <p:cNvSpPr>
            <a:spLocks noChangeArrowheads="1"/>
          </p:cNvSpPr>
          <p:nvPr/>
        </p:nvSpPr>
        <p:spPr bwMode="auto">
          <a:xfrm>
            <a:off x="2895600" y="1831975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=</a:t>
            </a:r>
          </a:p>
        </p:txBody>
      </p:sp>
      <p:sp>
        <p:nvSpPr>
          <p:cNvPr id="33801" name="Rectangle 6"/>
          <p:cNvSpPr>
            <a:spLocks noChangeArrowheads="1"/>
          </p:cNvSpPr>
          <p:nvPr/>
        </p:nvSpPr>
        <p:spPr bwMode="auto">
          <a:xfrm>
            <a:off x="5562600" y="1817688"/>
            <a:ext cx="4413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+</a:t>
            </a:r>
          </a:p>
        </p:txBody>
      </p:sp>
      <p:sp>
        <p:nvSpPr>
          <p:cNvPr id="33802" name="Line 13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33803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Basic </a:t>
            </a:r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Accounting Equation</a:t>
            </a:r>
          </a:p>
        </p:txBody>
      </p:sp>
      <p:sp>
        <p:nvSpPr>
          <p:cNvPr id="3380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33400" y="3478213"/>
            <a:ext cx="82296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5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 smtClean="0">
                <a:latin typeface="Liberation Sans" panose="020B0604020202020204" pitchFamily="34" charset="0"/>
              </a:rPr>
              <a:t>Ownership claim on total assets.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Referred to as residual equity.</a:t>
            </a:r>
          </a:p>
          <a:p>
            <a:pPr lvl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Investment by owners and revenues (+)</a:t>
            </a:r>
          </a:p>
          <a:p>
            <a:pPr lvl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Drawings and expenses (-).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685800" y="3195856"/>
            <a:ext cx="8153400" cy="2708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63550" indent="-4635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46175" indent="-4635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1" dirty="0">
                <a:solidFill>
                  <a:srgbClr val="0000CC"/>
                </a:solidFill>
                <a:latin typeface="Liberation Sans" panose="020B0604020202020204" pitchFamily="34" charset="0"/>
              </a:rPr>
              <a:t>Investments by owner </a:t>
            </a:r>
            <a:r>
              <a:rPr lang="en-US" altLang="en-US" sz="2100" dirty="0">
                <a:solidFill>
                  <a:srgbClr val="000000"/>
                </a:solidFill>
                <a:latin typeface="Liberation Sans" panose="020B0604020202020204" pitchFamily="34" charset="0"/>
              </a:rPr>
              <a:t>are the assets the owner puts into the business.</a:t>
            </a:r>
          </a:p>
          <a:p>
            <a:pPr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1" dirty="0">
                <a:solidFill>
                  <a:srgbClr val="0000CC"/>
                </a:solidFill>
                <a:latin typeface="Liberation Sans" panose="020B0604020202020204" pitchFamily="34" charset="0"/>
              </a:rPr>
              <a:t>Revenues</a:t>
            </a:r>
            <a:r>
              <a:rPr lang="en-US" altLang="en-US" sz="2100" b="1" dirty="0">
                <a:solidFill>
                  <a:srgbClr val="00FFFF"/>
                </a:solidFill>
                <a:latin typeface="Liberation Sans" panose="020B0604020202020204" pitchFamily="34" charset="0"/>
              </a:rPr>
              <a:t> </a:t>
            </a:r>
            <a:r>
              <a:rPr lang="en-US" altLang="en-US" sz="2100" dirty="0">
                <a:solidFill>
                  <a:srgbClr val="000000"/>
                </a:solidFill>
                <a:latin typeface="Liberation Sans" panose="020B0604020202020204" pitchFamily="34" charset="0"/>
              </a:rPr>
              <a:t>result from business activities entered into for the purpose of earning income.</a:t>
            </a:r>
          </a:p>
          <a:p>
            <a:pPr lvl="1"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Arial" panose="020B0604020202020204" pitchFamily="34" charset="0"/>
              <a:buChar char="►"/>
            </a:pPr>
            <a:r>
              <a:rPr lang="en-US" altLang="en-US" sz="1900" b="1" dirty="0">
                <a:solidFill>
                  <a:srgbClr val="000000"/>
                </a:solidFill>
                <a:latin typeface="Liberation Sans" panose="020B0604020202020204" pitchFamily="34" charset="0"/>
              </a:rPr>
              <a:t>Common sources of revenue</a:t>
            </a:r>
            <a:r>
              <a:rPr lang="en-US" altLang="en-US" sz="1900" dirty="0">
                <a:solidFill>
                  <a:srgbClr val="000000"/>
                </a:solidFill>
                <a:latin typeface="Liberation Sans" panose="020B0604020202020204" pitchFamily="34" charset="0"/>
              </a:rPr>
              <a:t> are: sales, fees, services, commissions, interest, dividends, royalties, and rent.</a:t>
            </a:r>
          </a:p>
        </p:txBody>
      </p:sp>
      <p:sp>
        <p:nvSpPr>
          <p:cNvPr id="27653" name="Line 13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533400" y="304800"/>
            <a:ext cx="6477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Owner’s Equity</a:t>
            </a:r>
          </a:p>
        </p:txBody>
      </p:sp>
      <p:pic>
        <p:nvPicPr>
          <p:cNvPr id="2765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82931"/>
            <a:ext cx="85344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6" name="Text Box 3"/>
          <p:cNvSpPr txBox="1">
            <a:spLocks noChangeArrowheads="1"/>
          </p:cNvSpPr>
          <p:nvPr/>
        </p:nvSpPr>
        <p:spPr bwMode="auto">
          <a:xfrm>
            <a:off x="533400" y="2587844"/>
            <a:ext cx="8153400" cy="534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15000"/>
              </a:lnSpc>
              <a:spcBef>
                <a:spcPct val="45000"/>
              </a:spcBef>
              <a:buSzPct val="80000"/>
            </a:pPr>
            <a:r>
              <a:rPr lang="en-US" altLang="en-US" sz="2500" b="1" dirty="0">
                <a:latin typeface="Liberation Sans" panose="020B0604020202020204" pitchFamily="34" charset="0"/>
              </a:rPr>
              <a:t>Increases in Owner’s Equity</a:t>
            </a:r>
            <a:endParaRPr lang="en-US" altLang="en-US" sz="2500" dirty="0">
              <a:latin typeface="Liberation Sans" panose="020B0604020202020204" pitchFamily="34" charset="0"/>
            </a:endParaRPr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7086600" y="685800"/>
            <a:ext cx="1828800" cy="646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1200" b="1" dirty="0">
                <a:latin typeface="Liberation Sans" panose="020B0604020202020204" pitchFamily="34" charset="0"/>
              </a:rPr>
              <a:t>Illustration </a:t>
            </a:r>
            <a:r>
              <a:rPr lang="en-US" altLang="en-US" sz="1200" b="1" dirty="0" smtClean="0">
                <a:latin typeface="Liberation Sans" panose="020B0604020202020204" pitchFamily="34" charset="0"/>
              </a:rPr>
              <a:t>1-6</a:t>
            </a:r>
          </a:p>
          <a:p>
            <a:pPr algn="l"/>
            <a:r>
              <a:rPr lang="en-US" altLang="en-US" sz="1200" b="1" dirty="0" smtClean="0">
                <a:latin typeface="Liberation Sans" panose="020B0604020202020204" pitchFamily="34" charset="0"/>
              </a:rPr>
              <a:t>Expanded accounting equation</a:t>
            </a:r>
            <a:endParaRPr lang="en-US" altLang="en-US" sz="1200" dirty="0">
              <a:latin typeface="Liberation Sans" panose="020B0604020202020204" pitchFamily="34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787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685800" y="3198813"/>
            <a:ext cx="8153400" cy="3246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63550" indent="-4635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46175" indent="-4635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1" dirty="0">
                <a:solidFill>
                  <a:srgbClr val="0000CC"/>
                </a:solidFill>
                <a:latin typeface="Liberation Sans" panose="020B0604020202020204" pitchFamily="34" charset="0"/>
              </a:rPr>
              <a:t>Drawings  </a:t>
            </a:r>
            <a:r>
              <a:rPr lang="en-US" altLang="en-US" sz="2100" dirty="0">
                <a:solidFill>
                  <a:srgbClr val="000000"/>
                </a:solidFill>
                <a:latin typeface="Liberation Sans" panose="020B0604020202020204" pitchFamily="34" charset="0"/>
              </a:rPr>
              <a:t>An owner may withdraw cash or other assets for personal use.</a:t>
            </a:r>
          </a:p>
          <a:p>
            <a:pPr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en-US" sz="2100" b="1" dirty="0">
                <a:solidFill>
                  <a:srgbClr val="0000CC"/>
                </a:solidFill>
                <a:latin typeface="Liberation Sans" panose="020B0604020202020204" pitchFamily="34" charset="0"/>
              </a:rPr>
              <a:t>Expenses </a:t>
            </a:r>
            <a:r>
              <a:rPr lang="en-US" altLang="en-US" sz="2000" dirty="0">
                <a:solidFill>
                  <a:srgbClr val="000000"/>
                </a:solidFill>
                <a:latin typeface="Liberation Sans" panose="020B0604020202020204" pitchFamily="34" charset="0"/>
              </a:rPr>
              <a:t>are the cost of assets consumed or services used in the process of earning revenue.</a:t>
            </a:r>
            <a:endParaRPr lang="en-US" altLang="en-US" sz="2100" dirty="0">
              <a:solidFill>
                <a:srgbClr val="000000"/>
              </a:solidFill>
              <a:latin typeface="Liberation Sans" panose="020B0604020202020204" pitchFamily="34" charset="0"/>
            </a:endParaRPr>
          </a:p>
          <a:p>
            <a:pPr lvl="1"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Arial" panose="020B0604020202020204" pitchFamily="34" charset="0"/>
              <a:buChar char="►"/>
            </a:pPr>
            <a:r>
              <a:rPr lang="en-US" altLang="en-US" sz="1900" b="1" dirty="0">
                <a:solidFill>
                  <a:srgbClr val="000000"/>
                </a:solidFill>
                <a:latin typeface="Liberation Sans" panose="020B0604020202020204" pitchFamily="34" charset="0"/>
              </a:rPr>
              <a:t>Common expenses</a:t>
            </a:r>
            <a:r>
              <a:rPr lang="en-US" altLang="en-US" sz="1900" dirty="0">
                <a:solidFill>
                  <a:srgbClr val="000000"/>
                </a:solidFill>
                <a:latin typeface="Liberation Sans" panose="020B0604020202020204" pitchFamily="34" charset="0"/>
              </a:rPr>
              <a:t> are: salaries expense, rent expense, utilities expense, tax expense, etc.</a:t>
            </a:r>
          </a:p>
          <a:p>
            <a:pPr lvl="1" algn="l">
              <a:lnSpc>
                <a:spcPts val="3000"/>
              </a:lnSpc>
              <a:spcBef>
                <a:spcPts val="1200"/>
              </a:spcBef>
              <a:buClr>
                <a:srgbClr val="800000"/>
              </a:buClr>
              <a:buSzPct val="100000"/>
              <a:buFont typeface="Wingdings" pitchFamily="2" charset="2"/>
              <a:buChar char="Ø"/>
            </a:pPr>
            <a:endParaRPr lang="en-US" altLang="en-US" sz="1900" dirty="0">
              <a:solidFill>
                <a:srgbClr val="000000"/>
              </a:solidFill>
              <a:latin typeface="Liberation Sans" panose="020B0604020202020204" pitchFamily="34" charset="0"/>
            </a:endParaRPr>
          </a:p>
        </p:txBody>
      </p:sp>
      <p:sp>
        <p:nvSpPr>
          <p:cNvPr id="28677" name="Line 13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Owner’s Equity</a:t>
            </a:r>
          </a:p>
        </p:txBody>
      </p:sp>
      <p:sp>
        <p:nvSpPr>
          <p:cNvPr id="28679" name="Text Box 3"/>
          <p:cNvSpPr txBox="1">
            <a:spLocks noChangeArrowheads="1"/>
          </p:cNvSpPr>
          <p:nvPr/>
        </p:nvSpPr>
        <p:spPr bwMode="auto">
          <a:xfrm>
            <a:off x="533400" y="2590800"/>
            <a:ext cx="8153400" cy="5349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15000"/>
              </a:lnSpc>
              <a:spcBef>
                <a:spcPct val="45000"/>
              </a:spcBef>
              <a:buSzPct val="80000"/>
            </a:pPr>
            <a:r>
              <a:rPr lang="en-US" altLang="en-US" sz="2500" b="1" dirty="0">
                <a:latin typeface="Liberation Sans" panose="020B0604020202020204" pitchFamily="34" charset="0"/>
              </a:rPr>
              <a:t>Decreases in Owner’s Equity</a:t>
            </a:r>
            <a:endParaRPr lang="en-US" altLang="en-US" sz="2500" dirty="0">
              <a:latin typeface="Liberation Sans" panose="020B0604020202020204" pitchFamily="34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086600" y="685800"/>
            <a:ext cx="1828800" cy="646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1200" b="1" dirty="0">
                <a:latin typeface="Liberation Sans" panose="020B0604020202020204" pitchFamily="34" charset="0"/>
              </a:rPr>
              <a:t>Illustration </a:t>
            </a:r>
            <a:r>
              <a:rPr lang="en-US" altLang="en-US" sz="1200" b="1" dirty="0" smtClean="0">
                <a:latin typeface="Liberation Sans" panose="020B0604020202020204" pitchFamily="34" charset="0"/>
              </a:rPr>
              <a:t>1-6</a:t>
            </a:r>
          </a:p>
          <a:p>
            <a:pPr algn="l"/>
            <a:r>
              <a:rPr lang="en-US" altLang="en-US" sz="1200" b="1" dirty="0" smtClean="0">
                <a:latin typeface="Liberation Sans" panose="020B0604020202020204" pitchFamily="34" charset="0"/>
              </a:rPr>
              <a:t>Expanded accounting equation</a:t>
            </a:r>
            <a:endParaRPr lang="en-US" altLang="en-US" sz="1200" dirty="0">
              <a:latin typeface="Liberation Sans" panose="020B0604020202020204" pitchFamily="34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1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82931"/>
            <a:ext cx="85344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27854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9"/>
          <p:cNvSpPr txBox="1">
            <a:spLocks noChangeArrowheads="1"/>
          </p:cNvSpPr>
          <p:nvPr/>
        </p:nvSpPr>
        <p:spPr bwMode="auto">
          <a:xfrm>
            <a:off x="4267200" y="5508625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Expense</a:t>
            </a:r>
          </a:p>
        </p:txBody>
      </p:sp>
      <p:sp>
        <p:nvSpPr>
          <p:cNvPr id="38915" name="Text Box 20"/>
          <p:cNvSpPr txBox="1">
            <a:spLocks noChangeArrowheads="1"/>
          </p:cNvSpPr>
          <p:nvPr/>
        </p:nvSpPr>
        <p:spPr bwMode="auto">
          <a:xfrm>
            <a:off x="6553200" y="5508625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Decrease</a:t>
            </a:r>
          </a:p>
        </p:txBody>
      </p:sp>
      <p:sp>
        <p:nvSpPr>
          <p:cNvPr id="38923" name="Text Box 13"/>
          <p:cNvSpPr txBox="1">
            <a:spLocks noChangeArrowheads="1"/>
          </p:cNvSpPr>
          <p:nvPr/>
        </p:nvSpPr>
        <p:spPr bwMode="auto">
          <a:xfrm>
            <a:off x="4267200" y="3429000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Expense</a:t>
            </a:r>
          </a:p>
        </p:txBody>
      </p:sp>
      <p:sp>
        <p:nvSpPr>
          <p:cNvPr id="38924" name="Text Box 14"/>
          <p:cNvSpPr txBox="1">
            <a:spLocks noChangeArrowheads="1"/>
          </p:cNvSpPr>
          <p:nvPr/>
        </p:nvSpPr>
        <p:spPr bwMode="auto">
          <a:xfrm>
            <a:off x="6553200" y="3429000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Decrease</a:t>
            </a:r>
          </a:p>
        </p:txBody>
      </p:sp>
      <p:sp>
        <p:nvSpPr>
          <p:cNvPr id="38925" name="Text Box 15"/>
          <p:cNvSpPr txBox="1">
            <a:spLocks noChangeArrowheads="1"/>
          </p:cNvSpPr>
          <p:nvPr/>
        </p:nvSpPr>
        <p:spPr bwMode="auto">
          <a:xfrm>
            <a:off x="4267200" y="4038600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Revenue</a:t>
            </a:r>
          </a:p>
        </p:txBody>
      </p:sp>
      <p:sp>
        <p:nvSpPr>
          <p:cNvPr id="38926" name="Text Box 16"/>
          <p:cNvSpPr txBox="1">
            <a:spLocks noChangeArrowheads="1"/>
          </p:cNvSpPr>
          <p:nvPr/>
        </p:nvSpPr>
        <p:spPr bwMode="auto">
          <a:xfrm>
            <a:off x="6553200" y="4038600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Increase</a:t>
            </a:r>
          </a:p>
        </p:txBody>
      </p:sp>
      <p:sp>
        <p:nvSpPr>
          <p:cNvPr id="38927" name="Text Box 17"/>
          <p:cNvSpPr txBox="1">
            <a:spLocks noChangeArrowheads="1"/>
          </p:cNvSpPr>
          <p:nvPr/>
        </p:nvSpPr>
        <p:spPr bwMode="auto">
          <a:xfrm>
            <a:off x="4267200" y="4648200"/>
            <a:ext cx="1828800" cy="47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Drawings</a:t>
            </a:r>
            <a:endParaRPr lang="en-US" altLang="en-US" sz="2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38928" name="Text Box 18"/>
          <p:cNvSpPr txBox="1">
            <a:spLocks noChangeArrowheads="1"/>
          </p:cNvSpPr>
          <p:nvPr/>
        </p:nvSpPr>
        <p:spPr bwMode="auto">
          <a:xfrm>
            <a:off x="6553200" y="4670425"/>
            <a:ext cx="18288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Decrease</a:t>
            </a:r>
          </a:p>
        </p:txBody>
      </p:sp>
      <p:sp>
        <p:nvSpPr>
          <p:cNvPr id="299035" name="Rectangle 27"/>
          <p:cNvSpPr>
            <a:spLocks noChangeArrowheads="1"/>
          </p:cNvSpPr>
          <p:nvPr/>
        </p:nvSpPr>
        <p:spPr bwMode="auto">
          <a:xfrm>
            <a:off x="4267200" y="55626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36" name="Rectangle 28"/>
          <p:cNvSpPr>
            <a:spLocks noChangeArrowheads="1"/>
          </p:cNvSpPr>
          <p:nvPr/>
        </p:nvSpPr>
        <p:spPr bwMode="auto">
          <a:xfrm>
            <a:off x="6553200" y="55626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29" name="Rectangle 21"/>
          <p:cNvSpPr>
            <a:spLocks noChangeArrowheads="1"/>
          </p:cNvSpPr>
          <p:nvPr/>
        </p:nvSpPr>
        <p:spPr bwMode="auto">
          <a:xfrm>
            <a:off x="4267200" y="35052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30" name="Rectangle 22"/>
          <p:cNvSpPr>
            <a:spLocks noChangeArrowheads="1"/>
          </p:cNvSpPr>
          <p:nvPr/>
        </p:nvSpPr>
        <p:spPr bwMode="auto">
          <a:xfrm>
            <a:off x="6553200" y="35052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31" name="Rectangle 23"/>
          <p:cNvSpPr>
            <a:spLocks noChangeArrowheads="1"/>
          </p:cNvSpPr>
          <p:nvPr/>
        </p:nvSpPr>
        <p:spPr bwMode="auto">
          <a:xfrm>
            <a:off x="4267200" y="41148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32" name="Rectangle 24"/>
          <p:cNvSpPr>
            <a:spLocks noChangeArrowheads="1"/>
          </p:cNvSpPr>
          <p:nvPr/>
        </p:nvSpPr>
        <p:spPr bwMode="auto">
          <a:xfrm>
            <a:off x="6553200" y="41148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34" name="Rectangle 26"/>
          <p:cNvSpPr>
            <a:spLocks noChangeArrowheads="1"/>
          </p:cNvSpPr>
          <p:nvPr/>
        </p:nvSpPr>
        <p:spPr bwMode="auto">
          <a:xfrm>
            <a:off x="6553200" y="47244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99033" name="Rectangle 25"/>
          <p:cNvSpPr>
            <a:spLocks noChangeArrowheads="1"/>
          </p:cNvSpPr>
          <p:nvPr/>
        </p:nvSpPr>
        <p:spPr bwMode="auto">
          <a:xfrm>
            <a:off x="4267200" y="4724400"/>
            <a:ext cx="1905000" cy="457200"/>
          </a:xfrm>
          <a:prstGeom prst="rect">
            <a:avLst/>
          </a:prstGeom>
          <a:solidFill>
            <a:schemeClr val="bg1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38918" name="Text Box 2"/>
          <p:cNvSpPr txBox="1">
            <a:spLocks noChangeArrowheads="1"/>
          </p:cNvSpPr>
          <p:nvPr/>
        </p:nvSpPr>
        <p:spPr bwMode="auto">
          <a:xfrm>
            <a:off x="4114800" y="2925763"/>
            <a:ext cx="2209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Classification</a:t>
            </a: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609600" y="1393825"/>
            <a:ext cx="7924800" cy="13619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Classify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following items as investment by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owner,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owner’s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drawings, revenue,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or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expenses.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Then indicate whether each item increases or decreases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owner’s equity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.</a:t>
            </a:r>
            <a:endParaRPr lang="en-US" altLang="en-US" sz="2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38920" name="Rectangle 6"/>
          <p:cNvSpPr>
            <a:spLocks noChangeArrowheads="1"/>
          </p:cNvSpPr>
          <p:nvPr/>
        </p:nvSpPr>
        <p:spPr bwMode="auto">
          <a:xfrm>
            <a:off x="609600" y="3441700"/>
            <a:ext cx="3276600" cy="280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tabLst>
                <a:tab pos="2057400" algn="l"/>
              </a:tabLst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Rent Expense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Service Revenue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Drawings</a:t>
            </a:r>
            <a:endParaRPr lang="en-US" altLang="en-US" sz="2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Salaries and Wages </a:t>
            </a:r>
            <a:r>
              <a:rPr lang="en-US" alt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Expense</a:t>
            </a:r>
            <a:endParaRPr lang="en-US" altLang="en-US" sz="2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38921" name="Line 10"/>
          <p:cNvSpPr>
            <a:spLocks noChangeShapeType="1"/>
          </p:cNvSpPr>
          <p:nvPr/>
        </p:nvSpPr>
        <p:spPr bwMode="auto">
          <a:xfrm>
            <a:off x="4267200" y="3352800"/>
            <a:ext cx="1905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6400800" y="2925763"/>
            <a:ext cx="2209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Effect on Equity</a:t>
            </a:r>
          </a:p>
        </p:txBody>
      </p:sp>
      <p:sp>
        <p:nvSpPr>
          <p:cNvPr id="38935" name="Line 32"/>
          <p:cNvSpPr>
            <a:spLocks noChangeShapeType="1"/>
          </p:cNvSpPr>
          <p:nvPr/>
        </p:nvSpPr>
        <p:spPr bwMode="auto">
          <a:xfrm>
            <a:off x="6553200" y="3352800"/>
            <a:ext cx="1905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38937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3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31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35" name="Oval 34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Owner's Equity Effects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99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99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299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299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299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299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2990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299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35" grpId="0" animBg="1"/>
      <p:bldP spid="299036" grpId="0" animBg="1"/>
      <p:bldP spid="299029" grpId="0" animBg="1"/>
      <p:bldP spid="299030" grpId="0" animBg="1"/>
      <p:bldP spid="299031" grpId="0" animBg="1"/>
      <p:bldP spid="299032" grpId="0" animBg="1"/>
      <p:bldP spid="299034" grpId="0" animBg="1"/>
      <p:bldP spid="2990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533400" y="1479550"/>
            <a:ext cx="7772400" cy="309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None/>
            </a:pPr>
            <a:r>
              <a:rPr lang="en-US" altLang="en-US" sz="2300" dirty="0">
                <a:solidFill>
                  <a:schemeClr val="hlink"/>
                </a:solidFill>
                <a:latin typeface="Liberation Sans" panose="020B0604020202020204" pitchFamily="34" charset="0"/>
              </a:rPr>
              <a:t>Transactions</a:t>
            </a:r>
            <a:r>
              <a:rPr lang="en-US" altLang="en-US" sz="2300" b="0" dirty="0">
                <a:latin typeface="Liberation Sans" panose="020B0604020202020204" pitchFamily="34" charset="0"/>
              </a:rPr>
              <a:t> are a business’s economic events recorded by accountants.</a:t>
            </a: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May be </a:t>
            </a:r>
            <a:r>
              <a:rPr lang="en-US" altLang="en-US" sz="2200" dirty="0">
                <a:latin typeface="Liberation Sans" panose="020B0604020202020204" pitchFamily="34" charset="0"/>
              </a:rPr>
              <a:t>external</a:t>
            </a:r>
            <a:r>
              <a:rPr lang="en-US" altLang="en-US" sz="2200" b="0" dirty="0">
                <a:latin typeface="Liberation Sans" panose="020B0604020202020204" pitchFamily="34" charset="0"/>
              </a:rPr>
              <a:t> or </a:t>
            </a:r>
            <a:r>
              <a:rPr lang="en-US" altLang="en-US" sz="2200" dirty="0">
                <a:latin typeface="Liberation Sans" panose="020B0604020202020204" pitchFamily="34" charset="0"/>
              </a:rPr>
              <a:t>internal</a:t>
            </a:r>
            <a:r>
              <a:rPr lang="en-US" altLang="en-US" sz="2200" b="0" dirty="0">
                <a:latin typeface="Liberation Sans" panose="020B0604020202020204" pitchFamily="34" charset="0"/>
              </a:rPr>
              <a:t>.</a:t>
            </a: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Not all activities represent transactions.</a:t>
            </a: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latin typeface="Liberation Sans" panose="020B0604020202020204" pitchFamily="34" charset="0"/>
              </a:rPr>
              <a:t>Each transaction has a dual effect on the accounting equation.</a:t>
            </a:r>
          </a:p>
        </p:txBody>
      </p:sp>
      <p:sp>
        <p:nvSpPr>
          <p:cNvPr id="40965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05765"/>
            <a:ext cx="2540000" cy="677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LEARNING</a:t>
            </a:r>
          </a:p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OBJECTIVE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540000" y="274320"/>
            <a:ext cx="6604000" cy="92868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lIns="86493" tIns="34597" rIns="86493" bIns="43247" anchor="ctr"/>
          <a:lstStyle/>
          <a:p>
            <a:pPr marL="111120" algn="l"/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Analyze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the effects of </a:t>
            </a:r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business transactions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on </a:t>
            </a:r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the accounting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equation.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1872343" y="485775"/>
            <a:ext cx="522514" cy="514350"/>
          </a:xfrm>
          <a:prstGeom prst="ellipse">
            <a:avLst/>
          </a:prstGeom>
          <a:solidFill>
            <a:srgbClr val="FF99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6493" tIns="0" rIns="86493" bIns="43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  <a:endParaRPr lang="en-US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990000"/>
                </a:solidFill>
                <a:latin typeface="Liberation Sans" panose="020B0604020202020204" pitchFamily="34" charset="0"/>
              </a:rPr>
              <a:t>Illustration:</a:t>
            </a: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</a:rPr>
              <a:t>  </a:t>
            </a:r>
            <a:r>
              <a:rPr lang="en-US" altLang="en-US" sz="2200" b="0" dirty="0">
                <a:latin typeface="Liberation Sans" panose="020B0604020202020204" pitchFamily="34" charset="0"/>
              </a:rPr>
              <a:t>Are the following events recorded in the accounting records?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533400" y="2438400"/>
            <a:ext cx="1143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Event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514600" y="2270125"/>
            <a:ext cx="18288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Purchase 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computer</a:t>
            </a:r>
            <a:endParaRPr lang="en-US" altLang="en-US" sz="2100" b="0" dirty="0">
              <a:solidFill>
                <a:schemeClr val="tx1"/>
              </a:solidFill>
              <a:latin typeface="Liberation Sans" panose="020B0604020202020204" pitchFamily="34" charset="0"/>
              <a:cs typeface="Arial" charset="0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533400" y="3733800"/>
            <a:ext cx="1524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Criterion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2438400" y="3657600"/>
            <a:ext cx="6324600" cy="762000"/>
          </a:xfrm>
          <a:prstGeom prst="rect">
            <a:avLst/>
          </a:prstGeom>
          <a:solidFill>
            <a:srgbClr val="C5C5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Is </a:t>
            </a: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the financial position (assets, liabilities, or owner’s equity) of the company changed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?</a:t>
            </a:r>
            <a:endParaRPr lang="en-US" altLang="en-US" sz="2100" b="0" dirty="0">
              <a:solidFill>
                <a:schemeClr val="tx1"/>
              </a:solidFill>
              <a:latin typeface="Liberation Sans" panose="020B0604020202020204" pitchFamily="34" charset="0"/>
              <a:cs typeface="Arial" charset="0"/>
            </a:endParaRPr>
          </a:p>
        </p:txBody>
      </p:sp>
      <p:sp>
        <p:nvSpPr>
          <p:cNvPr id="41991" name="Line 9"/>
          <p:cNvSpPr>
            <a:spLocks noChangeShapeType="1"/>
          </p:cNvSpPr>
          <p:nvPr/>
        </p:nvSpPr>
        <p:spPr bwMode="auto">
          <a:xfrm flipV="1">
            <a:off x="3429000" y="3352800"/>
            <a:ext cx="0" cy="304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1992" name="Text Box 10"/>
          <p:cNvSpPr txBox="1">
            <a:spLocks noChangeArrowheads="1"/>
          </p:cNvSpPr>
          <p:nvPr/>
        </p:nvSpPr>
        <p:spPr bwMode="auto">
          <a:xfrm>
            <a:off x="4419600" y="2108200"/>
            <a:ext cx="23622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Discuss product design with potential 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customer</a:t>
            </a:r>
            <a:endParaRPr lang="en-US" altLang="en-US" sz="2100" b="0" dirty="0">
              <a:solidFill>
                <a:schemeClr val="tx1"/>
              </a:solidFill>
              <a:latin typeface="Liberation Sans" panose="020B0604020202020204" pitchFamily="34" charset="0"/>
              <a:cs typeface="Arial" charset="0"/>
            </a:endParaRPr>
          </a:p>
        </p:txBody>
      </p:sp>
      <p:sp>
        <p:nvSpPr>
          <p:cNvPr id="41993" name="Text Box 12"/>
          <p:cNvSpPr txBox="1">
            <a:spLocks noChangeArrowheads="1"/>
          </p:cNvSpPr>
          <p:nvPr/>
        </p:nvSpPr>
        <p:spPr bwMode="auto">
          <a:xfrm>
            <a:off x="6629400" y="2438400"/>
            <a:ext cx="20574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Pay 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rent</a:t>
            </a:r>
            <a:endParaRPr lang="en-US" altLang="en-US" sz="2100" b="0" dirty="0">
              <a:solidFill>
                <a:schemeClr val="tx1"/>
              </a:solidFill>
              <a:latin typeface="Liberation Sans" panose="020B0604020202020204" pitchFamily="34" charset="0"/>
              <a:cs typeface="Arial" charset="0"/>
            </a:endParaRPr>
          </a:p>
        </p:txBody>
      </p:sp>
      <p:sp>
        <p:nvSpPr>
          <p:cNvPr id="41994" name="Line 13"/>
          <p:cNvSpPr>
            <a:spLocks noChangeShapeType="1"/>
          </p:cNvSpPr>
          <p:nvPr/>
        </p:nvSpPr>
        <p:spPr bwMode="auto">
          <a:xfrm flipV="1">
            <a:off x="7696200" y="3352800"/>
            <a:ext cx="0" cy="304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1995" name="Text Box 16"/>
          <p:cNvSpPr txBox="1">
            <a:spLocks noChangeArrowheads="1"/>
          </p:cNvSpPr>
          <p:nvPr/>
        </p:nvSpPr>
        <p:spPr bwMode="auto">
          <a:xfrm>
            <a:off x="533400" y="4945063"/>
            <a:ext cx="2133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Record/  </a:t>
            </a:r>
            <a:endParaRPr lang="en-US" altLang="en-US" sz="2200" dirty="0" smtClean="0">
              <a:solidFill>
                <a:schemeClr val="tx1"/>
              </a:solidFill>
              <a:latin typeface="Liberation Sans" panose="020B0604020202020204" pitchFamily="34" charset="0"/>
              <a:cs typeface="Arial" charset="0"/>
            </a:endParaRP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2200" dirty="0" smtClean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Don’t </a:t>
            </a:r>
            <a:r>
              <a:rPr lang="en-US" altLang="en-US" sz="220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Record</a:t>
            </a:r>
          </a:p>
        </p:txBody>
      </p:sp>
      <p:sp>
        <p:nvSpPr>
          <p:cNvPr id="41996" name="Freeform 18"/>
          <p:cNvSpPr>
            <a:spLocks/>
          </p:cNvSpPr>
          <p:nvPr/>
        </p:nvSpPr>
        <p:spPr bwMode="auto">
          <a:xfrm>
            <a:off x="3429000" y="4419600"/>
            <a:ext cx="3175" cy="339725"/>
          </a:xfrm>
          <a:custGeom>
            <a:avLst/>
            <a:gdLst>
              <a:gd name="T0" fmla="*/ 2147483647 w 2"/>
              <a:gd name="T1" fmla="*/ 0 h 214"/>
              <a:gd name="T2" fmla="*/ 0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2" y="0"/>
                </a:moveTo>
                <a:lnTo>
                  <a:pt x="0" y="214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1997" name="Freeform 19"/>
          <p:cNvSpPr>
            <a:spLocks/>
          </p:cNvSpPr>
          <p:nvPr/>
        </p:nvSpPr>
        <p:spPr bwMode="auto">
          <a:xfrm>
            <a:off x="5559425" y="4419600"/>
            <a:ext cx="3175" cy="339725"/>
          </a:xfrm>
          <a:custGeom>
            <a:avLst/>
            <a:gdLst>
              <a:gd name="T0" fmla="*/ 2147483647 w 2"/>
              <a:gd name="T1" fmla="*/ 0 h 214"/>
              <a:gd name="T2" fmla="*/ 0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2" y="0"/>
                </a:moveTo>
                <a:lnTo>
                  <a:pt x="0" y="214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1998" name="Freeform 20"/>
          <p:cNvSpPr>
            <a:spLocks/>
          </p:cNvSpPr>
          <p:nvPr/>
        </p:nvSpPr>
        <p:spPr bwMode="auto">
          <a:xfrm>
            <a:off x="7696200" y="4419600"/>
            <a:ext cx="4763" cy="334963"/>
          </a:xfrm>
          <a:custGeom>
            <a:avLst/>
            <a:gdLst>
              <a:gd name="T0" fmla="*/ 0 w 3"/>
              <a:gd name="T1" fmla="*/ 0 h 211"/>
              <a:gd name="T2" fmla="*/ 2147483647 w 3"/>
              <a:gd name="T3" fmla="*/ 2147483647 h 211"/>
              <a:gd name="T4" fmla="*/ 0 60000 65536"/>
              <a:gd name="T5" fmla="*/ 0 60000 65536"/>
              <a:gd name="T6" fmla="*/ 0 w 3"/>
              <a:gd name="T7" fmla="*/ 0 h 211"/>
              <a:gd name="T8" fmla="*/ 3 w 3"/>
              <a:gd name="T9" fmla="*/ 211 h 2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211">
                <a:moveTo>
                  <a:pt x="0" y="0"/>
                </a:moveTo>
                <a:lnTo>
                  <a:pt x="3" y="211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1999" name="Line 2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2000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Transaction Analysis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42001" name="Line 9"/>
          <p:cNvSpPr>
            <a:spLocks noChangeShapeType="1"/>
          </p:cNvSpPr>
          <p:nvPr/>
        </p:nvSpPr>
        <p:spPr bwMode="auto">
          <a:xfrm flipV="1">
            <a:off x="5562600" y="3352800"/>
            <a:ext cx="0" cy="304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pic>
        <p:nvPicPr>
          <p:cNvPr id="22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872038"/>
            <a:ext cx="952500" cy="140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864100"/>
            <a:ext cx="755650" cy="130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4876800"/>
            <a:ext cx="755650" cy="130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005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42007" name="Rectangle 9"/>
          <p:cNvSpPr>
            <a:spLocks noChangeArrowheads="1"/>
          </p:cNvSpPr>
          <p:nvPr/>
        </p:nvSpPr>
        <p:spPr bwMode="auto">
          <a:xfrm>
            <a:off x="7239000" y="1933575"/>
            <a:ext cx="14097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1-7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Line 4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4037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Transaction Analysis</a:t>
            </a:r>
          </a:p>
        </p:txBody>
      </p:sp>
      <p:sp>
        <p:nvSpPr>
          <p:cNvPr id="44051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8229600" cy="140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9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TRANSACTION 1. INVESTMENT BY OWNER</a:t>
            </a: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 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Ray Neal decides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to start a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smartphone app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development company which he names </a:t>
            </a:r>
            <a:r>
              <a:rPr lang="en-US" sz="1900" b="0" dirty="0" err="1">
                <a:solidFill>
                  <a:schemeClr val="tx1"/>
                </a:solidFill>
                <a:latin typeface="Liberation Sans" panose="020B0604020202020204" pitchFamily="34" charset="0"/>
              </a:rPr>
              <a:t>Softbyte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. On September 1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, 2017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, he invests </a:t>
            </a:r>
            <a:r>
              <a:rPr lang="en-US" sz="1900" dirty="0">
                <a:solidFill>
                  <a:schemeClr val="tx1"/>
                </a:solidFill>
                <a:latin typeface="Liberation Sans" panose="020B0604020202020204" pitchFamily="34" charset="0"/>
              </a:rPr>
              <a:t>$15,000 cash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 the business. This transaction results in an </a:t>
            </a:r>
            <a:r>
              <a:rPr 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equal increase </a:t>
            </a:r>
            <a:r>
              <a:rPr 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 assets and owner’s equity.</a:t>
            </a:r>
            <a:endParaRPr lang="en-US" altLang="en-US" sz="19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32766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66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8" name="TextBox 7"/>
          <p:cNvSpPr txBox="1"/>
          <p:nvPr/>
        </p:nvSpPr>
        <p:spPr>
          <a:xfrm>
            <a:off x="1752600" y="32766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32766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0" y="32766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4648200" y="32766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800" y="32766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81000" y="3810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59499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978408" y="3810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" name="Rectangle 15"/>
          <p:cNvSpPr/>
          <p:nvPr/>
        </p:nvSpPr>
        <p:spPr bwMode="auto">
          <a:xfrm>
            <a:off x="16764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7432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5814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6482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56388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65532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73914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8153400" y="37338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399" y="29718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25" name="Straight Connector 24"/>
          <p:cNvCxnSpPr/>
          <p:nvPr/>
        </p:nvCxnSpPr>
        <p:spPr bwMode="auto">
          <a:xfrm>
            <a:off x="990600" y="3276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5626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70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35814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26670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6002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45720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cxnSp>
        <p:nvCxnSpPr>
          <p:cNvPr id="32" name="Straight Connector 31"/>
          <p:cNvCxnSpPr/>
          <p:nvPr/>
        </p:nvCxnSpPr>
        <p:spPr bwMode="auto">
          <a:xfrm>
            <a:off x="990600" y="4114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53200" y="32766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467600" y="32766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8153400" y="32766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3914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077200" y="32766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2" name="Rectangle 1"/>
          <p:cNvSpPr/>
          <p:nvPr/>
        </p:nvSpPr>
        <p:spPr>
          <a:xfrm>
            <a:off x="304800" y="4382869"/>
            <a:ext cx="16573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latin typeface="Liberation Sans" panose="020B0604020202020204" pitchFamily="34" charset="0"/>
              </a:rPr>
              <a:t>Illustration 1-8</a:t>
            </a:r>
          </a:p>
          <a:p>
            <a:pPr algn="l"/>
            <a:r>
              <a:rPr lang="en-US" sz="1200" dirty="0">
                <a:latin typeface="Liberation Sans" panose="020B0604020202020204" pitchFamily="34" charset="0"/>
              </a:rPr>
              <a:t>Tabular summary of </a:t>
            </a:r>
            <a:r>
              <a:rPr lang="en-US" sz="1200" dirty="0" smtClean="0">
                <a:latin typeface="Liberation Sans" panose="020B0604020202020204" pitchFamily="34" charset="0"/>
              </a:rPr>
              <a:t>Softbyte transactions</a:t>
            </a:r>
            <a:endParaRPr lang="en-US" sz="1200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02" name="Text Box 10"/>
          <p:cNvSpPr txBox="1">
            <a:spLocks noChangeArrowheads="1"/>
          </p:cNvSpPr>
          <p:nvPr/>
        </p:nvSpPr>
        <p:spPr bwMode="auto">
          <a:xfrm>
            <a:off x="381000" y="36576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3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4" name="Text Box 10"/>
          <p:cNvSpPr txBox="1">
            <a:spLocks noChangeArrowheads="1"/>
          </p:cNvSpPr>
          <p:nvPr/>
        </p:nvSpPr>
        <p:spPr bwMode="auto">
          <a:xfrm>
            <a:off x="381000" y="4267200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-600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-900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5" name="Text Box 10"/>
          <p:cNvSpPr txBox="1">
            <a:spLocks noChangeArrowheads="1"/>
          </p:cNvSpPr>
          <p:nvPr/>
        </p:nvSpPr>
        <p:spPr bwMode="auto">
          <a:xfrm>
            <a:off x="381000" y="39624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+3,500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83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76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2. PURCHASE OF EQUIPMENT FOR CASH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</a:t>
            </a:r>
            <a:r>
              <a:rPr lang="en-US" b="0" dirty="0" smtClean="0"/>
              <a:t>purchases computer </a:t>
            </a:r>
            <a:r>
              <a:rPr lang="en-US" b="0" dirty="0"/>
              <a:t>equipment for </a:t>
            </a:r>
            <a:r>
              <a:rPr lang="en-US" dirty="0"/>
              <a:t>$7,000 cash</a:t>
            </a:r>
            <a:r>
              <a:rPr lang="en-US" b="0" dirty="0"/>
              <a:t>.</a:t>
            </a:r>
            <a:endParaRPr lang="en-US" altLang="en-US" b="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81000" y="3087553"/>
            <a:ext cx="8610600" cy="3008447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6" name="Rectangle 84"/>
          <p:cNvSpPr>
            <a:spLocks noChangeArrowheads="1"/>
          </p:cNvSpPr>
          <p:nvPr/>
        </p:nvSpPr>
        <p:spPr bwMode="auto">
          <a:xfrm>
            <a:off x="7620000" y="1219200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7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934551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02" name="Text Box 10"/>
          <p:cNvSpPr txBox="1">
            <a:spLocks noChangeArrowheads="1"/>
          </p:cNvSpPr>
          <p:nvPr/>
        </p:nvSpPr>
        <p:spPr bwMode="auto">
          <a:xfrm>
            <a:off x="381000" y="36576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3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4" name="Text Box 10"/>
          <p:cNvSpPr txBox="1">
            <a:spLocks noChangeArrowheads="1"/>
          </p:cNvSpPr>
          <p:nvPr/>
        </p:nvSpPr>
        <p:spPr bwMode="auto">
          <a:xfrm>
            <a:off x="381000" y="4267200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-600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-900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5" name="Text Box 10"/>
          <p:cNvSpPr txBox="1">
            <a:spLocks noChangeArrowheads="1"/>
          </p:cNvSpPr>
          <p:nvPr/>
        </p:nvSpPr>
        <p:spPr bwMode="auto">
          <a:xfrm>
            <a:off x="381000" y="39624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+3,500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3431977"/>
            <a:ext cx="8610600" cy="2740223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6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3. PURCHASE OF SUPPLIES ON CREDIT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</a:t>
            </a:r>
            <a:r>
              <a:rPr lang="en-US" dirty="0"/>
              <a:t>purchases</a:t>
            </a:r>
            <a:r>
              <a:rPr lang="en-US" b="0" dirty="0"/>
              <a:t> </a:t>
            </a:r>
            <a:r>
              <a:rPr lang="en-US" dirty="0"/>
              <a:t>for</a:t>
            </a:r>
            <a:r>
              <a:rPr lang="en-US" b="0" dirty="0" smtClean="0"/>
              <a:t> </a:t>
            </a:r>
            <a:r>
              <a:rPr lang="en-US" dirty="0" smtClean="0"/>
              <a:t>$</a:t>
            </a:r>
            <a:r>
              <a:rPr lang="en-US" dirty="0"/>
              <a:t>1,600 </a:t>
            </a:r>
            <a:r>
              <a:rPr lang="en-US" b="0" dirty="0" smtClean="0"/>
              <a:t>headsets </a:t>
            </a:r>
            <a:r>
              <a:rPr lang="en-US" b="0" dirty="0"/>
              <a:t>and other </a:t>
            </a:r>
            <a:r>
              <a:rPr lang="en-US" b="0" dirty="0" smtClean="0"/>
              <a:t>accessories expected to </a:t>
            </a:r>
            <a:r>
              <a:rPr lang="en-US" b="0" dirty="0"/>
              <a:t>last several months. </a:t>
            </a:r>
            <a:r>
              <a:rPr lang="en-US" b="0" dirty="0" smtClean="0"/>
              <a:t>The supplier allows </a:t>
            </a:r>
            <a:r>
              <a:rPr lang="en-US" b="0" dirty="0"/>
              <a:t>Softbyte to pay this </a:t>
            </a:r>
            <a:r>
              <a:rPr lang="en-US" b="0" dirty="0" smtClean="0"/>
              <a:t>bill in </a:t>
            </a:r>
            <a:r>
              <a:rPr lang="en-US" b="0" dirty="0"/>
              <a:t>October.</a:t>
            </a:r>
            <a:endParaRPr lang="en-US" altLang="en-US" b="0" dirty="0"/>
          </a:p>
        </p:txBody>
      </p:sp>
      <p:sp>
        <p:nvSpPr>
          <p:cNvPr id="88" name="Rectangle 84"/>
          <p:cNvSpPr>
            <a:spLocks noChangeArrowheads="1"/>
          </p:cNvSpPr>
          <p:nvPr/>
        </p:nvSpPr>
        <p:spPr bwMode="auto">
          <a:xfrm>
            <a:off x="304800" y="1554162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7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4" name="TextBox 93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45108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02" name="Text Box 10"/>
          <p:cNvSpPr txBox="1">
            <a:spLocks noChangeArrowheads="1"/>
          </p:cNvSpPr>
          <p:nvPr/>
        </p:nvSpPr>
        <p:spPr bwMode="auto">
          <a:xfrm>
            <a:off x="381000" y="36576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4" name="Text Box 10"/>
          <p:cNvSpPr txBox="1">
            <a:spLocks noChangeArrowheads="1"/>
          </p:cNvSpPr>
          <p:nvPr/>
        </p:nvSpPr>
        <p:spPr bwMode="auto">
          <a:xfrm>
            <a:off x="381000" y="4267200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-600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-900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5" name="Text Box 10"/>
          <p:cNvSpPr txBox="1">
            <a:spLocks noChangeArrowheads="1"/>
          </p:cNvSpPr>
          <p:nvPr/>
        </p:nvSpPr>
        <p:spPr bwMode="auto">
          <a:xfrm>
            <a:off x="381000" y="39624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+3,500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3733800"/>
            <a:ext cx="8610600" cy="2360712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4. SERVICES PERFORMED FOR CASH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receives </a:t>
            </a:r>
            <a:r>
              <a:rPr lang="en-US" dirty="0"/>
              <a:t>$1,200</a:t>
            </a:r>
            <a:r>
              <a:rPr lang="en-US" b="0" dirty="0" smtClean="0"/>
              <a:t> </a:t>
            </a:r>
            <a:r>
              <a:rPr lang="en-US" dirty="0"/>
              <a:t>cash</a:t>
            </a:r>
            <a:r>
              <a:rPr lang="en-US" b="0" dirty="0" smtClean="0"/>
              <a:t> </a:t>
            </a:r>
            <a:r>
              <a:rPr lang="en-US" b="0" dirty="0"/>
              <a:t>from customers for app development services it has performed.</a:t>
            </a:r>
            <a:endParaRPr lang="en-US" altLang="en-US" b="0" dirty="0"/>
          </a:p>
        </p:txBody>
      </p:sp>
      <p:sp>
        <p:nvSpPr>
          <p:cNvPr id="88" name="Rectangle 84"/>
          <p:cNvSpPr>
            <a:spLocks noChangeArrowheads="1"/>
          </p:cNvSpPr>
          <p:nvPr/>
        </p:nvSpPr>
        <p:spPr bwMode="auto">
          <a:xfrm>
            <a:off x="7620000" y="1219200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6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89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1405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4" name="Text Box 10"/>
          <p:cNvSpPr txBox="1">
            <a:spLocks noChangeArrowheads="1"/>
          </p:cNvSpPr>
          <p:nvPr/>
        </p:nvSpPr>
        <p:spPr bwMode="auto">
          <a:xfrm>
            <a:off x="381000" y="4267200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-600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-900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5" name="Text Box 10"/>
          <p:cNvSpPr txBox="1">
            <a:spLocks noChangeArrowheads="1"/>
          </p:cNvSpPr>
          <p:nvPr/>
        </p:nvSpPr>
        <p:spPr bwMode="auto">
          <a:xfrm>
            <a:off x="381000" y="39624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+3,500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4038599"/>
            <a:ext cx="8610600" cy="2179767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6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5. PURCHASE OF ADVERTISING ON CREDIT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receives </a:t>
            </a:r>
            <a:r>
              <a:rPr lang="en-US" b="0" dirty="0" smtClean="0"/>
              <a:t>a </a:t>
            </a:r>
            <a:r>
              <a:rPr lang="en-US" dirty="0" smtClean="0"/>
              <a:t>bill </a:t>
            </a:r>
            <a:r>
              <a:rPr lang="en-US" dirty="0"/>
              <a:t>for $250 </a:t>
            </a:r>
            <a:r>
              <a:rPr lang="en-US" b="0" dirty="0"/>
              <a:t>from the </a:t>
            </a:r>
            <a:r>
              <a:rPr lang="en-US" b="0" i="1" dirty="0"/>
              <a:t>Daily News </a:t>
            </a:r>
            <a:r>
              <a:rPr lang="en-US" b="0" dirty="0"/>
              <a:t>for advertising on its online website but </a:t>
            </a:r>
            <a:r>
              <a:rPr lang="en-US" b="0" dirty="0" smtClean="0"/>
              <a:t>postpones payment </a:t>
            </a:r>
            <a:r>
              <a:rPr lang="en-US" b="0" dirty="0"/>
              <a:t>until a later date.</a:t>
            </a:r>
            <a:endParaRPr lang="en-US" altLang="en-US" b="0" dirty="0"/>
          </a:p>
        </p:txBody>
      </p:sp>
      <p:sp>
        <p:nvSpPr>
          <p:cNvPr id="88" name="Rectangle 84"/>
          <p:cNvSpPr>
            <a:spLocks noChangeArrowheads="1"/>
          </p:cNvSpPr>
          <p:nvPr/>
        </p:nvSpPr>
        <p:spPr bwMode="auto">
          <a:xfrm>
            <a:off x="7620000" y="1219200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7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6" name="TextBox 95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97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8" name="Text Box 10"/>
          <p:cNvSpPr txBox="1">
            <a:spLocks noChangeArrowheads="1"/>
          </p:cNvSpPr>
          <p:nvPr/>
        </p:nvSpPr>
        <p:spPr bwMode="auto">
          <a:xfrm>
            <a:off x="381000" y="3680192"/>
            <a:ext cx="87630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-250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22123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24" name="Text Box 10"/>
          <p:cNvSpPr txBox="1">
            <a:spLocks noChangeArrowheads="1"/>
          </p:cNvSpPr>
          <p:nvPr/>
        </p:nvSpPr>
        <p:spPr bwMode="auto">
          <a:xfrm>
            <a:off x="381000" y="4267200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-600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-900</a:t>
            </a: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-200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4343400"/>
            <a:ext cx="8610600" cy="179876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9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TRANSACTION 6. SERVICES PERFORMED FOR CASH AND CREDIT.</a:t>
            </a: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 Softbyte performs </a:t>
            </a:r>
            <a:r>
              <a:rPr lang="en-US" altLang="en-US" sz="1900" dirty="0">
                <a:solidFill>
                  <a:schemeClr val="tx1"/>
                </a:solidFill>
                <a:latin typeface="Liberation Sans" panose="020B0604020202020204" pitchFamily="34" charset="0"/>
              </a:rPr>
              <a:t>$3,500 of </a:t>
            </a:r>
            <a:r>
              <a:rPr lang="en-US" altLang="en-US" sz="19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services</a:t>
            </a:r>
            <a:r>
              <a:rPr lang="en-US" altLang="en-US" sz="19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. </a:t>
            </a: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company receives </a:t>
            </a:r>
            <a:r>
              <a:rPr lang="en-US" altLang="en-US" sz="1900" dirty="0">
                <a:solidFill>
                  <a:schemeClr val="tx1"/>
                </a:solidFill>
                <a:latin typeface="Liberation Sans" panose="020B0604020202020204" pitchFamily="34" charset="0"/>
              </a:rPr>
              <a:t>cash of $1,500 </a:t>
            </a: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from customers, and it bills the balance of </a:t>
            </a:r>
            <a:r>
              <a:rPr lang="en-US" altLang="en-US" sz="1900" dirty="0">
                <a:solidFill>
                  <a:schemeClr val="tx1"/>
                </a:solidFill>
                <a:latin typeface="Liberation Sans" panose="020B0604020202020204" pitchFamily="34" charset="0"/>
              </a:rPr>
              <a:t>$2,000 on account</a:t>
            </a:r>
            <a:r>
              <a:rPr lang="en-US" altLang="en-US" sz="19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.</a:t>
            </a:r>
          </a:p>
        </p:txBody>
      </p:sp>
      <p:sp>
        <p:nvSpPr>
          <p:cNvPr id="88" name="Rectangle 84"/>
          <p:cNvSpPr>
            <a:spLocks noChangeArrowheads="1"/>
          </p:cNvSpPr>
          <p:nvPr/>
        </p:nvSpPr>
        <p:spPr bwMode="auto">
          <a:xfrm>
            <a:off x="304800" y="1554162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6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7" name="TextBox 96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98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9" name="Text Box 10"/>
          <p:cNvSpPr txBox="1">
            <a:spLocks noChangeArrowheads="1"/>
          </p:cNvSpPr>
          <p:nvPr/>
        </p:nvSpPr>
        <p:spPr bwMode="auto">
          <a:xfrm>
            <a:off x="381000" y="3984992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	+3,500	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0" name="Text Box 10"/>
          <p:cNvSpPr txBox="1">
            <a:spLocks noChangeArrowheads="1"/>
          </p:cNvSpPr>
          <p:nvPr/>
        </p:nvSpPr>
        <p:spPr bwMode="auto">
          <a:xfrm>
            <a:off x="381000" y="3680192"/>
            <a:ext cx="87630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-250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8872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5181600"/>
            <a:ext cx="8610600" cy="879901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7. PAYMENT OF EXPENSES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pays the following </a:t>
            </a:r>
            <a:r>
              <a:rPr lang="en-US" b="0" dirty="0" smtClean="0"/>
              <a:t>expenses in </a:t>
            </a:r>
            <a:r>
              <a:rPr lang="en-US" b="0" dirty="0"/>
              <a:t>cash for September: </a:t>
            </a:r>
            <a:r>
              <a:rPr lang="en-US" b="0" dirty="0" smtClean="0"/>
              <a:t>office </a:t>
            </a:r>
            <a:r>
              <a:rPr lang="en-US" b="0" dirty="0"/>
              <a:t>rent </a:t>
            </a:r>
            <a:r>
              <a:rPr lang="en-US" dirty="0"/>
              <a:t>$600</a:t>
            </a:r>
            <a:r>
              <a:rPr lang="en-US" b="0" dirty="0"/>
              <a:t>, salaries and wages of employees </a:t>
            </a:r>
            <a:r>
              <a:rPr lang="en-US" dirty="0"/>
              <a:t>$900</a:t>
            </a:r>
            <a:r>
              <a:rPr lang="en-US" b="0" dirty="0" smtClean="0"/>
              <a:t>, and </a:t>
            </a:r>
            <a:r>
              <a:rPr lang="en-US" b="0" dirty="0"/>
              <a:t>utilities </a:t>
            </a:r>
            <a:r>
              <a:rPr lang="en-US" dirty="0"/>
              <a:t>$200</a:t>
            </a:r>
            <a:r>
              <a:rPr lang="en-US" b="0" dirty="0"/>
              <a:t>.</a:t>
            </a:r>
            <a:endParaRPr lang="en-US" altLang="en-US" b="0" dirty="0"/>
          </a:p>
        </p:txBody>
      </p:sp>
      <p:sp>
        <p:nvSpPr>
          <p:cNvPr id="86" name="Rectangle 84"/>
          <p:cNvSpPr>
            <a:spLocks noChangeArrowheads="1"/>
          </p:cNvSpPr>
          <p:nvPr/>
        </p:nvSpPr>
        <p:spPr bwMode="auto">
          <a:xfrm>
            <a:off x="7620000" y="1219200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8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4" name="TextBox 93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95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6" name="Text Box 10"/>
          <p:cNvSpPr txBox="1">
            <a:spLocks noChangeArrowheads="1"/>
          </p:cNvSpPr>
          <p:nvPr/>
        </p:nvSpPr>
        <p:spPr bwMode="auto">
          <a:xfrm>
            <a:off x="381000" y="4289792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		-600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-900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-200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7" name="Text Box 10"/>
          <p:cNvSpPr txBox="1">
            <a:spLocks noChangeArrowheads="1"/>
          </p:cNvSpPr>
          <p:nvPr/>
        </p:nvSpPr>
        <p:spPr bwMode="auto">
          <a:xfrm>
            <a:off x="381000" y="3984992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	+3,500	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8" name="Text Box 10"/>
          <p:cNvSpPr txBox="1">
            <a:spLocks noChangeArrowheads="1"/>
          </p:cNvSpPr>
          <p:nvPr/>
        </p:nvSpPr>
        <p:spPr bwMode="auto">
          <a:xfrm>
            <a:off x="381000" y="3680192"/>
            <a:ext cx="87630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-250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6249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5486399"/>
            <a:ext cx="8610600" cy="803077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8. PAYMENT OF ACCOUNTS PAYABLE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</a:t>
            </a:r>
            <a:r>
              <a:rPr lang="en-US" dirty="0"/>
              <a:t>pays its $250 </a:t>
            </a:r>
            <a:r>
              <a:rPr lang="en-US" b="0" i="1" dirty="0" smtClean="0"/>
              <a:t>Daily </a:t>
            </a:r>
            <a:r>
              <a:rPr lang="en-US" b="0" i="1" dirty="0"/>
              <a:t>News </a:t>
            </a:r>
            <a:r>
              <a:rPr lang="en-US" b="0" dirty="0"/>
              <a:t>bill in cash. The company previously (in Transaction 5) recorded </a:t>
            </a:r>
            <a:r>
              <a:rPr lang="en-US" b="0" dirty="0" smtClean="0"/>
              <a:t>the bill </a:t>
            </a:r>
            <a:r>
              <a:rPr lang="en-US" b="0" dirty="0"/>
              <a:t>as an increase in Accounts </a:t>
            </a:r>
            <a:r>
              <a:rPr lang="en-US" b="0" dirty="0" smtClean="0"/>
              <a:t>Payable.</a:t>
            </a:r>
            <a:endParaRPr lang="en-US" altLang="en-US" b="0" dirty="0"/>
          </a:p>
        </p:txBody>
      </p:sp>
      <p:sp>
        <p:nvSpPr>
          <p:cNvPr id="86" name="Rectangle 84"/>
          <p:cNvSpPr>
            <a:spLocks noChangeArrowheads="1"/>
          </p:cNvSpPr>
          <p:nvPr/>
        </p:nvSpPr>
        <p:spPr bwMode="auto">
          <a:xfrm>
            <a:off x="228600" y="1554162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8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99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0" name="Text Box 10"/>
          <p:cNvSpPr txBox="1">
            <a:spLocks noChangeArrowheads="1"/>
          </p:cNvSpPr>
          <p:nvPr/>
        </p:nvSpPr>
        <p:spPr bwMode="auto">
          <a:xfrm>
            <a:off x="381000" y="4289792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		-600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-900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-200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1" name="Text Box 10"/>
          <p:cNvSpPr txBox="1">
            <a:spLocks noChangeArrowheads="1"/>
          </p:cNvSpPr>
          <p:nvPr/>
        </p:nvSpPr>
        <p:spPr bwMode="auto">
          <a:xfrm>
            <a:off x="381000" y="3984992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	+3,500	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2" name="Text Box 10"/>
          <p:cNvSpPr txBox="1">
            <a:spLocks noChangeArrowheads="1"/>
          </p:cNvSpPr>
          <p:nvPr/>
        </p:nvSpPr>
        <p:spPr bwMode="auto">
          <a:xfrm>
            <a:off x="381000" y="3680192"/>
            <a:ext cx="87630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-250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1487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7179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050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9050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9050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438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362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6002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905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4845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7461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4270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7209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6022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946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403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3275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479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403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60624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$4,700	$1,950	$1,300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9567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9465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5791200"/>
            <a:ext cx="8610600" cy="417611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6025754"/>
            <a:ext cx="8229600" cy="527446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001000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9. RECEIPT OF CASH ON ACCOUNT </a:t>
            </a:r>
            <a:r>
              <a:rPr lang="en-US" dirty="0" smtClean="0"/>
              <a:t> </a:t>
            </a:r>
            <a:r>
              <a:rPr lang="en-US" b="0" dirty="0" smtClean="0"/>
              <a:t>Softbyte </a:t>
            </a:r>
            <a:r>
              <a:rPr lang="en-US" b="0" dirty="0"/>
              <a:t>Inc. </a:t>
            </a:r>
            <a:r>
              <a:rPr lang="en-US" dirty="0"/>
              <a:t>receives $600 in cash </a:t>
            </a:r>
            <a:r>
              <a:rPr lang="en-US" b="0" dirty="0"/>
              <a:t>from customers who had been billed for services (in Transaction 6).</a:t>
            </a:r>
            <a:endParaRPr lang="en-US" altLang="en-US" b="0" dirty="0"/>
          </a:p>
        </p:txBody>
      </p:sp>
      <p:sp>
        <p:nvSpPr>
          <p:cNvPr id="86" name="Rectangle 84"/>
          <p:cNvSpPr>
            <a:spLocks noChangeArrowheads="1"/>
          </p:cNvSpPr>
          <p:nvPr/>
        </p:nvSpPr>
        <p:spPr bwMode="auto">
          <a:xfrm>
            <a:off x="7620000" y="1219200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8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6388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6553200" y="19050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74676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8153400" y="19050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73914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8077200" y="1905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99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0" name="Text Box 10"/>
          <p:cNvSpPr txBox="1">
            <a:spLocks noChangeArrowheads="1"/>
          </p:cNvSpPr>
          <p:nvPr/>
        </p:nvSpPr>
        <p:spPr bwMode="auto">
          <a:xfrm>
            <a:off x="381000" y="4289792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		-600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-900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-200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1" name="Text Box 10"/>
          <p:cNvSpPr txBox="1">
            <a:spLocks noChangeArrowheads="1"/>
          </p:cNvSpPr>
          <p:nvPr/>
        </p:nvSpPr>
        <p:spPr bwMode="auto">
          <a:xfrm>
            <a:off x="381000" y="3984992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	+3,500	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02" name="Text Box 10"/>
          <p:cNvSpPr txBox="1">
            <a:spLocks noChangeArrowheads="1"/>
          </p:cNvSpPr>
          <p:nvPr/>
        </p:nvSpPr>
        <p:spPr bwMode="auto">
          <a:xfrm>
            <a:off x="381000" y="3680192"/>
            <a:ext cx="87630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-250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8237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0"/>
          <p:cNvSpPr txBox="1">
            <a:spLocks noChangeArrowheads="1"/>
          </p:cNvSpPr>
          <p:nvPr/>
        </p:nvSpPr>
        <p:spPr bwMode="auto">
          <a:xfrm>
            <a:off x="381000" y="48035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8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-250				-250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auto">
          <a:xfrm>
            <a:off x="381000" y="51083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9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+600	-600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381000" y="5413177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42113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10.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-1,300						-1,300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" y="16002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Trans-</a:t>
            </a:r>
          </a:p>
          <a:p>
            <a:r>
              <a:rPr lang="en-US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6002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300" dirty="0" smtClean="0"/>
              <a:t>Cash   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1752600" y="16002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Receivable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1600200"/>
            <a:ext cx="8001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Supplies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0" y="16002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Equipment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48200" y="1600200"/>
            <a:ext cx="990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Accounts</a:t>
            </a:r>
          </a:p>
          <a:p>
            <a:pPr>
              <a:spcBef>
                <a:spcPts val="0"/>
              </a:spcBef>
            </a:pPr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2133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6764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7432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5814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482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6388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5532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3152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77200" y="205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12954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651000" algn="ctr"/>
                <a:tab pos="4121150" algn="ctr"/>
                <a:tab pos="6223000" algn="ctr"/>
              </a:tabLst>
            </a:pPr>
            <a:r>
              <a:rPr lang="en-US" sz="1400" dirty="0" smtClean="0"/>
              <a:t>	Assets	= Liabilities +	Owner's Equity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90600" y="1600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5626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4770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5814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6670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16002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45720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=</a:t>
            </a:r>
            <a:endParaRPr lang="en-US" sz="1200" dirty="0"/>
          </a:p>
        </p:txBody>
      </p: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81000" y="2179767"/>
            <a:ext cx="8458201" cy="2616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146175" algn="r"/>
                <a:tab pos="60055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15,000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11" name="Text Box 10"/>
          <p:cNvSpPr txBox="1">
            <a:spLocks noChangeArrowheads="1"/>
          </p:cNvSpPr>
          <p:nvPr/>
        </p:nvSpPr>
        <p:spPr bwMode="auto">
          <a:xfrm>
            <a:off x="381000" y="2441377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3998913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-7,000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+7,000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2441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Straight Connector 105"/>
          <p:cNvCxnSpPr/>
          <p:nvPr/>
        </p:nvCxnSpPr>
        <p:spPr bwMode="auto">
          <a:xfrm>
            <a:off x="990600" y="2746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Straight Connector 108"/>
          <p:cNvCxnSpPr/>
          <p:nvPr/>
        </p:nvCxnSpPr>
        <p:spPr bwMode="auto">
          <a:xfrm>
            <a:off x="990600" y="3050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990600" y="33557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Straight Connector 114"/>
          <p:cNvCxnSpPr/>
          <p:nvPr/>
        </p:nvCxnSpPr>
        <p:spPr bwMode="auto">
          <a:xfrm>
            <a:off x="990600" y="36605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990600" y="39653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2" name="Text Box 10"/>
          <p:cNvSpPr txBox="1">
            <a:spLocks noChangeArrowheads="1"/>
          </p:cNvSpPr>
          <p:nvPr/>
        </p:nvSpPr>
        <p:spPr bwMode="auto">
          <a:xfrm>
            <a:off x="381000" y="27432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3030538" algn="r"/>
                <a:tab pos="5035550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r>
              <a:rPr lang="en-US" altLang="en-US" sz="1400" b="1" dirty="0">
                <a:latin typeface="Liberation Sans" panose="020B0604020202020204" pitchFamily="34" charset="0"/>
              </a:rPr>
              <a:t>	+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1,600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990600" y="48065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990600" y="51113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>
            <a:off x="990600" y="5416154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990600" y="5717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8" name="Rectangle 137"/>
          <p:cNvSpPr/>
          <p:nvPr/>
        </p:nvSpPr>
        <p:spPr bwMode="auto">
          <a:xfrm>
            <a:off x="16885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27553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5935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6603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509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5653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3273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8089392" y="5641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46" name="Straight Connector 145"/>
          <p:cNvCxnSpPr/>
          <p:nvPr/>
        </p:nvCxnSpPr>
        <p:spPr bwMode="auto">
          <a:xfrm>
            <a:off x="990600" y="60989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7" name="Rectangle 146"/>
          <p:cNvSpPr/>
          <p:nvPr/>
        </p:nvSpPr>
        <p:spPr bwMode="auto">
          <a:xfrm>
            <a:off x="16885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7553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5935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46603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6509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65653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73273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8089392" y="60227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55" name="Straight Connector 154"/>
          <p:cNvCxnSpPr/>
          <p:nvPr/>
        </p:nvCxnSpPr>
        <p:spPr bwMode="auto">
          <a:xfrm>
            <a:off x="990600" y="6175177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6" name="Rectangle 155"/>
          <p:cNvSpPr/>
          <p:nvPr/>
        </p:nvSpPr>
        <p:spPr bwMode="auto">
          <a:xfrm>
            <a:off x="16885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27553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5935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46603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56509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65653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3273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089392" y="6098977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4" name="Text Box 10"/>
          <p:cNvSpPr txBox="1">
            <a:spLocks noChangeArrowheads="1"/>
          </p:cNvSpPr>
          <p:nvPr/>
        </p:nvSpPr>
        <p:spPr bwMode="auto">
          <a:xfrm>
            <a:off x="381000" y="5757601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$8,050	$1,400	$1,600	$7,000	$1,600	$15,000	$1,300	$4,700	$1,950</a:t>
            </a:r>
            <a:endParaRPr lang="en-US" altLang="en-US" sz="1400" b="1" dirty="0">
              <a:latin typeface="Liberation Sans" panose="020B0604020202020204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638800" y="56519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53200" y="56519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1400" y="56519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0" y="56519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76400" y="56519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648200" y="565195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15200" y="56417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72" name="TextBox 171"/>
          <p:cNvSpPr txBox="1"/>
          <p:nvPr/>
        </p:nvSpPr>
        <p:spPr>
          <a:xfrm>
            <a:off x="8077200" y="5641777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-</a:t>
            </a:r>
          </a:p>
        </p:txBody>
      </p:sp>
      <p:sp>
        <p:nvSpPr>
          <p:cNvPr id="85" name="Rectangle 84"/>
          <p:cNvSpPr/>
          <p:nvPr/>
        </p:nvSpPr>
        <p:spPr bwMode="auto">
          <a:xfrm>
            <a:off x="762000" y="5791200"/>
            <a:ext cx="8229600" cy="454222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153400" cy="76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dirty="0"/>
              <a:t>TRANSACTION 10. </a:t>
            </a:r>
            <a:r>
              <a:rPr lang="en-US" dirty="0" smtClean="0"/>
              <a:t>WITHDRAWAL OF CASH BY OWNER  </a:t>
            </a:r>
            <a:r>
              <a:rPr lang="en-US" b="0" dirty="0" smtClean="0"/>
              <a:t>Ray Neal withdraws </a:t>
            </a:r>
            <a:r>
              <a:rPr lang="en-US" dirty="0"/>
              <a:t>$1,300 in cash </a:t>
            </a:r>
            <a:r>
              <a:rPr lang="en-US" b="0" dirty="0" smtClean="0"/>
              <a:t>in cash from the business for his personal use.</a:t>
            </a:r>
            <a:endParaRPr lang="en-US" altLang="en-US" b="0" dirty="0"/>
          </a:p>
        </p:txBody>
      </p:sp>
      <p:sp>
        <p:nvSpPr>
          <p:cNvPr id="84" name="Left Brace 83"/>
          <p:cNvSpPr/>
          <p:nvPr/>
        </p:nvSpPr>
        <p:spPr bwMode="auto">
          <a:xfrm rot="16200000">
            <a:off x="6697172" y="4199429"/>
            <a:ext cx="182974" cy="4128518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6" name="Left Brace 85"/>
          <p:cNvSpPr/>
          <p:nvPr/>
        </p:nvSpPr>
        <p:spPr bwMode="auto">
          <a:xfrm rot="16200000">
            <a:off x="2728675" y="4421932"/>
            <a:ext cx="182975" cy="3683510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8" name="Text Box 10"/>
          <p:cNvSpPr txBox="1">
            <a:spLocks noChangeArrowheads="1"/>
          </p:cNvSpPr>
          <p:nvPr/>
        </p:nvSpPr>
        <p:spPr bwMode="auto">
          <a:xfrm>
            <a:off x="2209800" y="6367046"/>
            <a:ext cx="12954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89" name="Text Box 10"/>
          <p:cNvSpPr txBox="1">
            <a:spLocks noChangeArrowheads="1"/>
          </p:cNvSpPr>
          <p:nvPr/>
        </p:nvSpPr>
        <p:spPr bwMode="auto">
          <a:xfrm>
            <a:off x="6096000" y="6367046"/>
            <a:ext cx="13716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0" name="Rectangle 84"/>
          <p:cNvSpPr>
            <a:spLocks noChangeArrowheads="1"/>
          </p:cNvSpPr>
          <p:nvPr/>
        </p:nvSpPr>
        <p:spPr bwMode="auto">
          <a:xfrm>
            <a:off x="228600" y="1219200"/>
            <a:ext cx="1295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</a:t>
            </a:r>
            <a:endParaRPr lang="en-US" altLang="en-US" sz="1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9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381000" y="3962400"/>
            <a:ext cx="8610600" cy="81560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7.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-1,700									-600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-900</a:t>
            </a:r>
            <a:endParaRPr lang="en-US" altLang="en-US" sz="1200" b="1" dirty="0" smtClean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  <a:p>
            <a:pPr>
              <a:spcBef>
                <a:spcPts val="3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						-200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4" name="Text Box 10"/>
          <p:cNvSpPr txBox="1">
            <a:spLocks noChangeArrowheads="1"/>
          </p:cNvSpPr>
          <p:nvPr/>
        </p:nvSpPr>
        <p:spPr bwMode="auto">
          <a:xfrm>
            <a:off x="381000" y="3657600"/>
            <a:ext cx="86106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16138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339138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6.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+1,500	+2,000						+3,500	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5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8763000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2170113" algn="r"/>
                <a:tab pos="3030538" algn="r"/>
                <a:tab pos="3998913" algn="r"/>
                <a:tab pos="5035550" algn="r"/>
                <a:tab pos="6005513" algn="r"/>
                <a:tab pos="6796088" algn="r"/>
                <a:tab pos="7546975" algn="r"/>
                <a:tab pos="7656513" algn="l"/>
                <a:tab pos="8283575" algn="r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+250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			-250</a:t>
            </a:r>
            <a:endParaRPr lang="en-US" altLang="en-US" sz="12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638800" y="16002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Capital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6553200" y="16002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Owner's Drawings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7467600" y="16002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8153400" y="1600200"/>
            <a:ext cx="609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73914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+</a:t>
            </a:r>
            <a:endParaRPr lang="en-US" sz="1200" dirty="0"/>
          </a:p>
        </p:txBody>
      </p:sp>
      <p:sp>
        <p:nvSpPr>
          <p:cNvPr id="101" name="TextBox 100"/>
          <p:cNvSpPr txBox="1"/>
          <p:nvPr/>
        </p:nvSpPr>
        <p:spPr>
          <a:xfrm>
            <a:off x="8077200" y="16002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200" dirty="0" smtClean="0"/>
              <a:t>-</a:t>
            </a:r>
            <a:endParaRPr lang="en-US" sz="1200" dirty="0"/>
          </a:p>
        </p:txBody>
      </p:sp>
      <p:sp>
        <p:nvSpPr>
          <p:cNvPr id="102" name="Text Box 10"/>
          <p:cNvSpPr txBox="1">
            <a:spLocks noChangeArrowheads="1"/>
          </p:cNvSpPr>
          <p:nvPr/>
        </p:nvSpPr>
        <p:spPr bwMode="auto">
          <a:xfrm>
            <a:off x="381000" y="3048000"/>
            <a:ext cx="8458201" cy="307777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tabLst>
                <a:tab pos="231775" algn="r"/>
                <a:tab pos="1146175" algn="r"/>
                <a:tab pos="6796088" algn="r"/>
                <a:tab pos="7546975" algn="r"/>
                <a:tab pos="7656513" algn="l"/>
              </a:tabLst>
            </a:pPr>
            <a:r>
              <a:rPr lang="en-US" altLang="en-US" sz="14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+1,200</a:t>
            </a:r>
            <a:r>
              <a:rPr lang="en-US" altLang="en-US" sz="1400" b="1" dirty="0">
                <a:latin typeface="Liberation Sans" panose="020B0604020202020204" pitchFamily="34" charset="0"/>
              </a:rPr>
              <a:t>	</a:t>
            </a:r>
            <a:r>
              <a:rPr lang="en-US" altLang="en-US" sz="1400" b="1" dirty="0" smtClean="0">
                <a:latin typeface="Liberation Sans" panose="020B0604020202020204" pitchFamily="34" charset="0"/>
              </a:rPr>
              <a:t>	+1,200	</a:t>
            </a:r>
            <a:endParaRPr lang="en-US" altLang="en-US" sz="14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49552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85" grpId="0" animBg="1"/>
      <p:bldP spid="84" grpId="0" animBg="1"/>
      <p:bldP spid="86" grpId="0" animBg="1"/>
      <p:bldP spid="88" grpId="0"/>
      <p:bldP spid="8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7696200" cy="2647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682625" indent="-463550">
              <a:lnSpc>
                <a:spcPct val="125000"/>
              </a:lnSpc>
              <a:spcBef>
                <a:spcPts val="1200"/>
              </a:spcBef>
              <a:buClrTx/>
              <a:buSzTx/>
              <a:buFont typeface="+mj-lt"/>
              <a:buAutoNum type="arabicPeriod"/>
            </a:pPr>
            <a:r>
              <a:rPr lang="en-US" sz="2300" b="0" dirty="0" smtClean="0">
                <a:latin typeface="Liberation Sans" panose="020B0604020202020204" pitchFamily="34" charset="0"/>
              </a:rPr>
              <a:t>Each </a:t>
            </a:r>
            <a:r>
              <a:rPr lang="en-US" sz="2300" b="0" dirty="0">
                <a:latin typeface="Liberation Sans" panose="020B0604020202020204" pitchFamily="34" charset="0"/>
              </a:rPr>
              <a:t>transaction </a:t>
            </a:r>
            <a:r>
              <a:rPr lang="en-US" sz="2300" b="0" dirty="0" smtClean="0">
                <a:latin typeface="Liberation Sans" panose="020B0604020202020204" pitchFamily="34" charset="0"/>
              </a:rPr>
              <a:t>is analyzed </a:t>
            </a:r>
            <a:r>
              <a:rPr lang="en-US" sz="2300" b="0" dirty="0">
                <a:latin typeface="Liberation Sans" panose="020B0604020202020204" pitchFamily="34" charset="0"/>
              </a:rPr>
              <a:t>in terms of its effect </a:t>
            </a:r>
            <a:r>
              <a:rPr lang="en-US" sz="2300" b="0" dirty="0" smtClean="0">
                <a:latin typeface="Liberation Sans" panose="020B0604020202020204" pitchFamily="34" charset="0"/>
              </a:rPr>
              <a:t>on:</a:t>
            </a:r>
          </a:p>
          <a:p>
            <a:pPr marL="1377950" lvl="1" indent="-463550">
              <a:lnSpc>
                <a:spcPct val="125000"/>
              </a:lnSpc>
              <a:spcBef>
                <a:spcPts val="1200"/>
              </a:spcBef>
              <a:buClrTx/>
              <a:buSzTx/>
              <a:buFont typeface="+mj-lt"/>
              <a:buAutoNum type="alphaLcPeriod"/>
            </a:pPr>
            <a:r>
              <a:rPr lang="en-US" sz="2200" b="0" dirty="0" smtClean="0">
                <a:latin typeface="Liberation Sans" panose="020B0604020202020204" pitchFamily="34" charset="0"/>
              </a:rPr>
              <a:t>The </a:t>
            </a:r>
            <a:r>
              <a:rPr lang="en-US" sz="2200" b="0" dirty="0">
                <a:latin typeface="Liberation Sans" panose="020B0604020202020204" pitchFamily="34" charset="0"/>
              </a:rPr>
              <a:t>three components of the basic accounting </a:t>
            </a:r>
            <a:r>
              <a:rPr lang="en-US" sz="2200" b="0" dirty="0" smtClean="0">
                <a:latin typeface="Liberation Sans" panose="020B0604020202020204" pitchFamily="34" charset="0"/>
              </a:rPr>
              <a:t>equation.</a:t>
            </a:r>
          </a:p>
          <a:p>
            <a:pPr marL="1377950" lvl="1" indent="-463550">
              <a:lnSpc>
                <a:spcPct val="125000"/>
              </a:lnSpc>
              <a:spcBef>
                <a:spcPts val="1200"/>
              </a:spcBef>
              <a:buClrTx/>
              <a:buSzTx/>
              <a:buFont typeface="+mj-lt"/>
              <a:buAutoNum type="alphaLcPeriod"/>
            </a:pPr>
            <a:r>
              <a:rPr lang="en-US" sz="2200" b="0" dirty="0" smtClean="0">
                <a:latin typeface="Liberation Sans" panose="020B0604020202020204" pitchFamily="34" charset="0"/>
              </a:rPr>
              <a:t>Specific of </a:t>
            </a:r>
            <a:r>
              <a:rPr lang="en-US" sz="2200" b="0" dirty="0">
                <a:latin typeface="Liberation Sans" panose="020B0604020202020204" pitchFamily="34" charset="0"/>
              </a:rPr>
              <a:t>items within each </a:t>
            </a:r>
            <a:r>
              <a:rPr lang="en-US" sz="2200" b="0" dirty="0" smtClean="0">
                <a:latin typeface="Liberation Sans" panose="020B0604020202020204" pitchFamily="34" charset="0"/>
              </a:rPr>
              <a:t>component.</a:t>
            </a:r>
          </a:p>
          <a:p>
            <a:pPr marL="682625" indent="-463550">
              <a:lnSpc>
                <a:spcPct val="125000"/>
              </a:lnSpc>
              <a:spcBef>
                <a:spcPts val="1200"/>
              </a:spcBef>
              <a:buClrTx/>
              <a:buSzTx/>
              <a:buFont typeface="+mj-lt"/>
              <a:buAutoNum type="arabicPeriod"/>
            </a:pPr>
            <a:r>
              <a:rPr lang="en-US" sz="2200" b="0" dirty="0" smtClean="0">
                <a:latin typeface="Liberation Sans" panose="020B0604020202020204" pitchFamily="34" charset="0"/>
              </a:rPr>
              <a:t>The </a:t>
            </a:r>
            <a:r>
              <a:rPr lang="en-US" sz="2200" b="0" dirty="0">
                <a:latin typeface="Liberation Sans" panose="020B0604020202020204" pitchFamily="34" charset="0"/>
              </a:rPr>
              <a:t>two sides of the equation must always be </a:t>
            </a:r>
            <a:r>
              <a:rPr lang="en-US" sz="2200" b="0" dirty="0" smtClean="0">
                <a:latin typeface="Liberation Sans" panose="020B0604020202020204" pitchFamily="34" charset="0"/>
              </a:rPr>
              <a:t>equal.</a:t>
            </a:r>
          </a:p>
        </p:txBody>
      </p:sp>
      <p:sp>
        <p:nvSpPr>
          <p:cNvPr id="41999" name="Line 2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42000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Summary of Transactions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42005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258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609600" y="1393825"/>
            <a:ext cx="7924800" cy="45166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None/>
            </a:pP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Transactions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made by Virmari &amp; Co., a public accounting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firm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, for the month of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August are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shown below. Prepare a tabular analysis which shows the effects of these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transactions on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expanded accounting equation, similar to that shown in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Illustration 1-8.</a:t>
            </a:r>
          </a:p>
          <a:p>
            <a:pPr marL="457200" indent="-457200"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AutoNum type="arabicPeriod"/>
            </a:pP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owner invested $25,000 cash in the business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.</a:t>
            </a:r>
            <a:endParaRPr lang="en-US" sz="20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 marL="457200" indent="-457200"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AutoNum type="arabicPeriod"/>
            </a:pP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company purchased $7,000 of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office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equipment on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credit.</a:t>
            </a:r>
          </a:p>
          <a:p>
            <a:pPr marL="457200" indent="-457200"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AutoNum type="arabicPeriod"/>
            </a:pP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company received $8,000 cash in exchange for services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performed.</a:t>
            </a:r>
          </a:p>
          <a:p>
            <a:pPr marL="457200" indent="-457200"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AutoNum type="arabicPeriod"/>
            </a:pP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company paid $850 for this month’s 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rent.</a:t>
            </a:r>
          </a:p>
          <a:p>
            <a:pPr marL="457200" indent="-457200"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AutoNum type="arabicPeriod"/>
            </a:pP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  <a:r>
              <a:rPr 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owner withdrew $1,000 cash for personal use</a:t>
            </a:r>
            <a:r>
              <a:rPr lang="en-US" sz="20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.</a:t>
            </a:r>
            <a:endParaRPr lang="en-US" altLang="en-US" sz="20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pic>
        <p:nvPicPr>
          <p:cNvPr id="31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Tabular Analysis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67910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95"/>
          <p:cNvCxnSpPr/>
          <p:nvPr/>
        </p:nvCxnSpPr>
        <p:spPr bwMode="auto">
          <a:xfrm>
            <a:off x="990600" y="5410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04800" y="3212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432425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</a:t>
            </a:r>
            <a:r>
              <a:rPr lang="en-US" altLang="en-US" sz="1600" b="1" dirty="0">
                <a:latin typeface="Liberation Sans" panose="020B0604020202020204" pitchFamily="34" charset="0"/>
              </a:rPr>
              <a:t>2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5,000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+25,000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/>
              <a:t>Trans-</a:t>
            </a:r>
          </a:p>
          <a:p>
            <a:r>
              <a:rPr lang="en-US" sz="1600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Cash   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981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Equipment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Payable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590800"/>
            <a:ext cx="1295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Capital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3124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05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35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800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943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716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8001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22860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146175" algn="ctr"/>
                <a:tab pos="3084513" algn="ctr"/>
                <a:tab pos="5773738" algn="ctr"/>
              </a:tabLst>
            </a:pPr>
            <a:r>
              <a:rPr lang="en-US" sz="1600" dirty="0" smtClean="0"/>
              <a:t>	Assets	=    Liabilities +	Owner's Equity</a:t>
            </a:r>
            <a:endParaRPr lang="en-US" sz="16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14400" y="2590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724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67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352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3581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1371600"/>
            <a:ext cx="8001000" cy="43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 sz="19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341313" indent="-341313">
              <a:lnSpc>
                <a:spcPct val="125000"/>
              </a:lnSpc>
              <a:spcBef>
                <a:spcPts val="900"/>
              </a:spcBef>
              <a:buFontTx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/>
              <a:t>owner invested $25,000 cash in the business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88" name="Text Box 10"/>
          <p:cNvSpPr txBox="1">
            <a:spLocks noChangeArrowheads="1"/>
          </p:cNvSpPr>
          <p:nvPr/>
        </p:nvSpPr>
        <p:spPr bwMode="auto">
          <a:xfrm>
            <a:off x="304800" y="36700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+7,000	+7,000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89" name="Straight Connector 88"/>
          <p:cNvCxnSpPr/>
          <p:nvPr/>
        </p:nvCxnSpPr>
        <p:spPr bwMode="auto">
          <a:xfrm>
            <a:off x="990600" y="4038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0" name="Text Box 10"/>
          <p:cNvSpPr txBox="1">
            <a:spLocks noChangeArrowheads="1"/>
          </p:cNvSpPr>
          <p:nvPr/>
        </p:nvSpPr>
        <p:spPr bwMode="auto">
          <a:xfrm>
            <a:off x="304800" y="41272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+8,000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+8,000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1" name="Straight Connector 90"/>
          <p:cNvCxnSpPr/>
          <p:nvPr/>
        </p:nvCxnSpPr>
        <p:spPr bwMode="auto">
          <a:xfrm>
            <a:off x="990600" y="4495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304800" y="45844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-850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-850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3" name="Straight Connector 92"/>
          <p:cNvCxnSpPr/>
          <p:nvPr/>
        </p:nvCxnSpPr>
        <p:spPr bwMode="auto">
          <a:xfrm>
            <a:off x="990600" y="4953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4" name="Text Box 10"/>
          <p:cNvSpPr txBox="1">
            <a:spLocks noChangeArrowheads="1"/>
          </p:cNvSpPr>
          <p:nvPr/>
        </p:nvSpPr>
        <p:spPr bwMode="auto">
          <a:xfrm>
            <a:off x="304800" y="50416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-1,000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	-1,000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19171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3364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812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955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69463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936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05" name="Straight Connector 104"/>
          <p:cNvCxnSpPr/>
          <p:nvPr/>
        </p:nvCxnSpPr>
        <p:spPr bwMode="auto">
          <a:xfrm>
            <a:off x="990600" y="5867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9171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3364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12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955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69463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936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990600" y="5943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2" name="Rectangle 121"/>
          <p:cNvSpPr/>
          <p:nvPr/>
        </p:nvSpPr>
        <p:spPr bwMode="auto">
          <a:xfrm>
            <a:off x="19171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3364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4812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5955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69463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7936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6" name="Text Box 10"/>
          <p:cNvSpPr txBox="1">
            <a:spLocks noChangeArrowheads="1"/>
          </p:cNvSpPr>
          <p:nvPr/>
        </p:nvSpPr>
        <p:spPr bwMode="auto">
          <a:xfrm>
            <a:off x="304800" y="5498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432425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$31,150	$7,000	$7,000	$25,000	$8,000	$850	$1,000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pic>
        <p:nvPicPr>
          <p:cNvPr id="180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84" name="TextBox 183"/>
          <p:cNvSpPr txBox="1"/>
          <p:nvPr/>
        </p:nvSpPr>
        <p:spPr>
          <a:xfrm>
            <a:off x="47244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9436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050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187" name="TextBox 186"/>
          <p:cNvSpPr txBox="1"/>
          <p:nvPr/>
        </p:nvSpPr>
        <p:spPr>
          <a:xfrm>
            <a:off x="3352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342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89" name="TextBox 188"/>
          <p:cNvSpPr txBox="1"/>
          <p:nvPr/>
        </p:nvSpPr>
        <p:spPr>
          <a:xfrm>
            <a:off x="7924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90" name="Left Brace 189"/>
          <p:cNvSpPr/>
          <p:nvPr/>
        </p:nvSpPr>
        <p:spPr bwMode="auto">
          <a:xfrm rot="16200000">
            <a:off x="6036516" y="3412283"/>
            <a:ext cx="182975" cy="5398009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1" name="Left Brace 190"/>
          <p:cNvSpPr/>
          <p:nvPr/>
        </p:nvSpPr>
        <p:spPr bwMode="auto">
          <a:xfrm rot="16200000">
            <a:off x="2093168" y="4905042"/>
            <a:ext cx="182974" cy="2412494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2" name="Text Box 10"/>
          <p:cNvSpPr txBox="1">
            <a:spLocks noChangeArrowheads="1"/>
          </p:cNvSpPr>
          <p:nvPr/>
        </p:nvSpPr>
        <p:spPr bwMode="auto">
          <a:xfrm>
            <a:off x="1524000" y="6248400"/>
            <a:ext cx="12954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93" name="Text Box 10"/>
          <p:cNvSpPr txBox="1">
            <a:spLocks noChangeArrowheads="1"/>
          </p:cNvSpPr>
          <p:nvPr/>
        </p:nvSpPr>
        <p:spPr bwMode="auto">
          <a:xfrm>
            <a:off x="5486400" y="6248400"/>
            <a:ext cx="13716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381000" y="3657600"/>
            <a:ext cx="8610600" cy="2760077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1371600" y="6111287"/>
            <a:ext cx="7455408" cy="45879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19800" y="25908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Drawings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1628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80010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0866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24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79" name="Oval 78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Tabular Analysis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7860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95"/>
          <p:cNvCxnSpPr/>
          <p:nvPr/>
        </p:nvCxnSpPr>
        <p:spPr bwMode="auto">
          <a:xfrm>
            <a:off x="990600" y="5410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04800" y="3212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432425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</a:t>
            </a:r>
            <a:r>
              <a:rPr lang="en-US" altLang="en-US" sz="1600" b="1" dirty="0">
                <a:latin typeface="Liberation Sans" panose="020B0604020202020204" pitchFamily="34" charset="0"/>
              </a:rPr>
              <a:t>2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5,000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+25,000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/>
              <a:t>Trans-</a:t>
            </a:r>
          </a:p>
          <a:p>
            <a:r>
              <a:rPr lang="en-US" sz="1600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Cash   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981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Equipment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3124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05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35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800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943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22860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146175" algn="ctr"/>
                <a:tab pos="3084513" algn="ctr"/>
                <a:tab pos="5773738" algn="ctr"/>
              </a:tabLst>
            </a:pPr>
            <a:r>
              <a:rPr lang="en-US" sz="1600" dirty="0" smtClean="0"/>
              <a:t>	Assets	=    Liabilities +	Owner's Equity</a:t>
            </a:r>
            <a:endParaRPr lang="en-US" sz="16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14400" y="2590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724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67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352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3581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1371600"/>
            <a:ext cx="8392886" cy="43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 algn="l">
              <a:lnSpc>
                <a:spcPct val="125000"/>
              </a:lnSpc>
              <a:spcBef>
                <a:spcPts val="900"/>
              </a:spcBef>
              <a:buClrTx/>
              <a:buSzTx/>
              <a:buFontTx/>
              <a:buAutoNum type="arabicPeriod"/>
              <a:defRPr sz="20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341313" indent="-341313">
              <a:buFont typeface="+mj-lt"/>
              <a:buAutoNum type="arabicPeriod" startAt="2"/>
            </a:pPr>
            <a:r>
              <a:rPr lang="en-US" dirty="0"/>
              <a:t>The company purchased $7,000 of </a:t>
            </a:r>
            <a:r>
              <a:rPr lang="en-US" dirty="0" smtClean="0"/>
              <a:t>office </a:t>
            </a:r>
            <a:r>
              <a:rPr lang="en-US" dirty="0"/>
              <a:t>equipment on credit.</a:t>
            </a:r>
          </a:p>
        </p:txBody>
      </p:sp>
      <p:sp>
        <p:nvSpPr>
          <p:cNvPr id="88" name="Text Box 10"/>
          <p:cNvSpPr txBox="1">
            <a:spLocks noChangeArrowheads="1"/>
          </p:cNvSpPr>
          <p:nvPr/>
        </p:nvSpPr>
        <p:spPr bwMode="auto">
          <a:xfrm>
            <a:off x="304800" y="36700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+7,000	+7,000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89" name="Straight Connector 88"/>
          <p:cNvCxnSpPr/>
          <p:nvPr/>
        </p:nvCxnSpPr>
        <p:spPr bwMode="auto">
          <a:xfrm>
            <a:off x="990600" y="4038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0" name="Text Box 10"/>
          <p:cNvSpPr txBox="1">
            <a:spLocks noChangeArrowheads="1"/>
          </p:cNvSpPr>
          <p:nvPr/>
        </p:nvSpPr>
        <p:spPr bwMode="auto">
          <a:xfrm>
            <a:off x="304800" y="41272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+8,000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+8,000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1" name="Straight Connector 90"/>
          <p:cNvCxnSpPr/>
          <p:nvPr/>
        </p:nvCxnSpPr>
        <p:spPr bwMode="auto">
          <a:xfrm>
            <a:off x="990600" y="4495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304800" y="45844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-850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-850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3" name="Straight Connector 92"/>
          <p:cNvCxnSpPr/>
          <p:nvPr/>
        </p:nvCxnSpPr>
        <p:spPr bwMode="auto">
          <a:xfrm>
            <a:off x="990600" y="4953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4" name="Text Box 10"/>
          <p:cNvSpPr txBox="1">
            <a:spLocks noChangeArrowheads="1"/>
          </p:cNvSpPr>
          <p:nvPr/>
        </p:nvSpPr>
        <p:spPr bwMode="auto">
          <a:xfrm>
            <a:off x="304800" y="50416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-1,000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	-1,000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19171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3364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812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955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69463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936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05" name="Straight Connector 104"/>
          <p:cNvCxnSpPr/>
          <p:nvPr/>
        </p:nvCxnSpPr>
        <p:spPr bwMode="auto">
          <a:xfrm>
            <a:off x="990600" y="5867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9171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3364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12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955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69463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936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990600" y="5943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2" name="Rectangle 121"/>
          <p:cNvSpPr/>
          <p:nvPr/>
        </p:nvSpPr>
        <p:spPr bwMode="auto">
          <a:xfrm>
            <a:off x="19171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3364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4812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5955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69463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7936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6" name="Text Box 10"/>
          <p:cNvSpPr txBox="1">
            <a:spLocks noChangeArrowheads="1"/>
          </p:cNvSpPr>
          <p:nvPr/>
        </p:nvSpPr>
        <p:spPr bwMode="auto">
          <a:xfrm>
            <a:off x="304800" y="5498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432425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$31,150	$7,000	$7,000	$25,000	$8,000	$850	$1,000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pic>
        <p:nvPicPr>
          <p:cNvPr id="180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84" name="TextBox 183"/>
          <p:cNvSpPr txBox="1"/>
          <p:nvPr/>
        </p:nvSpPr>
        <p:spPr>
          <a:xfrm>
            <a:off x="47244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9436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050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187" name="TextBox 186"/>
          <p:cNvSpPr txBox="1"/>
          <p:nvPr/>
        </p:nvSpPr>
        <p:spPr>
          <a:xfrm>
            <a:off x="3352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342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89" name="TextBox 188"/>
          <p:cNvSpPr txBox="1"/>
          <p:nvPr/>
        </p:nvSpPr>
        <p:spPr>
          <a:xfrm>
            <a:off x="7924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90" name="Left Brace 189"/>
          <p:cNvSpPr/>
          <p:nvPr/>
        </p:nvSpPr>
        <p:spPr bwMode="auto">
          <a:xfrm rot="16200000">
            <a:off x="6036516" y="3412283"/>
            <a:ext cx="182975" cy="5398009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1" name="Left Brace 190"/>
          <p:cNvSpPr/>
          <p:nvPr/>
        </p:nvSpPr>
        <p:spPr bwMode="auto">
          <a:xfrm rot="16200000">
            <a:off x="2093168" y="4905042"/>
            <a:ext cx="182974" cy="2412494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2" name="Text Box 10"/>
          <p:cNvSpPr txBox="1">
            <a:spLocks noChangeArrowheads="1"/>
          </p:cNvSpPr>
          <p:nvPr/>
        </p:nvSpPr>
        <p:spPr bwMode="auto">
          <a:xfrm>
            <a:off x="1524000" y="6248400"/>
            <a:ext cx="12954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93" name="Text Box 10"/>
          <p:cNvSpPr txBox="1">
            <a:spLocks noChangeArrowheads="1"/>
          </p:cNvSpPr>
          <p:nvPr/>
        </p:nvSpPr>
        <p:spPr bwMode="auto">
          <a:xfrm>
            <a:off x="5486400" y="6248400"/>
            <a:ext cx="13716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381000" y="4127212"/>
            <a:ext cx="8610600" cy="2290465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1371600" y="6111287"/>
            <a:ext cx="7455408" cy="45879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716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8001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19800" y="25908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Drawings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1628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80010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0866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24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4800600" y="2590800"/>
            <a:ext cx="1295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Capital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82" name="Oval 81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Tabular Analysis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6876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95"/>
          <p:cNvCxnSpPr/>
          <p:nvPr/>
        </p:nvCxnSpPr>
        <p:spPr bwMode="auto">
          <a:xfrm>
            <a:off x="990600" y="5410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04800" y="3212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432425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</a:t>
            </a:r>
            <a:r>
              <a:rPr lang="en-US" altLang="en-US" sz="1600" b="1" dirty="0">
                <a:latin typeface="Liberation Sans" panose="020B0604020202020204" pitchFamily="34" charset="0"/>
              </a:rPr>
              <a:t>2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5,000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+25,000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/>
              <a:t>Trans-</a:t>
            </a:r>
          </a:p>
          <a:p>
            <a:r>
              <a:rPr lang="en-US" sz="1600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Cash   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981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Equipment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3124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05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35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800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943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22860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146175" algn="ctr"/>
                <a:tab pos="3084513" algn="ctr"/>
                <a:tab pos="5773738" algn="ctr"/>
              </a:tabLst>
            </a:pPr>
            <a:r>
              <a:rPr lang="en-US" sz="1600" dirty="0" smtClean="0"/>
              <a:t>	Assets	=    Liabilities +	Owner's Equity</a:t>
            </a:r>
            <a:endParaRPr lang="en-US" sz="16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14400" y="2590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724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67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352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3581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1371600"/>
            <a:ext cx="8001000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 algn="l">
              <a:lnSpc>
                <a:spcPct val="125000"/>
              </a:lnSpc>
              <a:spcBef>
                <a:spcPts val="900"/>
              </a:spcBef>
              <a:buClrTx/>
              <a:buSzTx/>
              <a:buFont typeface="+mj-lt"/>
              <a:buAutoNum type="arabicPeriod" startAt="2"/>
              <a:defRPr sz="20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341313" indent="-341313">
              <a:buFont typeface="+mj-lt"/>
              <a:buAutoNum type="arabicPeriod" startAt="3"/>
            </a:pPr>
            <a:r>
              <a:rPr lang="en-US" dirty="0"/>
              <a:t>The company received $8,000 cash in exchange for services performed.</a:t>
            </a:r>
          </a:p>
        </p:txBody>
      </p:sp>
      <p:sp>
        <p:nvSpPr>
          <p:cNvPr id="88" name="Text Box 10"/>
          <p:cNvSpPr txBox="1">
            <a:spLocks noChangeArrowheads="1"/>
          </p:cNvSpPr>
          <p:nvPr/>
        </p:nvSpPr>
        <p:spPr bwMode="auto">
          <a:xfrm>
            <a:off x="304800" y="36700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+7,000	+7,000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89" name="Straight Connector 88"/>
          <p:cNvCxnSpPr/>
          <p:nvPr/>
        </p:nvCxnSpPr>
        <p:spPr bwMode="auto">
          <a:xfrm>
            <a:off x="990600" y="4038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0" name="Text Box 10"/>
          <p:cNvSpPr txBox="1">
            <a:spLocks noChangeArrowheads="1"/>
          </p:cNvSpPr>
          <p:nvPr/>
        </p:nvSpPr>
        <p:spPr bwMode="auto">
          <a:xfrm>
            <a:off x="304800" y="41272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5469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+8,000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+8,000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1" name="Straight Connector 90"/>
          <p:cNvCxnSpPr/>
          <p:nvPr/>
        </p:nvCxnSpPr>
        <p:spPr bwMode="auto">
          <a:xfrm>
            <a:off x="990600" y="4495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304800" y="45844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-850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-850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3" name="Straight Connector 92"/>
          <p:cNvCxnSpPr/>
          <p:nvPr/>
        </p:nvCxnSpPr>
        <p:spPr bwMode="auto">
          <a:xfrm>
            <a:off x="990600" y="4953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4" name="Text Box 10"/>
          <p:cNvSpPr txBox="1">
            <a:spLocks noChangeArrowheads="1"/>
          </p:cNvSpPr>
          <p:nvPr/>
        </p:nvSpPr>
        <p:spPr bwMode="auto">
          <a:xfrm>
            <a:off x="304800" y="50416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-1,000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	-1,000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19171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3364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812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955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69463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936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05" name="Straight Connector 104"/>
          <p:cNvCxnSpPr/>
          <p:nvPr/>
        </p:nvCxnSpPr>
        <p:spPr bwMode="auto">
          <a:xfrm>
            <a:off x="990600" y="5867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9171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3364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12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955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69463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936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990600" y="5943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2" name="Rectangle 121"/>
          <p:cNvSpPr/>
          <p:nvPr/>
        </p:nvSpPr>
        <p:spPr bwMode="auto">
          <a:xfrm>
            <a:off x="19171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3364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4812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5955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69463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7936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6" name="Text Box 10"/>
          <p:cNvSpPr txBox="1">
            <a:spLocks noChangeArrowheads="1"/>
          </p:cNvSpPr>
          <p:nvPr/>
        </p:nvSpPr>
        <p:spPr bwMode="auto">
          <a:xfrm>
            <a:off x="304800" y="5498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432425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$31,150	$7,000	$7,000	$25,000	$8,000	$850	$1,000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7244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9436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050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187" name="TextBox 186"/>
          <p:cNvSpPr txBox="1"/>
          <p:nvPr/>
        </p:nvSpPr>
        <p:spPr>
          <a:xfrm>
            <a:off x="3352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342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89" name="TextBox 188"/>
          <p:cNvSpPr txBox="1"/>
          <p:nvPr/>
        </p:nvSpPr>
        <p:spPr>
          <a:xfrm>
            <a:off x="7924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90" name="Left Brace 189"/>
          <p:cNvSpPr/>
          <p:nvPr/>
        </p:nvSpPr>
        <p:spPr bwMode="auto">
          <a:xfrm rot="16200000">
            <a:off x="6036516" y="3412283"/>
            <a:ext cx="182975" cy="5398009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1" name="Left Brace 190"/>
          <p:cNvSpPr/>
          <p:nvPr/>
        </p:nvSpPr>
        <p:spPr bwMode="auto">
          <a:xfrm rot="16200000">
            <a:off x="2093168" y="4905042"/>
            <a:ext cx="182974" cy="2412494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2" name="Text Box 10"/>
          <p:cNvSpPr txBox="1">
            <a:spLocks noChangeArrowheads="1"/>
          </p:cNvSpPr>
          <p:nvPr/>
        </p:nvSpPr>
        <p:spPr bwMode="auto">
          <a:xfrm>
            <a:off x="1524000" y="6248400"/>
            <a:ext cx="12954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93" name="Text Box 10"/>
          <p:cNvSpPr txBox="1">
            <a:spLocks noChangeArrowheads="1"/>
          </p:cNvSpPr>
          <p:nvPr/>
        </p:nvSpPr>
        <p:spPr bwMode="auto">
          <a:xfrm>
            <a:off x="5486400" y="6248400"/>
            <a:ext cx="13716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381000" y="4584412"/>
            <a:ext cx="8610600" cy="1833265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1371600" y="6111287"/>
            <a:ext cx="7455408" cy="45879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716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8001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19800" y="25908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Drawings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1628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80010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0866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24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4800600" y="2590800"/>
            <a:ext cx="1295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Capital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83" name="Oval 82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Tabular Analysis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3289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95"/>
          <p:cNvCxnSpPr/>
          <p:nvPr/>
        </p:nvCxnSpPr>
        <p:spPr bwMode="auto">
          <a:xfrm>
            <a:off x="990600" y="5410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04800" y="3212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432425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</a:t>
            </a:r>
            <a:r>
              <a:rPr lang="en-US" altLang="en-US" sz="1600" b="1" dirty="0">
                <a:latin typeface="Liberation Sans" panose="020B0604020202020204" pitchFamily="34" charset="0"/>
              </a:rPr>
              <a:t>2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5,000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+25,000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/>
              <a:t>Trans-</a:t>
            </a:r>
          </a:p>
          <a:p>
            <a:r>
              <a:rPr lang="en-US" sz="1600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Cash   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981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Equipment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3124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05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35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800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943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22860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146175" algn="ctr"/>
                <a:tab pos="3084513" algn="ctr"/>
                <a:tab pos="5773738" algn="ctr"/>
              </a:tabLst>
            </a:pPr>
            <a:r>
              <a:rPr lang="en-US" sz="1600" dirty="0" smtClean="0"/>
              <a:t>	Assets	=    Liabilities +	Owner's Equity</a:t>
            </a:r>
            <a:endParaRPr lang="en-US" sz="16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14400" y="2590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724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67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352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3581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400" y="1371600"/>
            <a:ext cx="8001000" cy="43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 algn="l">
              <a:lnSpc>
                <a:spcPct val="125000"/>
              </a:lnSpc>
              <a:spcBef>
                <a:spcPts val="900"/>
              </a:spcBef>
              <a:buClrTx/>
              <a:buSzTx/>
              <a:buFont typeface="+mj-lt"/>
              <a:buAutoNum type="arabicPeriod" startAt="2"/>
              <a:defRPr sz="20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341313" indent="-341313">
              <a:buFont typeface="+mj-lt"/>
              <a:buAutoNum type="arabicPeriod" startAt="4"/>
            </a:pPr>
            <a:r>
              <a:rPr lang="en-US" dirty="0"/>
              <a:t>The company </a:t>
            </a:r>
            <a:r>
              <a:rPr lang="en-US" dirty="0" smtClean="0"/>
              <a:t>paid $850 for this month’s rent.</a:t>
            </a:r>
            <a:endParaRPr lang="en-US" dirty="0"/>
          </a:p>
        </p:txBody>
      </p:sp>
      <p:sp>
        <p:nvSpPr>
          <p:cNvPr id="88" name="Text Box 10"/>
          <p:cNvSpPr txBox="1">
            <a:spLocks noChangeArrowheads="1"/>
          </p:cNvSpPr>
          <p:nvPr/>
        </p:nvSpPr>
        <p:spPr bwMode="auto">
          <a:xfrm>
            <a:off x="304800" y="36700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+7,000	+7,000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89" name="Straight Connector 88"/>
          <p:cNvCxnSpPr/>
          <p:nvPr/>
        </p:nvCxnSpPr>
        <p:spPr bwMode="auto">
          <a:xfrm>
            <a:off x="990600" y="4038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0" name="Text Box 10"/>
          <p:cNvSpPr txBox="1">
            <a:spLocks noChangeArrowheads="1"/>
          </p:cNvSpPr>
          <p:nvPr/>
        </p:nvSpPr>
        <p:spPr bwMode="auto">
          <a:xfrm>
            <a:off x="304800" y="41272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5469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+8,000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+8,000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1" name="Straight Connector 90"/>
          <p:cNvCxnSpPr/>
          <p:nvPr/>
        </p:nvCxnSpPr>
        <p:spPr bwMode="auto">
          <a:xfrm>
            <a:off x="990600" y="4495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304800" y="45844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69175" algn="r"/>
                <a:tab pos="8407400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-850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	-850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3" name="Straight Connector 92"/>
          <p:cNvCxnSpPr/>
          <p:nvPr/>
        </p:nvCxnSpPr>
        <p:spPr bwMode="auto">
          <a:xfrm>
            <a:off x="990600" y="4953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4" name="Text Box 10"/>
          <p:cNvSpPr txBox="1">
            <a:spLocks noChangeArrowheads="1"/>
          </p:cNvSpPr>
          <p:nvPr/>
        </p:nvSpPr>
        <p:spPr bwMode="auto">
          <a:xfrm>
            <a:off x="304800" y="50416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-1,000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	-1,000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19171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3364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812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955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69463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936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05" name="Straight Connector 104"/>
          <p:cNvCxnSpPr/>
          <p:nvPr/>
        </p:nvCxnSpPr>
        <p:spPr bwMode="auto">
          <a:xfrm>
            <a:off x="990600" y="5867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9171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3364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12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955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69463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936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990600" y="5943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2" name="Rectangle 121"/>
          <p:cNvSpPr/>
          <p:nvPr/>
        </p:nvSpPr>
        <p:spPr bwMode="auto">
          <a:xfrm>
            <a:off x="19171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3364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4812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5955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69463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7936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6" name="Text Box 10"/>
          <p:cNvSpPr txBox="1">
            <a:spLocks noChangeArrowheads="1"/>
          </p:cNvSpPr>
          <p:nvPr/>
        </p:nvSpPr>
        <p:spPr bwMode="auto">
          <a:xfrm>
            <a:off x="304800" y="5498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432425" algn="r"/>
                <a:tab pos="6454775" algn="r"/>
                <a:tab pos="73691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$31,150	$7,000	$7,000	$25,000	$8,000	$850	$1,000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pic>
        <p:nvPicPr>
          <p:cNvPr id="180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84" name="TextBox 183"/>
          <p:cNvSpPr txBox="1"/>
          <p:nvPr/>
        </p:nvSpPr>
        <p:spPr>
          <a:xfrm>
            <a:off x="47244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9436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050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187" name="TextBox 186"/>
          <p:cNvSpPr txBox="1"/>
          <p:nvPr/>
        </p:nvSpPr>
        <p:spPr>
          <a:xfrm>
            <a:off x="3352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342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89" name="TextBox 188"/>
          <p:cNvSpPr txBox="1"/>
          <p:nvPr/>
        </p:nvSpPr>
        <p:spPr>
          <a:xfrm>
            <a:off x="7924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190" name="Left Brace 189"/>
          <p:cNvSpPr/>
          <p:nvPr/>
        </p:nvSpPr>
        <p:spPr bwMode="auto">
          <a:xfrm rot="16200000">
            <a:off x="6036516" y="3412283"/>
            <a:ext cx="182975" cy="5398009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1" name="Left Brace 190"/>
          <p:cNvSpPr/>
          <p:nvPr/>
        </p:nvSpPr>
        <p:spPr bwMode="auto">
          <a:xfrm rot="16200000">
            <a:off x="2093168" y="4905042"/>
            <a:ext cx="182974" cy="2412494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2" name="Text Box 10"/>
          <p:cNvSpPr txBox="1">
            <a:spLocks noChangeArrowheads="1"/>
          </p:cNvSpPr>
          <p:nvPr/>
        </p:nvSpPr>
        <p:spPr bwMode="auto">
          <a:xfrm>
            <a:off x="1524000" y="6248400"/>
            <a:ext cx="12954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93" name="Text Box 10"/>
          <p:cNvSpPr txBox="1">
            <a:spLocks noChangeArrowheads="1"/>
          </p:cNvSpPr>
          <p:nvPr/>
        </p:nvSpPr>
        <p:spPr bwMode="auto">
          <a:xfrm>
            <a:off x="5486400" y="6248400"/>
            <a:ext cx="13716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$18,050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381000" y="5041612"/>
            <a:ext cx="8610600" cy="1376065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1371600" y="6111287"/>
            <a:ext cx="7455408" cy="45879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716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8001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19800" y="25908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Drawings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1628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80010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0866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24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4800600" y="2590800"/>
            <a:ext cx="1295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Capital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83" name="Oval 82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Tabular Analysis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897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95"/>
          <p:cNvCxnSpPr/>
          <p:nvPr/>
        </p:nvCxnSpPr>
        <p:spPr bwMode="auto">
          <a:xfrm>
            <a:off x="990600" y="5410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0" name="Text Box 10"/>
          <p:cNvSpPr txBox="1">
            <a:spLocks noChangeArrowheads="1"/>
          </p:cNvSpPr>
          <p:nvPr/>
        </p:nvSpPr>
        <p:spPr bwMode="auto">
          <a:xfrm>
            <a:off x="304800" y="3212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432425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1.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</a:t>
            </a:r>
            <a:r>
              <a:rPr lang="en-US" altLang="en-US" sz="1600" b="1" dirty="0">
                <a:latin typeface="Liberation Sans" panose="020B0604020202020204" pitchFamily="34" charset="0"/>
              </a:rPr>
              <a:t>2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5,000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+25,000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/>
              <a:t>Trans-</a:t>
            </a:r>
          </a:p>
          <a:p>
            <a:r>
              <a:rPr lang="en-US" sz="1600" dirty="0"/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590800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Cash   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981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Equipment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2590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Accounts</a:t>
            </a:r>
          </a:p>
          <a:p>
            <a:r>
              <a:rPr lang="en-US" dirty="0"/>
              <a:t>Payable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8408" y="31242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05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35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800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59436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399" y="2286000"/>
            <a:ext cx="79248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200" b="1">
                <a:latin typeface="Liberation Sans" panose="020B0604020202020204" pitchFamily="34" charset="0"/>
              </a:defRPr>
            </a:lvl1pPr>
          </a:lstStyle>
          <a:p>
            <a:pPr algn="l">
              <a:tabLst>
                <a:tab pos="1146175" algn="ctr"/>
                <a:tab pos="3084513" algn="ctr"/>
                <a:tab pos="5773738" algn="ctr"/>
              </a:tabLst>
            </a:pPr>
            <a:r>
              <a:rPr lang="en-US" sz="1600" dirty="0" smtClean="0"/>
              <a:t>	Assets	=    Liabilities +	Owner's Equity</a:t>
            </a:r>
            <a:endParaRPr lang="en-US" sz="16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914400" y="2590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724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674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3352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990600" y="3581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33399" y="1371600"/>
            <a:ext cx="83928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 algn="l">
              <a:lnSpc>
                <a:spcPct val="125000"/>
              </a:lnSpc>
              <a:spcBef>
                <a:spcPts val="900"/>
              </a:spcBef>
              <a:buClrTx/>
              <a:buSzTx/>
              <a:buFont typeface="+mj-lt"/>
              <a:buAutoNum type="arabicPeriod" startAt="2"/>
              <a:defRPr sz="2000" b="1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341313" indent="-341313">
              <a:buFont typeface="+mj-lt"/>
              <a:buAutoNum type="arabicPeriod" startAt="5"/>
            </a:pPr>
            <a:r>
              <a:rPr lang="en-US" dirty="0" smtClean="0"/>
              <a:t>The owner withdrew $1,000 cash for personal use.</a:t>
            </a:r>
            <a:endParaRPr lang="en-US" dirty="0"/>
          </a:p>
        </p:txBody>
      </p:sp>
      <p:sp>
        <p:nvSpPr>
          <p:cNvPr id="88" name="Text Box 10"/>
          <p:cNvSpPr txBox="1">
            <a:spLocks noChangeArrowheads="1"/>
          </p:cNvSpPr>
          <p:nvPr/>
        </p:nvSpPr>
        <p:spPr bwMode="auto">
          <a:xfrm>
            <a:off x="304800" y="36700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2.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+7,000	+7,000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89" name="Straight Connector 88"/>
          <p:cNvCxnSpPr/>
          <p:nvPr/>
        </p:nvCxnSpPr>
        <p:spPr bwMode="auto">
          <a:xfrm>
            <a:off x="990600" y="4038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0" name="Text Box 10"/>
          <p:cNvSpPr txBox="1">
            <a:spLocks noChangeArrowheads="1"/>
          </p:cNvSpPr>
          <p:nvPr/>
        </p:nvSpPr>
        <p:spPr bwMode="auto">
          <a:xfrm>
            <a:off x="304800" y="41272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546975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3.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+8,000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+8,000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1" name="Straight Connector 90"/>
          <p:cNvCxnSpPr/>
          <p:nvPr/>
        </p:nvCxnSpPr>
        <p:spPr bwMode="auto">
          <a:xfrm>
            <a:off x="990600" y="44958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2" name="Text Box 10"/>
          <p:cNvSpPr txBox="1">
            <a:spLocks noChangeArrowheads="1"/>
          </p:cNvSpPr>
          <p:nvPr/>
        </p:nvSpPr>
        <p:spPr bwMode="auto">
          <a:xfrm>
            <a:off x="304800" y="45844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69175" algn="r"/>
                <a:tab pos="8407400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4.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-850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		-850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cxnSp>
        <p:nvCxnSpPr>
          <p:cNvPr id="93" name="Straight Connector 92"/>
          <p:cNvCxnSpPr/>
          <p:nvPr/>
        </p:nvCxnSpPr>
        <p:spPr bwMode="auto">
          <a:xfrm>
            <a:off x="990600" y="49530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4" name="Text Box 10"/>
          <p:cNvSpPr txBox="1">
            <a:spLocks noChangeArrowheads="1"/>
          </p:cNvSpPr>
          <p:nvPr/>
        </p:nvSpPr>
        <p:spPr bwMode="auto">
          <a:xfrm>
            <a:off x="304800" y="50416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797175" algn="r"/>
                <a:tab pos="3998913" algn="r"/>
                <a:tab pos="5376863" algn="r"/>
                <a:tab pos="6454775" algn="r"/>
                <a:tab pos="7315200" algn="r"/>
                <a:tab pos="8339138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5.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-1,000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			-1,000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19171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33649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812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955792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05" name="Straight Connector 104"/>
          <p:cNvCxnSpPr/>
          <p:nvPr/>
        </p:nvCxnSpPr>
        <p:spPr bwMode="auto">
          <a:xfrm>
            <a:off x="990600" y="58674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9171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33649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12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955792" y="57912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990600" y="5943600"/>
            <a:ext cx="7848601" cy="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2" name="Rectangle 121"/>
          <p:cNvSpPr/>
          <p:nvPr/>
        </p:nvSpPr>
        <p:spPr bwMode="auto">
          <a:xfrm>
            <a:off x="19171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33649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4812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5955792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36" name="Text Box 10"/>
          <p:cNvSpPr txBox="1">
            <a:spLocks noChangeArrowheads="1"/>
          </p:cNvSpPr>
          <p:nvPr/>
        </p:nvSpPr>
        <p:spPr bwMode="auto">
          <a:xfrm>
            <a:off x="304800" y="5498812"/>
            <a:ext cx="8686800" cy="2923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  <a:tabLst>
                <a:tab pos="231775" algn="r"/>
                <a:tab pos="1433513" algn="r"/>
                <a:tab pos="2689225" algn="r"/>
                <a:tab pos="4121150" algn="r"/>
                <a:tab pos="5432425" algn="r"/>
                <a:tab pos="6454775" algn="r"/>
                <a:tab pos="7546975" algn="r"/>
                <a:tab pos="8407400" algn="r"/>
              </a:tabLst>
            </a:pPr>
            <a:r>
              <a:rPr lang="en-US" altLang="en-US" sz="1600" b="1" dirty="0" smtClean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>
                <a:latin typeface="Liberation Sans" panose="020B0604020202020204" pitchFamily="34" charset="0"/>
              </a:rPr>
              <a:t>	</a:t>
            </a:r>
            <a:r>
              <a:rPr lang="en-US" altLang="en-US" sz="1600" b="1" dirty="0" smtClean="0">
                <a:latin typeface="Liberation Sans" panose="020B0604020202020204" pitchFamily="34" charset="0"/>
              </a:rPr>
              <a:t>$31,150	$7,000	$7,000	$25,000	$1,000	$8,000	$850</a:t>
            </a:r>
            <a:endParaRPr lang="en-US" altLang="en-US" sz="1600" b="1" dirty="0">
              <a:latin typeface="Liberation Sans" panose="020B0604020202020204" pitchFamily="34" charset="0"/>
            </a:endParaRPr>
          </a:p>
        </p:txBody>
      </p:sp>
      <p:pic>
        <p:nvPicPr>
          <p:cNvPr id="180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571501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84" name="TextBox 183"/>
          <p:cNvSpPr txBox="1"/>
          <p:nvPr/>
        </p:nvSpPr>
        <p:spPr>
          <a:xfrm>
            <a:off x="47244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9436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050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400" b="1">
                <a:latin typeface="Liberation Sans" panose="020B0604020202020204" pitchFamily="34" charset="0"/>
              </a:defRPr>
            </a:lvl1pPr>
          </a:lstStyle>
          <a:p>
            <a:r>
              <a:rPr lang="en-US" sz="1600" dirty="0" smtClean="0"/>
              <a:t>+</a:t>
            </a:r>
            <a:endParaRPr lang="en-US" sz="1600" dirty="0"/>
          </a:p>
        </p:txBody>
      </p:sp>
      <p:sp>
        <p:nvSpPr>
          <p:cNvPr id="187" name="TextBox 186"/>
          <p:cNvSpPr txBox="1"/>
          <p:nvPr/>
        </p:nvSpPr>
        <p:spPr>
          <a:xfrm>
            <a:off x="33528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=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866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190" name="Left Brace 189"/>
          <p:cNvSpPr/>
          <p:nvPr/>
        </p:nvSpPr>
        <p:spPr bwMode="auto">
          <a:xfrm rot="16200000">
            <a:off x="6036516" y="3412283"/>
            <a:ext cx="182975" cy="5398009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1" name="Left Brace 190"/>
          <p:cNvSpPr/>
          <p:nvPr/>
        </p:nvSpPr>
        <p:spPr bwMode="auto">
          <a:xfrm rot="16200000">
            <a:off x="2093168" y="4905042"/>
            <a:ext cx="182974" cy="2412494"/>
          </a:xfrm>
          <a:prstGeom prst="leftBrace">
            <a:avLst>
              <a:gd name="adj1" fmla="val 8333"/>
              <a:gd name="adj2" fmla="val 50482"/>
            </a:avLst>
          </a:prstGeom>
          <a:noFill/>
          <a:ln w="28575" cap="sq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92" name="Text Box 10"/>
          <p:cNvSpPr txBox="1">
            <a:spLocks noChangeArrowheads="1"/>
          </p:cNvSpPr>
          <p:nvPr/>
        </p:nvSpPr>
        <p:spPr bwMode="auto">
          <a:xfrm>
            <a:off x="1524000" y="6248400"/>
            <a:ext cx="12954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$38,150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93" name="Text Box 10"/>
          <p:cNvSpPr txBox="1">
            <a:spLocks noChangeArrowheads="1"/>
          </p:cNvSpPr>
          <p:nvPr/>
        </p:nvSpPr>
        <p:spPr bwMode="auto">
          <a:xfrm>
            <a:off x="5486400" y="6248400"/>
            <a:ext cx="1371600" cy="338554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  <a:tab pos="6286500" algn="r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tabLst>
                <a:tab pos="5035550" algn="r"/>
              </a:tabLst>
            </a:pPr>
            <a:r>
              <a:rPr lang="en-US" altLang="en-US" sz="1600" b="1" dirty="0" smtClean="0">
                <a:solidFill>
                  <a:schemeClr val="accent6">
                    <a:lumMod val="50000"/>
                  </a:schemeClr>
                </a:solidFill>
                <a:latin typeface="Liberation Sans" panose="020B0604020202020204" pitchFamily="34" charset="0"/>
              </a:rPr>
              <a:t>$38,150</a:t>
            </a:r>
            <a:endParaRPr lang="en-US" altLang="en-US" sz="1600" b="1" dirty="0">
              <a:solidFill>
                <a:schemeClr val="accent6">
                  <a:lumMod val="50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4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71628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8001000" y="3048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19800" y="25908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Drawings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1628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Rev.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8001000" y="2590800"/>
            <a:ext cx="838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Exp.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0866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24800" y="25908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800600" y="2590800"/>
            <a:ext cx="1295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/>
              <a:t>O</a:t>
            </a:r>
            <a:r>
              <a:rPr lang="en-US" dirty="0" smtClean="0"/>
              <a:t>wner's Capital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0" y="428624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80" name="Oval 79"/>
          <p:cNvSpPr/>
          <p:nvPr/>
        </p:nvSpPr>
        <p:spPr bwMode="auto">
          <a:xfrm>
            <a:off x="2286000" y="428626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76600" y="501929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Tabular Analysis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7162800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8001000" y="53340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7162800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95" name="Rectangle 94"/>
          <p:cNvSpPr/>
          <p:nvPr/>
        </p:nvSpPr>
        <p:spPr bwMode="auto">
          <a:xfrm>
            <a:off x="8001000" y="5867400"/>
            <a:ext cx="76200" cy="152400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001000" y="5334000"/>
            <a:ext cx="1524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rtlCol="0" anchor="ctr" anchorCtr="0">
            <a:noAutofit/>
          </a:bodyPr>
          <a:lstStyle>
            <a:defPPr>
              <a:defRPr lang="en-US"/>
            </a:defPPr>
            <a:lvl1pPr>
              <a:defRPr sz="1600" b="1">
                <a:latin typeface="Liberation Sans" panose="020B0604020202020204" pitchFamily="34" charset="0"/>
              </a:defRPr>
            </a:lvl1pPr>
          </a:lstStyle>
          <a:p>
            <a:r>
              <a:rPr lang="en-US" dirty="0" smtClean="0"/>
              <a:t>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15066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136" grpId="0"/>
      <p:bldP spid="190" grpId="0" animBg="1"/>
      <p:bldP spid="191" grpId="0" animBg="1"/>
      <p:bldP spid="192" grpId="0"/>
      <p:bldP spid="19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85800" y="1568450"/>
            <a:ext cx="7772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600" dirty="0">
                <a:solidFill>
                  <a:schemeClr val="tx1"/>
                </a:solidFill>
                <a:latin typeface="Liberation Sans" panose="020B0604020202020204" pitchFamily="34" charset="0"/>
                <a:cs typeface="Arial" charset="0"/>
              </a:rPr>
              <a:t>Companies prepare four financial statements :</a:t>
            </a:r>
          </a:p>
        </p:txBody>
      </p:sp>
      <p:sp>
        <p:nvSpPr>
          <p:cNvPr id="49155" name="AutoShape 3"/>
          <p:cNvSpPr>
            <a:spLocks noChangeArrowheads="1"/>
          </p:cNvSpPr>
          <p:nvPr/>
        </p:nvSpPr>
        <p:spPr bwMode="auto">
          <a:xfrm>
            <a:off x="4724400" y="3200400"/>
            <a:ext cx="1752600" cy="1905000"/>
          </a:xfrm>
          <a:prstGeom prst="foldedCorner">
            <a:avLst>
              <a:gd name="adj" fmla="val 12500"/>
            </a:avLst>
          </a:prstGeom>
          <a:solidFill>
            <a:srgbClr val="F9EFA5"/>
          </a:solidFill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altLang="en-US" b="1" dirty="0">
                <a:latin typeface="Liberation Sans" panose="020B0604020202020204" pitchFamily="34" charset="0"/>
              </a:rPr>
              <a:t>Balance Sheet</a:t>
            </a:r>
          </a:p>
        </p:txBody>
      </p:sp>
      <p:sp>
        <p:nvSpPr>
          <p:cNvPr id="49156" name="AutoShape 4"/>
          <p:cNvSpPr>
            <a:spLocks noChangeArrowheads="1"/>
          </p:cNvSpPr>
          <p:nvPr/>
        </p:nvSpPr>
        <p:spPr bwMode="auto">
          <a:xfrm>
            <a:off x="762000" y="3200400"/>
            <a:ext cx="1752600" cy="1905000"/>
          </a:xfrm>
          <a:prstGeom prst="foldedCorner">
            <a:avLst>
              <a:gd name="adj" fmla="val 12500"/>
            </a:avLst>
          </a:prstGeom>
          <a:solidFill>
            <a:srgbClr val="F9EFA5"/>
          </a:solidFill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Liberation Sans" panose="020B0604020202020204" pitchFamily="34" charset="0"/>
              </a:rPr>
              <a:t>Income Statement</a:t>
            </a:r>
          </a:p>
        </p:txBody>
      </p:sp>
      <p:sp>
        <p:nvSpPr>
          <p:cNvPr id="49157" name="AutoShape 5"/>
          <p:cNvSpPr>
            <a:spLocks noChangeArrowheads="1"/>
          </p:cNvSpPr>
          <p:nvPr/>
        </p:nvSpPr>
        <p:spPr bwMode="auto">
          <a:xfrm>
            <a:off x="6705600" y="3200400"/>
            <a:ext cx="1752600" cy="1905000"/>
          </a:xfrm>
          <a:prstGeom prst="foldedCorner">
            <a:avLst>
              <a:gd name="adj" fmla="val 12500"/>
            </a:avLst>
          </a:prstGeom>
          <a:solidFill>
            <a:srgbClr val="F9EFA5"/>
          </a:solidFill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altLang="en-US" b="1" dirty="0">
                <a:latin typeface="Liberation Sans" panose="020B0604020202020204" pitchFamily="34" charset="0"/>
              </a:rPr>
              <a:t>Statement of Cash Flows</a:t>
            </a:r>
          </a:p>
        </p:txBody>
      </p:sp>
      <p:sp>
        <p:nvSpPr>
          <p:cNvPr id="49158" name="AutoShape 6"/>
          <p:cNvSpPr>
            <a:spLocks noChangeArrowheads="1"/>
          </p:cNvSpPr>
          <p:nvPr/>
        </p:nvSpPr>
        <p:spPr bwMode="auto">
          <a:xfrm>
            <a:off x="2743200" y="3200400"/>
            <a:ext cx="1752600" cy="1905000"/>
          </a:xfrm>
          <a:prstGeom prst="foldedCorner">
            <a:avLst>
              <a:gd name="adj" fmla="val 12500"/>
            </a:avLst>
          </a:prstGeom>
          <a:solidFill>
            <a:srgbClr val="F9EFA5"/>
          </a:solidFill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altLang="en-US" b="1" dirty="0" smtClean="0">
                <a:latin typeface="Liberation Sans" panose="020B0604020202020204" pitchFamily="34" charset="0"/>
              </a:rPr>
              <a:t>Owner’s Equity Statement</a:t>
            </a:r>
            <a:endParaRPr lang="en-US" altLang="en-US" b="1" dirty="0">
              <a:latin typeface="Liberation Sans" panose="020B0604020202020204" pitchFamily="34" charset="0"/>
            </a:endParaRPr>
          </a:p>
        </p:txBody>
      </p:sp>
      <p:sp>
        <p:nvSpPr>
          <p:cNvPr id="55304" name="AutoShape 8"/>
          <p:cNvSpPr>
            <a:spLocks noChangeArrowheads="1"/>
          </p:cNvSpPr>
          <p:nvPr/>
        </p:nvSpPr>
        <p:spPr bwMode="auto">
          <a:xfrm>
            <a:off x="1371600" y="2209800"/>
            <a:ext cx="457200" cy="762000"/>
          </a:xfrm>
          <a:prstGeom prst="downArrow">
            <a:avLst>
              <a:gd name="adj1" fmla="val 50000"/>
              <a:gd name="adj2" fmla="val 83333"/>
            </a:avLst>
          </a:prstGeom>
          <a:solidFill>
            <a:schemeClr val="accent6">
              <a:lumMod val="5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405765"/>
            <a:ext cx="2540000" cy="677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LEARNING</a:t>
            </a:r>
          </a:p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OBJECTIVE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2540000" y="274320"/>
            <a:ext cx="6604000" cy="92868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lIns="86493" tIns="34597" rIns="86493" bIns="43247" anchor="ctr"/>
          <a:lstStyle/>
          <a:p>
            <a:pPr marL="111120" algn="l"/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Describe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the four </a:t>
            </a:r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financial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statements </a:t>
            </a:r>
            <a:endParaRPr lang="en-US" sz="2300" b="1" dirty="0" smtClean="0">
              <a:solidFill>
                <a:schemeClr val="bg1"/>
              </a:solidFill>
              <a:latin typeface="Liberation Sans" panose="020B0604020202020204" pitchFamily="34" charset="0"/>
            </a:endParaRPr>
          </a:p>
          <a:p>
            <a:pPr marL="111120" algn="l"/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and </a:t>
            </a:r>
            <a:r>
              <a:rPr lang="en-US" sz="2300" b="1" dirty="0">
                <a:solidFill>
                  <a:schemeClr val="bg1"/>
                </a:solidFill>
                <a:latin typeface="Liberation Sans" panose="020B0604020202020204" pitchFamily="34" charset="0"/>
              </a:rPr>
              <a:t>how they are prepared.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1828800" y="485775"/>
            <a:ext cx="522514" cy="514350"/>
          </a:xfrm>
          <a:prstGeom prst="ellipse">
            <a:avLst/>
          </a:prstGeom>
          <a:solidFill>
            <a:srgbClr val="FF99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6493" tIns="0" rIns="86493" bIns="43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5</a:t>
            </a:r>
            <a:endParaRPr lang="en-US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>
            <a:off x="3352800" y="2209800"/>
            <a:ext cx="457200" cy="762000"/>
          </a:xfrm>
          <a:prstGeom prst="downArrow">
            <a:avLst>
              <a:gd name="adj1" fmla="val 50000"/>
              <a:gd name="adj2" fmla="val 83333"/>
            </a:avLst>
          </a:prstGeom>
          <a:solidFill>
            <a:schemeClr val="accent6">
              <a:lumMod val="5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>
            <a:off x="5334000" y="2209800"/>
            <a:ext cx="457200" cy="762000"/>
          </a:xfrm>
          <a:prstGeom prst="downArrow">
            <a:avLst>
              <a:gd name="adj1" fmla="val 50000"/>
              <a:gd name="adj2" fmla="val 83333"/>
            </a:avLst>
          </a:prstGeom>
          <a:solidFill>
            <a:schemeClr val="accent6">
              <a:lumMod val="5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19" name="AutoShape 8"/>
          <p:cNvSpPr>
            <a:spLocks noChangeArrowheads="1"/>
          </p:cNvSpPr>
          <p:nvPr/>
        </p:nvSpPr>
        <p:spPr bwMode="auto">
          <a:xfrm>
            <a:off x="7315200" y="2209800"/>
            <a:ext cx="457200" cy="762000"/>
          </a:xfrm>
          <a:prstGeom prst="downArrow">
            <a:avLst>
              <a:gd name="adj1" fmla="val 50000"/>
              <a:gd name="adj2" fmla="val 83333"/>
            </a:avLst>
          </a:prstGeom>
          <a:solidFill>
            <a:schemeClr val="accent6">
              <a:lumMod val="5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/>
      <p:bldP spid="49156" grpId="0" animBg="1"/>
      <p:bldP spid="49157" grpId="0" animBg="1"/>
      <p:bldP spid="4915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7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56323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Financial Statements</a:t>
            </a:r>
          </a:p>
        </p:txBody>
      </p:sp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457200" y="1981200"/>
            <a:ext cx="8001000" cy="2667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562" tIns="46038" rIns="182562" bIns="46038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5613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None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Net income will result during a time period when: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assets exceed liabilities.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assets exceed revenues.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expenses exceed revenues.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revenues exceed expenses.</a:t>
            </a: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533400" y="1295400"/>
            <a:ext cx="5334000" cy="5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altLang="en-US" sz="3000" b="1" dirty="0">
                <a:latin typeface="Liberation Sans" panose="020B0604020202020204" pitchFamily="34" charset="0"/>
              </a:rPr>
              <a:t>Question</a:t>
            </a:r>
          </a:p>
        </p:txBody>
      </p:sp>
      <p:sp>
        <p:nvSpPr>
          <p:cNvPr id="56327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" name="Notched Right Arrow 8"/>
          <p:cNvSpPr/>
          <p:nvPr/>
        </p:nvSpPr>
        <p:spPr bwMode="auto">
          <a:xfrm>
            <a:off x="152400" y="4267200"/>
            <a:ext cx="609600" cy="457200"/>
          </a:xfrm>
          <a:prstGeom prst="notchedRightArrow">
            <a:avLst/>
          </a:prstGeom>
          <a:solidFill>
            <a:schemeClr val="tx2">
              <a:lumMod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7124701" cy="5401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Rectangle 9"/>
          <p:cNvSpPr>
            <a:spLocks noChangeArrowheads="1"/>
          </p:cNvSpPr>
          <p:nvPr/>
        </p:nvSpPr>
        <p:spPr bwMode="auto">
          <a:xfrm>
            <a:off x="4953000" y="209550"/>
            <a:ext cx="3962400" cy="677108"/>
          </a:xfrm>
          <a:prstGeom prst="rect">
            <a:avLst/>
          </a:prstGeom>
          <a:solidFill>
            <a:schemeClr val="bg1"/>
          </a:solidFill>
          <a:ln w="28575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innerShdw blurRad="114300">
              <a:prstClr val="black"/>
            </a:innerShdw>
          </a:effectLst>
        </p:spPr>
        <p:txBody>
          <a:bodyPr wrap="square" tIns="91440" bIns="9144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Liberation Sans" panose="020B0604020202020204" pitchFamily="34" charset="0"/>
              </a:rPr>
              <a:t>Net income is needed to determine the ending balance in </a:t>
            </a:r>
            <a:r>
              <a:rPr lang="en-US" altLang="en-US" sz="1600" dirty="0" smtClean="0">
                <a:latin typeface="Liberation Sans" panose="020B0604020202020204" pitchFamily="34" charset="0"/>
              </a:rPr>
              <a:t>owner’s equity.</a:t>
            </a:r>
            <a:endParaRPr lang="en-US" altLang="en-US" sz="1600" dirty="0">
              <a:latin typeface="Liberation Sans" panose="020B0604020202020204" pitchFamily="34" charset="0"/>
            </a:endParaRPr>
          </a:p>
        </p:txBody>
      </p:sp>
      <p:sp>
        <p:nvSpPr>
          <p:cNvPr id="57349" name="Line 16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57350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Financial Statements</a:t>
            </a:r>
          </a:p>
        </p:txBody>
      </p:sp>
      <p:sp>
        <p:nvSpPr>
          <p:cNvPr id="57351" name="Rectangle 21"/>
          <p:cNvSpPr>
            <a:spLocks noChangeArrowheads="1"/>
          </p:cNvSpPr>
          <p:nvPr/>
        </p:nvSpPr>
        <p:spPr bwMode="auto">
          <a:xfrm>
            <a:off x="8077200" y="1143000"/>
            <a:ext cx="381000" cy="2667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57352" name="Rectangle 22"/>
          <p:cNvSpPr>
            <a:spLocks noChangeArrowheads="1"/>
          </p:cNvSpPr>
          <p:nvPr/>
        </p:nvSpPr>
        <p:spPr bwMode="auto">
          <a:xfrm>
            <a:off x="8229600" y="5105400"/>
            <a:ext cx="3810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57354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57353" name="Rectangle 15"/>
          <p:cNvSpPr>
            <a:spLocks noChangeArrowheads="1"/>
          </p:cNvSpPr>
          <p:nvPr/>
        </p:nvSpPr>
        <p:spPr bwMode="auto">
          <a:xfrm>
            <a:off x="7162800" y="2679700"/>
            <a:ext cx="1752600" cy="596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</a:t>
            </a:r>
            <a:r>
              <a:rPr lang="en-US" altLang="en-US" sz="11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1-9</a:t>
            </a:r>
            <a:endParaRPr lang="en-US" altLang="en-US" sz="110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Financial statements and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their interrelationships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914400" y="1219200"/>
            <a:ext cx="6772656" cy="762000"/>
          </a:xfrm>
          <a:prstGeom prst="rect">
            <a:avLst/>
          </a:prstGeom>
          <a:solidFill>
            <a:srgbClr val="0027A4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500" b="1" dirty="0">
                <a:solidFill>
                  <a:schemeClr val="accent3"/>
                </a:solidFill>
                <a:latin typeface="Liberation Sans" panose="020B0604020202020204" pitchFamily="34" charset="0"/>
              </a:rPr>
              <a:t>SOFTBYTE</a:t>
            </a:r>
          </a:p>
          <a:p>
            <a:r>
              <a:rPr lang="en-US" sz="1500" dirty="0">
                <a:solidFill>
                  <a:schemeClr val="accent3"/>
                </a:solidFill>
                <a:latin typeface="Liberation Sans" panose="020B0604020202020204" pitchFamily="34" charset="0"/>
              </a:rPr>
              <a:t>Income Statement</a:t>
            </a:r>
          </a:p>
          <a:p>
            <a:r>
              <a:rPr lang="en-US" sz="1500" dirty="0">
                <a:solidFill>
                  <a:schemeClr val="accent3"/>
                </a:solidFill>
                <a:latin typeface="Liberation Sans" panose="020B0604020202020204" pitchFamily="34" charset="0"/>
              </a:rPr>
              <a:t>For the Month Ended September 30, 2017</a:t>
            </a:r>
            <a:endParaRPr kumimoji="0" lang="en-US" sz="1500" b="0" i="0" u="none" strike="noStrike" cap="none" normalizeH="0" baseline="0" dirty="0" smtClean="0">
              <a:ln>
                <a:noFill/>
              </a:ln>
              <a:solidFill>
                <a:schemeClr val="accent3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914400" y="4215384"/>
            <a:ext cx="6772656" cy="762000"/>
          </a:xfrm>
          <a:prstGeom prst="rect">
            <a:avLst/>
          </a:prstGeom>
          <a:solidFill>
            <a:srgbClr val="0027A4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500" b="1" dirty="0">
                <a:solidFill>
                  <a:schemeClr val="accent3"/>
                </a:solidFill>
                <a:latin typeface="Liberation Sans" panose="020B0604020202020204" pitchFamily="34" charset="0"/>
              </a:rPr>
              <a:t>SOFTBYTE</a:t>
            </a:r>
          </a:p>
          <a:p>
            <a:r>
              <a:rPr lang="en-US" sz="15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Owner’s Equity Statement</a:t>
            </a:r>
            <a:endParaRPr lang="en-US" sz="1500" dirty="0">
              <a:solidFill>
                <a:schemeClr val="accent3"/>
              </a:solidFill>
              <a:latin typeface="Liberation Sans" panose="020B0604020202020204" pitchFamily="34" charset="0"/>
            </a:endParaRPr>
          </a:p>
          <a:p>
            <a:r>
              <a:rPr lang="en-US" sz="1500" dirty="0">
                <a:solidFill>
                  <a:schemeClr val="accent3"/>
                </a:solidFill>
                <a:latin typeface="Liberation Sans" panose="020B0604020202020204" pitchFamily="34" charset="0"/>
              </a:rPr>
              <a:t>For the Month Ended September 30, 2017</a:t>
            </a:r>
            <a:endParaRPr kumimoji="0" lang="en-US" sz="1500" b="0" i="0" u="none" strike="noStrike" cap="none" normalizeH="0" baseline="0" dirty="0" smtClean="0">
              <a:ln>
                <a:noFill/>
              </a:ln>
              <a:solidFill>
                <a:schemeClr val="accent3"/>
              </a:solidFill>
              <a:effectLst/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9"/>
          <p:cNvSpPr>
            <a:spLocks noChangeArrowheads="1"/>
          </p:cNvSpPr>
          <p:nvPr/>
        </p:nvSpPr>
        <p:spPr bwMode="auto">
          <a:xfrm>
            <a:off x="152400" y="2376607"/>
            <a:ext cx="1625221" cy="1661993"/>
          </a:xfrm>
          <a:prstGeom prst="rect">
            <a:avLst/>
          </a:prstGeom>
          <a:solidFill>
            <a:schemeClr val="bg1"/>
          </a:solidFill>
          <a:ln w="28575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innerShdw blurRad="114300">
              <a:prstClr val="black"/>
            </a:innerShdw>
          </a:effectLst>
          <a:extLst/>
        </p:spPr>
        <p:txBody>
          <a:bodyPr wrap="square" tIns="91440" bIns="9144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1600" dirty="0">
                <a:latin typeface="Liberation Sans" panose="020B0604020202020204" pitchFamily="34" charset="0"/>
              </a:rPr>
              <a:t>The ending balance in owner’s equity is needed in preparing the balance sheet.</a:t>
            </a:r>
          </a:p>
        </p:txBody>
      </p:sp>
      <p:sp>
        <p:nvSpPr>
          <p:cNvPr id="58377" name="Rectangle 5"/>
          <p:cNvSpPr>
            <a:spLocks noChangeArrowheads="1"/>
          </p:cNvSpPr>
          <p:nvPr/>
        </p:nvSpPr>
        <p:spPr bwMode="auto">
          <a:xfrm>
            <a:off x="7391400" y="2406650"/>
            <a:ext cx="1295400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</a:t>
            </a:r>
            <a:r>
              <a:rPr lang="en-US" altLang="en-US" sz="11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1-9</a:t>
            </a:r>
            <a:endParaRPr lang="en-US" altLang="en-US" sz="110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36511"/>
            <a:ext cx="7002604" cy="6140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9779" y="5385881"/>
            <a:ext cx="1625221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</a:t>
            </a:r>
            <a:r>
              <a:rPr lang="en-US" altLang="en-US" sz="11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1-9</a:t>
            </a:r>
            <a:endParaRPr lang="en-US" altLang="en-US" sz="110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Financial statements </a:t>
            </a:r>
            <a:r>
              <a:rPr lang="en-US" altLang="en-US" sz="1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and their </a:t>
            </a:r>
            <a:r>
              <a:rPr lang="en-US" altLang="en-US" sz="1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interrelationships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1905000" y="336510"/>
            <a:ext cx="6656832" cy="758952"/>
          </a:xfrm>
          <a:prstGeom prst="rect">
            <a:avLst/>
          </a:prstGeom>
          <a:solidFill>
            <a:srgbClr val="0027A4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500" b="1" dirty="0">
                <a:solidFill>
                  <a:schemeClr val="accent3"/>
                </a:solidFill>
                <a:latin typeface="Liberation Sans" panose="020B0604020202020204" pitchFamily="34" charset="0"/>
              </a:rPr>
              <a:t>SOFTBYTE</a:t>
            </a:r>
          </a:p>
          <a:p>
            <a:r>
              <a:rPr lang="en-US" sz="15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Owner’s Equity Statement</a:t>
            </a:r>
            <a:endParaRPr lang="en-US" sz="1500" dirty="0">
              <a:solidFill>
                <a:schemeClr val="accent3"/>
              </a:solidFill>
              <a:latin typeface="Liberation Sans" panose="020B0604020202020204" pitchFamily="34" charset="0"/>
            </a:endParaRPr>
          </a:p>
          <a:p>
            <a:r>
              <a:rPr lang="en-US" sz="1500" dirty="0">
                <a:solidFill>
                  <a:schemeClr val="accent3"/>
                </a:solidFill>
                <a:latin typeface="Liberation Sans" panose="020B0604020202020204" pitchFamily="34" charset="0"/>
              </a:rPr>
              <a:t>For the Month Ended September 30, 2017</a:t>
            </a:r>
            <a:endParaRPr kumimoji="0" lang="en-US" sz="1500" b="0" i="0" u="none" strike="noStrike" cap="none" normalizeH="0" baseline="0" dirty="0" smtClean="0">
              <a:ln>
                <a:noFill/>
              </a:ln>
              <a:solidFill>
                <a:schemeClr val="accent3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905000" y="2715768"/>
            <a:ext cx="6656832" cy="758952"/>
          </a:xfrm>
          <a:prstGeom prst="rect">
            <a:avLst/>
          </a:prstGeom>
          <a:solidFill>
            <a:srgbClr val="0027A4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500" b="1" dirty="0">
                <a:solidFill>
                  <a:schemeClr val="accent3"/>
                </a:solidFill>
                <a:latin typeface="Liberation Sans" panose="020B0604020202020204" pitchFamily="34" charset="0"/>
              </a:rPr>
              <a:t>SOFTBYTE</a:t>
            </a:r>
          </a:p>
          <a:p>
            <a:r>
              <a:rPr lang="en-US" sz="15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Balance Sheet</a:t>
            </a:r>
            <a:endParaRPr lang="en-US" sz="1500" dirty="0">
              <a:solidFill>
                <a:schemeClr val="accent3"/>
              </a:solidFill>
              <a:latin typeface="Liberation Sans" panose="020B0604020202020204" pitchFamily="34" charset="0"/>
            </a:endParaRPr>
          </a:p>
          <a:p>
            <a:r>
              <a:rPr lang="en-US" sz="15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September </a:t>
            </a:r>
            <a:r>
              <a:rPr lang="en-US" sz="1500" dirty="0">
                <a:solidFill>
                  <a:schemeClr val="accent3"/>
                </a:solidFill>
                <a:latin typeface="Liberation Sans" panose="020B0604020202020204" pitchFamily="34" charset="0"/>
              </a:rPr>
              <a:t>30, 2017</a:t>
            </a:r>
            <a:endParaRPr kumimoji="0" lang="en-US" sz="1500" b="0" i="0" u="none" strike="noStrike" cap="none" normalizeH="0" baseline="0" dirty="0" smtClean="0">
              <a:ln>
                <a:noFill/>
              </a:ln>
              <a:solidFill>
                <a:schemeClr val="accent3"/>
              </a:solidFill>
              <a:effectLst/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04800" y="1371600"/>
            <a:ext cx="2410968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327697"/>
            <a:ext cx="6400800" cy="6149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Rectangle 9"/>
          <p:cNvSpPr>
            <a:spLocks noChangeArrowheads="1"/>
          </p:cNvSpPr>
          <p:nvPr/>
        </p:nvSpPr>
        <p:spPr bwMode="auto">
          <a:xfrm>
            <a:off x="342900" y="2071759"/>
            <a:ext cx="2095500" cy="1415772"/>
          </a:xfrm>
          <a:prstGeom prst="rect">
            <a:avLst/>
          </a:prstGeom>
          <a:solidFill>
            <a:schemeClr val="bg1"/>
          </a:solidFill>
          <a:ln w="28575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innerShdw blurRad="114300">
              <a:prstClr val="black"/>
            </a:innerShdw>
          </a:effectLst>
          <a:extLst/>
        </p:spPr>
        <p:txBody>
          <a:bodyPr wrap="square" tIns="91440" bIns="91440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Balance sheet and income statement are needed to prepare statement of cash flows.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2438400" y="4343400"/>
            <a:ext cx="76200" cy="1981200"/>
          </a:xfrm>
          <a:prstGeom prst="rect">
            <a:avLst/>
          </a:prstGeom>
          <a:solidFill>
            <a:schemeClr val="accent3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06624" y="304800"/>
            <a:ext cx="5861304" cy="649224"/>
          </a:xfrm>
          <a:prstGeom prst="rect">
            <a:avLst/>
          </a:prstGeom>
          <a:solidFill>
            <a:srgbClr val="0027A4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solidFill>
                  <a:schemeClr val="accent3"/>
                </a:solidFill>
                <a:latin typeface="Liberation Sans" panose="020B0604020202020204" pitchFamily="34" charset="0"/>
              </a:rPr>
              <a:t>SOFTBYTE</a:t>
            </a:r>
          </a:p>
          <a:p>
            <a:r>
              <a:rPr lang="en-US" sz="12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Balance Sheet</a:t>
            </a:r>
            <a:endParaRPr lang="en-US" sz="1200" dirty="0">
              <a:solidFill>
                <a:schemeClr val="accent3"/>
              </a:solidFill>
              <a:latin typeface="Liberation Sans" panose="020B0604020202020204" pitchFamily="34" charset="0"/>
            </a:endParaRPr>
          </a:p>
          <a:p>
            <a:r>
              <a:rPr lang="en-US" sz="12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September </a:t>
            </a:r>
            <a:r>
              <a:rPr lang="en-US" sz="1200" dirty="0">
                <a:solidFill>
                  <a:schemeClr val="accent3"/>
                </a:solidFill>
                <a:latin typeface="Liberation Sans" panose="020B0604020202020204" pitchFamily="34" charset="0"/>
              </a:rPr>
              <a:t>30, 2017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accent3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715768" y="3465576"/>
            <a:ext cx="5861304" cy="649224"/>
          </a:xfrm>
          <a:prstGeom prst="rect">
            <a:avLst/>
          </a:prstGeom>
          <a:solidFill>
            <a:srgbClr val="0027A4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solidFill>
                  <a:schemeClr val="accent3"/>
                </a:solidFill>
                <a:latin typeface="Liberation Sans" panose="020B0604020202020204" pitchFamily="34" charset="0"/>
              </a:rPr>
              <a:t>SOFTBYTE</a:t>
            </a:r>
          </a:p>
          <a:p>
            <a:r>
              <a:rPr lang="en-US" sz="12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Statement of Cash Flows</a:t>
            </a:r>
            <a:endParaRPr lang="en-US" sz="1200" dirty="0">
              <a:solidFill>
                <a:schemeClr val="accent3"/>
              </a:solidFill>
              <a:latin typeface="Liberation Sans" panose="020B0604020202020204" pitchFamily="34" charset="0"/>
            </a:endParaRPr>
          </a:p>
          <a:p>
            <a:r>
              <a:rPr lang="en-US" sz="1200" dirty="0" smtClean="0">
                <a:solidFill>
                  <a:schemeClr val="accent3"/>
                </a:solidFill>
                <a:latin typeface="Liberation Sans" panose="020B0604020202020204" pitchFamily="34" charset="0"/>
              </a:rPr>
              <a:t>For the Month Ended September </a:t>
            </a:r>
            <a:r>
              <a:rPr lang="en-US" sz="1200" dirty="0">
                <a:solidFill>
                  <a:schemeClr val="accent3"/>
                </a:solidFill>
                <a:latin typeface="Liberation Sans" panose="020B0604020202020204" pitchFamily="34" charset="0"/>
              </a:rPr>
              <a:t>30, 2017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accent3"/>
              </a:solidFill>
              <a:effectLst/>
              <a:latin typeface="Liberation Sans" panose="020B0604020202020204" pitchFamily="34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813179" y="5385881"/>
            <a:ext cx="1625221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tx1"/>
                </a:solidFill>
                <a:latin typeface="Liberation Sans" panose="020B0604020202020204" pitchFamily="34" charset="0"/>
              </a:rPr>
              <a:t>Illustration </a:t>
            </a:r>
            <a:r>
              <a:rPr lang="en-US" altLang="en-US" sz="110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1-9</a:t>
            </a:r>
            <a:endParaRPr lang="en-US" altLang="en-US" sz="1100" dirty="0">
              <a:solidFill>
                <a:schemeClr val="tx1"/>
              </a:solidFill>
              <a:latin typeface="Liberation Sans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Financial statements </a:t>
            </a:r>
            <a:r>
              <a:rPr lang="en-US" altLang="en-US" sz="1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and their </a:t>
            </a:r>
            <a:r>
              <a:rPr lang="en-US" altLang="en-US" sz="1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interrelationships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28600" y="304800"/>
            <a:ext cx="22860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0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Financial Statements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6"/>
          <p:cNvSpPr txBox="1">
            <a:spLocks noChangeArrowheads="1"/>
          </p:cNvSpPr>
          <p:nvPr/>
        </p:nvSpPr>
        <p:spPr bwMode="auto">
          <a:xfrm>
            <a:off x="533400" y="1295400"/>
            <a:ext cx="78486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676275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Reports </a:t>
            </a: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the revenues and expenses for a specific period of time. </a:t>
            </a:r>
          </a:p>
          <a:p>
            <a:pPr marL="676275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Lists revenues first, followed by expenses. </a:t>
            </a:r>
          </a:p>
          <a:p>
            <a:pPr marL="676275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alt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Shows net income (or net loss). </a:t>
            </a:r>
          </a:p>
        </p:txBody>
      </p:sp>
      <p:sp>
        <p:nvSpPr>
          <p:cNvPr id="60419" name="Line 1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60420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Income Statement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60423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932" y="3657600"/>
            <a:ext cx="3053668" cy="185772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33400" y="3400773"/>
            <a:ext cx="4038600" cy="263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marL="676275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</a:pP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Does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not include investment and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withdrawal transactions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between the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 </a:t>
            </a:r>
            <a:r>
              <a:rPr lang="en-US" sz="22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and the </a:t>
            </a:r>
            <a:r>
              <a:rPr lang="en-US" sz="22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business in measuring net income.</a:t>
            </a:r>
            <a:endParaRPr lang="en-US" altLang="en-US" sz="22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6"/>
          <p:cNvSpPr txBox="1">
            <a:spLocks noChangeArrowheads="1"/>
          </p:cNvSpPr>
          <p:nvPr/>
        </p:nvSpPr>
        <p:spPr bwMode="auto">
          <a:xfrm>
            <a:off x="533400" y="1295400"/>
            <a:ext cx="7848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676275" indent="-457200" algn="l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  <a:defRPr sz="2200" b="0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Reports the changes in </a:t>
            </a:r>
            <a:r>
              <a:rPr lang="en-US" altLang="en-US" dirty="0" smtClean="0"/>
              <a:t>owner’s equity for </a:t>
            </a:r>
            <a:r>
              <a:rPr lang="en-US" altLang="en-US" dirty="0"/>
              <a:t>a specific period of time. </a:t>
            </a:r>
          </a:p>
          <a:p>
            <a:r>
              <a:rPr lang="en-US" altLang="en-US" dirty="0"/>
              <a:t>The time period is the same as that covered by the income statement</a:t>
            </a:r>
            <a:r>
              <a:rPr lang="en-US" altLang="en-US" dirty="0" smtClean="0"/>
              <a:t>.</a:t>
            </a:r>
          </a:p>
        </p:txBody>
      </p:sp>
      <p:sp>
        <p:nvSpPr>
          <p:cNvPr id="61443" name="Line 1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61444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Owner’s Equity Statement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61446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6"/>
          <p:cNvSpPr txBox="1">
            <a:spLocks noChangeArrowheads="1"/>
          </p:cNvSpPr>
          <p:nvPr/>
        </p:nvSpPr>
        <p:spPr bwMode="auto">
          <a:xfrm>
            <a:off x="533400" y="1295400"/>
            <a:ext cx="7848600" cy="436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676275" indent="-457200" algn="l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  <a:defRPr sz="2200" b="0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Reports the assets, liabilities, and </a:t>
            </a:r>
            <a:r>
              <a:rPr lang="en-US" altLang="en-US" dirty="0" smtClean="0"/>
              <a:t>owner's equity </a:t>
            </a:r>
            <a:r>
              <a:rPr lang="en-US" altLang="en-US" dirty="0"/>
              <a:t>at a specific date.</a:t>
            </a:r>
          </a:p>
          <a:p>
            <a:r>
              <a:rPr lang="en-US" altLang="en-US" dirty="0"/>
              <a:t>Lists assets at the top, followed by liabilities and </a:t>
            </a:r>
            <a:r>
              <a:rPr lang="en-US" altLang="en-US" dirty="0" smtClean="0"/>
              <a:t>owner’s </a:t>
            </a:r>
            <a:r>
              <a:rPr lang="en-US" altLang="en-US" dirty="0"/>
              <a:t>equity. </a:t>
            </a:r>
          </a:p>
          <a:p>
            <a:r>
              <a:rPr lang="en-US" altLang="en-US" dirty="0"/>
              <a:t>Total assets must equal total liabilities and </a:t>
            </a:r>
            <a:r>
              <a:rPr lang="en-US" altLang="en-US" dirty="0" smtClean="0"/>
              <a:t>owner's </a:t>
            </a:r>
            <a:r>
              <a:rPr lang="en-US" altLang="en-US" dirty="0"/>
              <a:t>equity.</a:t>
            </a:r>
          </a:p>
          <a:p>
            <a:r>
              <a:rPr lang="en-US" altLang="en-US" dirty="0"/>
              <a:t>Is a snapshot of the company’s financial condition at a specific moment in time (usually the month-end or year-end).</a:t>
            </a:r>
          </a:p>
        </p:txBody>
      </p:sp>
      <p:sp>
        <p:nvSpPr>
          <p:cNvPr id="62467" name="Line 1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62468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Balance Sheet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62470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6"/>
          <p:cNvSpPr txBox="1">
            <a:spLocks noChangeArrowheads="1"/>
          </p:cNvSpPr>
          <p:nvPr/>
        </p:nvSpPr>
        <p:spPr bwMode="auto">
          <a:xfrm>
            <a:off x="533400" y="1295400"/>
            <a:ext cx="7848600" cy="3593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676275" indent="-457200" algn="l">
              <a:lnSpc>
                <a:spcPct val="125000"/>
              </a:lnSpc>
              <a:spcBef>
                <a:spcPts val="1200"/>
              </a:spcBef>
              <a:buClr>
                <a:srgbClr val="800000"/>
              </a:buClr>
              <a:buSzPct val="80000"/>
              <a:buFont typeface="Wingdings" pitchFamily="2" charset="2"/>
              <a:buChar char="u"/>
              <a:defRPr sz="2200" b="0">
                <a:latin typeface="Liberation Sans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Information on the cash receipts and payments for a specific period of time.</a:t>
            </a:r>
          </a:p>
          <a:p>
            <a:r>
              <a:rPr lang="en-US" altLang="en-US" dirty="0"/>
              <a:t>Answers the </a:t>
            </a:r>
            <a:r>
              <a:rPr lang="en-US" altLang="en-US" dirty="0" smtClean="0"/>
              <a:t>following:</a:t>
            </a:r>
          </a:p>
          <a:p>
            <a:pPr marL="1377950" lvl="1" indent="-457200">
              <a:lnSpc>
                <a:spcPct val="125000"/>
              </a:lnSpc>
              <a:spcBef>
                <a:spcPts val="1200"/>
              </a:spcBef>
              <a:buClr>
                <a:schemeClr val="accent6">
                  <a:lumMod val="50000"/>
                </a:schemeClr>
              </a:buClr>
              <a:buSzPct val="80000"/>
              <a:buFont typeface="Arial" panose="020B0604020202020204" pitchFamily="34" charset="0"/>
              <a:buChar char="►"/>
            </a:pP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Where </a:t>
            </a: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did cash come 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from?</a:t>
            </a:r>
          </a:p>
          <a:p>
            <a:pPr marL="1377950" lvl="1" indent="-457200">
              <a:lnSpc>
                <a:spcPct val="125000"/>
              </a:lnSpc>
              <a:spcBef>
                <a:spcPts val="1200"/>
              </a:spcBef>
              <a:buClr>
                <a:schemeClr val="accent6">
                  <a:lumMod val="50000"/>
                </a:schemeClr>
              </a:buClr>
              <a:buSzPct val="80000"/>
              <a:buFont typeface="Arial" panose="020B0604020202020204" pitchFamily="34" charset="0"/>
              <a:buChar char="►"/>
            </a:pP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What </a:t>
            </a: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was cash used 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for?</a:t>
            </a:r>
          </a:p>
          <a:p>
            <a:pPr marL="1377950" lvl="1" indent="-457200">
              <a:lnSpc>
                <a:spcPct val="125000"/>
              </a:lnSpc>
              <a:spcBef>
                <a:spcPts val="1200"/>
              </a:spcBef>
              <a:buClr>
                <a:schemeClr val="accent6">
                  <a:lumMod val="50000"/>
                </a:schemeClr>
              </a:buClr>
              <a:buSzPct val="80000"/>
              <a:buFont typeface="Arial" panose="020B0604020202020204" pitchFamily="34" charset="0"/>
              <a:buChar char="►"/>
            </a:pP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What </a:t>
            </a: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was the change in 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the </a:t>
            </a:r>
          </a:p>
          <a:p>
            <a:pPr marL="1371600" lvl="1" indent="0">
              <a:lnSpc>
                <a:spcPct val="125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SzPct val="80000"/>
              <a:buNone/>
            </a:pP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cash </a:t>
            </a:r>
            <a:r>
              <a:rPr lang="en-US" altLang="en-US" sz="21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balance</a:t>
            </a:r>
            <a:r>
              <a:rPr lang="en-US" altLang="en-US" sz="21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?</a:t>
            </a:r>
            <a:endParaRPr lang="en-US" altLang="en-US" sz="2100" b="0" dirty="0">
              <a:solidFill>
                <a:schemeClr val="tx1"/>
              </a:solidFill>
              <a:latin typeface="Liberation Sans" panose="020B0604020202020204" pitchFamily="34" charset="0"/>
            </a:endParaRPr>
          </a:p>
        </p:txBody>
      </p:sp>
      <p:sp>
        <p:nvSpPr>
          <p:cNvPr id="63491" name="Line 12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63492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 smtClean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Statement of Cash Flows</a:t>
            </a:r>
            <a:endParaRPr lang="en-US" altLang="en-US" sz="3200" b="1" dirty="0">
              <a:solidFill>
                <a:schemeClr val="tx2">
                  <a:lumMod val="75000"/>
                </a:schemeClr>
              </a:solidFill>
              <a:latin typeface="Liberation Sans" panose="020B0604020202020204" pitchFamily="34" charset="0"/>
            </a:endParaRPr>
          </a:p>
        </p:txBody>
      </p:sp>
      <p:sp>
        <p:nvSpPr>
          <p:cNvPr id="63495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501650" y="1905000"/>
            <a:ext cx="8001000" cy="3276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562" tIns="46038" rIns="182562" bIns="46038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685800" indent="-455613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None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Which of the following financial statements is prepared as of a specific date? 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Balance sheet.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Income statement.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 smtClean="0">
                <a:solidFill>
                  <a:schemeClr val="tx1"/>
                </a:solidFill>
                <a:latin typeface="Liberation Sans" panose="020B0604020202020204" pitchFamily="34" charset="0"/>
              </a:rPr>
              <a:t>Owner's equity </a:t>
            </a: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statement.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AutoNum type="alphaLcPeriod"/>
            </a:pPr>
            <a:r>
              <a:rPr lang="en-US" altLang="en-US" sz="23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Statement of cash flows.</a:t>
            </a:r>
          </a:p>
        </p:txBody>
      </p:sp>
      <p:sp>
        <p:nvSpPr>
          <p:cNvPr id="64515" name="Line 7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Liberation Sans" panose="020B0604020202020204" pitchFamily="34" charset="0"/>
            </a:endParaRPr>
          </a:p>
        </p:txBody>
      </p:sp>
      <p:sp>
        <p:nvSpPr>
          <p:cNvPr id="64516" name="Rectangle 7"/>
          <p:cNvSpPr>
            <a:spLocks noChangeArrowheads="1"/>
          </p:cNvSpPr>
          <p:nvPr/>
        </p:nvSpPr>
        <p:spPr bwMode="auto">
          <a:xfrm>
            <a:off x="533400" y="304800"/>
            <a:ext cx="80772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Financial Statements</a:t>
            </a:r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533400" y="1295400"/>
            <a:ext cx="5334000" cy="5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altLang="en-US" sz="3000" b="1" dirty="0">
                <a:latin typeface="Liberation Sans" panose="020B0604020202020204" pitchFamily="34" charset="0"/>
              </a:rPr>
              <a:t>Question</a:t>
            </a:r>
          </a:p>
        </p:txBody>
      </p:sp>
      <p:sp>
        <p:nvSpPr>
          <p:cNvPr id="64518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9" name="Notched Right Arrow 8"/>
          <p:cNvSpPr/>
          <p:nvPr/>
        </p:nvSpPr>
        <p:spPr bwMode="auto">
          <a:xfrm>
            <a:off x="152400" y="2971800"/>
            <a:ext cx="609600" cy="457200"/>
          </a:xfrm>
          <a:prstGeom prst="notchedRightArrow">
            <a:avLst/>
          </a:prstGeom>
          <a:solidFill>
            <a:schemeClr val="tx2">
              <a:lumMod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3439"/>
            <a:ext cx="8382000" cy="3772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16596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286000" y="316598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389901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Financial Statement Items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237111"/>
            <a:ext cx="8305800" cy="3792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Presented below is selected information related to Flanagan Company at December 31</a:t>
            </a:r>
            <a:r>
              <a:rPr lang="en-US" sz="2000" dirty="0" smtClean="0">
                <a:latin typeface="Liberation Sans" panose="020B0604020202020204" pitchFamily="34" charset="0"/>
              </a:rPr>
              <a:t>, 2017</a:t>
            </a:r>
            <a:r>
              <a:rPr lang="en-US" sz="2000" dirty="0">
                <a:latin typeface="Liberation Sans" panose="020B0604020202020204" pitchFamily="34" charset="0"/>
              </a:rPr>
              <a:t>. Flanagan reports </a:t>
            </a:r>
            <a:r>
              <a:rPr lang="en-US" sz="2000" dirty="0" smtClean="0">
                <a:latin typeface="Liberation Sans" panose="020B0604020202020204" pitchFamily="34" charset="0"/>
              </a:rPr>
              <a:t>financial </a:t>
            </a:r>
            <a:r>
              <a:rPr lang="en-US" sz="2000" dirty="0">
                <a:latin typeface="Liberation Sans" panose="020B0604020202020204" pitchFamily="34" charset="0"/>
              </a:rPr>
              <a:t>information monthly.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Equipment </a:t>
            </a:r>
            <a:r>
              <a:rPr lang="en-US" sz="1900" dirty="0" smtClean="0">
                <a:latin typeface="Liberation Sans" panose="020B0604020202020204" pitchFamily="34" charset="0"/>
              </a:rPr>
              <a:t>	$</a:t>
            </a:r>
            <a:r>
              <a:rPr lang="en-US" sz="1900" dirty="0">
                <a:latin typeface="Liberation Sans" panose="020B0604020202020204" pitchFamily="34" charset="0"/>
              </a:rPr>
              <a:t>10,000 </a:t>
            </a:r>
            <a:r>
              <a:rPr lang="en-US" sz="1900" dirty="0" smtClean="0">
                <a:latin typeface="Liberation Sans" panose="020B0604020202020204" pitchFamily="34" charset="0"/>
              </a:rPr>
              <a:t>	Utilities </a:t>
            </a:r>
            <a:r>
              <a:rPr lang="en-US" sz="1900" dirty="0">
                <a:latin typeface="Liberation Sans" panose="020B0604020202020204" pitchFamily="34" charset="0"/>
              </a:rPr>
              <a:t>Expense </a:t>
            </a:r>
            <a:r>
              <a:rPr lang="en-US" sz="1900" dirty="0" smtClean="0">
                <a:latin typeface="Liberation Sans" panose="020B0604020202020204" pitchFamily="34" charset="0"/>
              </a:rPr>
              <a:t>	$ </a:t>
            </a:r>
            <a:r>
              <a:rPr lang="en-US" sz="1900" dirty="0">
                <a:latin typeface="Liberation Sans" panose="020B0604020202020204" pitchFamily="34" charset="0"/>
              </a:rPr>
              <a:t>4,000</a:t>
            </a: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Cash </a:t>
            </a:r>
            <a:r>
              <a:rPr lang="en-US" sz="1900" dirty="0" smtClean="0">
                <a:latin typeface="Liberation Sans" panose="020B0604020202020204" pitchFamily="34" charset="0"/>
              </a:rPr>
              <a:t>	8,000 	Accounts </a:t>
            </a:r>
            <a:r>
              <a:rPr lang="en-US" sz="1900" dirty="0">
                <a:latin typeface="Liberation Sans" panose="020B0604020202020204" pitchFamily="34" charset="0"/>
              </a:rPr>
              <a:t>Receivable </a:t>
            </a:r>
            <a:r>
              <a:rPr lang="en-US" sz="1900" dirty="0" smtClean="0">
                <a:latin typeface="Liberation Sans" panose="020B0604020202020204" pitchFamily="34" charset="0"/>
              </a:rPr>
              <a:t>	9,000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Service Revenue </a:t>
            </a:r>
            <a:r>
              <a:rPr lang="en-US" sz="1900" dirty="0" smtClean="0">
                <a:latin typeface="Liberation Sans" panose="020B0604020202020204" pitchFamily="34" charset="0"/>
              </a:rPr>
              <a:t>	36,000 	Salaries </a:t>
            </a:r>
            <a:r>
              <a:rPr lang="en-US" sz="1900" dirty="0">
                <a:latin typeface="Liberation Sans" panose="020B0604020202020204" pitchFamily="34" charset="0"/>
              </a:rPr>
              <a:t>and Wages Expense </a:t>
            </a:r>
            <a:r>
              <a:rPr lang="en-US" sz="1900" dirty="0" smtClean="0">
                <a:latin typeface="Liberation Sans" panose="020B0604020202020204" pitchFamily="34" charset="0"/>
              </a:rPr>
              <a:t>	7,000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fr-FR" sz="1900" dirty="0">
                <a:latin typeface="Liberation Sans" panose="020B0604020202020204" pitchFamily="34" charset="0"/>
              </a:rPr>
              <a:t>Rent Expense </a:t>
            </a:r>
            <a:r>
              <a:rPr lang="fr-FR" sz="1900" dirty="0" smtClean="0">
                <a:latin typeface="Liberation Sans" panose="020B0604020202020204" pitchFamily="34" charset="0"/>
              </a:rPr>
              <a:t>	11,000 	Notes </a:t>
            </a:r>
            <a:r>
              <a:rPr lang="fr-FR" sz="1900" dirty="0">
                <a:latin typeface="Liberation Sans" panose="020B0604020202020204" pitchFamily="34" charset="0"/>
              </a:rPr>
              <a:t>Payable </a:t>
            </a:r>
            <a:r>
              <a:rPr lang="fr-FR" sz="1900" dirty="0" smtClean="0">
                <a:latin typeface="Liberation Sans" panose="020B0604020202020204" pitchFamily="34" charset="0"/>
              </a:rPr>
              <a:t>	16,500</a:t>
            </a:r>
            <a:endParaRPr lang="fr-FR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Accounts Payable </a:t>
            </a:r>
            <a:r>
              <a:rPr lang="en-US" sz="1900" dirty="0" smtClean="0">
                <a:latin typeface="Liberation Sans" panose="020B0604020202020204" pitchFamily="34" charset="0"/>
              </a:rPr>
              <a:t>	2,000 	Owner’s </a:t>
            </a:r>
            <a:r>
              <a:rPr lang="en-US" sz="1900" dirty="0">
                <a:latin typeface="Liberation Sans" panose="020B0604020202020204" pitchFamily="34" charset="0"/>
              </a:rPr>
              <a:t>Drawings </a:t>
            </a:r>
            <a:r>
              <a:rPr lang="en-US" sz="1900" dirty="0" smtClean="0">
                <a:latin typeface="Liberation Sans" panose="020B0604020202020204" pitchFamily="34" charset="0"/>
              </a:rPr>
              <a:t>	5,000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marL="463550" indent="-463550" algn="l">
              <a:lnSpc>
                <a:spcPct val="120000"/>
              </a:lnSpc>
              <a:spcBef>
                <a:spcPts val="12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(a) </a:t>
            </a:r>
            <a:r>
              <a:rPr lang="en-US" sz="2000" dirty="0" smtClean="0">
                <a:latin typeface="Liberation Sans" panose="020B0604020202020204" pitchFamily="34" charset="0"/>
              </a:rPr>
              <a:t>	Determine </a:t>
            </a:r>
            <a:r>
              <a:rPr lang="en-US" sz="2000" dirty="0">
                <a:latin typeface="Liberation Sans" panose="020B0604020202020204" pitchFamily="34" charset="0"/>
              </a:rPr>
              <a:t>the total assets of </a:t>
            </a:r>
            <a:r>
              <a:rPr lang="en-US" sz="2000" dirty="0" smtClean="0">
                <a:latin typeface="Liberation Sans" panose="020B0604020202020204" pitchFamily="34" charset="0"/>
              </a:rPr>
              <a:t>at </a:t>
            </a:r>
            <a:r>
              <a:rPr lang="en-US" sz="2000" dirty="0">
                <a:latin typeface="Liberation Sans" panose="020B0604020202020204" pitchFamily="34" charset="0"/>
              </a:rPr>
              <a:t>December 31, 2017.</a:t>
            </a:r>
          </a:p>
          <a:p>
            <a:pPr marL="463550" indent="-463550" algn="l">
              <a:lnSpc>
                <a:spcPct val="120000"/>
              </a:lnSpc>
              <a:spcBef>
                <a:spcPts val="2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(b) </a:t>
            </a:r>
            <a:r>
              <a:rPr lang="en-US" sz="2000" dirty="0" smtClean="0">
                <a:latin typeface="Liberation Sans" panose="020B0604020202020204" pitchFamily="34" charset="0"/>
              </a:rPr>
              <a:t>	Determine </a:t>
            </a:r>
            <a:r>
              <a:rPr lang="en-US" sz="2000" dirty="0">
                <a:latin typeface="Liberation Sans" panose="020B0604020202020204" pitchFamily="34" charset="0"/>
              </a:rPr>
              <a:t>the net income </a:t>
            </a:r>
            <a:r>
              <a:rPr lang="en-US" sz="2000" dirty="0" smtClean="0">
                <a:latin typeface="Liberation Sans" panose="020B0604020202020204" pitchFamily="34" charset="0"/>
              </a:rPr>
              <a:t>reported </a:t>
            </a:r>
            <a:r>
              <a:rPr lang="en-US" sz="2000" dirty="0">
                <a:latin typeface="Liberation Sans" panose="020B0604020202020204" pitchFamily="34" charset="0"/>
              </a:rPr>
              <a:t>for December 2017.</a:t>
            </a:r>
          </a:p>
          <a:p>
            <a:pPr marL="463550" indent="-463550" algn="l">
              <a:lnSpc>
                <a:spcPct val="120000"/>
              </a:lnSpc>
              <a:spcBef>
                <a:spcPts val="2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(c) </a:t>
            </a:r>
            <a:r>
              <a:rPr lang="en-US" sz="2000" dirty="0" smtClean="0">
                <a:latin typeface="Liberation Sans" panose="020B0604020202020204" pitchFamily="34" charset="0"/>
              </a:rPr>
              <a:t>	Determine </a:t>
            </a:r>
            <a:r>
              <a:rPr lang="en-US" sz="2000" dirty="0">
                <a:latin typeface="Liberation Sans" panose="020B0604020202020204" pitchFamily="34" charset="0"/>
              </a:rPr>
              <a:t>the owner’s equity </a:t>
            </a:r>
            <a:r>
              <a:rPr lang="en-US" sz="2000" dirty="0" smtClean="0">
                <a:latin typeface="Liberation Sans" panose="020B0604020202020204" pitchFamily="34" charset="0"/>
              </a:rPr>
              <a:t>at </a:t>
            </a:r>
            <a:r>
              <a:rPr lang="en-US" sz="2000" dirty="0">
                <a:latin typeface="Liberation Sans" panose="020B0604020202020204" pitchFamily="34" charset="0"/>
              </a:rPr>
              <a:t>December 31, 2017.</a:t>
            </a:r>
          </a:p>
        </p:txBody>
      </p:sp>
    </p:spTree>
    <p:extLst>
      <p:ext uri="{BB962C8B-B14F-4D97-AF65-F5344CB8AC3E}">
        <p14:creationId xmlns:p14="http://schemas.microsoft.com/office/powerpoint/2010/main" val="15551294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16596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286000" y="316598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389901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Financial Statement Items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237111"/>
            <a:ext cx="8305800" cy="3002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Presented below is selected information related to Flanagan Company at December 31</a:t>
            </a:r>
            <a:r>
              <a:rPr lang="en-US" sz="2000" dirty="0" smtClean="0">
                <a:latin typeface="Liberation Sans" panose="020B0604020202020204" pitchFamily="34" charset="0"/>
              </a:rPr>
              <a:t>, 2017</a:t>
            </a:r>
            <a:r>
              <a:rPr lang="en-US" sz="2000" dirty="0">
                <a:latin typeface="Liberation Sans" panose="020B0604020202020204" pitchFamily="34" charset="0"/>
              </a:rPr>
              <a:t>. Flanagan reports </a:t>
            </a:r>
            <a:r>
              <a:rPr lang="en-US" sz="2000" dirty="0" smtClean="0">
                <a:latin typeface="Liberation Sans" panose="020B0604020202020204" pitchFamily="34" charset="0"/>
              </a:rPr>
              <a:t>financial </a:t>
            </a:r>
            <a:r>
              <a:rPr lang="en-US" sz="2000" dirty="0">
                <a:latin typeface="Liberation Sans" panose="020B0604020202020204" pitchFamily="34" charset="0"/>
              </a:rPr>
              <a:t>information monthly.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Equipment </a:t>
            </a:r>
            <a:r>
              <a:rPr lang="en-US" sz="1900" dirty="0" smtClean="0">
                <a:latin typeface="Liberation Sans" panose="020B0604020202020204" pitchFamily="34" charset="0"/>
              </a:rPr>
              <a:t>	$</a:t>
            </a:r>
            <a:r>
              <a:rPr lang="en-US" sz="1900" dirty="0">
                <a:latin typeface="Liberation Sans" panose="020B0604020202020204" pitchFamily="34" charset="0"/>
              </a:rPr>
              <a:t>10,000 </a:t>
            </a:r>
            <a:r>
              <a:rPr lang="en-US" sz="1900" dirty="0" smtClean="0">
                <a:latin typeface="Liberation Sans" panose="020B0604020202020204" pitchFamily="34" charset="0"/>
              </a:rPr>
              <a:t>	Utilities </a:t>
            </a:r>
            <a:r>
              <a:rPr lang="en-US" sz="1900" dirty="0">
                <a:latin typeface="Liberation Sans" panose="020B0604020202020204" pitchFamily="34" charset="0"/>
              </a:rPr>
              <a:t>Expense </a:t>
            </a:r>
            <a:r>
              <a:rPr lang="en-US" sz="1900" dirty="0" smtClean="0">
                <a:latin typeface="Liberation Sans" panose="020B0604020202020204" pitchFamily="34" charset="0"/>
              </a:rPr>
              <a:t>	$ </a:t>
            </a:r>
            <a:r>
              <a:rPr lang="en-US" sz="1900" dirty="0">
                <a:latin typeface="Liberation Sans" panose="020B0604020202020204" pitchFamily="34" charset="0"/>
              </a:rPr>
              <a:t>4,000</a:t>
            </a: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Cash </a:t>
            </a:r>
            <a:r>
              <a:rPr lang="en-US" sz="1900" dirty="0" smtClean="0">
                <a:latin typeface="Liberation Sans" panose="020B0604020202020204" pitchFamily="34" charset="0"/>
              </a:rPr>
              <a:t>	8,000 	Accounts </a:t>
            </a:r>
            <a:r>
              <a:rPr lang="en-US" sz="1900" dirty="0">
                <a:latin typeface="Liberation Sans" panose="020B0604020202020204" pitchFamily="34" charset="0"/>
              </a:rPr>
              <a:t>Receivable </a:t>
            </a:r>
            <a:r>
              <a:rPr lang="en-US" sz="1900" dirty="0" smtClean="0">
                <a:latin typeface="Liberation Sans" panose="020B0604020202020204" pitchFamily="34" charset="0"/>
              </a:rPr>
              <a:t>	9,000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Service Revenue </a:t>
            </a:r>
            <a:r>
              <a:rPr lang="en-US" sz="1900" dirty="0" smtClean="0">
                <a:latin typeface="Liberation Sans" panose="020B0604020202020204" pitchFamily="34" charset="0"/>
              </a:rPr>
              <a:t>	36,000 	Salaries </a:t>
            </a:r>
            <a:r>
              <a:rPr lang="en-US" sz="1900" dirty="0">
                <a:latin typeface="Liberation Sans" panose="020B0604020202020204" pitchFamily="34" charset="0"/>
              </a:rPr>
              <a:t>and Wages Expense </a:t>
            </a:r>
            <a:r>
              <a:rPr lang="en-US" sz="1900" dirty="0" smtClean="0">
                <a:latin typeface="Liberation Sans" panose="020B0604020202020204" pitchFamily="34" charset="0"/>
              </a:rPr>
              <a:t>	7,000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fr-FR" sz="1900" dirty="0">
                <a:latin typeface="Liberation Sans" panose="020B0604020202020204" pitchFamily="34" charset="0"/>
              </a:rPr>
              <a:t>Rent Expense </a:t>
            </a:r>
            <a:r>
              <a:rPr lang="fr-FR" sz="1900" dirty="0" smtClean="0">
                <a:latin typeface="Liberation Sans" panose="020B0604020202020204" pitchFamily="34" charset="0"/>
              </a:rPr>
              <a:t>	11,000 	Notes </a:t>
            </a:r>
            <a:r>
              <a:rPr lang="fr-FR" sz="1900" dirty="0">
                <a:latin typeface="Liberation Sans" panose="020B0604020202020204" pitchFamily="34" charset="0"/>
              </a:rPr>
              <a:t>Payable </a:t>
            </a:r>
            <a:r>
              <a:rPr lang="fr-FR" sz="1900" dirty="0" smtClean="0">
                <a:latin typeface="Liberation Sans" panose="020B0604020202020204" pitchFamily="34" charset="0"/>
              </a:rPr>
              <a:t>	16,500</a:t>
            </a:r>
            <a:endParaRPr lang="fr-FR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Accounts Payable </a:t>
            </a:r>
            <a:r>
              <a:rPr lang="en-US" sz="1900" dirty="0" smtClean="0">
                <a:latin typeface="Liberation Sans" panose="020B0604020202020204" pitchFamily="34" charset="0"/>
              </a:rPr>
              <a:t>	2,000 	Owner’s </a:t>
            </a:r>
            <a:r>
              <a:rPr lang="en-US" sz="1900" dirty="0">
                <a:latin typeface="Liberation Sans" panose="020B0604020202020204" pitchFamily="34" charset="0"/>
              </a:rPr>
              <a:t>Drawings </a:t>
            </a:r>
            <a:r>
              <a:rPr lang="en-US" sz="1900" dirty="0" smtClean="0">
                <a:latin typeface="Liberation Sans" panose="020B0604020202020204" pitchFamily="34" charset="0"/>
              </a:rPr>
              <a:t>	5,000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marL="463550" indent="-463550" algn="l">
              <a:lnSpc>
                <a:spcPct val="120000"/>
              </a:lnSpc>
              <a:spcBef>
                <a:spcPts val="1200"/>
              </a:spcBef>
            </a:pPr>
            <a:r>
              <a:rPr lang="en-US" sz="2000" b="1" dirty="0">
                <a:latin typeface="Liberation Sans" panose="020B0604020202020204" pitchFamily="34" charset="0"/>
              </a:rPr>
              <a:t>(a) </a:t>
            </a:r>
            <a:r>
              <a:rPr lang="en-US" sz="2000" b="1" dirty="0" smtClean="0">
                <a:latin typeface="Liberation Sans" panose="020B0604020202020204" pitchFamily="34" charset="0"/>
              </a:rPr>
              <a:t>	Determine </a:t>
            </a:r>
            <a:r>
              <a:rPr lang="en-US" sz="2000" b="1" dirty="0">
                <a:latin typeface="Liberation Sans" panose="020B0604020202020204" pitchFamily="34" charset="0"/>
              </a:rPr>
              <a:t>the total assets of </a:t>
            </a:r>
            <a:r>
              <a:rPr lang="en-US" sz="2000" b="1" dirty="0" smtClean="0">
                <a:latin typeface="Liberation Sans" panose="020B0604020202020204" pitchFamily="34" charset="0"/>
              </a:rPr>
              <a:t>at </a:t>
            </a:r>
            <a:r>
              <a:rPr lang="en-US" sz="2000" b="1" dirty="0">
                <a:latin typeface="Liberation Sans" panose="020B0604020202020204" pitchFamily="34" charset="0"/>
              </a:rPr>
              <a:t>December 31, 2017</a:t>
            </a:r>
            <a:r>
              <a:rPr lang="en-US" sz="2000" b="1" dirty="0" smtClean="0">
                <a:latin typeface="Liberation Sans" panose="020B0604020202020204" pitchFamily="34" charset="0"/>
              </a:rPr>
              <a:t>.</a:t>
            </a:r>
            <a:endParaRPr lang="en-US" sz="2000" b="1" dirty="0">
              <a:latin typeface="Liberation Sans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4308322"/>
            <a:ext cx="5562600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000" dirty="0" smtClean="0">
                <a:latin typeface="Liberation Sans" panose="020B0604020202020204" pitchFamily="34" charset="0"/>
              </a:rPr>
              <a:t>The </a:t>
            </a:r>
            <a:r>
              <a:rPr lang="en-US" sz="2000" dirty="0">
                <a:latin typeface="Liberation Sans" panose="020B0604020202020204" pitchFamily="34" charset="0"/>
              </a:rPr>
              <a:t>total assets are $27,000, comprised of </a:t>
            </a:r>
            <a:endParaRPr lang="en-US" sz="2000" dirty="0" smtClean="0">
              <a:latin typeface="Liberation Sans" panose="020B0604020202020204" pitchFamily="34" charset="0"/>
            </a:endParaRPr>
          </a:p>
          <a:p>
            <a:pPr marL="682625" indent="-4508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Liberation Sans" panose="020B0604020202020204" pitchFamily="34" charset="0"/>
              </a:rPr>
              <a:t>Cash </a:t>
            </a:r>
            <a:r>
              <a:rPr lang="en-US" sz="2000" dirty="0">
                <a:latin typeface="Liberation Sans" panose="020B0604020202020204" pitchFamily="34" charset="0"/>
              </a:rPr>
              <a:t>$8,000, </a:t>
            </a:r>
            <a:endParaRPr lang="en-US" sz="2000" dirty="0" smtClean="0">
              <a:latin typeface="Liberation Sans" panose="020B0604020202020204" pitchFamily="34" charset="0"/>
            </a:endParaRPr>
          </a:p>
          <a:p>
            <a:pPr marL="682625" indent="-4508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Liberation Sans" panose="020B0604020202020204" pitchFamily="34" charset="0"/>
              </a:rPr>
              <a:t>Accounts Receivable $</a:t>
            </a:r>
            <a:r>
              <a:rPr lang="en-US" sz="2000" dirty="0">
                <a:latin typeface="Liberation Sans" panose="020B0604020202020204" pitchFamily="34" charset="0"/>
              </a:rPr>
              <a:t>9,000, and </a:t>
            </a:r>
            <a:endParaRPr lang="en-US" sz="2000" dirty="0" smtClean="0">
              <a:latin typeface="Liberation Sans" panose="020B0604020202020204" pitchFamily="34" charset="0"/>
            </a:endParaRPr>
          </a:p>
          <a:p>
            <a:pPr marL="682625" indent="-4508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Liberation Sans" panose="020B0604020202020204" pitchFamily="34" charset="0"/>
              </a:rPr>
              <a:t>Equipment </a:t>
            </a:r>
            <a:r>
              <a:rPr lang="en-US" sz="2000" dirty="0">
                <a:latin typeface="Liberation Sans" panose="020B0604020202020204" pitchFamily="34" charset="0"/>
              </a:rPr>
              <a:t>$10,000.</a:t>
            </a:r>
          </a:p>
        </p:txBody>
      </p:sp>
    </p:spTree>
    <p:extLst>
      <p:ext uri="{BB962C8B-B14F-4D97-AF65-F5344CB8AC3E}">
        <p14:creationId xmlns:p14="http://schemas.microsoft.com/office/powerpoint/2010/main" val="38501342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16596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286000" y="316598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389901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Financial Statement Items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237111"/>
            <a:ext cx="8305800" cy="3002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Presented below is selected information related to Flanagan Company at December 31</a:t>
            </a:r>
            <a:r>
              <a:rPr lang="en-US" sz="2000" dirty="0" smtClean="0">
                <a:latin typeface="Liberation Sans" panose="020B0604020202020204" pitchFamily="34" charset="0"/>
              </a:rPr>
              <a:t>, 2017</a:t>
            </a:r>
            <a:r>
              <a:rPr lang="en-US" sz="2000" dirty="0">
                <a:latin typeface="Liberation Sans" panose="020B0604020202020204" pitchFamily="34" charset="0"/>
              </a:rPr>
              <a:t>. Flanagan reports </a:t>
            </a:r>
            <a:r>
              <a:rPr lang="en-US" sz="2000" dirty="0" smtClean="0">
                <a:latin typeface="Liberation Sans" panose="020B0604020202020204" pitchFamily="34" charset="0"/>
              </a:rPr>
              <a:t>financial </a:t>
            </a:r>
            <a:r>
              <a:rPr lang="en-US" sz="2000" dirty="0">
                <a:latin typeface="Liberation Sans" panose="020B0604020202020204" pitchFamily="34" charset="0"/>
              </a:rPr>
              <a:t>information monthly.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Equipment </a:t>
            </a:r>
            <a:r>
              <a:rPr lang="en-US" sz="1900" dirty="0" smtClean="0">
                <a:latin typeface="Liberation Sans" panose="020B0604020202020204" pitchFamily="34" charset="0"/>
              </a:rPr>
              <a:t>	$</a:t>
            </a:r>
            <a:r>
              <a:rPr lang="en-US" sz="1900" dirty="0">
                <a:latin typeface="Liberation Sans" panose="020B0604020202020204" pitchFamily="34" charset="0"/>
              </a:rPr>
              <a:t>10,000 </a:t>
            </a:r>
            <a:r>
              <a:rPr lang="en-US" sz="1900" dirty="0" smtClean="0">
                <a:latin typeface="Liberation Sans" panose="020B0604020202020204" pitchFamily="34" charset="0"/>
              </a:rPr>
              <a:t>	Utilities </a:t>
            </a:r>
            <a:r>
              <a:rPr lang="en-US" sz="1900" dirty="0">
                <a:latin typeface="Liberation Sans" panose="020B0604020202020204" pitchFamily="34" charset="0"/>
              </a:rPr>
              <a:t>Expense </a:t>
            </a:r>
            <a:r>
              <a:rPr lang="en-US" sz="1900" dirty="0" smtClean="0">
                <a:latin typeface="Liberation Sans" panose="020B0604020202020204" pitchFamily="34" charset="0"/>
              </a:rPr>
              <a:t>	$ </a:t>
            </a:r>
            <a:r>
              <a:rPr lang="en-US" sz="1900" dirty="0">
                <a:latin typeface="Liberation Sans" panose="020B0604020202020204" pitchFamily="34" charset="0"/>
              </a:rPr>
              <a:t>4,000</a:t>
            </a: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Cash </a:t>
            </a:r>
            <a:r>
              <a:rPr lang="en-US" sz="1900" dirty="0" smtClean="0">
                <a:latin typeface="Liberation Sans" panose="020B0604020202020204" pitchFamily="34" charset="0"/>
              </a:rPr>
              <a:t>	8,000 	Accounts </a:t>
            </a:r>
            <a:r>
              <a:rPr lang="en-US" sz="1900" dirty="0">
                <a:latin typeface="Liberation Sans" panose="020B0604020202020204" pitchFamily="34" charset="0"/>
              </a:rPr>
              <a:t>Receivable </a:t>
            </a:r>
            <a:r>
              <a:rPr lang="en-US" sz="1900" dirty="0" smtClean="0">
                <a:latin typeface="Liberation Sans" panose="020B0604020202020204" pitchFamily="34" charset="0"/>
              </a:rPr>
              <a:t>	9,000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Service Revenue </a:t>
            </a:r>
            <a:r>
              <a:rPr lang="en-US" sz="1900" dirty="0" smtClean="0">
                <a:latin typeface="Liberation Sans" panose="020B0604020202020204" pitchFamily="34" charset="0"/>
              </a:rPr>
              <a:t>	36,000 	Salaries </a:t>
            </a:r>
            <a:r>
              <a:rPr lang="en-US" sz="1900" dirty="0">
                <a:latin typeface="Liberation Sans" panose="020B0604020202020204" pitchFamily="34" charset="0"/>
              </a:rPr>
              <a:t>and Wages Expense </a:t>
            </a:r>
            <a:r>
              <a:rPr lang="en-US" sz="1900" dirty="0" smtClean="0">
                <a:latin typeface="Liberation Sans" panose="020B0604020202020204" pitchFamily="34" charset="0"/>
              </a:rPr>
              <a:t>	7,000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fr-FR" sz="1900" dirty="0">
                <a:latin typeface="Liberation Sans" panose="020B0604020202020204" pitchFamily="34" charset="0"/>
              </a:rPr>
              <a:t>Rent Expense </a:t>
            </a:r>
            <a:r>
              <a:rPr lang="fr-FR" sz="1900" dirty="0" smtClean="0">
                <a:latin typeface="Liberation Sans" panose="020B0604020202020204" pitchFamily="34" charset="0"/>
              </a:rPr>
              <a:t>	11,000 	Notes </a:t>
            </a:r>
            <a:r>
              <a:rPr lang="fr-FR" sz="1900" dirty="0">
                <a:latin typeface="Liberation Sans" panose="020B0604020202020204" pitchFamily="34" charset="0"/>
              </a:rPr>
              <a:t>Payable </a:t>
            </a:r>
            <a:r>
              <a:rPr lang="fr-FR" sz="1900" dirty="0" smtClean="0">
                <a:latin typeface="Liberation Sans" panose="020B0604020202020204" pitchFamily="34" charset="0"/>
              </a:rPr>
              <a:t>	16,500</a:t>
            </a:r>
            <a:endParaRPr lang="fr-FR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Accounts Payable </a:t>
            </a:r>
            <a:r>
              <a:rPr lang="en-US" sz="1900" dirty="0" smtClean="0">
                <a:latin typeface="Liberation Sans" panose="020B0604020202020204" pitchFamily="34" charset="0"/>
              </a:rPr>
              <a:t>	2,000 	Owner’s </a:t>
            </a:r>
            <a:r>
              <a:rPr lang="en-US" sz="1900" dirty="0">
                <a:latin typeface="Liberation Sans" panose="020B0604020202020204" pitchFamily="34" charset="0"/>
              </a:rPr>
              <a:t>Drawings </a:t>
            </a:r>
            <a:r>
              <a:rPr lang="en-US" sz="1900" dirty="0" smtClean="0">
                <a:latin typeface="Liberation Sans" panose="020B0604020202020204" pitchFamily="34" charset="0"/>
              </a:rPr>
              <a:t>	5,000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marL="463550" indent="-463550" algn="l">
              <a:lnSpc>
                <a:spcPct val="120000"/>
              </a:lnSpc>
              <a:spcBef>
                <a:spcPts val="1200"/>
              </a:spcBef>
            </a:pPr>
            <a:r>
              <a:rPr lang="en-US" sz="2000" b="1" dirty="0" smtClean="0">
                <a:latin typeface="Liberation Sans" panose="020B0604020202020204" pitchFamily="34" charset="0"/>
              </a:rPr>
              <a:t>(b) 	Determine </a:t>
            </a:r>
            <a:r>
              <a:rPr lang="en-US" sz="2000" b="1" dirty="0">
                <a:latin typeface="Liberation Sans" panose="020B0604020202020204" pitchFamily="34" charset="0"/>
              </a:rPr>
              <a:t>the net income </a:t>
            </a:r>
            <a:r>
              <a:rPr lang="en-US" sz="2000" b="1" dirty="0" smtClean="0">
                <a:latin typeface="Liberation Sans" panose="020B0604020202020204" pitchFamily="34" charset="0"/>
              </a:rPr>
              <a:t>reported </a:t>
            </a:r>
            <a:r>
              <a:rPr lang="en-US" sz="2000" b="1" dirty="0">
                <a:latin typeface="Liberation Sans" panose="020B0604020202020204" pitchFamily="34" charset="0"/>
              </a:rPr>
              <a:t>for December 2017</a:t>
            </a:r>
            <a:r>
              <a:rPr lang="en-US" sz="2000" b="1" dirty="0" smtClean="0">
                <a:latin typeface="Liberation Sans" panose="020B0604020202020204" pitchFamily="34" charset="0"/>
              </a:rPr>
              <a:t>.</a:t>
            </a:r>
            <a:endParaRPr lang="en-US" sz="2000" b="1" dirty="0">
              <a:latin typeface="Liberation Sans" panose="020B060402020202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4279407"/>
            <a:ext cx="7315201" cy="234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46171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472" y="459473"/>
            <a:ext cx="409385" cy="344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5 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16596"/>
            <a:ext cx="3276600" cy="6910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tlCol="0">
            <a:noAutofit/>
          </a:bodyPr>
          <a:lstStyle/>
          <a:p>
            <a:pPr marL="519113" algn="l"/>
            <a:r>
              <a:rPr lang="en-US" sz="4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DO IT!</a:t>
            </a:r>
            <a:endParaRPr lang="en-US" sz="4200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286000" y="316598"/>
            <a:ext cx="762000" cy="691038"/>
          </a:xfrm>
          <a:prstGeom prst="ellipse">
            <a:avLst/>
          </a:prstGeom>
          <a:solidFill>
            <a:schemeClr val="accent3"/>
          </a:solidFill>
          <a:ln w="12700" cap="sq" cmpd="sng" algn="ctr">
            <a:solidFill>
              <a:schemeClr val="bg1">
                <a:lumMod val="50000"/>
              </a:schemeClr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389901"/>
            <a:ext cx="5867400" cy="566928"/>
          </a:xfrm>
          <a:prstGeom prst="rect">
            <a:avLst/>
          </a:prstGeom>
          <a:solidFill>
            <a:srgbClr val="0027A4"/>
          </a:solidFill>
        </p:spPr>
        <p:txBody>
          <a:bodyPr wrap="square" lIns="86493" tIns="43247" rIns="86493" bIns="43247" rtlCol="0">
            <a:noAutofit/>
          </a:bodyPr>
          <a:lstStyle/>
          <a:p>
            <a:pPr marL="111120" algn="l"/>
            <a:r>
              <a:rPr lang="en-US" sz="28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Financial Statement Items</a:t>
            </a:r>
            <a:endParaRPr lang="en-US" sz="28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237111"/>
            <a:ext cx="8305800" cy="3002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000" dirty="0">
                <a:latin typeface="Liberation Sans" panose="020B0604020202020204" pitchFamily="34" charset="0"/>
              </a:rPr>
              <a:t>Presented below is selected information related to Flanagan Company at December 31</a:t>
            </a:r>
            <a:r>
              <a:rPr lang="en-US" sz="2000" dirty="0" smtClean="0">
                <a:latin typeface="Liberation Sans" panose="020B0604020202020204" pitchFamily="34" charset="0"/>
              </a:rPr>
              <a:t>, 2017</a:t>
            </a:r>
            <a:r>
              <a:rPr lang="en-US" sz="2000" dirty="0">
                <a:latin typeface="Liberation Sans" panose="020B0604020202020204" pitchFamily="34" charset="0"/>
              </a:rPr>
              <a:t>. Flanagan reports </a:t>
            </a:r>
            <a:r>
              <a:rPr lang="en-US" sz="2000" dirty="0" smtClean="0">
                <a:latin typeface="Liberation Sans" panose="020B0604020202020204" pitchFamily="34" charset="0"/>
              </a:rPr>
              <a:t>financial </a:t>
            </a:r>
            <a:r>
              <a:rPr lang="en-US" sz="2000" dirty="0">
                <a:latin typeface="Liberation Sans" panose="020B0604020202020204" pitchFamily="34" charset="0"/>
              </a:rPr>
              <a:t>information monthly.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Equipment </a:t>
            </a:r>
            <a:r>
              <a:rPr lang="en-US" sz="1900" dirty="0" smtClean="0">
                <a:latin typeface="Liberation Sans" panose="020B0604020202020204" pitchFamily="34" charset="0"/>
              </a:rPr>
              <a:t>	$</a:t>
            </a:r>
            <a:r>
              <a:rPr lang="en-US" sz="1900" dirty="0">
                <a:latin typeface="Liberation Sans" panose="020B0604020202020204" pitchFamily="34" charset="0"/>
              </a:rPr>
              <a:t>10,000 </a:t>
            </a:r>
            <a:r>
              <a:rPr lang="en-US" sz="1900" dirty="0" smtClean="0">
                <a:latin typeface="Liberation Sans" panose="020B0604020202020204" pitchFamily="34" charset="0"/>
              </a:rPr>
              <a:t>	Utilities </a:t>
            </a:r>
            <a:r>
              <a:rPr lang="en-US" sz="1900" dirty="0">
                <a:latin typeface="Liberation Sans" panose="020B0604020202020204" pitchFamily="34" charset="0"/>
              </a:rPr>
              <a:t>Expense </a:t>
            </a:r>
            <a:r>
              <a:rPr lang="en-US" sz="1900" dirty="0" smtClean="0">
                <a:latin typeface="Liberation Sans" panose="020B0604020202020204" pitchFamily="34" charset="0"/>
              </a:rPr>
              <a:t>	$ </a:t>
            </a:r>
            <a:r>
              <a:rPr lang="en-US" sz="1900" dirty="0">
                <a:latin typeface="Liberation Sans" panose="020B0604020202020204" pitchFamily="34" charset="0"/>
              </a:rPr>
              <a:t>4,000</a:t>
            </a: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Cash </a:t>
            </a:r>
            <a:r>
              <a:rPr lang="en-US" sz="1900" dirty="0" smtClean="0">
                <a:latin typeface="Liberation Sans" panose="020B0604020202020204" pitchFamily="34" charset="0"/>
              </a:rPr>
              <a:t>	8,000 	Accounts </a:t>
            </a:r>
            <a:r>
              <a:rPr lang="en-US" sz="1900" dirty="0">
                <a:latin typeface="Liberation Sans" panose="020B0604020202020204" pitchFamily="34" charset="0"/>
              </a:rPr>
              <a:t>Receivable </a:t>
            </a:r>
            <a:r>
              <a:rPr lang="en-US" sz="1900" dirty="0" smtClean="0">
                <a:latin typeface="Liberation Sans" panose="020B0604020202020204" pitchFamily="34" charset="0"/>
              </a:rPr>
              <a:t>	9,000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Service Revenue </a:t>
            </a:r>
            <a:r>
              <a:rPr lang="en-US" sz="1900" dirty="0" smtClean="0">
                <a:latin typeface="Liberation Sans" panose="020B0604020202020204" pitchFamily="34" charset="0"/>
              </a:rPr>
              <a:t>	36,000 	Salaries </a:t>
            </a:r>
            <a:r>
              <a:rPr lang="en-US" sz="1900" dirty="0">
                <a:latin typeface="Liberation Sans" panose="020B0604020202020204" pitchFamily="34" charset="0"/>
              </a:rPr>
              <a:t>and Wages Expense </a:t>
            </a:r>
            <a:r>
              <a:rPr lang="en-US" sz="1900" dirty="0" smtClean="0">
                <a:latin typeface="Liberation Sans" panose="020B0604020202020204" pitchFamily="34" charset="0"/>
              </a:rPr>
              <a:t>	7,000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fr-FR" sz="1900" dirty="0">
                <a:latin typeface="Liberation Sans" panose="020B0604020202020204" pitchFamily="34" charset="0"/>
              </a:rPr>
              <a:t>Rent Expense </a:t>
            </a:r>
            <a:r>
              <a:rPr lang="fr-FR" sz="1900" dirty="0" smtClean="0">
                <a:latin typeface="Liberation Sans" panose="020B0604020202020204" pitchFamily="34" charset="0"/>
              </a:rPr>
              <a:t>	11,000 	Notes </a:t>
            </a:r>
            <a:r>
              <a:rPr lang="fr-FR" sz="1900" dirty="0">
                <a:latin typeface="Liberation Sans" panose="020B0604020202020204" pitchFamily="34" charset="0"/>
              </a:rPr>
              <a:t>Payable </a:t>
            </a:r>
            <a:r>
              <a:rPr lang="fr-FR" sz="1900" dirty="0" smtClean="0">
                <a:latin typeface="Liberation Sans" panose="020B0604020202020204" pitchFamily="34" charset="0"/>
              </a:rPr>
              <a:t>	16,500</a:t>
            </a:r>
            <a:endParaRPr lang="fr-FR" sz="1900" dirty="0">
              <a:latin typeface="Liberation Sans" panose="020B0604020202020204" pitchFamily="34" charset="0"/>
            </a:endParaRPr>
          </a:p>
          <a:p>
            <a:pPr algn="l">
              <a:spcBef>
                <a:spcPts val="200"/>
              </a:spcBef>
              <a:tabLst>
                <a:tab pos="3262313" algn="r"/>
                <a:tab pos="3657600" algn="l"/>
                <a:tab pos="7942263" algn="r"/>
              </a:tabLst>
            </a:pPr>
            <a:r>
              <a:rPr lang="en-US" sz="1900" dirty="0">
                <a:latin typeface="Liberation Sans" panose="020B0604020202020204" pitchFamily="34" charset="0"/>
              </a:rPr>
              <a:t>Accounts Payable </a:t>
            </a:r>
            <a:r>
              <a:rPr lang="en-US" sz="1900" dirty="0" smtClean="0">
                <a:latin typeface="Liberation Sans" panose="020B0604020202020204" pitchFamily="34" charset="0"/>
              </a:rPr>
              <a:t>	2,000 	Owner’s </a:t>
            </a:r>
            <a:r>
              <a:rPr lang="en-US" sz="1900" dirty="0">
                <a:latin typeface="Liberation Sans" panose="020B0604020202020204" pitchFamily="34" charset="0"/>
              </a:rPr>
              <a:t>Drawings </a:t>
            </a:r>
            <a:r>
              <a:rPr lang="en-US" sz="1900" dirty="0" smtClean="0">
                <a:latin typeface="Liberation Sans" panose="020B0604020202020204" pitchFamily="34" charset="0"/>
              </a:rPr>
              <a:t>	5,000</a:t>
            </a:r>
            <a:endParaRPr lang="en-US" sz="1900" dirty="0">
              <a:latin typeface="Liberation Sans" panose="020B0604020202020204" pitchFamily="34" charset="0"/>
            </a:endParaRPr>
          </a:p>
          <a:p>
            <a:pPr marL="463550" indent="-463550" algn="l">
              <a:lnSpc>
                <a:spcPct val="120000"/>
              </a:lnSpc>
              <a:spcBef>
                <a:spcPts val="1200"/>
              </a:spcBef>
            </a:pPr>
            <a:r>
              <a:rPr lang="en-US" sz="2000" b="1" dirty="0" smtClean="0">
                <a:latin typeface="Liberation Sans" panose="020B0604020202020204" pitchFamily="34" charset="0"/>
              </a:rPr>
              <a:t>(</a:t>
            </a:r>
            <a:r>
              <a:rPr lang="en-US" sz="2000" b="1" dirty="0">
                <a:latin typeface="Liberation Sans" panose="020B0604020202020204" pitchFamily="34" charset="0"/>
              </a:rPr>
              <a:t>c) </a:t>
            </a:r>
            <a:r>
              <a:rPr lang="en-US" sz="2000" b="1" dirty="0" smtClean="0">
                <a:latin typeface="Liberation Sans" panose="020B0604020202020204" pitchFamily="34" charset="0"/>
              </a:rPr>
              <a:t>	Determine </a:t>
            </a:r>
            <a:r>
              <a:rPr lang="en-US" sz="2000" b="1" dirty="0">
                <a:latin typeface="Liberation Sans" panose="020B0604020202020204" pitchFamily="34" charset="0"/>
              </a:rPr>
              <a:t>the owner’s equity </a:t>
            </a:r>
            <a:r>
              <a:rPr lang="en-US" sz="2000" b="1" dirty="0" smtClean="0">
                <a:latin typeface="Liberation Sans" panose="020B0604020202020204" pitchFamily="34" charset="0"/>
              </a:rPr>
              <a:t>at </a:t>
            </a:r>
            <a:r>
              <a:rPr lang="en-US" sz="2000" b="1" dirty="0">
                <a:latin typeface="Liberation Sans" panose="020B0604020202020204" pitchFamily="34" charset="0"/>
              </a:rPr>
              <a:t>December 31, 2017.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03112"/>
            <a:ext cx="8248650" cy="179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79322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4724400" y="3962400"/>
            <a:ext cx="4038600" cy="2209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lIns="182880" tIns="91440" rIns="182880" bIns="91440" anchor="t" anchorCtr="0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en-US" sz="23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Forensic</a:t>
            </a:r>
            <a:r>
              <a:rPr lang="en-US" altLang="en-US" sz="2300" b="1" dirty="0">
                <a:solidFill>
                  <a:srgbClr val="800000"/>
                </a:solidFill>
                <a:latin typeface="Liberation Sans" panose="020B0604020202020204" pitchFamily="34" charset="0"/>
              </a:rPr>
              <a:t> </a:t>
            </a:r>
            <a:r>
              <a:rPr lang="en-US" altLang="en-US" sz="23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Accounting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en-US" sz="2000" dirty="0">
                <a:latin typeface="Liberation Sans" panose="020B0604020202020204" pitchFamily="34" charset="0"/>
              </a:rPr>
              <a:t>Uses accounting, auditing, and investigative skills to conduct investigations into theft and fraud.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81000" y="3962400"/>
            <a:ext cx="4038600" cy="2209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lIns="182880" tIns="91440" rIns="182880" bIns="91440" anchor="t" anchorCtr="0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en-US" sz="23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Governmental</a:t>
            </a:r>
            <a:r>
              <a:rPr lang="en-US" altLang="en-US" sz="2300" b="1" dirty="0">
                <a:solidFill>
                  <a:srgbClr val="800000"/>
                </a:solidFill>
                <a:latin typeface="Liberation Sans" panose="020B0604020202020204" pitchFamily="34" charset="0"/>
              </a:rPr>
              <a:t> </a:t>
            </a:r>
            <a:r>
              <a:rPr lang="en-US" altLang="en-US" sz="23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Accounting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en-US" sz="2000" dirty="0">
                <a:latin typeface="Liberation Sans" panose="020B0604020202020204" pitchFamily="34" charset="0"/>
              </a:rPr>
              <a:t>Careers with the IRS, the FBI, the SEC, </a:t>
            </a:r>
            <a:r>
              <a:rPr lang="en-US" altLang="en-US" sz="2000" dirty="0" smtClean="0">
                <a:latin typeface="Liberation Sans" panose="020B0604020202020204" pitchFamily="34" charset="0"/>
              </a:rPr>
              <a:t>public </a:t>
            </a:r>
            <a:r>
              <a:rPr lang="en-US" altLang="en-US" sz="2000" dirty="0">
                <a:latin typeface="Liberation Sans" panose="020B0604020202020204" pitchFamily="34" charset="0"/>
              </a:rPr>
              <a:t>colleges and </a:t>
            </a:r>
            <a:r>
              <a:rPr lang="en-US" altLang="en-US" sz="2000" dirty="0" smtClean="0">
                <a:latin typeface="Liberation Sans" panose="020B0604020202020204" pitchFamily="34" charset="0"/>
              </a:rPr>
              <a:t>universities, and in state and local governments.</a:t>
            </a:r>
            <a:endParaRPr lang="en-US" altLang="en-US" sz="2000" dirty="0">
              <a:latin typeface="Liberation Sans" panose="020B0604020202020204" pitchFamily="34" charset="0"/>
            </a:endParaRP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4724400" y="1524000"/>
            <a:ext cx="4038600" cy="2209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lIns="182880" tIns="91440" rIns="182880" bIns="91440" anchor="t" anchorCtr="0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en-US" sz="23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Private</a:t>
            </a:r>
            <a:r>
              <a:rPr lang="en-US" altLang="en-US" sz="2300" b="1" dirty="0">
                <a:solidFill>
                  <a:srgbClr val="800000"/>
                </a:solidFill>
                <a:latin typeface="Liberation Sans" panose="020B0604020202020204" pitchFamily="34" charset="0"/>
              </a:rPr>
              <a:t> </a:t>
            </a:r>
            <a:r>
              <a:rPr lang="en-US" altLang="en-US" sz="2300" b="1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Accounting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en-US" sz="2000" dirty="0">
                <a:latin typeface="Liberation Sans" panose="020B0604020202020204" pitchFamily="34" charset="0"/>
              </a:rPr>
              <a:t>Careers in industry working in cost accounting, budgeting, accounting information systems, and taxation.</a:t>
            </a:r>
          </a:p>
        </p:txBody>
      </p:sp>
      <p:sp>
        <p:nvSpPr>
          <p:cNvPr id="66566" name="Rectangle 4"/>
          <p:cNvSpPr>
            <a:spLocks noChangeArrowheads="1"/>
          </p:cNvSpPr>
          <p:nvPr/>
        </p:nvSpPr>
        <p:spPr bwMode="auto">
          <a:xfrm>
            <a:off x="381000" y="1524000"/>
            <a:ext cx="4038600" cy="2209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lIns="182880" tIns="91440" rIns="182880" bIns="91440" anchor="t" anchorCtr="0"/>
          <a:lstStyle>
            <a:lvl1pPr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300" dirty="0">
                <a:solidFill>
                  <a:schemeClr val="tx2">
                    <a:lumMod val="75000"/>
                  </a:schemeClr>
                </a:solidFill>
                <a:latin typeface="Liberation Sans" panose="020B0604020202020204" pitchFamily="34" charset="0"/>
              </a:rPr>
              <a:t>Public Accounting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chemeClr val="tx1"/>
                </a:solidFill>
                <a:latin typeface="Liberation Sans" panose="020B0604020202020204" pitchFamily="34" charset="0"/>
              </a:rPr>
              <a:t>Careers in auditing, taxation, and management consulting serving the general public.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405765"/>
            <a:ext cx="2540000" cy="677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86493" tIns="43247" rIns="86493" bIns="43247" anchor="ctr"/>
          <a:lstStyle/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LEARNING</a:t>
            </a:r>
          </a:p>
          <a:p>
            <a:pPr marL="231775" algn="l"/>
            <a:r>
              <a:rPr lang="en-US" altLang="en-US" sz="1700" b="1" dirty="0">
                <a:latin typeface="Liberation Sans" panose="020B0604020202020204" pitchFamily="34" charset="0"/>
              </a:rPr>
              <a:t>OBJECTIVE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540000" y="274320"/>
            <a:ext cx="6604000" cy="928688"/>
          </a:xfrm>
          <a:prstGeom prst="rect">
            <a:avLst/>
          </a:prstGeom>
          <a:solidFill>
            <a:srgbClr val="0027A4"/>
          </a:solidFill>
          <a:ln>
            <a:noFill/>
          </a:ln>
          <a:effectLst/>
        </p:spPr>
        <p:txBody>
          <a:bodyPr wrap="square" lIns="86493" tIns="34597" rIns="86493" bIns="43247" anchor="ctr"/>
          <a:lstStyle/>
          <a:p>
            <a:pPr marL="111120" algn="l"/>
            <a:r>
              <a:rPr lang="en-US" sz="2300" b="1" dirty="0" smtClean="0">
                <a:solidFill>
                  <a:schemeClr val="bg1"/>
                </a:solidFill>
                <a:latin typeface="Liberation Sans" panose="020B0604020202020204" pitchFamily="34" charset="0"/>
              </a:rPr>
              <a:t>APPENDIX 1A: Explain the career opportunities in accounting.</a:t>
            </a:r>
            <a:endParaRPr lang="en-US" sz="2300" b="1" dirty="0">
              <a:solidFill>
                <a:schemeClr val="bg1"/>
              </a:solidFill>
              <a:latin typeface="Liberation Sans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872343" y="485775"/>
            <a:ext cx="522514" cy="514350"/>
          </a:xfrm>
          <a:prstGeom prst="ellipse">
            <a:avLst/>
          </a:prstGeom>
          <a:solidFill>
            <a:srgbClr val="FF99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6493" tIns="0" rIns="86493" bIns="43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</a:rPr>
              <a:t>6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229600" y="6369050"/>
            <a:ext cx="762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bg2"/>
                </a:solidFill>
                <a:latin typeface="Arial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 b="1">
                <a:solidFill>
                  <a:schemeClr val="bg2"/>
                </a:solidFill>
                <a:latin typeface="Arial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i="1" dirty="0" smtClean="0">
                <a:latin typeface="Liberation Sans" panose="020B0604020202020204" pitchFamily="34" charset="0"/>
              </a:rPr>
              <a:t>LO 6</a:t>
            </a:r>
            <a:endParaRPr lang="en-US" altLang="en-US" sz="1600" i="1" dirty="0">
              <a:latin typeface="Liberation Sans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  <p:bldP spid="66563" grpId="0" animBg="1"/>
      <p:bldP spid="66564" grpId="0" animBg="1"/>
    </p:bldLst>
  </p:timing>
</p:sld>
</file>

<file path=ppt/theme/theme1.xml><?xml version="1.0" encoding="utf-8"?>
<a:theme xmlns:a="http://schemas.openxmlformats.org/drawingml/2006/main" name="movnglnc">
  <a:themeElements>
    <a:clrScheme name="">
      <a:dk1>
        <a:srgbClr val="000000"/>
      </a:dk1>
      <a:lt1>
        <a:srgbClr val="FFFFFF"/>
      </a:lt1>
      <a:dk2>
        <a:srgbClr val="0000FF"/>
      </a:dk2>
      <a:lt2>
        <a:srgbClr val="000000"/>
      </a:lt2>
      <a:accent1>
        <a:srgbClr val="00FFFF"/>
      </a:accent1>
      <a:accent2>
        <a:srgbClr val="FF0000"/>
      </a:accent2>
      <a:accent3>
        <a:srgbClr val="FFFFFF"/>
      </a:accent3>
      <a:accent4>
        <a:srgbClr val="000000"/>
      </a:accent4>
      <a:accent5>
        <a:srgbClr val="AAFFFF"/>
      </a:accent5>
      <a:accent6>
        <a:srgbClr val="E70000"/>
      </a:accent6>
      <a:hlink>
        <a:srgbClr val="000099"/>
      </a:hlink>
      <a:folHlink>
        <a:srgbClr val="000000"/>
      </a:folHlink>
    </a:clrScheme>
    <a:fontScheme name="movnglnc">
      <a:majorFont>
        <a:latin typeface="Comic Sans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ovngln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vngln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vngln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vngln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vngln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vngln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vngln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Office\Templates\1033\Company Handbook.pot</Template>
  <TotalTime>11427</TotalTime>
  <Pages>43</Pages>
  <Words>3100</Words>
  <Application>Microsoft Office PowerPoint</Application>
  <PresentationFormat>On-screen Show (4:3)</PresentationFormat>
  <Paragraphs>1055</Paragraphs>
  <Slides>62</Slides>
  <Notes>62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movnglnc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and Accounting Standards</dc:title>
  <dc:creator>Coby Harmon</dc:creator>
  <cp:lastModifiedBy>Hp</cp:lastModifiedBy>
  <cp:revision>1728</cp:revision>
  <cp:lastPrinted>1999-09-16T17:08:20Z</cp:lastPrinted>
  <dcterms:created xsi:type="dcterms:W3CDTF">1997-03-28T18:03:02Z</dcterms:created>
  <dcterms:modified xsi:type="dcterms:W3CDTF">2016-01-12T01:37:21Z</dcterms:modified>
</cp:coreProperties>
</file>