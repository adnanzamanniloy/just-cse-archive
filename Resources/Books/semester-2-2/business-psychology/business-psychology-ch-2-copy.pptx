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87" r:id="rId4"/>
  </p:sldMasterIdLst>
  <p:notesMasterIdLst>
    <p:notesMasterId r:id="rId43"/>
  </p:notesMasterIdLst>
  <p:handoutMasterIdLst>
    <p:handoutMasterId r:id="rId44"/>
  </p:handoutMasterIdLst>
  <p:sldIdLst>
    <p:sldId id="1865" r:id="rId5"/>
    <p:sldId id="1900" r:id="rId6"/>
    <p:sldId id="1901" r:id="rId7"/>
    <p:sldId id="1846" r:id="rId8"/>
    <p:sldId id="1874" r:id="rId9"/>
    <p:sldId id="1875" r:id="rId10"/>
    <p:sldId id="1876" r:id="rId11"/>
    <p:sldId id="1877" r:id="rId12"/>
    <p:sldId id="1878" r:id="rId13"/>
    <p:sldId id="1908" r:id="rId14"/>
    <p:sldId id="1879" r:id="rId15"/>
    <p:sldId id="1909" r:id="rId16"/>
    <p:sldId id="1880" r:id="rId17"/>
    <p:sldId id="1881" r:id="rId18"/>
    <p:sldId id="1882" r:id="rId19"/>
    <p:sldId id="1883" r:id="rId20"/>
    <p:sldId id="1884" r:id="rId21"/>
    <p:sldId id="1885" r:id="rId22"/>
    <p:sldId id="1886" r:id="rId23"/>
    <p:sldId id="1887" r:id="rId24"/>
    <p:sldId id="1888" r:id="rId25"/>
    <p:sldId id="1889" r:id="rId26"/>
    <p:sldId id="1890" r:id="rId27"/>
    <p:sldId id="1891" r:id="rId28"/>
    <p:sldId id="1892" r:id="rId29"/>
    <p:sldId id="1893" r:id="rId30"/>
    <p:sldId id="1894" r:id="rId31"/>
    <p:sldId id="1895" r:id="rId32"/>
    <p:sldId id="1896" r:id="rId33"/>
    <p:sldId id="1897" r:id="rId34"/>
    <p:sldId id="1898" r:id="rId35"/>
    <p:sldId id="1902" r:id="rId36"/>
    <p:sldId id="1903" r:id="rId37"/>
    <p:sldId id="1904" r:id="rId38"/>
    <p:sldId id="1905" r:id="rId39"/>
    <p:sldId id="1906" r:id="rId40"/>
    <p:sldId id="1907" r:id="rId41"/>
    <p:sldId id="1899" r:id="rId42"/>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480" userDrawn="1">
          <p15:clr>
            <a:srgbClr val="A4A3A4"/>
          </p15:clr>
        </p15:guide>
        <p15:guide id="3" pos="7200" userDrawn="1">
          <p15:clr>
            <a:srgbClr val="A4A3A4"/>
          </p15:clr>
        </p15:guide>
        <p15:guide id="4" pos="436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2625"/>
    <a:srgbClr val="007788"/>
    <a:srgbClr val="297C2A"/>
    <a:srgbClr val="FE4387"/>
    <a:srgbClr val="F69000"/>
    <a:srgbClr val="01C2D1"/>
    <a:srgbClr val="D6D734"/>
    <a:srgbClr val="005C68"/>
    <a:srgbClr val="3B2E58"/>
    <a:srgbClr val="6B2929"/>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653" autoAdjust="0"/>
    <p:restoredTop sz="94724" autoAdjust="0"/>
  </p:normalViewPr>
  <p:slideViewPr>
    <p:cSldViewPr snapToGrid="0">
      <p:cViewPr varScale="1">
        <p:scale>
          <a:sx n="107" d="100"/>
          <a:sy n="107" d="100"/>
        </p:scale>
        <p:origin x="102" y="150"/>
      </p:cViewPr>
      <p:guideLst>
        <p:guide orient="horz" pos="2160"/>
        <p:guide pos="480"/>
        <p:guide pos="7200"/>
        <p:guide pos="4368"/>
      </p:guideLst>
    </p:cSldViewPr>
  </p:slideViewPr>
  <p:notesTextViewPr>
    <p:cViewPr>
      <p:scale>
        <a:sx n="1" d="1"/>
        <a:sy n="1" d="1"/>
      </p:scale>
      <p:origin x="0" y="0"/>
    </p:cViewPr>
  </p:notesTextViewPr>
  <p:sorterViewPr>
    <p:cViewPr>
      <p:scale>
        <a:sx n="70" d="100"/>
        <a:sy n="70" d="100"/>
      </p:scale>
      <p:origin x="0" y="0"/>
    </p:cViewPr>
  </p:sorterViewPr>
  <p:notesViewPr>
    <p:cSldViewPr snapToGrid="0">
      <p:cViewPr varScale="1">
        <p:scale>
          <a:sx n="60" d="100"/>
          <a:sy n="60" d="100"/>
        </p:scale>
        <p:origin x="3187" y="43"/>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C18934B4-D7B5-42D7-9F88-980F37F4DF46}"/>
              </a:ext>
            </a:extLst>
          </p:cNvPr>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 xmlns:a16="http://schemas.microsoft.com/office/drawing/2014/main" id="{4F28EB6F-24B8-4AD2-85F1-8E8D779B7859}"/>
              </a:ext>
            </a:extLst>
          </p:cNvPr>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AEE893F8-1FF0-494F-B88B-AFD387AA3943}" type="datetimeFigureOut">
              <a:rPr lang="en-US" smtClean="0"/>
              <a:t>10/29/2024</a:t>
            </a:fld>
            <a:endParaRPr lang="en-US" dirty="0"/>
          </a:p>
        </p:txBody>
      </p:sp>
      <p:sp>
        <p:nvSpPr>
          <p:cNvPr id="4" name="Footer Placeholder 3">
            <a:extLst>
              <a:ext uri="{FF2B5EF4-FFF2-40B4-BE49-F238E27FC236}">
                <a16:creationId xmlns="" xmlns:a16="http://schemas.microsoft.com/office/drawing/2014/main" id="{57B993E5-620A-43E2-8EE6-6DE6399D62E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 xmlns:a16="http://schemas.microsoft.com/office/drawing/2014/main" id="{001257E0-AE53-4482-80FF-3BB94423987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E769C4D-B904-4BBF-BB02-416BB390371F}" type="slidenum">
              <a:rPr lang="en-US" smtClean="0"/>
              <a:t>‹#›</a:t>
            </a:fld>
            <a:endParaRPr lang="en-US" dirty="0"/>
          </a:p>
        </p:txBody>
      </p:sp>
    </p:spTree>
    <p:extLst>
      <p:ext uri="{BB962C8B-B14F-4D97-AF65-F5344CB8AC3E}">
        <p14:creationId xmlns:p14="http://schemas.microsoft.com/office/powerpoint/2010/main" val="11262244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a:extLst>
              <a:ext uri="{FF2B5EF4-FFF2-40B4-BE49-F238E27FC236}">
                <a16:creationId xmlns="" xmlns:a16="http://schemas.microsoft.com/office/drawing/2014/main" id="{D9F622F8-1824-4338-8C3C-5529D3BDEF4A}"/>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atin typeface="Arial" charset="0"/>
              </a:defRPr>
            </a:lvl1pPr>
          </a:lstStyle>
          <a:p>
            <a:pPr>
              <a:defRPr/>
            </a:pPr>
            <a:endParaRPr lang="en-US" dirty="0"/>
          </a:p>
        </p:txBody>
      </p:sp>
      <p:sp>
        <p:nvSpPr>
          <p:cNvPr id="30723" name="Rectangle 3">
            <a:extLst>
              <a:ext uri="{FF2B5EF4-FFF2-40B4-BE49-F238E27FC236}">
                <a16:creationId xmlns="" xmlns:a16="http://schemas.microsoft.com/office/drawing/2014/main" id="{618DDD53-BB38-4118-BC75-9CE27D49C550}"/>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atin typeface="Arial" charset="0"/>
              </a:defRPr>
            </a:lvl1pPr>
          </a:lstStyle>
          <a:p>
            <a:pPr>
              <a:defRPr/>
            </a:pPr>
            <a:endParaRPr lang="en-US" dirty="0"/>
          </a:p>
        </p:txBody>
      </p:sp>
      <p:sp>
        <p:nvSpPr>
          <p:cNvPr id="14340" name="Rectangle 4">
            <a:extLst>
              <a:ext uri="{FF2B5EF4-FFF2-40B4-BE49-F238E27FC236}">
                <a16:creationId xmlns="" xmlns:a16="http://schemas.microsoft.com/office/drawing/2014/main" id="{6C03B6F7-B1AE-4118-ABA2-FFEC9B8F0E9C}"/>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5" name="Rectangle 5">
            <a:extLst>
              <a:ext uri="{FF2B5EF4-FFF2-40B4-BE49-F238E27FC236}">
                <a16:creationId xmlns="" xmlns:a16="http://schemas.microsoft.com/office/drawing/2014/main" id="{646F5356-BDE8-43C1-9587-85323D02B191}"/>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26" name="Rectangle 6">
            <a:extLst>
              <a:ext uri="{FF2B5EF4-FFF2-40B4-BE49-F238E27FC236}">
                <a16:creationId xmlns="" xmlns:a16="http://schemas.microsoft.com/office/drawing/2014/main" id="{89912C35-11A9-4DA7-8476-F1823F658CAA}"/>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atin typeface="Arial" charset="0"/>
              </a:defRPr>
            </a:lvl1pPr>
          </a:lstStyle>
          <a:p>
            <a:pPr>
              <a:defRPr/>
            </a:pPr>
            <a:endParaRPr lang="en-US" dirty="0"/>
          </a:p>
        </p:txBody>
      </p:sp>
      <p:sp>
        <p:nvSpPr>
          <p:cNvPr id="30727" name="Rectangle 7">
            <a:extLst>
              <a:ext uri="{FF2B5EF4-FFF2-40B4-BE49-F238E27FC236}">
                <a16:creationId xmlns="" xmlns:a16="http://schemas.microsoft.com/office/drawing/2014/main" id="{7180ED79-CEC3-4FB9-B511-8597B20A0C10}"/>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6DEB7EE2-04A2-4FB2-9625-C9C73AC4D32F}" type="slidenum">
              <a:rPr lang="en-US" altLang="en-US"/>
              <a:pPr/>
              <a:t>‹#›</a:t>
            </a:fld>
            <a:endParaRPr lang="en-US" altLang="en-US" dirty="0"/>
          </a:p>
        </p:txBody>
      </p:sp>
    </p:spTree>
    <p:extLst>
      <p:ext uri="{BB962C8B-B14F-4D97-AF65-F5344CB8AC3E}">
        <p14:creationId xmlns:p14="http://schemas.microsoft.com/office/powerpoint/2010/main" val="77621965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 xmlns:a16="http://schemas.microsoft.com/office/drawing/2014/main" id="{FA4671F7-4D2C-4B1E-AED7-24676BE8B4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47842D7-C728-4EBD-982B-B8BE79E4DBBE}" type="slidenum">
              <a:rPr lang="en-US" altLang="en-US"/>
              <a:pPr eaLnBrk="1" hangingPunct="1"/>
              <a:t>1</a:t>
            </a:fld>
            <a:endParaRPr lang="en-US" altLang="en-US" dirty="0"/>
          </a:p>
        </p:txBody>
      </p:sp>
      <p:sp>
        <p:nvSpPr>
          <p:cNvPr id="15363" name="Rectangle 2">
            <a:extLst>
              <a:ext uri="{FF2B5EF4-FFF2-40B4-BE49-F238E27FC236}">
                <a16:creationId xmlns="" xmlns:a16="http://schemas.microsoft.com/office/drawing/2014/main" id="{D8E83BD0-7AE4-4323-9047-FC368929C520}"/>
              </a:ext>
            </a:extLst>
          </p:cNvPr>
          <p:cNvSpPr>
            <a:spLocks noGrp="1" noRot="1" noChangeAspect="1" noChangeArrowheads="1" noTextEdit="1"/>
          </p:cNvSpPr>
          <p:nvPr>
            <p:ph type="sldImg"/>
          </p:nvPr>
        </p:nvSpPr>
        <p:spPr>
          <a:ln/>
        </p:spPr>
      </p:sp>
      <p:sp>
        <p:nvSpPr>
          <p:cNvPr id="15364" name="Rectangle 3">
            <a:extLst>
              <a:ext uri="{FF2B5EF4-FFF2-40B4-BE49-F238E27FC236}">
                <a16:creationId xmlns="" xmlns:a16="http://schemas.microsoft.com/office/drawing/2014/main" id="{FDECF5EC-C5EC-4723-8F4F-A75A20018F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7067551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EB7EE2-04A2-4FB2-9625-C9C73AC4D32F}" type="slidenum">
              <a:rPr lang="en-US" altLang="en-US" smtClean="0"/>
              <a:pPr/>
              <a:t>14</a:t>
            </a:fld>
            <a:endParaRPr lang="en-US" altLang="en-US" dirty="0"/>
          </a:p>
        </p:txBody>
      </p:sp>
    </p:spTree>
    <p:extLst>
      <p:ext uri="{BB962C8B-B14F-4D97-AF65-F5344CB8AC3E}">
        <p14:creationId xmlns:p14="http://schemas.microsoft.com/office/powerpoint/2010/main" val="41532475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
    <p:spTree>
      <p:nvGrpSpPr>
        <p:cNvPr id="1" name=""/>
        <p:cNvGrpSpPr/>
        <p:nvPr/>
      </p:nvGrpSpPr>
      <p:grpSpPr>
        <a:xfrm>
          <a:off x="0" y="0"/>
          <a:ext cx="0" cy="0"/>
          <a:chOff x="0" y="0"/>
          <a:chExt cx="0" cy="0"/>
        </a:xfrm>
      </p:grpSpPr>
      <p:pic>
        <p:nvPicPr>
          <p:cNvPr id="5" name="Picture Placeholder 4" descr="Green, yellow, black and white tartan">
            <a:extLst>
              <a:ext uri="{FF2B5EF4-FFF2-40B4-BE49-F238E27FC236}">
                <a16:creationId xmlns="" xmlns:a16="http://schemas.microsoft.com/office/drawing/2014/main" id="{99E2DEE3-7335-4BA9-87A2-5AC14A7EF9AE}"/>
              </a:ext>
            </a:extLst>
          </p:cNvPr>
          <p:cNvPicPr>
            <a:picLocks noChangeAspect="1"/>
          </p:cNvPicPr>
          <p:nvPr userDrawn="1"/>
        </p:nvPicPr>
        <p:blipFill rotWithShape="1">
          <a:blip r:embed="rId2"/>
          <a:srcRect/>
          <a:stretch/>
        </p:blipFill>
        <p:spPr>
          <a:xfrm>
            <a:off x="0" y="0"/>
            <a:ext cx="12192000" cy="6858000"/>
          </a:xfrm>
          <a:prstGeom prst="rect">
            <a:avLst/>
          </a:prstGeom>
        </p:spPr>
      </p:pic>
      <p:sp>
        <p:nvSpPr>
          <p:cNvPr id="4" name="Title 3">
            <a:extLst>
              <a:ext uri="{FF2B5EF4-FFF2-40B4-BE49-F238E27FC236}">
                <a16:creationId xmlns="" xmlns:a16="http://schemas.microsoft.com/office/drawing/2014/main" id="{FE7964CB-E75A-4A03-88D3-6A48EF650A09}"/>
              </a:ext>
            </a:extLst>
          </p:cNvPr>
          <p:cNvSpPr>
            <a:spLocks noGrp="1"/>
          </p:cNvSpPr>
          <p:nvPr>
            <p:ph type="title" hasCustomPrompt="1"/>
          </p:nvPr>
        </p:nvSpPr>
        <p:spPr>
          <a:xfrm>
            <a:off x="0" y="2428239"/>
            <a:ext cx="12192000" cy="1857205"/>
          </a:xfrm>
          <a:prstGeom prst="rect">
            <a:avLst/>
          </a:prstGeom>
          <a:solidFill>
            <a:schemeClr val="bg1"/>
          </a:solidFill>
        </p:spPr>
        <p:txBody>
          <a:bodyPr anchor="ctr">
            <a:normAutofit/>
          </a:bodyPr>
          <a:lstStyle>
            <a:lvl1pPr algn="ctr">
              <a:defRPr sz="4800" b="1">
                <a:solidFill>
                  <a:schemeClr val="tx1"/>
                </a:solidFill>
              </a:defRPr>
            </a:lvl1pPr>
          </a:lstStyle>
          <a:p>
            <a:r>
              <a:rPr lang="en-US" dirty="0"/>
              <a:t>Insert title here</a:t>
            </a:r>
          </a:p>
        </p:txBody>
      </p:sp>
    </p:spTree>
    <p:extLst>
      <p:ext uri="{BB962C8B-B14F-4D97-AF65-F5344CB8AC3E}">
        <p14:creationId xmlns:p14="http://schemas.microsoft.com/office/powerpoint/2010/main" val="1440679267"/>
      </p:ext>
    </p:extLst>
  </p:cSld>
  <p:clrMapOvr>
    <a:masterClrMapping/>
  </p:clrMapOvr>
  <p:extLst>
    <p:ext uri="{DCECCB84-F9BA-43D5-87BE-67443E8EF086}">
      <p15:sldGuideLst xmlns:p15="http://schemas.microsoft.com/office/powerpoint/2012/main">
        <p15:guide id="1" pos="280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Right Pattern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EF87E8F-5716-4A71-B64F-EC5A742B45D2}"/>
              </a:ext>
            </a:extLst>
          </p:cNvPr>
          <p:cNvSpPr>
            <a:spLocks noGrp="1"/>
          </p:cNvSpPr>
          <p:nvPr>
            <p:ph type="title" hasCustomPrompt="1"/>
          </p:nvPr>
        </p:nvSpPr>
        <p:spPr>
          <a:xfrm>
            <a:off x="762000" y="715961"/>
            <a:ext cx="6477000" cy="1189038"/>
          </a:xfrm>
          <a:prstGeom prst="rect">
            <a:avLst/>
          </a:prstGeom>
        </p:spPr>
        <p:txBody>
          <a:bodyPr anchor="t">
            <a:noAutofit/>
          </a:bodyPr>
          <a:lstStyle>
            <a:lvl1pPr>
              <a:spcBef>
                <a:spcPts val="1000"/>
              </a:spcBef>
              <a:defRPr sz="4000" b="1">
                <a:solidFill>
                  <a:schemeClr val="accent3"/>
                </a:solidFill>
              </a:defRPr>
            </a:lvl1pPr>
          </a:lstStyle>
          <a:p>
            <a:r>
              <a:rPr lang="en-US" dirty="0"/>
              <a:t>Insert title here</a:t>
            </a:r>
          </a:p>
        </p:txBody>
      </p:sp>
      <p:sp>
        <p:nvSpPr>
          <p:cNvPr id="12" name="Text Placeholder 15">
            <a:extLst>
              <a:ext uri="{FF2B5EF4-FFF2-40B4-BE49-F238E27FC236}">
                <a16:creationId xmlns="" xmlns:a16="http://schemas.microsoft.com/office/drawing/2014/main" id="{E8DBED36-2461-46D0-AF71-79E0064B3758}"/>
              </a:ext>
            </a:extLst>
          </p:cNvPr>
          <p:cNvSpPr>
            <a:spLocks noGrp="1"/>
          </p:cNvSpPr>
          <p:nvPr>
            <p:ph type="body" sz="quarter" idx="11" hasCustomPrompt="1"/>
          </p:nvPr>
        </p:nvSpPr>
        <p:spPr>
          <a:xfrm>
            <a:off x="762000" y="1905000"/>
            <a:ext cx="6477000" cy="3276600"/>
          </a:xfrm>
          <a:prstGeom prst="rect">
            <a:avLst/>
          </a:prstGeom>
        </p:spPr>
        <p:txBody>
          <a:bodyPr/>
          <a:lstStyle>
            <a:lvl1pPr marL="0" indent="0">
              <a:lnSpc>
                <a:spcPct val="100000"/>
              </a:lnSpc>
              <a:buNone/>
              <a:defRPr sz="1800" b="1">
                <a:solidFill>
                  <a:schemeClr val="bg1"/>
                </a:solidFill>
              </a:defRPr>
            </a:lvl1pPr>
            <a:lvl2pPr marL="228600">
              <a:lnSpc>
                <a:spcPct val="100000"/>
              </a:lnSpc>
              <a:spcBef>
                <a:spcPts val="1000"/>
              </a:spcBef>
              <a:defRPr sz="1800">
                <a:solidFill>
                  <a:schemeClr val="bg1"/>
                </a:solidFill>
              </a:defRPr>
            </a:lvl2pPr>
          </a:lstStyle>
          <a:p>
            <a:pPr lvl="0"/>
            <a:r>
              <a:rPr lang="en-US" dirty="0"/>
              <a:t>Insert subtitle here</a:t>
            </a:r>
          </a:p>
          <a:p>
            <a:pPr lvl="1"/>
            <a:r>
              <a:rPr lang="en-US" dirty="0"/>
              <a:t>Insert content here</a:t>
            </a:r>
          </a:p>
        </p:txBody>
      </p:sp>
      <p:pic>
        <p:nvPicPr>
          <p:cNvPr id="6" name="Picture Placeholder 10" descr="Green, yellow, black and white tartan">
            <a:extLst>
              <a:ext uri="{FF2B5EF4-FFF2-40B4-BE49-F238E27FC236}">
                <a16:creationId xmlns="" xmlns:a16="http://schemas.microsoft.com/office/drawing/2014/main" id="{1731029F-3C34-499C-982F-5B42D51B4716}"/>
              </a:ext>
            </a:extLst>
          </p:cNvPr>
          <p:cNvPicPr>
            <a:picLocks noChangeAspect="1"/>
          </p:cNvPicPr>
          <p:nvPr userDrawn="1"/>
        </p:nvPicPr>
        <p:blipFill rotWithShape="1">
          <a:blip r:embed="rId2"/>
          <a:srcRect l="23" r="23"/>
          <a:stretch/>
        </p:blipFill>
        <p:spPr>
          <a:xfrm>
            <a:off x="7859486" y="0"/>
            <a:ext cx="4332514" cy="6858000"/>
          </a:xfrm>
          <a:prstGeom prst="rect">
            <a:avLst/>
          </a:prstGeom>
        </p:spPr>
      </p:pic>
    </p:spTree>
    <p:extLst>
      <p:ext uri="{BB962C8B-B14F-4D97-AF65-F5344CB8AC3E}">
        <p14:creationId xmlns:p14="http://schemas.microsoft.com/office/powerpoint/2010/main" val="172072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2240" userDrawn="1">
          <p15:clr>
            <a:srgbClr val="5ACBF0"/>
          </p15:clr>
        </p15:guide>
        <p15:guide id="4" orient="horz" pos="2487" userDrawn="1">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verview">
    <p:bg>
      <p:bgPr>
        <a:solidFill>
          <a:schemeClr val="accent5"/>
        </a:solidFill>
        <a:effectLst/>
      </p:bgPr>
    </p:bg>
    <p:spTree>
      <p:nvGrpSpPr>
        <p:cNvPr id="1" name=""/>
        <p:cNvGrpSpPr/>
        <p:nvPr/>
      </p:nvGrpSpPr>
      <p:grpSpPr>
        <a:xfrm>
          <a:off x="0" y="0"/>
          <a:ext cx="0" cy="0"/>
          <a:chOff x="0" y="0"/>
          <a:chExt cx="0" cy="0"/>
        </a:xfrm>
      </p:grpSpPr>
      <p:pic>
        <p:nvPicPr>
          <p:cNvPr id="8" name="Picture Placeholder 7" descr="Opaque white stripes background">
            <a:extLst>
              <a:ext uri="{FF2B5EF4-FFF2-40B4-BE49-F238E27FC236}">
                <a16:creationId xmlns="" xmlns:a16="http://schemas.microsoft.com/office/drawing/2014/main" id="{D128951E-5030-4C5A-B68A-CD8DD1F7F6FC}"/>
              </a:ext>
            </a:extLst>
          </p:cNvPr>
          <p:cNvPicPr>
            <a:picLocks noChangeAspect="1"/>
          </p:cNvPicPr>
          <p:nvPr userDrawn="1"/>
        </p:nvPicPr>
        <p:blipFill>
          <a:blip r:embed="rId2"/>
          <a:srcRect/>
          <a:stretch>
            <a:fillRect/>
          </a:stretch>
        </p:blipFill>
        <p:spPr>
          <a:xfrm>
            <a:off x="0" y="0"/>
            <a:ext cx="12192000" cy="6858000"/>
          </a:xfrm>
          <a:prstGeom prst="rect">
            <a:avLst/>
          </a:prstGeom>
        </p:spPr>
      </p:pic>
      <p:sp>
        <p:nvSpPr>
          <p:cNvPr id="5" name="Title 1">
            <a:extLst>
              <a:ext uri="{FF2B5EF4-FFF2-40B4-BE49-F238E27FC236}">
                <a16:creationId xmlns="" xmlns:a16="http://schemas.microsoft.com/office/drawing/2014/main" id="{3D9303A2-B30A-054C-B809-053B909E125F}"/>
              </a:ext>
            </a:extLst>
          </p:cNvPr>
          <p:cNvSpPr>
            <a:spLocks noGrp="1"/>
          </p:cNvSpPr>
          <p:nvPr>
            <p:ph type="title" hasCustomPrompt="1"/>
          </p:nvPr>
        </p:nvSpPr>
        <p:spPr>
          <a:xfrm>
            <a:off x="1525301" y="1995467"/>
            <a:ext cx="9141397" cy="615553"/>
          </a:xfrm>
          <a:prstGeom prst="rect">
            <a:avLst/>
          </a:prstGeom>
          <a:noFill/>
        </p:spPr>
        <p:txBody>
          <a:bodyPr wrap="square" lIns="0" tIns="0" rIns="0" bIns="0" anchor="b" anchorCtr="0">
            <a:spAutoFit/>
          </a:bodyPr>
          <a:lstStyle>
            <a:lvl1pPr algn="ctr" defTabSz="932742" rtl="0" eaLnBrk="1" latinLnBrk="0" hangingPunct="1">
              <a:lnSpc>
                <a:spcPct val="100000"/>
              </a:lnSpc>
              <a:spcBef>
                <a:spcPct val="0"/>
              </a:spcBef>
              <a:buNone/>
              <a:defRPr lang="en-US" sz="4000" b="1" i="0" kern="1200" cap="none" spc="-50" baseline="0" dirty="0">
                <a:ln w="3175">
                  <a:noFill/>
                </a:ln>
                <a:solidFill>
                  <a:schemeClr val="tx1"/>
                </a:solidFill>
                <a:effectLst/>
                <a:latin typeface="+mj-lt"/>
                <a:ea typeface="+mn-ea"/>
                <a:cs typeface="Segoe UI" pitchFamily="34" charset="0"/>
              </a:defRPr>
            </a:lvl1pPr>
          </a:lstStyle>
          <a:p>
            <a:r>
              <a:rPr lang="en-US" dirty="0"/>
              <a:t>Insert title here</a:t>
            </a:r>
          </a:p>
        </p:txBody>
      </p:sp>
      <p:sp>
        <p:nvSpPr>
          <p:cNvPr id="6" name="Text Placeholder 4">
            <a:extLst>
              <a:ext uri="{FF2B5EF4-FFF2-40B4-BE49-F238E27FC236}">
                <a16:creationId xmlns="" xmlns:a16="http://schemas.microsoft.com/office/drawing/2014/main" id="{10F58DD1-3970-D84D-8040-EF33B0971D59}"/>
              </a:ext>
            </a:extLst>
          </p:cNvPr>
          <p:cNvSpPr>
            <a:spLocks noGrp="1"/>
          </p:cNvSpPr>
          <p:nvPr>
            <p:ph type="body" sz="quarter" idx="12" hasCustomPrompt="1"/>
          </p:nvPr>
        </p:nvSpPr>
        <p:spPr>
          <a:xfrm>
            <a:off x="2196307" y="3260705"/>
            <a:ext cx="7799387" cy="1534757"/>
          </a:xfrm>
          <a:prstGeom prst="rect">
            <a:avLst/>
          </a:prstGeom>
          <a:noFill/>
        </p:spPr>
        <p:txBody>
          <a:bodyPr wrap="square" lIns="0" tIns="0" rIns="0" bIns="0">
            <a:noAutofit/>
          </a:bodyPr>
          <a:lstStyle>
            <a:lvl1pPr marL="0" indent="0" algn="ctr">
              <a:lnSpc>
                <a:spcPct val="100000"/>
              </a:lnSpc>
              <a:spcBef>
                <a:spcPts val="0"/>
              </a:spcBef>
              <a:spcAft>
                <a:spcPts val="0"/>
              </a:spcAft>
              <a:buFont typeface="Arial" panose="020B0604020202020204" pitchFamily="34" charset="0"/>
              <a:buNone/>
              <a:defRPr lang="en-US" sz="1800" kern="1200" dirty="0">
                <a:solidFill>
                  <a:schemeClr val="tx1"/>
                </a:solidFill>
                <a:latin typeface="+mn-lt"/>
                <a:ea typeface="+mn-ea"/>
                <a:cs typeface="+mn-cs"/>
              </a:defRPr>
            </a:lvl1pPr>
          </a:lstStyle>
          <a:p>
            <a:pPr lvl="0"/>
            <a:r>
              <a:rPr lang="en-US" dirty="0"/>
              <a:t>Insert content here</a:t>
            </a:r>
          </a:p>
        </p:txBody>
      </p:sp>
    </p:spTree>
    <p:extLst>
      <p:ext uri="{BB962C8B-B14F-4D97-AF65-F5344CB8AC3E}">
        <p14:creationId xmlns:p14="http://schemas.microsoft.com/office/powerpoint/2010/main" val="3240882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2243" userDrawn="1">
          <p15:clr>
            <a:srgbClr val="5ACBF0"/>
          </p15:clr>
        </p15:guide>
        <p15:guide id="4" orient="horz" pos="2488" userDrawn="1">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Photo Content">
    <p:bg>
      <p:bgPr>
        <a:solidFill>
          <a:schemeClr val="accent3"/>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33CCC0B9-F174-4BEA-B4A2-17F39F974373}"/>
              </a:ext>
            </a:extLst>
          </p:cNvPr>
          <p:cNvSpPr>
            <a:spLocks noGrp="1"/>
          </p:cNvSpPr>
          <p:nvPr>
            <p:ph type="title" hasCustomPrompt="1"/>
          </p:nvPr>
        </p:nvSpPr>
        <p:spPr>
          <a:xfrm>
            <a:off x="762000" y="715962"/>
            <a:ext cx="5334000" cy="1189038"/>
          </a:xfrm>
          <a:prstGeom prst="rect">
            <a:avLst/>
          </a:prstGeom>
        </p:spPr>
        <p:txBody>
          <a:bodyPr anchor="t">
            <a:noAutofit/>
          </a:bodyPr>
          <a:lstStyle>
            <a:lvl1pPr>
              <a:spcBef>
                <a:spcPts val="1000"/>
              </a:spcBef>
              <a:defRPr sz="4000" b="1">
                <a:solidFill>
                  <a:schemeClr val="tx1"/>
                </a:solidFill>
              </a:defRPr>
            </a:lvl1pPr>
          </a:lstStyle>
          <a:p>
            <a:r>
              <a:rPr lang="en-US" dirty="0"/>
              <a:t>Insert title here</a:t>
            </a:r>
          </a:p>
        </p:txBody>
      </p:sp>
      <p:sp>
        <p:nvSpPr>
          <p:cNvPr id="16" name="Text Placeholder 15">
            <a:extLst>
              <a:ext uri="{FF2B5EF4-FFF2-40B4-BE49-F238E27FC236}">
                <a16:creationId xmlns="" xmlns:a16="http://schemas.microsoft.com/office/drawing/2014/main" id="{8498B63D-F60C-4A9D-8D3E-0C7CD748FEDE}"/>
              </a:ext>
            </a:extLst>
          </p:cNvPr>
          <p:cNvSpPr>
            <a:spLocks noGrp="1"/>
          </p:cNvSpPr>
          <p:nvPr>
            <p:ph type="body" sz="quarter" idx="11" hasCustomPrompt="1"/>
          </p:nvPr>
        </p:nvSpPr>
        <p:spPr>
          <a:xfrm>
            <a:off x="762000" y="1905000"/>
            <a:ext cx="5334000" cy="3276600"/>
          </a:xfrm>
          <a:prstGeom prst="rect">
            <a:avLst/>
          </a:prstGeom>
        </p:spPr>
        <p:txBody>
          <a:bodyPr/>
          <a:lstStyle>
            <a:lvl1pPr marL="0" indent="0">
              <a:lnSpc>
                <a:spcPct val="100000"/>
              </a:lnSpc>
              <a:buNone/>
              <a:defRPr sz="2000" b="1">
                <a:solidFill>
                  <a:schemeClr val="tx1"/>
                </a:solidFill>
              </a:defRPr>
            </a:lvl1pPr>
            <a:lvl2pPr marL="228600" indent="-228600">
              <a:lnSpc>
                <a:spcPct val="100000"/>
              </a:lnSpc>
              <a:spcBef>
                <a:spcPts val="1000"/>
              </a:spcBef>
              <a:tabLst/>
              <a:defRPr sz="1800">
                <a:solidFill>
                  <a:schemeClr val="tx1"/>
                </a:solidFill>
              </a:defRPr>
            </a:lvl2pPr>
          </a:lstStyle>
          <a:p>
            <a:pPr lvl="0"/>
            <a:r>
              <a:rPr lang="en-US" dirty="0"/>
              <a:t>Insert subtitle here</a:t>
            </a:r>
          </a:p>
          <a:p>
            <a:pPr lvl="1"/>
            <a:r>
              <a:rPr lang="en-US" dirty="0"/>
              <a:t>Insert content here</a:t>
            </a:r>
          </a:p>
        </p:txBody>
      </p:sp>
      <p:sp>
        <p:nvSpPr>
          <p:cNvPr id="14" name="Picture Placeholder 13">
            <a:extLst>
              <a:ext uri="{FF2B5EF4-FFF2-40B4-BE49-F238E27FC236}">
                <a16:creationId xmlns="" xmlns:a16="http://schemas.microsoft.com/office/drawing/2014/main" id="{9B1932CF-F265-4AEE-8704-F42C01AFB479}"/>
              </a:ext>
            </a:extLst>
          </p:cNvPr>
          <p:cNvSpPr>
            <a:spLocks noGrp="1"/>
          </p:cNvSpPr>
          <p:nvPr>
            <p:ph type="pic" sz="quarter" idx="10"/>
          </p:nvPr>
        </p:nvSpPr>
        <p:spPr>
          <a:xfrm>
            <a:off x="6858000" y="715963"/>
            <a:ext cx="4572000" cy="4465637"/>
          </a:xfrm>
          <a:prstGeom prst="rect">
            <a:avLst/>
          </a:prstGeom>
          <a:solidFill>
            <a:schemeClr val="accent3">
              <a:lumMod val="75000"/>
            </a:schemeClr>
          </a:solidFill>
        </p:spPr>
        <p:txBody>
          <a:bodyPr>
            <a:normAutofit/>
          </a:bodyPr>
          <a:lstStyle>
            <a:lvl1pPr algn="ctr">
              <a:buNone/>
              <a:defRPr sz="1600">
                <a:solidFill>
                  <a:schemeClr val="tx1"/>
                </a:solidFill>
              </a:defRPr>
            </a:lvl1pPr>
          </a:lstStyle>
          <a:p>
            <a:r>
              <a:rPr lang="en-US" dirty="0"/>
              <a:t>Click icon to add picture</a:t>
            </a:r>
          </a:p>
        </p:txBody>
      </p:sp>
      <p:pic>
        <p:nvPicPr>
          <p:cNvPr id="6" name="Picture Placeholder 8" descr="Green, yellow, black and white tartan">
            <a:extLst>
              <a:ext uri="{FF2B5EF4-FFF2-40B4-BE49-F238E27FC236}">
                <a16:creationId xmlns="" xmlns:a16="http://schemas.microsoft.com/office/drawing/2014/main" id="{0F2C2CA1-3BA3-4744-B86C-86CFC19D0808}"/>
              </a:ext>
            </a:extLst>
          </p:cNvPr>
          <p:cNvPicPr>
            <a:picLocks noChangeAspect="1"/>
          </p:cNvPicPr>
          <p:nvPr userDrawn="1"/>
        </p:nvPicPr>
        <p:blipFill rotWithShape="1">
          <a:blip r:embed="rId2"/>
          <a:srcRect l="108" r="108"/>
          <a:stretch/>
        </p:blipFill>
        <p:spPr>
          <a:xfrm>
            <a:off x="0" y="5972174"/>
            <a:ext cx="12192000" cy="885825"/>
          </a:xfrm>
          <a:prstGeom prst="rect">
            <a:avLst/>
          </a:prstGeom>
        </p:spPr>
      </p:pic>
    </p:spTree>
    <p:extLst>
      <p:ext uri="{BB962C8B-B14F-4D97-AF65-F5344CB8AC3E}">
        <p14:creationId xmlns:p14="http://schemas.microsoft.com/office/powerpoint/2010/main" val="31049468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F513624-9AD4-4B61-B3D1-7B21213507C0}"/>
              </a:ext>
            </a:extLst>
          </p:cNvPr>
          <p:cNvSpPr>
            <a:spLocks noGrp="1"/>
          </p:cNvSpPr>
          <p:nvPr>
            <p:ph type="title" hasCustomPrompt="1"/>
          </p:nvPr>
        </p:nvSpPr>
        <p:spPr>
          <a:xfrm>
            <a:off x="762000" y="715964"/>
            <a:ext cx="10591800" cy="646332"/>
          </a:xfrm>
          <a:prstGeom prst="rect">
            <a:avLst/>
          </a:prstGeom>
        </p:spPr>
        <p:txBody>
          <a:bodyPr>
            <a:noAutofit/>
          </a:bodyPr>
          <a:lstStyle>
            <a:lvl1pPr>
              <a:spcBef>
                <a:spcPts val="1000"/>
              </a:spcBef>
              <a:defRPr sz="4000" b="1">
                <a:solidFill>
                  <a:schemeClr val="accent5"/>
                </a:solidFill>
              </a:defRPr>
            </a:lvl1pPr>
          </a:lstStyle>
          <a:p>
            <a:r>
              <a:rPr lang="en-US" dirty="0"/>
              <a:t>Insert title here</a:t>
            </a:r>
          </a:p>
        </p:txBody>
      </p:sp>
      <p:sp>
        <p:nvSpPr>
          <p:cNvPr id="19" name="Text Placeholder 4">
            <a:extLst>
              <a:ext uri="{FF2B5EF4-FFF2-40B4-BE49-F238E27FC236}">
                <a16:creationId xmlns="" xmlns:a16="http://schemas.microsoft.com/office/drawing/2014/main" id="{3E65ED86-A26C-479A-8393-0BFDCBCD43F2}"/>
              </a:ext>
            </a:extLst>
          </p:cNvPr>
          <p:cNvSpPr>
            <a:spLocks noGrp="1"/>
          </p:cNvSpPr>
          <p:nvPr>
            <p:ph type="body" sz="quarter" idx="13" hasCustomPrompt="1"/>
          </p:nvPr>
        </p:nvSpPr>
        <p:spPr>
          <a:xfrm>
            <a:off x="762000" y="1507727"/>
            <a:ext cx="10668000" cy="1111648"/>
          </a:xfrm>
          <a:prstGeom prst="rect">
            <a:avLst/>
          </a:prstGeom>
          <a:noFill/>
        </p:spPr>
        <p:txBody>
          <a:bodyPr wrap="square" lIns="91440" tIns="0" rIns="91440" bIns="0">
            <a:noAutofit/>
          </a:bodyPr>
          <a:lstStyle>
            <a:lvl1pPr marL="0" indent="0" algn="l">
              <a:lnSpc>
                <a:spcPct val="100000"/>
              </a:lnSpc>
              <a:spcBef>
                <a:spcPts val="0"/>
              </a:spcBef>
              <a:spcAft>
                <a:spcPts val="0"/>
              </a:spcAft>
              <a:buFont typeface="Arial" panose="020B0604020202020204" pitchFamily="34" charset="0"/>
              <a:buNone/>
              <a:defRPr lang="en-US" sz="1800" kern="1200" dirty="0">
                <a:solidFill>
                  <a:schemeClr val="bg1"/>
                </a:solidFill>
                <a:latin typeface="+mn-lt"/>
                <a:ea typeface="+mn-ea"/>
                <a:cs typeface="+mn-cs"/>
              </a:defRPr>
            </a:lvl1pPr>
          </a:lstStyle>
          <a:p>
            <a:pPr lvl="0"/>
            <a:r>
              <a:rPr lang="en-US" dirty="0"/>
              <a:t>Insert content here</a:t>
            </a:r>
          </a:p>
        </p:txBody>
      </p:sp>
      <p:sp>
        <p:nvSpPr>
          <p:cNvPr id="10" name="Table Placeholder 9">
            <a:extLst>
              <a:ext uri="{FF2B5EF4-FFF2-40B4-BE49-F238E27FC236}">
                <a16:creationId xmlns="" xmlns:a16="http://schemas.microsoft.com/office/drawing/2014/main" id="{276AE57A-004D-45B8-95EB-CEA4D8CD0000}"/>
              </a:ext>
            </a:extLst>
          </p:cNvPr>
          <p:cNvSpPr>
            <a:spLocks noGrp="1"/>
          </p:cNvSpPr>
          <p:nvPr>
            <p:ph type="tbl" sz="quarter" idx="16" hasCustomPrompt="1"/>
          </p:nvPr>
        </p:nvSpPr>
        <p:spPr>
          <a:xfrm>
            <a:off x="762000" y="2608489"/>
            <a:ext cx="10668000" cy="2806700"/>
          </a:xfrm>
          <a:prstGeom prst="rect">
            <a:avLst/>
          </a:prstGeom>
        </p:spPr>
        <p:txBody>
          <a:bodyPr/>
          <a:lstStyle>
            <a:lvl1pPr marL="0" indent="0">
              <a:buNone/>
              <a:defRPr sz="1800"/>
            </a:lvl1pPr>
          </a:lstStyle>
          <a:p>
            <a:r>
              <a:rPr lang="en-US" dirty="0"/>
              <a:t>Insert table here</a:t>
            </a:r>
          </a:p>
        </p:txBody>
      </p:sp>
      <p:pic>
        <p:nvPicPr>
          <p:cNvPr id="6" name="Picture Placeholder 11" descr="Green, yellow, black and white tartan">
            <a:extLst>
              <a:ext uri="{FF2B5EF4-FFF2-40B4-BE49-F238E27FC236}">
                <a16:creationId xmlns="" xmlns:a16="http://schemas.microsoft.com/office/drawing/2014/main" id="{DDE30C9B-25D9-452A-A58A-94AF1FB71F57}"/>
              </a:ext>
            </a:extLst>
          </p:cNvPr>
          <p:cNvPicPr>
            <a:picLocks noChangeAspect="1"/>
          </p:cNvPicPr>
          <p:nvPr userDrawn="1"/>
        </p:nvPicPr>
        <p:blipFill rotWithShape="1">
          <a:blip r:embed="rId2"/>
          <a:srcRect l="1484" r="1484"/>
          <a:stretch/>
        </p:blipFill>
        <p:spPr>
          <a:xfrm>
            <a:off x="0" y="5972174"/>
            <a:ext cx="12192000" cy="885825"/>
          </a:xfrm>
          <a:prstGeom prst="rect">
            <a:avLst/>
          </a:prstGeom>
        </p:spPr>
      </p:pic>
    </p:spTree>
    <p:extLst>
      <p:ext uri="{BB962C8B-B14F-4D97-AF65-F5344CB8AC3E}">
        <p14:creationId xmlns:p14="http://schemas.microsoft.com/office/powerpoint/2010/main" val="2726206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Pattern Content">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7668F4E-0433-49FD-9D92-3B60E9B0AEE6}"/>
              </a:ext>
            </a:extLst>
          </p:cNvPr>
          <p:cNvSpPr>
            <a:spLocks noGrp="1"/>
          </p:cNvSpPr>
          <p:nvPr>
            <p:ph type="title" hasCustomPrompt="1"/>
          </p:nvPr>
        </p:nvSpPr>
        <p:spPr>
          <a:xfrm>
            <a:off x="5199742" y="715961"/>
            <a:ext cx="6477000" cy="1189037"/>
          </a:xfrm>
          <a:prstGeom prst="rect">
            <a:avLst/>
          </a:prstGeom>
        </p:spPr>
        <p:txBody>
          <a:bodyPr anchor="t">
            <a:normAutofit/>
          </a:bodyPr>
          <a:lstStyle>
            <a:lvl1pPr>
              <a:spcBef>
                <a:spcPts val="1000"/>
              </a:spcBef>
              <a:defRPr sz="4000" b="1" spc="-50" baseline="0">
                <a:solidFill>
                  <a:schemeClr val="accent3"/>
                </a:solidFill>
              </a:defRPr>
            </a:lvl1pPr>
          </a:lstStyle>
          <a:p>
            <a:r>
              <a:rPr lang="en-US" dirty="0"/>
              <a:t>Insert title here</a:t>
            </a:r>
          </a:p>
        </p:txBody>
      </p:sp>
      <p:sp>
        <p:nvSpPr>
          <p:cNvPr id="12" name="Text Placeholder 15">
            <a:extLst>
              <a:ext uri="{FF2B5EF4-FFF2-40B4-BE49-F238E27FC236}">
                <a16:creationId xmlns="" xmlns:a16="http://schemas.microsoft.com/office/drawing/2014/main" id="{E8DBED36-2461-46D0-AF71-79E0064B3758}"/>
              </a:ext>
            </a:extLst>
          </p:cNvPr>
          <p:cNvSpPr>
            <a:spLocks noGrp="1"/>
          </p:cNvSpPr>
          <p:nvPr>
            <p:ph type="body" sz="quarter" idx="11" hasCustomPrompt="1"/>
          </p:nvPr>
        </p:nvSpPr>
        <p:spPr>
          <a:xfrm>
            <a:off x="5199743" y="1905000"/>
            <a:ext cx="6477000" cy="3276600"/>
          </a:xfrm>
          <a:prstGeom prst="rect">
            <a:avLst/>
          </a:prstGeom>
        </p:spPr>
        <p:txBody>
          <a:bodyPr/>
          <a:lstStyle>
            <a:lvl1pPr marL="0" indent="0">
              <a:lnSpc>
                <a:spcPct val="100000"/>
              </a:lnSpc>
              <a:buNone/>
              <a:defRPr sz="1800" b="1">
                <a:solidFill>
                  <a:schemeClr val="bg1"/>
                </a:solidFill>
              </a:defRPr>
            </a:lvl1pPr>
            <a:lvl2pPr marL="228600" indent="-228600">
              <a:lnSpc>
                <a:spcPct val="100000"/>
              </a:lnSpc>
              <a:spcBef>
                <a:spcPts val="1000"/>
              </a:spcBef>
              <a:defRPr sz="1800">
                <a:solidFill>
                  <a:schemeClr val="bg1"/>
                </a:solidFill>
              </a:defRPr>
            </a:lvl2pPr>
          </a:lstStyle>
          <a:p>
            <a:pPr lvl="0"/>
            <a:r>
              <a:rPr lang="en-US" dirty="0"/>
              <a:t>Insert subtitle here</a:t>
            </a:r>
          </a:p>
          <a:p>
            <a:pPr lvl="1"/>
            <a:r>
              <a:rPr lang="en-US" dirty="0"/>
              <a:t>Insert content here</a:t>
            </a:r>
          </a:p>
        </p:txBody>
      </p:sp>
      <p:pic>
        <p:nvPicPr>
          <p:cNvPr id="6" name="Picture Placeholder 7" descr="Green, yellow, black and white tartan">
            <a:extLst>
              <a:ext uri="{FF2B5EF4-FFF2-40B4-BE49-F238E27FC236}">
                <a16:creationId xmlns="" xmlns:a16="http://schemas.microsoft.com/office/drawing/2014/main" id="{A370CEF3-4A54-4DA4-9EB1-26D855A7091E}"/>
              </a:ext>
            </a:extLst>
          </p:cNvPr>
          <p:cNvPicPr>
            <a:picLocks noChangeAspect="1"/>
          </p:cNvPicPr>
          <p:nvPr userDrawn="1"/>
        </p:nvPicPr>
        <p:blipFill rotWithShape="1">
          <a:blip r:embed="rId2"/>
          <a:srcRect l="23" r="23"/>
          <a:stretch/>
        </p:blipFill>
        <p:spPr>
          <a:xfrm>
            <a:off x="0" y="0"/>
            <a:ext cx="4332514" cy="6858000"/>
          </a:xfrm>
          <a:prstGeom prst="rect">
            <a:avLst/>
          </a:prstGeom>
        </p:spPr>
      </p:pic>
    </p:spTree>
    <p:extLst>
      <p:ext uri="{BB962C8B-B14F-4D97-AF65-F5344CB8AC3E}">
        <p14:creationId xmlns:p14="http://schemas.microsoft.com/office/powerpoint/2010/main" val="2189876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2808" userDrawn="1">
          <p15:clr>
            <a:srgbClr val="5ACBF0"/>
          </p15:clr>
        </p15:guide>
        <p15:guide id="3" orient="horz" pos="2240" userDrawn="1">
          <p15:clr>
            <a:srgbClr val="5ACBF0"/>
          </p15:clr>
        </p15:guide>
        <p15:guide id="4" orient="horz" pos="2487" userDrawn="1">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mart Ar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F513624-9AD4-4B61-B3D1-7B21213507C0}"/>
              </a:ext>
            </a:extLst>
          </p:cNvPr>
          <p:cNvSpPr>
            <a:spLocks noGrp="1"/>
          </p:cNvSpPr>
          <p:nvPr>
            <p:ph type="title" hasCustomPrompt="1"/>
          </p:nvPr>
        </p:nvSpPr>
        <p:spPr>
          <a:xfrm>
            <a:off x="762000" y="715964"/>
            <a:ext cx="10591800" cy="646332"/>
          </a:xfrm>
          <a:prstGeom prst="rect">
            <a:avLst/>
          </a:prstGeom>
        </p:spPr>
        <p:txBody>
          <a:bodyPr>
            <a:noAutofit/>
          </a:bodyPr>
          <a:lstStyle>
            <a:lvl1pPr>
              <a:spcBef>
                <a:spcPts val="1000"/>
              </a:spcBef>
              <a:defRPr sz="4000" b="1">
                <a:solidFill>
                  <a:schemeClr val="accent5"/>
                </a:solidFill>
              </a:defRPr>
            </a:lvl1pPr>
          </a:lstStyle>
          <a:p>
            <a:r>
              <a:rPr lang="en-US" dirty="0"/>
              <a:t>Insert title here</a:t>
            </a:r>
          </a:p>
        </p:txBody>
      </p:sp>
      <p:sp>
        <p:nvSpPr>
          <p:cNvPr id="19" name="Text Placeholder 4">
            <a:extLst>
              <a:ext uri="{FF2B5EF4-FFF2-40B4-BE49-F238E27FC236}">
                <a16:creationId xmlns="" xmlns:a16="http://schemas.microsoft.com/office/drawing/2014/main" id="{3E65ED86-A26C-479A-8393-0BFDCBCD43F2}"/>
              </a:ext>
            </a:extLst>
          </p:cNvPr>
          <p:cNvSpPr>
            <a:spLocks noGrp="1"/>
          </p:cNvSpPr>
          <p:nvPr>
            <p:ph type="body" sz="quarter" idx="13" hasCustomPrompt="1"/>
          </p:nvPr>
        </p:nvSpPr>
        <p:spPr>
          <a:xfrm>
            <a:off x="762000" y="1507727"/>
            <a:ext cx="10668000" cy="822457"/>
          </a:xfrm>
          <a:prstGeom prst="rect">
            <a:avLst/>
          </a:prstGeom>
          <a:noFill/>
        </p:spPr>
        <p:txBody>
          <a:bodyPr wrap="square" lIns="91440" tIns="0" rIns="91440" bIns="0">
            <a:noAutofit/>
          </a:bodyPr>
          <a:lstStyle>
            <a:lvl1pPr marL="0" indent="0" algn="l">
              <a:lnSpc>
                <a:spcPct val="100000"/>
              </a:lnSpc>
              <a:spcBef>
                <a:spcPts val="0"/>
              </a:spcBef>
              <a:spcAft>
                <a:spcPts val="0"/>
              </a:spcAft>
              <a:buFont typeface="Arial" panose="020B0604020202020204" pitchFamily="34" charset="0"/>
              <a:buNone/>
              <a:defRPr lang="en-US" sz="1800" kern="1200" dirty="0">
                <a:solidFill>
                  <a:schemeClr val="bg1"/>
                </a:solidFill>
                <a:latin typeface="+mn-lt"/>
                <a:ea typeface="+mn-ea"/>
                <a:cs typeface="+mn-cs"/>
              </a:defRPr>
            </a:lvl1pPr>
          </a:lstStyle>
          <a:p>
            <a:pPr lvl="0"/>
            <a:r>
              <a:rPr lang="en-US" dirty="0"/>
              <a:t>Insert content here</a:t>
            </a:r>
          </a:p>
        </p:txBody>
      </p:sp>
      <p:sp>
        <p:nvSpPr>
          <p:cNvPr id="7" name="Content Placeholder 7">
            <a:extLst>
              <a:ext uri="{FF2B5EF4-FFF2-40B4-BE49-F238E27FC236}">
                <a16:creationId xmlns="" xmlns:a16="http://schemas.microsoft.com/office/drawing/2014/main" id="{4830F1EE-0A1B-434F-BF70-A0FE7F06E459}"/>
              </a:ext>
            </a:extLst>
          </p:cNvPr>
          <p:cNvSpPr>
            <a:spLocks noGrp="1"/>
          </p:cNvSpPr>
          <p:nvPr>
            <p:ph sz="quarter" idx="15" hasCustomPrompt="1"/>
          </p:nvPr>
        </p:nvSpPr>
        <p:spPr>
          <a:xfrm>
            <a:off x="762000" y="2330184"/>
            <a:ext cx="10668000" cy="3352800"/>
          </a:xfrm>
          <a:prstGeom prst="rect">
            <a:avLst/>
          </a:prstGeom>
        </p:spPr>
        <p:txBody>
          <a:bodyPr/>
          <a:lstStyle>
            <a:lvl1pPr marL="0" indent="0">
              <a:buNone/>
              <a:defRPr sz="180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Insert content here</a:t>
            </a:r>
          </a:p>
        </p:txBody>
      </p:sp>
      <p:pic>
        <p:nvPicPr>
          <p:cNvPr id="6" name="Picture Placeholder 7" descr="Green, yellow, black and white tartan">
            <a:extLst>
              <a:ext uri="{FF2B5EF4-FFF2-40B4-BE49-F238E27FC236}">
                <a16:creationId xmlns="" xmlns:a16="http://schemas.microsoft.com/office/drawing/2014/main" id="{537346BD-CF82-49B2-97B6-80A3000DD721}"/>
              </a:ext>
            </a:extLst>
          </p:cNvPr>
          <p:cNvPicPr>
            <a:picLocks noChangeAspect="1"/>
          </p:cNvPicPr>
          <p:nvPr userDrawn="1"/>
        </p:nvPicPr>
        <p:blipFill rotWithShape="1">
          <a:blip r:embed="rId2"/>
          <a:srcRect l="1484" r="1484"/>
          <a:stretch/>
        </p:blipFill>
        <p:spPr>
          <a:xfrm>
            <a:off x="0" y="5972174"/>
            <a:ext cx="12192000" cy="885825"/>
          </a:xfrm>
          <a:prstGeom prst="rect">
            <a:avLst/>
          </a:prstGeom>
        </p:spPr>
      </p:pic>
    </p:spTree>
    <p:extLst>
      <p:ext uri="{BB962C8B-B14F-4D97-AF65-F5344CB8AC3E}">
        <p14:creationId xmlns:p14="http://schemas.microsoft.com/office/powerpoint/2010/main" val="14229174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Photo Content">
    <p:bg>
      <p:bgPr>
        <a:solidFill>
          <a:schemeClr val="accent5"/>
        </a:solidFill>
        <a:effectLst/>
      </p:bgPr>
    </p:bg>
    <p:spTree>
      <p:nvGrpSpPr>
        <p:cNvPr id="1" name=""/>
        <p:cNvGrpSpPr/>
        <p:nvPr/>
      </p:nvGrpSpPr>
      <p:grpSpPr>
        <a:xfrm>
          <a:off x="0" y="0"/>
          <a:ext cx="0" cy="0"/>
          <a:chOff x="0" y="0"/>
          <a:chExt cx="0" cy="0"/>
        </a:xfrm>
      </p:grpSpPr>
      <p:sp>
        <p:nvSpPr>
          <p:cNvPr id="10" name="Title 2">
            <a:extLst>
              <a:ext uri="{FF2B5EF4-FFF2-40B4-BE49-F238E27FC236}">
                <a16:creationId xmlns="" xmlns:a16="http://schemas.microsoft.com/office/drawing/2014/main" id="{3F45076F-4240-4B40-8CE4-637DD751A68B}"/>
              </a:ext>
            </a:extLst>
          </p:cNvPr>
          <p:cNvSpPr>
            <a:spLocks noGrp="1"/>
          </p:cNvSpPr>
          <p:nvPr>
            <p:ph type="title" hasCustomPrompt="1"/>
          </p:nvPr>
        </p:nvSpPr>
        <p:spPr>
          <a:xfrm>
            <a:off x="762000" y="715963"/>
            <a:ext cx="5334000" cy="1189038"/>
          </a:xfrm>
          <a:prstGeom prst="rect">
            <a:avLst/>
          </a:prstGeom>
        </p:spPr>
        <p:txBody>
          <a:bodyPr anchor="t">
            <a:normAutofit/>
          </a:bodyPr>
          <a:lstStyle>
            <a:lvl1pPr>
              <a:spcBef>
                <a:spcPts val="1000"/>
              </a:spcBef>
              <a:defRPr sz="4000" b="1">
                <a:solidFill>
                  <a:schemeClr val="tx1"/>
                </a:solidFill>
              </a:defRPr>
            </a:lvl1pPr>
          </a:lstStyle>
          <a:p>
            <a:r>
              <a:rPr lang="en-US" dirty="0"/>
              <a:t>Insert title here</a:t>
            </a:r>
          </a:p>
        </p:txBody>
      </p:sp>
      <p:sp>
        <p:nvSpPr>
          <p:cNvPr id="16" name="Text Placeholder 15">
            <a:extLst>
              <a:ext uri="{FF2B5EF4-FFF2-40B4-BE49-F238E27FC236}">
                <a16:creationId xmlns="" xmlns:a16="http://schemas.microsoft.com/office/drawing/2014/main" id="{8498B63D-F60C-4A9D-8D3E-0C7CD748FEDE}"/>
              </a:ext>
            </a:extLst>
          </p:cNvPr>
          <p:cNvSpPr>
            <a:spLocks noGrp="1"/>
          </p:cNvSpPr>
          <p:nvPr>
            <p:ph type="body" sz="quarter" idx="11" hasCustomPrompt="1"/>
          </p:nvPr>
        </p:nvSpPr>
        <p:spPr>
          <a:xfrm>
            <a:off x="762000" y="1905000"/>
            <a:ext cx="5334000" cy="3276600"/>
          </a:xfrm>
          <a:prstGeom prst="rect">
            <a:avLst/>
          </a:prstGeom>
        </p:spPr>
        <p:txBody>
          <a:bodyPr/>
          <a:lstStyle>
            <a:lvl1pPr marL="0" indent="0">
              <a:lnSpc>
                <a:spcPct val="100000"/>
              </a:lnSpc>
              <a:buNone/>
              <a:defRPr sz="2000" b="1">
                <a:solidFill>
                  <a:schemeClr val="tx1"/>
                </a:solidFill>
              </a:defRPr>
            </a:lvl1pPr>
            <a:lvl2pPr marL="228600">
              <a:lnSpc>
                <a:spcPct val="100000"/>
              </a:lnSpc>
              <a:spcBef>
                <a:spcPts val="1000"/>
              </a:spcBef>
              <a:defRPr sz="1800">
                <a:solidFill>
                  <a:schemeClr val="tx1"/>
                </a:solidFill>
              </a:defRPr>
            </a:lvl2pPr>
          </a:lstStyle>
          <a:p>
            <a:pPr lvl="0"/>
            <a:r>
              <a:rPr lang="en-US" dirty="0"/>
              <a:t>Insert subtitle here</a:t>
            </a:r>
          </a:p>
          <a:p>
            <a:pPr lvl="1"/>
            <a:r>
              <a:rPr lang="en-US" dirty="0"/>
              <a:t>Insert content here</a:t>
            </a:r>
          </a:p>
        </p:txBody>
      </p:sp>
      <p:sp>
        <p:nvSpPr>
          <p:cNvPr id="9" name="Picture Placeholder 13">
            <a:extLst>
              <a:ext uri="{FF2B5EF4-FFF2-40B4-BE49-F238E27FC236}">
                <a16:creationId xmlns="" xmlns:a16="http://schemas.microsoft.com/office/drawing/2014/main" id="{827A95C0-AE8D-46E1-9EF9-64504CBEF99E}"/>
              </a:ext>
            </a:extLst>
          </p:cNvPr>
          <p:cNvSpPr>
            <a:spLocks noGrp="1"/>
          </p:cNvSpPr>
          <p:nvPr>
            <p:ph type="pic" sz="quarter" idx="14"/>
          </p:nvPr>
        </p:nvSpPr>
        <p:spPr>
          <a:xfrm>
            <a:off x="6858000" y="715963"/>
            <a:ext cx="4572000" cy="2362200"/>
          </a:xfrm>
          <a:prstGeom prst="rect">
            <a:avLst/>
          </a:prstGeom>
          <a:solidFill>
            <a:schemeClr val="accent2"/>
          </a:solidFill>
        </p:spPr>
        <p:txBody>
          <a:bodyPr>
            <a:normAutofit/>
          </a:bodyPr>
          <a:lstStyle>
            <a:lvl1pPr algn="ctr">
              <a:buNone/>
              <a:defRPr sz="1600">
                <a:solidFill>
                  <a:schemeClr val="tx1"/>
                </a:solidFill>
              </a:defRPr>
            </a:lvl1pPr>
          </a:lstStyle>
          <a:p>
            <a:r>
              <a:rPr lang="en-US" dirty="0"/>
              <a:t>Click icon to add picture</a:t>
            </a:r>
          </a:p>
        </p:txBody>
      </p:sp>
      <p:sp>
        <p:nvSpPr>
          <p:cNvPr id="8" name="Picture Placeholder 13">
            <a:extLst>
              <a:ext uri="{FF2B5EF4-FFF2-40B4-BE49-F238E27FC236}">
                <a16:creationId xmlns="" xmlns:a16="http://schemas.microsoft.com/office/drawing/2014/main" id="{89E410BA-B0FE-4F0E-8BE5-D33CC016635B}"/>
              </a:ext>
            </a:extLst>
          </p:cNvPr>
          <p:cNvSpPr>
            <a:spLocks noGrp="1"/>
          </p:cNvSpPr>
          <p:nvPr>
            <p:ph type="pic" sz="quarter" idx="13"/>
          </p:nvPr>
        </p:nvSpPr>
        <p:spPr>
          <a:xfrm>
            <a:off x="6858000" y="3319386"/>
            <a:ext cx="4572000" cy="2362200"/>
          </a:xfrm>
          <a:prstGeom prst="rect">
            <a:avLst/>
          </a:prstGeom>
          <a:solidFill>
            <a:schemeClr val="accent2"/>
          </a:solidFill>
        </p:spPr>
        <p:txBody>
          <a:bodyPr>
            <a:normAutofit/>
          </a:bodyPr>
          <a:lstStyle>
            <a:lvl1pPr algn="ctr">
              <a:buNone/>
              <a:defRPr sz="1600">
                <a:solidFill>
                  <a:schemeClr val="tx1"/>
                </a:solidFill>
              </a:defRPr>
            </a:lvl1pPr>
          </a:lstStyle>
          <a:p>
            <a:r>
              <a:rPr lang="en-US" dirty="0"/>
              <a:t>Click icon to add picture</a:t>
            </a:r>
          </a:p>
        </p:txBody>
      </p:sp>
      <p:pic>
        <p:nvPicPr>
          <p:cNvPr id="11" name="Picture Placeholder 10" descr="Green, yellow, black and white tartan">
            <a:extLst>
              <a:ext uri="{FF2B5EF4-FFF2-40B4-BE49-F238E27FC236}">
                <a16:creationId xmlns="" xmlns:a16="http://schemas.microsoft.com/office/drawing/2014/main" id="{254DE245-A48A-4FD4-B53E-DBF8C64B4FE0}"/>
              </a:ext>
            </a:extLst>
          </p:cNvPr>
          <p:cNvPicPr>
            <a:picLocks noChangeAspect="1"/>
          </p:cNvPicPr>
          <p:nvPr userDrawn="1"/>
        </p:nvPicPr>
        <p:blipFill rotWithShape="1">
          <a:blip r:embed="rId2"/>
          <a:srcRect l="1140" r="1140"/>
          <a:stretch/>
        </p:blipFill>
        <p:spPr>
          <a:xfrm>
            <a:off x="0" y="5972174"/>
            <a:ext cx="12192000" cy="885825"/>
          </a:xfrm>
          <a:prstGeom prst="rect">
            <a:avLst/>
          </a:prstGeom>
        </p:spPr>
      </p:pic>
    </p:spTree>
    <p:extLst>
      <p:ext uri="{BB962C8B-B14F-4D97-AF65-F5344CB8AC3E}">
        <p14:creationId xmlns:p14="http://schemas.microsoft.com/office/powerpoint/2010/main" val="1586680172"/>
      </p:ext>
    </p:extLst>
  </p:cSld>
  <p:clrMapOvr>
    <a:masterClrMapping/>
  </p:clrMapOvr>
  <p:extLst>
    <p:ext uri="{DCECCB84-F9BA-43D5-87BE-67443E8EF086}">
      <p15:sldGuideLst xmlns:p15="http://schemas.microsoft.com/office/powerpoint/2012/main">
        <p15:guide id="1" orient="horz" pos="3672"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clusion">
    <p:bg>
      <p:bgPr>
        <a:solidFill>
          <a:schemeClr val="accent3"/>
        </a:solidFill>
        <a:effectLst/>
      </p:bgPr>
    </p:bg>
    <p:spTree>
      <p:nvGrpSpPr>
        <p:cNvPr id="1" name=""/>
        <p:cNvGrpSpPr/>
        <p:nvPr/>
      </p:nvGrpSpPr>
      <p:grpSpPr>
        <a:xfrm>
          <a:off x="0" y="0"/>
          <a:ext cx="0" cy="0"/>
          <a:chOff x="0" y="0"/>
          <a:chExt cx="0" cy="0"/>
        </a:xfrm>
      </p:grpSpPr>
      <p:pic>
        <p:nvPicPr>
          <p:cNvPr id="8" name="Picture Placeholder 7" descr="Opaque white background">
            <a:extLst>
              <a:ext uri="{FF2B5EF4-FFF2-40B4-BE49-F238E27FC236}">
                <a16:creationId xmlns="" xmlns:a16="http://schemas.microsoft.com/office/drawing/2014/main" id="{67950A00-B9D0-43DE-A195-32DC0E2C6763}"/>
              </a:ext>
            </a:extLst>
          </p:cNvPr>
          <p:cNvPicPr>
            <a:picLocks noChangeAspect="1"/>
          </p:cNvPicPr>
          <p:nvPr userDrawn="1"/>
        </p:nvPicPr>
        <p:blipFill rotWithShape="1">
          <a:blip r:embed="rId2"/>
          <a:srcRect/>
          <a:stretch/>
        </p:blipFill>
        <p:spPr>
          <a:xfrm>
            <a:off x="0" y="0"/>
            <a:ext cx="12192000" cy="6858000"/>
          </a:xfrm>
          <a:prstGeom prst="rect">
            <a:avLst/>
          </a:prstGeom>
        </p:spPr>
      </p:pic>
      <p:sp>
        <p:nvSpPr>
          <p:cNvPr id="5" name="Title 1">
            <a:extLst>
              <a:ext uri="{FF2B5EF4-FFF2-40B4-BE49-F238E27FC236}">
                <a16:creationId xmlns="" xmlns:a16="http://schemas.microsoft.com/office/drawing/2014/main" id="{3D9303A2-B30A-054C-B809-053B909E125F}"/>
              </a:ext>
            </a:extLst>
          </p:cNvPr>
          <p:cNvSpPr>
            <a:spLocks noGrp="1"/>
          </p:cNvSpPr>
          <p:nvPr>
            <p:ph type="title" hasCustomPrompt="1"/>
          </p:nvPr>
        </p:nvSpPr>
        <p:spPr>
          <a:xfrm>
            <a:off x="1525301" y="1995467"/>
            <a:ext cx="9141397" cy="615553"/>
          </a:xfrm>
          <a:prstGeom prst="rect">
            <a:avLst/>
          </a:prstGeom>
          <a:noFill/>
        </p:spPr>
        <p:txBody>
          <a:bodyPr wrap="square" lIns="0" tIns="0" rIns="0" bIns="0" anchor="b" anchorCtr="0">
            <a:spAutoFit/>
          </a:bodyPr>
          <a:lstStyle>
            <a:lvl1pPr algn="ctr" defTabSz="932742" rtl="0" eaLnBrk="1" latinLnBrk="0" hangingPunct="1">
              <a:lnSpc>
                <a:spcPct val="100000"/>
              </a:lnSpc>
              <a:spcBef>
                <a:spcPct val="0"/>
              </a:spcBef>
              <a:buNone/>
              <a:defRPr lang="en-US" sz="4000" b="1" i="0" kern="1200" cap="none" spc="-50" baseline="0" dirty="0">
                <a:ln w="3175">
                  <a:noFill/>
                </a:ln>
                <a:solidFill>
                  <a:schemeClr val="accent2"/>
                </a:solidFill>
                <a:effectLst/>
                <a:latin typeface="+mj-lt"/>
                <a:ea typeface="+mn-ea"/>
                <a:cs typeface="Segoe UI" pitchFamily="34" charset="0"/>
              </a:defRPr>
            </a:lvl1pPr>
          </a:lstStyle>
          <a:p>
            <a:r>
              <a:rPr lang="en-US" dirty="0"/>
              <a:t>Insert title here</a:t>
            </a:r>
          </a:p>
        </p:txBody>
      </p:sp>
      <p:sp>
        <p:nvSpPr>
          <p:cNvPr id="6" name="Text Placeholder 4">
            <a:extLst>
              <a:ext uri="{FF2B5EF4-FFF2-40B4-BE49-F238E27FC236}">
                <a16:creationId xmlns="" xmlns:a16="http://schemas.microsoft.com/office/drawing/2014/main" id="{10F58DD1-3970-D84D-8040-EF33B0971D59}"/>
              </a:ext>
            </a:extLst>
          </p:cNvPr>
          <p:cNvSpPr>
            <a:spLocks noGrp="1"/>
          </p:cNvSpPr>
          <p:nvPr>
            <p:ph type="body" sz="quarter" idx="12" hasCustomPrompt="1"/>
          </p:nvPr>
        </p:nvSpPr>
        <p:spPr>
          <a:xfrm>
            <a:off x="2196307" y="3260705"/>
            <a:ext cx="7799387" cy="1534757"/>
          </a:xfrm>
          <a:prstGeom prst="rect">
            <a:avLst/>
          </a:prstGeom>
          <a:noFill/>
        </p:spPr>
        <p:txBody>
          <a:bodyPr wrap="square" lIns="0" tIns="0" rIns="0" bIns="0">
            <a:noAutofit/>
          </a:bodyPr>
          <a:lstStyle>
            <a:lvl1pPr marL="0" indent="0" algn="ctr">
              <a:lnSpc>
                <a:spcPct val="100000"/>
              </a:lnSpc>
              <a:spcBef>
                <a:spcPts val="0"/>
              </a:spcBef>
              <a:spcAft>
                <a:spcPts val="0"/>
              </a:spcAft>
              <a:buFont typeface="Arial" panose="020B0604020202020204" pitchFamily="34" charset="0"/>
              <a:buNone/>
              <a:defRPr lang="en-US" sz="1800" kern="1200" dirty="0">
                <a:solidFill>
                  <a:schemeClr val="tx1"/>
                </a:solidFill>
                <a:latin typeface="+mn-lt"/>
                <a:ea typeface="+mn-ea"/>
                <a:cs typeface="+mn-cs"/>
              </a:defRPr>
            </a:lvl1pPr>
          </a:lstStyle>
          <a:p>
            <a:pPr lvl="0"/>
            <a:r>
              <a:rPr lang="en-US" dirty="0"/>
              <a:t>Insert content here</a:t>
            </a:r>
          </a:p>
        </p:txBody>
      </p:sp>
    </p:spTree>
    <p:extLst>
      <p:ext uri="{BB962C8B-B14F-4D97-AF65-F5344CB8AC3E}">
        <p14:creationId xmlns:p14="http://schemas.microsoft.com/office/powerpoint/2010/main" val="4100711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2243" userDrawn="1">
          <p15:clr>
            <a:srgbClr val="5ACBF0"/>
          </p15:clr>
        </p15:guide>
        <p15:guide id="4" orient="horz" pos="2488"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Questions">
    <p:bg>
      <p:bgPr>
        <a:solidFill>
          <a:schemeClr val="tx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 xmlns:a16="http://schemas.microsoft.com/office/drawing/2014/main" id="{07724906-4405-47F4-B533-7291B003B0A2}"/>
              </a:ext>
            </a:extLst>
          </p:cNvPr>
          <p:cNvSpPr>
            <a:spLocks noGrp="1"/>
          </p:cNvSpPr>
          <p:nvPr>
            <p:ph type="title" hasCustomPrompt="1"/>
          </p:nvPr>
        </p:nvSpPr>
        <p:spPr>
          <a:xfrm>
            <a:off x="1525301" y="1995467"/>
            <a:ext cx="9141397" cy="615553"/>
          </a:xfrm>
          <a:prstGeom prst="rect">
            <a:avLst/>
          </a:prstGeom>
          <a:noFill/>
        </p:spPr>
        <p:txBody>
          <a:bodyPr wrap="square" lIns="0" tIns="0" rIns="0" bIns="0" anchor="b" anchorCtr="0">
            <a:spAutoFit/>
          </a:bodyPr>
          <a:lstStyle>
            <a:lvl1pPr algn="ctr" defTabSz="932742" rtl="0" eaLnBrk="1" latinLnBrk="0" hangingPunct="1">
              <a:lnSpc>
                <a:spcPct val="100000"/>
              </a:lnSpc>
              <a:spcBef>
                <a:spcPct val="0"/>
              </a:spcBef>
              <a:buNone/>
              <a:defRPr lang="en-US" sz="4000" b="1" i="0" kern="1200" cap="none" spc="-50" baseline="0" dirty="0">
                <a:ln w="3175">
                  <a:noFill/>
                </a:ln>
                <a:solidFill>
                  <a:schemeClr val="bg1"/>
                </a:solidFill>
                <a:effectLst/>
                <a:latin typeface="+mj-lt"/>
                <a:ea typeface="+mn-ea"/>
                <a:cs typeface="Segoe UI" pitchFamily="34" charset="0"/>
              </a:defRPr>
            </a:lvl1pPr>
          </a:lstStyle>
          <a:p>
            <a:r>
              <a:rPr lang="en-US" dirty="0"/>
              <a:t>Insert title here</a:t>
            </a:r>
          </a:p>
        </p:txBody>
      </p:sp>
      <p:sp>
        <p:nvSpPr>
          <p:cNvPr id="14" name="Text Placeholder 4">
            <a:extLst>
              <a:ext uri="{FF2B5EF4-FFF2-40B4-BE49-F238E27FC236}">
                <a16:creationId xmlns="" xmlns:a16="http://schemas.microsoft.com/office/drawing/2014/main" id="{1EEF53A4-35A6-4E43-B220-67DA381C5910}"/>
              </a:ext>
            </a:extLst>
          </p:cNvPr>
          <p:cNvSpPr>
            <a:spLocks noGrp="1"/>
          </p:cNvSpPr>
          <p:nvPr>
            <p:ph type="body" sz="quarter" idx="12" hasCustomPrompt="1"/>
          </p:nvPr>
        </p:nvSpPr>
        <p:spPr>
          <a:xfrm>
            <a:off x="2196307" y="3260705"/>
            <a:ext cx="7799387" cy="1534757"/>
          </a:xfrm>
          <a:prstGeom prst="rect">
            <a:avLst/>
          </a:prstGeom>
          <a:noFill/>
        </p:spPr>
        <p:txBody>
          <a:bodyPr wrap="square" lIns="0" tIns="0" rIns="0" bIns="0">
            <a:noAutofit/>
          </a:bodyPr>
          <a:lstStyle>
            <a:lvl1pPr marL="0" indent="0" algn="ctr">
              <a:lnSpc>
                <a:spcPct val="100000"/>
              </a:lnSpc>
              <a:spcBef>
                <a:spcPts val="0"/>
              </a:spcBef>
              <a:spcAft>
                <a:spcPts val="0"/>
              </a:spcAft>
              <a:buFont typeface="Arial" panose="020B0604020202020204" pitchFamily="34" charset="0"/>
              <a:buNone/>
              <a:defRPr lang="en-US" sz="1800" kern="1200" dirty="0">
                <a:solidFill>
                  <a:schemeClr val="bg1"/>
                </a:solidFill>
                <a:latin typeface="+mn-lt"/>
                <a:ea typeface="+mn-ea"/>
                <a:cs typeface="+mn-cs"/>
              </a:defRPr>
            </a:lvl1pPr>
          </a:lstStyle>
          <a:p>
            <a:pPr lvl="0"/>
            <a:r>
              <a:rPr lang="en-US" dirty="0"/>
              <a:t>Insert content here</a:t>
            </a:r>
          </a:p>
        </p:txBody>
      </p:sp>
      <p:pic>
        <p:nvPicPr>
          <p:cNvPr id="7" name="Picture Placeholder 7" descr="Green, yellow, black and white tartan">
            <a:extLst>
              <a:ext uri="{FF2B5EF4-FFF2-40B4-BE49-F238E27FC236}">
                <a16:creationId xmlns="" xmlns:a16="http://schemas.microsoft.com/office/drawing/2014/main" id="{E4C06687-B8B5-493E-ACBB-4AFE15C9657A}"/>
              </a:ext>
            </a:extLst>
          </p:cNvPr>
          <p:cNvPicPr>
            <a:picLocks noChangeAspect="1"/>
          </p:cNvPicPr>
          <p:nvPr userDrawn="1"/>
        </p:nvPicPr>
        <p:blipFill rotWithShape="1">
          <a:blip r:embed="rId2"/>
          <a:srcRect l="108" r="108"/>
          <a:stretch/>
        </p:blipFill>
        <p:spPr>
          <a:xfrm>
            <a:off x="0" y="5972174"/>
            <a:ext cx="12192000" cy="885825"/>
          </a:xfrm>
          <a:prstGeom prst="rect">
            <a:avLst/>
          </a:prstGeom>
        </p:spPr>
      </p:pic>
    </p:spTree>
    <p:extLst>
      <p:ext uri="{BB962C8B-B14F-4D97-AF65-F5344CB8AC3E}">
        <p14:creationId xmlns:p14="http://schemas.microsoft.com/office/powerpoint/2010/main" val="495523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9690444"/>
      </p:ext>
    </p:extLst>
  </p:cSld>
  <p:clrMap bg1="dk1" tx1="lt1" bg2="dk2" tx2="lt2" accent1="accent1" accent2="accent2" accent3="accent3" accent4="accent4" accent5="accent5" accent6="accent6" hlink="hlink" folHlink="folHlink"/>
  <p:sldLayoutIdLst>
    <p:sldLayoutId id="2147483689" r:id="rId1"/>
    <p:sldLayoutId id="2147483699" r:id="rId2"/>
    <p:sldLayoutId id="2147483700" r:id="rId3"/>
    <p:sldLayoutId id="2147483688" r:id="rId4"/>
    <p:sldLayoutId id="2147483704" r:id="rId5"/>
    <p:sldLayoutId id="2147483701" r:id="rId6"/>
    <p:sldLayoutId id="2147483691" r:id="rId7"/>
    <p:sldLayoutId id="2147483702" r:id="rId8"/>
    <p:sldLayoutId id="2147483703" r:id="rId9"/>
    <p:sldLayoutId id="2147483690" r:id="rId10"/>
  </p:sldLayoutIdLst>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vervoe.com/age-diversity/"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open.maricopa.edu/culturepsychology/chapter/stereotypes-prejudice-and-discrimination/"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 xmlns:a16="http://schemas.microsoft.com/office/drawing/2014/main" id="{ED2DB031-9003-4F74-A88F-FE2A2ABABC72}"/>
              </a:ext>
            </a:extLst>
          </p:cNvPr>
          <p:cNvSpPr>
            <a:spLocks noGrp="1" noChangeArrowheads="1"/>
          </p:cNvSpPr>
          <p:nvPr>
            <p:ph type="title"/>
          </p:nvPr>
        </p:nvSpPr>
        <p:spPr>
          <a:xfrm>
            <a:off x="0" y="2445994"/>
            <a:ext cx="12192000" cy="1857205"/>
          </a:xfrm>
        </p:spPr>
        <p:txBody>
          <a:bodyPr anchor="ctr">
            <a:noAutofit/>
          </a:bodyPr>
          <a:lstStyle/>
          <a:p>
            <a:r>
              <a:rPr lang="en-US" altLang="en-US" dirty="0" smtClean="0"/>
              <a:t>Diversity and </a:t>
            </a:r>
            <a:r>
              <a:rPr lang="en-US" altLang="en-US" dirty="0"/>
              <a:t>C</a:t>
            </a:r>
            <a:r>
              <a:rPr lang="en-US" altLang="en-US" dirty="0" smtClean="0"/>
              <a:t>ulture</a:t>
            </a:r>
            <a:endParaRPr lang="en-US" altLang="en-US" dirty="0"/>
          </a:p>
        </p:txBody>
      </p:sp>
    </p:spTree>
    <p:extLst>
      <p:ext uri="{BB962C8B-B14F-4D97-AF65-F5344CB8AC3E}">
        <p14:creationId xmlns:p14="http://schemas.microsoft.com/office/powerpoint/2010/main" val="4074692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81740"/>
            <a:ext cx="6477000" cy="878889"/>
          </a:xfrm>
        </p:spPr>
        <p:txBody>
          <a:bodyPr/>
          <a:lstStyle/>
          <a:p>
            <a:r>
              <a:rPr lang="en-US" sz="3200" dirty="0" smtClean="0"/>
              <a:t>Why the study of diversity and culture is important?</a:t>
            </a:r>
            <a:endParaRPr lang="en-US" sz="3200" dirty="0"/>
          </a:p>
        </p:txBody>
      </p:sp>
      <p:sp>
        <p:nvSpPr>
          <p:cNvPr id="3" name="Text Placeholder 2"/>
          <p:cNvSpPr>
            <a:spLocks noGrp="1"/>
          </p:cNvSpPr>
          <p:nvPr>
            <p:ph type="body" sz="quarter" idx="11"/>
          </p:nvPr>
        </p:nvSpPr>
        <p:spPr>
          <a:xfrm>
            <a:off x="761999" y="1438183"/>
            <a:ext cx="6792897" cy="5113537"/>
          </a:xfrm>
        </p:spPr>
        <p:txBody>
          <a:bodyPr/>
          <a:lstStyle/>
          <a:p>
            <a:r>
              <a:rPr lang="en-US" sz="2000" dirty="0" smtClean="0"/>
              <a:t>Broadened Perspectives: </a:t>
            </a:r>
            <a:r>
              <a:rPr lang="en-US" sz="2000" b="0" dirty="0"/>
              <a:t>Exposure to diverse cultures fosters open-mindedness and a broader worldview, helping students understand and appreciate different perspectives</a:t>
            </a:r>
            <a:r>
              <a:rPr lang="en-US" sz="2000" b="0" dirty="0" smtClean="0"/>
              <a:t>.</a:t>
            </a:r>
            <a:endParaRPr lang="en-US" sz="2000" b="0" dirty="0"/>
          </a:p>
          <a:p>
            <a:r>
              <a:rPr lang="en-US" sz="2000" dirty="0" smtClean="0"/>
              <a:t>Critical Thinking: </a:t>
            </a:r>
            <a:r>
              <a:rPr lang="en-US" sz="2000" b="0" dirty="0"/>
              <a:t>Engaging with various cultural contexts encourages critical thinking about social issues, power dynamics, and the impact of cultural norms on behavior</a:t>
            </a:r>
            <a:r>
              <a:rPr lang="en-US" sz="2000" b="0" dirty="0" smtClean="0"/>
              <a:t>.</a:t>
            </a:r>
            <a:endParaRPr lang="en-US" sz="2000" b="0" dirty="0"/>
          </a:p>
          <a:p>
            <a:r>
              <a:rPr lang="en-US" sz="2000" dirty="0" smtClean="0"/>
              <a:t>Improved Communication: </a:t>
            </a:r>
            <a:r>
              <a:rPr lang="en-US" sz="2000" b="0" dirty="0"/>
              <a:t>Understanding cultural differences enhances communication skills, which are essential in both personal and professional contexts, especially in a globalized world</a:t>
            </a:r>
            <a:r>
              <a:rPr lang="en-US" sz="2000" b="0" dirty="0" smtClean="0"/>
              <a:t>.</a:t>
            </a:r>
            <a:endParaRPr lang="en-US" sz="2000" b="0" dirty="0"/>
          </a:p>
          <a:p>
            <a:r>
              <a:rPr lang="en-US" sz="2000" dirty="0" smtClean="0"/>
              <a:t>Social Responsibility: </a:t>
            </a:r>
            <a:r>
              <a:rPr lang="en-US" sz="2000" b="0" dirty="0"/>
              <a:t>Awareness of diversity promotes social responsibility and empathy, preparing students to engage thoughtfully with diverse communities and advocate for social justice</a:t>
            </a:r>
            <a:r>
              <a:rPr lang="en-US" sz="2000" b="0" dirty="0" smtClean="0"/>
              <a:t>.</a:t>
            </a:r>
            <a:endParaRPr lang="en-US" sz="2000" b="0" dirty="0"/>
          </a:p>
        </p:txBody>
      </p:sp>
    </p:spTree>
    <p:extLst>
      <p:ext uri="{BB962C8B-B14F-4D97-AF65-F5344CB8AC3E}">
        <p14:creationId xmlns:p14="http://schemas.microsoft.com/office/powerpoint/2010/main" val="555656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577049"/>
            <a:ext cx="6477000" cy="692458"/>
          </a:xfrm>
        </p:spPr>
        <p:txBody>
          <a:bodyPr/>
          <a:lstStyle/>
          <a:p>
            <a:r>
              <a:rPr lang="en-US" dirty="0" smtClean="0"/>
              <a:t>Cont’d</a:t>
            </a:r>
            <a:endParaRPr lang="en-US" dirty="0"/>
          </a:p>
        </p:txBody>
      </p:sp>
      <p:sp>
        <p:nvSpPr>
          <p:cNvPr id="3" name="Text Placeholder 2"/>
          <p:cNvSpPr>
            <a:spLocks noGrp="1"/>
          </p:cNvSpPr>
          <p:nvPr>
            <p:ph type="body" sz="quarter" idx="11"/>
          </p:nvPr>
        </p:nvSpPr>
        <p:spPr>
          <a:xfrm>
            <a:off x="762000" y="1518081"/>
            <a:ext cx="6863918" cy="4589755"/>
          </a:xfrm>
        </p:spPr>
        <p:txBody>
          <a:bodyPr/>
          <a:lstStyle/>
          <a:p>
            <a:r>
              <a:rPr lang="en-US" sz="2000" dirty="0" smtClean="0"/>
              <a:t>Workplace Preparedness: </a:t>
            </a:r>
            <a:r>
              <a:rPr lang="en-US" sz="2000" b="0" dirty="0"/>
              <a:t>Many careers require collaboration with people from different backgrounds. Familiarity with cultural diversity equips students to work effectively in diverse teams.</a:t>
            </a:r>
          </a:p>
          <a:p>
            <a:r>
              <a:rPr lang="en-US" sz="2000" dirty="0" smtClean="0"/>
              <a:t>Innovation </a:t>
            </a:r>
            <a:r>
              <a:rPr lang="en-US" sz="2000" dirty="0"/>
              <a:t>and </a:t>
            </a:r>
            <a:r>
              <a:rPr lang="en-US" sz="2000" dirty="0" smtClean="0"/>
              <a:t>Creativity: </a:t>
            </a:r>
            <a:r>
              <a:rPr lang="en-US" sz="2000" b="0" dirty="0"/>
              <a:t>Exposure to varied cultural ideas can inspire creativity and innovation, as diverse viewpoints often lead to new solutions and approaches.</a:t>
            </a:r>
          </a:p>
          <a:p>
            <a:r>
              <a:rPr lang="en-US" sz="2000" dirty="0" smtClean="0"/>
              <a:t>Personal Growth: </a:t>
            </a:r>
            <a:r>
              <a:rPr lang="en-US" sz="2000" b="0" dirty="0"/>
              <a:t>Engaging with different cultures fosters personal development, self-awareness, and a deeper understanding of one’s own cultural identity.</a:t>
            </a:r>
          </a:p>
          <a:p>
            <a:r>
              <a:rPr lang="en-US" sz="2000" b="0" dirty="0"/>
              <a:t>Overall, the study of culture and diversity enriches the educational experience and prepares students to navigate an increasingly interconnected world</a:t>
            </a:r>
            <a:r>
              <a:rPr lang="en-US" sz="1600" b="0" dirty="0"/>
              <a:t>.</a:t>
            </a:r>
          </a:p>
          <a:p>
            <a:endParaRPr lang="en-US" dirty="0"/>
          </a:p>
        </p:txBody>
      </p:sp>
    </p:spTree>
    <p:extLst>
      <p:ext uri="{BB962C8B-B14F-4D97-AF65-F5344CB8AC3E}">
        <p14:creationId xmlns:p14="http://schemas.microsoft.com/office/powerpoint/2010/main" val="2184638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 xmlns:a16="http://schemas.microsoft.com/office/drawing/2014/main" id="{87BA0B6F-5258-479C-87B7-C806E6757035}"/>
              </a:ext>
            </a:extLst>
          </p:cNvPr>
          <p:cNvSpPr>
            <a:spLocks noGrp="1"/>
          </p:cNvSpPr>
          <p:nvPr>
            <p:ph type="title"/>
          </p:nvPr>
        </p:nvSpPr>
        <p:spPr>
          <a:xfrm>
            <a:off x="762000" y="408373"/>
            <a:ext cx="6477000" cy="722222"/>
          </a:xfrm>
        </p:spPr>
        <p:txBody>
          <a:bodyPr/>
          <a:lstStyle/>
          <a:p>
            <a:r>
              <a:rPr lang="en-US" dirty="0" smtClean="0"/>
              <a:t>Diversity</a:t>
            </a:r>
            <a:endParaRPr lang="en-US" dirty="0"/>
          </a:p>
        </p:txBody>
      </p:sp>
      <p:sp>
        <p:nvSpPr>
          <p:cNvPr id="2" name="Text Placeholder 1">
            <a:extLst>
              <a:ext uri="{FF2B5EF4-FFF2-40B4-BE49-F238E27FC236}">
                <a16:creationId xmlns="" xmlns:a16="http://schemas.microsoft.com/office/drawing/2014/main" id="{3F36812B-2065-4A2B-B59B-8957022687BC}"/>
              </a:ext>
            </a:extLst>
          </p:cNvPr>
          <p:cNvSpPr>
            <a:spLocks noGrp="1"/>
          </p:cNvSpPr>
          <p:nvPr>
            <p:ph type="body" sz="quarter" idx="11"/>
          </p:nvPr>
        </p:nvSpPr>
        <p:spPr>
          <a:xfrm>
            <a:off x="532660" y="1319074"/>
            <a:ext cx="7020757" cy="4921928"/>
          </a:xfrm>
        </p:spPr>
        <p:txBody>
          <a:bodyPr/>
          <a:lstStyle/>
          <a:p>
            <a:pPr marL="342900" indent="-342900" algn="just">
              <a:buFont typeface="Arial" panose="020B0604020202020204" pitchFamily="34" charset="0"/>
              <a:buChar char="•"/>
            </a:pPr>
            <a:r>
              <a:rPr lang="en-US" sz="2400" b="0" dirty="0"/>
              <a:t>Diversity refers to the ways in which people are </a:t>
            </a:r>
            <a:r>
              <a:rPr lang="en-US" sz="2400" dirty="0"/>
              <a:t>similar or different from each other</a:t>
            </a:r>
            <a:r>
              <a:rPr lang="en-US" sz="2400" b="0" dirty="0"/>
              <a:t>. It may be defined by any characteristic that varies within a particular work unit such as gender, race, age, education, tenure, or functional background</a:t>
            </a:r>
            <a:r>
              <a:rPr lang="en-US" sz="2400" b="0" dirty="0" smtClean="0">
                <a:latin typeface="Calibri" panose="020F0502020204030204" pitchFamily="34" charset="0"/>
                <a:cs typeface="Calibri" panose="020F0502020204030204" pitchFamily="34" charset="0"/>
              </a:rPr>
              <a:t>. </a:t>
            </a:r>
            <a:endParaRPr lang="en-US" sz="2400" b="0" dirty="0">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en-US" sz="2400" b="0" dirty="0" smtClean="0">
                <a:latin typeface="Calibri" panose="020F0502020204030204" pitchFamily="34" charset="0"/>
                <a:cs typeface="Calibri" panose="020F0502020204030204" pitchFamily="34" charset="0"/>
              </a:rPr>
              <a:t>What are the </a:t>
            </a:r>
            <a:r>
              <a:rPr lang="en-US" sz="2400" dirty="0" smtClean="0">
                <a:latin typeface="Calibri" panose="020F0502020204030204" pitchFamily="34" charset="0"/>
                <a:cs typeface="Calibri" panose="020F0502020204030204" pitchFamily="34" charset="0"/>
              </a:rPr>
              <a:t>benefits and challenges </a:t>
            </a:r>
            <a:r>
              <a:rPr lang="en-US" sz="2400" b="0" dirty="0" smtClean="0">
                <a:latin typeface="Calibri" panose="020F0502020204030204" pitchFamily="34" charset="0"/>
                <a:cs typeface="Calibri" panose="020F0502020204030204" pitchFamily="34" charset="0"/>
              </a:rPr>
              <a:t>of diversity in the organizations?</a:t>
            </a:r>
            <a:endParaRPr lang="en-US" sz="2400" b="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61669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417349"/>
            <a:ext cx="6477000" cy="668956"/>
          </a:xfrm>
        </p:spPr>
        <p:txBody>
          <a:bodyPr/>
          <a:lstStyle/>
          <a:p>
            <a:r>
              <a:rPr lang="en-US" dirty="0"/>
              <a:t>Levels of Diversity</a:t>
            </a:r>
          </a:p>
        </p:txBody>
      </p:sp>
      <p:sp>
        <p:nvSpPr>
          <p:cNvPr id="3" name="Text Placeholder 2"/>
          <p:cNvSpPr>
            <a:spLocks noGrp="1"/>
          </p:cNvSpPr>
          <p:nvPr>
            <p:ph type="body" sz="quarter" idx="11"/>
          </p:nvPr>
        </p:nvSpPr>
        <p:spPr>
          <a:xfrm>
            <a:off x="602202" y="1255819"/>
            <a:ext cx="6636798" cy="4736608"/>
          </a:xfrm>
        </p:spPr>
        <p:txBody>
          <a:bodyPr/>
          <a:lstStyle/>
          <a:p>
            <a:r>
              <a:rPr lang="en-US" sz="2400" dirty="0" smtClean="0"/>
              <a:t>Surface-level diversity: </a:t>
            </a:r>
            <a:r>
              <a:rPr lang="en-US" sz="2400" b="0" dirty="0"/>
              <a:t>Differences in easily perceived characteristics, such as gender, race, ethnicity, or age, that do not necessarily reflect the ways people think or feel but that may activate certain stereotypes</a:t>
            </a:r>
            <a:r>
              <a:rPr lang="en-US" sz="2400" b="0" dirty="0" smtClean="0"/>
              <a:t>.</a:t>
            </a:r>
          </a:p>
          <a:p>
            <a:endParaRPr lang="en-US" sz="2400" b="0" dirty="0"/>
          </a:p>
          <a:p>
            <a:r>
              <a:rPr lang="en-US" sz="2400" dirty="0" smtClean="0"/>
              <a:t>Deep-level diversity: </a:t>
            </a:r>
            <a:r>
              <a:rPr lang="en-US" sz="2400" b="0" dirty="0"/>
              <a:t>Differences in values, personality, and work preferences that become progressively more important for determining similarity as people get to know one another better.</a:t>
            </a:r>
          </a:p>
        </p:txBody>
      </p:sp>
      <p:pic>
        <p:nvPicPr>
          <p:cNvPr id="4" name="Picture 3"/>
          <p:cNvPicPr>
            <a:picLocks noChangeAspect="1"/>
          </p:cNvPicPr>
          <p:nvPr/>
        </p:nvPicPr>
        <p:blipFill>
          <a:blip r:embed="rId2"/>
          <a:stretch>
            <a:fillRect/>
          </a:stretch>
        </p:blipFill>
        <p:spPr>
          <a:xfrm>
            <a:off x="6886866" y="3648722"/>
            <a:ext cx="5305133" cy="3209278"/>
          </a:xfrm>
          <a:prstGeom prst="rect">
            <a:avLst/>
          </a:prstGeom>
        </p:spPr>
      </p:pic>
    </p:spTree>
    <p:extLst>
      <p:ext uri="{BB962C8B-B14F-4D97-AF65-F5344CB8AC3E}">
        <p14:creationId xmlns:p14="http://schemas.microsoft.com/office/powerpoint/2010/main" val="1954750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762000" y="1535837"/>
            <a:ext cx="6477000" cy="3645763"/>
          </a:xfrm>
        </p:spPr>
        <p:txBody>
          <a:bodyPr/>
          <a:lstStyle/>
          <a:p>
            <a:r>
              <a:rPr lang="en-US" sz="2400" dirty="0" smtClean="0"/>
              <a:t>Biographical characteristics: </a:t>
            </a:r>
            <a:r>
              <a:rPr lang="en-US" sz="2400" b="0" dirty="0"/>
              <a:t>Personal characteristics—such as age, gender, race, and ethnicity—that are objective and easily obtained from personnel records. These characteristics are representative of </a:t>
            </a:r>
            <a:r>
              <a:rPr lang="en-US" sz="2400" dirty="0"/>
              <a:t>surface-level </a:t>
            </a:r>
            <a:r>
              <a:rPr lang="en-US" sz="2400" dirty="0" smtClean="0"/>
              <a:t>diversity.</a:t>
            </a:r>
          </a:p>
          <a:p>
            <a:endParaRPr lang="en-US" dirty="0"/>
          </a:p>
        </p:txBody>
      </p:sp>
    </p:spTree>
    <p:extLst>
      <p:ext uri="{BB962C8B-B14F-4D97-AF65-F5344CB8AC3E}">
        <p14:creationId xmlns:p14="http://schemas.microsoft.com/office/powerpoint/2010/main" val="777759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136342" y="0"/>
            <a:ext cx="5708341" cy="6867178"/>
          </a:xfrm>
          <a:prstGeom prst="rect">
            <a:avLst/>
          </a:prstGeom>
        </p:spPr>
      </p:pic>
    </p:spTree>
    <p:extLst>
      <p:ext uri="{BB962C8B-B14F-4D97-AF65-F5344CB8AC3E}">
        <p14:creationId xmlns:p14="http://schemas.microsoft.com/office/powerpoint/2010/main" val="3119610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1999" y="378609"/>
            <a:ext cx="6477000" cy="837631"/>
          </a:xfrm>
        </p:spPr>
        <p:txBody>
          <a:bodyPr/>
          <a:lstStyle/>
          <a:p>
            <a:r>
              <a:rPr lang="en-US" dirty="0" smtClean="0"/>
              <a:t>Age in the workplace</a:t>
            </a:r>
            <a:endParaRPr lang="en-US" dirty="0"/>
          </a:p>
        </p:txBody>
      </p:sp>
      <p:sp>
        <p:nvSpPr>
          <p:cNvPr id="3" name="Text Placeholder 2"/>
          <p:cNvSpPr>
            <a:spLocks noGrp="1"/>
          </p:cNvSpPr>
          <p:nvPr>
            <p:ph type="body" sz="quarter" idx="11"/>
          </p:nvPr>
        </p:nvSpPr>
        <p:spPr>
          <a:xfrm>
            <a:off x="761999" y="1313894"/>
            <a:ext cx="6846164" cy="4518734"/>
          </a:xfrm>
        </p:spPr>
        <p:txBody>
          <a:bodyPr/>
          <a:lstStyle/>
          <a:p>
            <a:r>
              <a:rPr lang="en-US" sz="2400" dirty="0" smtClean="0"/>
              <a:t>Age: </a:t>
            </a:r>
            <a:r>
              <a:rPr lang="en-US" sz="2400" b="0" dirty="0"/>
              <a:t>Age in the workforce is likely to be an issue of increasing importance during the next decade for many reasons. For one, the </a:t>
            </a:r>
            <a:r>
              <a:rPr lang="en-US" sz="2400" dirty="0"/>
              <a:t>workforce is aging </a:t>
            </a:r>
            <a:r>
              <a:rPr lang="en-US" sz="2400" dirty="0" smtClean="0"/>
              <a:t>worldwide </a:t>
            </a:r>
            <a:r>
              <a:rPr lang="en-US" sz="2400" dirty="0"/>
              <a:t>in most developed </a:t>
            </a:r>
            <a:r>
              <a:rPr lang="en-US" sz="2400" dirty="0" smtClean="0"/>
              <a:t>countries</a:t>
            </a:r>
            <a:r>
              <a:rPr lang="en-US" sz="2400" b="0" dirty="0" smtClean="0"/>
              <a:t>.</a:t>
            </a:r>
          </a:p>
          <a:p>
            <a:r>
              <a:rPr lang="en-US" sz="2400" b="0" dirty="0"/>
              <a:t>Stereotypes of older workers as being </a:t>
            </a:r>
            <a:r>
              <a:rPr lang="en-US" sz="2400" dirty="0"/>
              <a:t>behind the times</a:t>
            </a:r>
            <a:r>
              <a:rPr lang="en-US" sz="2400" b="0" dirty="0"/>
              <a:t>, </a:t>
            </a:r>
            <a:r>
              <a:rPr lang="en-US" sz="2400" dirty="0"/>
              <a:t>grumpy</a:t>
            </a:r>
            <a:r>
              <a:rPr lang="en-US" sz="2400" b="0" dirty="0"/>
              <a:t>, and </a:t>
            </a:r>
            <a:r>
              <a:rPr lang="en-US" sz="2400" dirty="0"/>
              <a:t>inflexible</a:t>
            </a:r>
            <a:r>
              <a:rPr lang="en-US" sz="2400" b="0" dirty="0"/>
              <a:t> are changing. Managers often see a number of positive qualities that older </a:t>
            </a:r>
            <a:r>
              <a:rPr lang="en-US" sz="2400" b="0" dirty="0" smtClean="0"/>
              <a:t>workers </a:t>
            </a:r>
            <a:r>
              <a:rPr lang="en-US" sz="2400" b="0" dirty="0"/>
              <a:t>bring to their jobs, such as </a:t>
            </a:r>
            <a:r>
              <a:rPr lang="en-US" sz="2400" dirty="0"/>
              <a:t>experience</a:t>
            </a:r>
            <a:r>
              <a:rPr lang="en-US" sz="2400" b="0" dirty="0"/>
              <a:t>, </a:t>
            </a:r>
            <a:r>
              <a:rPr lang="en-US" sz="2400" dirty="0"/>
              <a:t>judgment</a:t>
            </a:r>
            <a:r>
              <a:rPr lang="en-US" sz="2400" b="0" dirty="0"/>
              <a:t>, a </a:t>
            </a:r>
            <a:r>
              <a:rPr lang="en-US" sz="2400" dirty="0"/>
              <a:t>strong work ethic</a:t>
            </a:r>
            <a:r>
              <a:rPr lang="en-US" sz="2400" b="0" dirty="0"/>
              <a:t>, and a </a:t>
            </a:r>
            <a:r>
              <a:rPr lang="en-US" sz="2400" dirty="0"/>
              <a:t>commitment</a:t>
            </a:r>
            <a:r>
              <a:rPr lang="en-US" sz="2400" b="0" dirty="0"/>
              <a:t> to </a:t>
            </a:r>
            <a:r>
              <a:rPr lang="en-US" sz="2400" b="0" dirty="0" smtClean="0"/>
              <a:t>quality.</a:t>
            </a:r>
            <a:endParaRPr lang="en-US" sz="2400" b="0" dirty="0"/>
          </a:p>
        </p:txBody>
      </p:sp>
    </p:spTree>
    <p:extLst>
      <p:ext uri="{BB962C8B-B14F-4D97-AF65-F5344CB8AC3E}">
        <p14:creationId xmlns:p14="http://schemas.microsoft.com/office/powerpoint/2010/main" val="2988379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7351"/>
            <a:ext cx="6477000" cy="807868"/>
          </a:xfrm>
        </p:spPr>
        <p:txBody>
          <a:bodyPr/>
          <a:lstStyle/>
          <a:p>
            <a:r>
              <a:rPr lang="en-US" dirty="0" smtClean="0"/>
              <a:t>Generational Differences</a:t>
            </a:r>
            <a:endParaRPr lang="en-US" dirty="0"/>
          </a:p>
        </p:txBody>
      </p:sp>
      <p:sp>
        <p:nvSpPr>
          <p:cNvPr id="3" name="Text Placeholder 2"/>
          <p:cNvSpPr>
            <a:spLocks noGrp="1"/>
          </p:cNvSpPr>
          <p:nvPr>
            <p:ph type="body" sz="quarter" idx="11"/>
          </p:nvPr>
        </p:nvSpPr>
        <p:spPr>
          <a:xfrm>
            <a:off x="762000" y="1242874"/>
            <a:ext cx="6766264" cy="5078027"/>
          </a:xfrm>
        </p:spPr>
        <p:txBody>
          <a:bodyPr/>
          <a:lstStyle/>
          <a:p>
            <a:pPr fontAlgn="base"/>
            <a:r>
              <a:rPr lang="en-US" sz="2400" u="sng" dirty="0"/>
              <a:t>Baby Boomers</a:t>
            </a:r>
          </a:p>
          <a:p>
            <a:pPr fontAlgn="base"/>
            <a:r>
              <a:rPr lang="en-US" sz="2400" b="0" dirty="0"/>
              <a:t>Baby Boomers are roughly between the ages of </a:t>
            </a:r>
            <a:r>
              <a:rPr lang="en-US" sz="2400" dirty="0"/>
              <a:t>55 and 75</a:t>
            </a:r>
            <a:r>
              <a:rPr lang="en-US" sz="2400" b="0" dirty="0"/>
              <a:t>. This generation of workers tends to </a:t>
            </a:r>
            <a:r>
              <a:rPr lang="en-US" sz="2400" dirty="0"/>
              <a:t>seek advancement </a:t>
            </a:r>
            <a:r>
              <a:rPr lang="en-US" sz="2400" b="0" dirty="0"/>
              <a:t>and be </a:t>
            </a:r>
            <a:r>
              <a:rPr lang="en-US" sz="2400" dirty="0"/>
              <a:t>goal-oriented</a:t>
            </a:r>
            <a:r>
              <a:rPr lang="en-US" sz="2400" b="0" dirty="0"/>
              <a:t> in their careers. They value </a:t>
            </a:r>
            <a:r>
              <a:rPr lang="en-US" sz="2400" dirty="0"/>
              <a:t>in-person interaction </a:t>
            </a:r>
            <a:r>
              <a:rPr lang="en-US" sz="2400" b="0" dirty="0"/>
              <a:t>and some </a:t>
            </a:r>
            <a:r>
              <a:rPr lang="en-US" sz="2400" dirty="0"/>
              <a:t>structure, or hierarchy</a:t>
            </a:r>
            <a:r>
              <a:rPr lang="en-US" sz="2400" b="0" dirty="0"/>
              <a:t>, in the workplace. </a:t>
            </a:r>
          </a:p>
          <a:p>
            <a:endParaRPr lang="en-US" dirty="0"/>
          </a:p>
        </p:txBody>
      </p:sp>
    </p:spTree>
    <p:extLst>
      <p:ext uri="{BB962C8B-B14F-4D97-AF65-F5344CB8AC3E}">
        <p14:creationId xmlns:p14="http://schemas.microsoft.com/office/powerpoint/2010/main" val="432242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715961"/>
            <a:ext cx="6477000" cy="846509"/>
          </a:xfrm>
        </p:spPr>
        <p:txBody>
          <a:bodyPr/>
          <a:lstStyle/>
          <a:p>
            <a:r>
              <a:rPr lang="en-US" dirty="0"/>
              <a:t>Generation </a:t>
            </a:r>
            <a:r>
              <a:rPr lang="en-US" dirty="0" smtClean="0"/>
              <a:t>X</a:t>
            </a:r>
            <a:endParaRPr lang="en-US" dirty="0"/>
          </a:p>
        </p:txBody>
      </p:sp>
      <p:sp>
        <p:nvSpPr>
          <p:cNvPr id="3" name="Text Placeholder 2"/>
          <p:cNvSpPr>
            <a:spLocks noGrp="1"/>
          </p:cNvSpPr>
          <p:nvPr>
            <p:ph type="body" sz="quarter" idx="11"/>
          </p:nvPr>
        </p:nvSpPr>
        <p:spPr>
          <a:xfrm>
            <a:off x="762000" y="1905000"/>
            <a:ext cx="6872796" cy="3276600"/>
          </a:xfrm>
        </p:spPr>
        <p:txBody>
          <a:bodyPr/>
          <a:lstStyle/>
          <a:p>
            <a:pPr fontAlgn="base"/>
            <a:r>
              <a:rPr lang="en-US" sz="2400" b="0" dirty="0" smtClean="0"/>
              <a:t>Members </a:t>
            </a:r>
            <a:r>
              <a:rPr lang="en-US" sz="2400" b="0" dirty="0"/>
              <a:t>of Generation X are currently between the ages of </a:t>
            </a:r>
            <a:r>
              <a:rPr lang="en-US" sz="2400" dirty="0"/>
              <a:t>40 and 60</a:t>
            </a:r>
            <a:r>
              <a:rPr lang="en-US" sz="2400" b="0" dirty="0"/>
              <a:t>, roughly speaking. These employees are approaching the </a:t>
            </a:r>
            <a:r>
              <a:rPr lang="en-US" sz="2400" dirty="0"/>
              <a:t>midpoint</a:t>
            </a:r>
            <a:r>
              <a:rPr lang="en-US" sz="2400" b="0" dirty="0"/>
              <a:t> of their careers and potential peak-earning years. As the first generation to experience </a:t>
            </a:r>
            <a:r>
              <a:rPr lang="en-US" sz="2400" dirty="0"/>
              <a:t>both parents working outside </a:t>
            </a:r>
            <a:r>
              <a:rPr lang="en-US" sz="2400" b="0" dirty="0"/>
              <a:t>the home, these employees tend to be </a:t>
            </a:r>
            <a:r>
              <a:rPr lang="en-US" sz="2400" dirty="0"/>
              <a:t>hard-working, adaptable, and digitally savvy</a:t>
            </a:r>
            <a:r>
              <a:rPr lang="en-US" sz="2400" b="0" dirty="0"/>
              <a:t>. </a:t>
            </a:r>
          </a:p>
          <a:p>
            <a:endParaRPr lang="en-US" dirty="0"/>
          </a:p>
        </p:txBody>
      </p:sp>
    </p:spTree>
    <p:extLst>
      <p:ext uri="{BB962C8B-B14F-4D97-AF65-F5344CB8AC3E}">
        <p14:creationId xmlns:p14="http://schemas.microsoft.com/office/powerpoint/2010/main" val="36662819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21942"/>
            <a:ext cx="6477000" cy="727969"/>
          </a:xfrm>
        </p:spPr>
        <p:txBody>
          <a:bodyPr/>
          <a:lstStyle/>
          <a:p>
            <a:r>
              <a:rPr lang="en-US" dirty="0" smtClean="0"/>
              <a:t>Cont’d</a:t>
            </a:r>
            <a:endParaRPr lang="en-US" dirty="0"/>
          </a:p>
        </p:txBody>
      </p:sp>
      <p:sp>
        <p:nvSpPr>
          <p:cNvPr id="3" name="Text Placeholder 2"/>
          <p:cNvSpPr>
            <a:spLocks noGrp="1"/>
          </p:cNvSpPr>
          <p:nvPr>
            <p:ph type="body" sz="quarter" idx="11"/>
          </p:nvPr>
        </p:nvSpPr>
        <p:spPr>
          <a:xfrm>
            <a:off x="762000" y="1020933"/>
            <a:ext cx="6477000" cy="3826276"/>
          </a:xfrm>
        </p:spPr>
        <p:txBody>
          <a:bodyPr/>
          <a:lstStyle/>
          <a:p>
            <a:pPr fontAlgn="base"/>
            <a:r>
              <a:rPr lang="en-US" sz="2400" u="sng" dirty="0"/>
              <a:t>Generation Y (</a:t>
            </a:r>
            <a:r>
              <a:rPr lang="en-US" sz="2400" u="sng" dirty="0" err="1"/>
              <a:t>Millennials</a:t>
            </a:r>
            <a:r>
              <a:rPr lang="en-US" sz="2400" u="sng" dirty="0"/>
              <a:t>)</a:t>
            </a:r>
          </a:p>
          <a:p>
            <a:pPr fontAlgn="base"/>
            <a:r>
              <a:rPr lang="en-US" sz="2400" b="0" dirty="0" err="1"/>
              <a:t>Millennials</a:t>
            </a:r>
            <a:r>
              <a:rPr lang="en-US" sz="2400" b="0" dirty="0"/>
              <a:t> are workers currently between the ages of 20 and 40. These employees are characterized as </a:t>
            </a:r>
            <a:r>
              <a:rPr lang="en-US" sz="2400" dirty="0"/>
              <a:t>tech-savvy</a:t>
            </a:r>
            <a:r>
              <a:rPr lang="en-US" sz="2400" b="0" dirty="0"/>
              <a:t>, </a:t>
            </a:r>
            <a:r>
              <a:rPr lang="en-US" sz="2400" dirty="0"/>
              <a:t>achievement-oriented</a:t>
            </a:r>
            <a:r>
              <a:rPr lang="en-US" sz="2400" b="0" dirty="0"/>
              <a:t>, and focused on using their professional careers to better the world. These workers seek to make their work mean something more than just a paycheck.</a:t>
            </a:r>
          </a:p>
          <a:p>
            <a:endParaRPr lang="en-US" dirty="0"/>
          </a:p>
        </p:txBody>
      </p:sp>
    </p:spTree>
    <p:extLst>
      <p:ext uri="{BB962C8B-B14F-4D97-AF65-F5344CB8AC3E}">
        <p14:creationId xmlns:p14="http://schemas.microsoft.com/office/powerpoint/2010/main" val="1157475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715961"/>
            <a:ext cx="6477000" cy="855387"/>
          </a:xfrm>
        </p:spPr>
        <p:txBody>
          <a:bodyPr/>
          <a:lstStyle/>
          <a:p>
            <a:r>
              <a:rPr lang="en-US" dirty="0"/>
              <a:t>Generation Z</a:t>
            </a:r>
            <a:r>
              <a:rPr lang="en-US" u="sng" dirty="0"/>
              <a:t/>
            </a:r>
            <a:br>
              <a:rPr lang="en-US" u="sng" dirty="0"/>
            </a:br>
            <a:endParaRPr lang="en-US" dirty="0"/>
          </a:p>
        </p:txBody>
      </p:sp>
      <p:sp>
        <p:nvSpPr>
          <p:cNvPr id="3" name="Text Placeholder 2"/>
          <p:cNvSpPr>
            <a:spLocks noGrp="1"/>
          </p:cNvSpPr>
          <p:nvPr>
            <p:ph type="body" sz="quarter" idx="11"/>
          </p:nvPr>
        </p:nvSpPr>
        <p:spPr>
          <a:xfrm>
            <a:off x="761999" y="1695635"/>
            <a:ext cx="6739631" cy="4714043"/>
          </a:xfrm>
        </p:spPr>
        <p:txBody>
          <a:bodyPr/>
          <a:lstStyle/>
          <a:p>
            <a:pPr fontAlgn="base"/>
            <a:r>
              <a:rPr lang="en-US" sz="2400" b="0" dirty="0" smtClean="0"/>
              <a:t>Generation </a:t>
            </a:r>
            <a:r>
              <a:rPr lang="en-US" sz="2400" b="0" dirty="0"/>
              <a:t>Z is the youngest group in the workforce, currently between the ages of 18 and 25 (though, note that many members of Gen Z aren’t of the legal age to enter the labor market just yet). So far, this generation seems most </a:t>
            </a:r>
            <a:r>
              <a:rPr lang="en-US" sz="2400" dirty="0"/>
              <a:t>motivated by salary</a:t>
            </a:r>
            <a:r>
              <a:rPr lang="en-US" sz="2400" b="0" dirty="0"/>
              <a:t>. They are the first </a:t>
            </a:r>
            <a:r>
              <a:rPr lang="en-US" sz="2400" dirty="0"/>
              <a:t>true digital natives</a:t>
            </a:r>
            <a:r>
              <a:rPr lang="en-US" sz="2400" b="0" dirty="0"/>
              <a:t>, having never grown up without the internet. Gen Z is also one of the most diverse generations to enter the workforce in history. </a:t>
            </a:r>
          </a:p>
          <a:p>
            <a:endParaRPr lang="en-US" dirty="0"/>
          </a:p>
        </p:txBody>
      </p:sp>
    </p:spTree>
    <p:extLst>
      <p:ext uri="{BB962C8B-B14F-4D97-AF65-F5344CB8AC3E}">
        <p14:creationId xmlns:p14="http://schemas.microsoft.com/office/powerpoint/2010/main" val="23062763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78609"/>
            <a:ext cx="6477000" cy="1189038"/>
          </a:xfrm>
        </p:spPr>
        <p:txBody>
          <a:bodyPr/>
          <a:lstStyle/>
          <a:p>
            <a:r>
              <a:rPr lang="en-US" b="0" dirty="0"/>
              <a:t>5 benefits of age diversity in the workplace</a:t>
            </a:r>
            <a:br>
              <a:rPr lang="en-US" b="0" dirty="0"/>
            </a:br>
            <a:endParaRPr lang="en-US" dirty="0"/>
          </a:p>
        </p:txBody>
      </p:sp>
      <p:sp>
        <p:nvSpPr>
          <p:cNvPr id="3" name="Text Placeholder 2"/>
          <p:cNvSpPr>
            <a:spLocks noGrp="1"/>
          </p:cNvSpPr>
          <p:nvPr>
            <p:ph type="body" sz="quarter" idx="11"/>
          </p:nvPr>
        </p:nvSpPr>
        <p:spPr>
          <a:xfrm>
            <a:off x="762000" y="1846555"/>
            <a:ext cx="6477000" cy="4172505"/>
          </a:xfrm>
        </p:spPr>
        <p:txBody>
          <a:bodyPr/>
          <a:lstStyle/>
          <a:p>
            <a:r>
              <a:rPr lang="en-US" sz="2400" b="0" dirty="0"/>
              <a:t>1. Increased productivity </a:t>
            </a:r>
          </a:p>
          <a:p>
            <a:r>
              <a:rPr lang="en-US" sz="2400" b="0" dirty="0"/>
              <a:t>2. Improve skill diversity </a:t>
            </a:r>
          </a:p>
          <a:p>
            <a:r>
              <a:rPr lang="en-US" sz="2400" b="0" dirty="0"/>
              <a:t>3. Build an inclusive business</a:t>
            </a:r>
          </a:p>
          <a:p>
            <a:r>
              <a:rPr lang="en-US" sz="2400" b="0" dirty="0"/>
              <a:t>4. Create mentorship opportunities</a:t>
            </a:r>
          </a:p>
          <a:p>
            <a:r>
              <a:rPr lang="en-US" sz="2400" b="0" dirty="0"/>
              <a:t>5. Improve employee retention</a:t>
            </a:r>
          </a:p>
          <a:p>
            <a:endParaRPr lang="en-US" dirty="0" smtClean="0"/>
          </a:p>
          <a:p>
            <a:endParaRPr lang="en-US" dirty="0" smtClean="0"/>
          </a:p>
          <a:p>
            <a:endParaRPr lang="en-US" dirty="0"/>
          </a:p>
          <a:p>
            <a:r>
              <a:rPr lang="en-US" sz="1100" dirty="0"/>
              <a:t>Source: </a:t>
            </a:r>
            <a:r>
              <a:rPr lang="en-US" sz="1100" dirty="0">
                <a:hlinkClick r:id="rId2"/>
              </a:rPr>
              <a:t>https://vervoe.com/age-diversity</a:t>
            </a:r>
            <a:r>
              <a:rPr lang="en-US" sz="1100" dirty="0" smtClean="0">
                <a:hlinkClick r:id="rId2"/>
              </a:rPr>
              <a:t>/</a:t>
            </a:r>
            <a:r>
              <a:rPr lang="en-US" sz="1100" dirty="0" smtClean="0"/>
              <a:t> </a:t>
            </a:r>
            <a:endParaRPr lang="en-US" sz="1100" dirty="0"/>
          </a:p>
        </p:txBody>
      </p:sp>
    </p:spTree>
    <p:extLst>
      <p:ext uri="{BB962C8B-B14F-4D97-AF65-F5344CB8AC3E}">
        <p14:creationId xmlns:p14="http://schemas.microsoft.com/office/powerpoint/2010/main" val="2600626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612559"/>
            <a:ext cx="6477000" cy="807868"/>
          </a:xfrm>
        </p:spPr>
        <p:txBody>
          <a:bodyPr/>
          <a:lstStyle/>
          <a:p>
            <a:r>
              <a:rPr lang="en-US" dirty="0" smtClean="0"/>
              <a:t>Prejudice and stereotypes</a:t>
            </a:r>
            <a:endParaRPr lang="en-US" dirty="0"/>
          </a:p>
        </p:txBody>
      </p:sp>
      <p:sp>
        <p:nvSpPr>
          <p:cNvPr id="3" name="Text Placeholder 2"/>
          <p:cNvSpPr>
            <a:spLocks noGrp="1"/>
          </p:cNvSpPr>
          <p:nvPr>
            <p:ph type="body" sz="quarter" idx="11"/>
          </p:nvPr>
        </p:nvSpPr>
        <p:spPr>
          <a:xfrm>
            <a:off x="762000" y="1669002"/>
            <a:ext cx="6477000" cy="3512598"/>
          </a:xfrm>
        </p:spPr>
        <p:txBody>
          <a:bodyPr/>
          <a:lstStyle/>
          <a:p>
            <a:r>
              <a:rPr lang="en-US" sz="2400" dirty="0"/>
              <a:t>Prejudice</a:t>
            </a:r>
            <a:r>
              <a:rPr lang="en-US" sz="2400" b="0" dirty="0"/>
              <a:t> is a preconceived, biased feeling or belief about a particular group of people or things. </a:t>
            </a:r>
          </a:p>
          <a:p>
            <a:r>
              <a:rPr lang="en-US" sz="2400" dirty="0"/>
              <a:t>Stereotypes</a:t>
            </a:r>
            <a:r>
              <a:rPr lang="en-US" sz="2400" b="0" dirty="0"/>
              <a:t> are characteristics that society instinctively attributes to groups of people to classify them according to </a:t>
            </a:r>
            <a:r>
              <a:rPr lang="en-US" sz="2400" b="0" dirty="0" smtClean="0"/>
              <a:t>age, </a:t>
            </a:r>
            <a:r>
              <a:rPr lang="en-US" sz="2400" b="0" dirty="0"/>
              <a:t>weight, occupation, skin </a:t>
            </a:r>
            <a:r>
              <a:rPr lang="en-US" sz="2400" b="0" dirty="0" smtClean="0"/>
              <a:t>color, </a:t>
            </a:r>
            <a:r>
              <a:rPr lang="en-US" sz="2400" b="0" dirty="0"/>
              <a:t>gender, </a:t>
            </a:r>
            <a:r>
              <a:rPr lang="en-US" sz="2400" b="0" dirty="0" smtClean="0"/>
              <a:t>etc.</a:t>
            </a:r>
          </a:p>
          <a:p>
            <a:endParaRPr lang="en-US" b="0" dirty="0"/>
          </a:p>
          <a:p>
            <a:endParaRPr lang="en-US" b="0" dirty="0" smtClean="0"/>
          </a:p>
          <a:p>
            <a:r>
              <a:rPr lang="en-US" sz="1200" dirty="0">
                <a:hlinkClick r:id="rId3"/>
              </a:rPr>
              <a:t>https://open.maricopa.edu/culturepsychology/chapter/stereotypes-prejudice-and-discrimination</a:t>
            </a:r>
            <a:r>
              <a:rPr lang="en-US" sz="1200" dirty="0" smtClean="0">
                <a:hlinkClick r:id="rId3"/>
              </a:rPr>
              <a:t>/</a:t>
            </a:r>
            <a:r>
              <a:rPr lang="en-US" sz="1200" dirty="0" smtClean="0"/>
              <a:t> </a:t>
            </a:r>
            <a:endParaRPr lang="en-US" sz="1200" dirty="0"/>
          </a:p>
        </p:txBody>
      </p:sp>
    </p:spTree>
    <p:extLst>
      <p:ext uri="{BB962C8B-B14F-4D97-AF65-F5344CB8AC3E}">
        <p14:creationId xmlns:p14="http://schemas.microsoft.com/office/powerpoint/2010/main" val="4253289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715961"/>
            <a:ext cx="6477000" cy="660078"/>
          </a:xfrm>
        </p:spPr>
        <p:txBody>
          <a:bodyPr/>
          <a:lstStyle/>
          <a:p>
            <a:r>
              <a:rPr lang="en-US" dirty="0" smtClean="0"/>
              <a:t>Discrimination</a:t>
            </a:r>
            <a:endParaRPr lang="en-US" dirty="0"/>
          </a:p>
        </p:txBody>
      </p:sp>
      <p:sp>
        <p:nvSpPr>
          <p:cNvPr id="3" name="Text Placeholder 2"/>
          <p:cNvSpPr>
            <a:spLocks noGrp="1"/>
          </p:cNvSpPr>
          <p:nvPr>
            <p:ph type="body" sz="quarter" idx="11"/>
          </p:nvPr>
        </p:nvSpPr>
        <p:spPr/>
        <p:txBody>
          <a:bodyPr/>
          <a:lstStyle/>
          <a:p>
            <a:r>
              <a:rPr lang="en-US" sz="2400" dirty="0" smtClean="0"/>
              <a:t>Discrimination: </a:t>
            </a:r>
            <a:r>
              <a:rPr lang="en-US" sz="2400" b="0" dirty="0"/>
              <a:t>Actions or behaviors that create, maintain, or reinforce some groups’ advantages over other groups and their members</a:t>
            </a:r>
            <a:r>
              <a:rPr lang="en-US" sz="2400" b="0" dirty="0" smtClean="0"/>
              <a:t>.</a:t>
            </a:r>
          </a:p>
          <a:p>
            <a:endParaRPr lang="en-US" dirty="0"/>
          </a:p>
          <a:p>
            <a:endParaRPr lang="en-US" dirty="0"/>
          </a:p>
        </p:txBody>
      </p:sp>
    </p:spTree>
    <p:extLst>
      <p:ext uri="{BB962C8B-B14F-4D97-AF65-F5344CB8AC3E}">
        <p14:creationId xmlns:p14="http://schemas.microsoft.com/office/powerpoint/2010/main" val="2988098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0"/>
            <a:ext cx="12203066" cy="6858000"/>
          </a:xfrm>
          <a:prstGeom prst="rect">
            <a:avLst/>
          </a:prstGeom>
        </p:spPr>
      </p:pic>
    </p:spTree>
    <p:extLst>
      <p:ext uri="{BB962C8B-B14F-4D97-AF65-F5344CB8AC3E}">
        <p14:creationId xmlns:p14="http://schemas.microsoft.com/office/powerpoint/2010/main" val="801574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715961"/>
            <a:ext cx="6477000" cy="642322"/>
          </a:xfrm>
        </p:spPr>
        <p:txBody>
          <a:bodyPr/>
          <a:lstStyle/>
          <a:p>
            <a:r>
              <a:rPr lang="en-US" dirty="0" smtClean="0"/>
              <a:t>Culture </a:t>
            </a:r>
            <a:endParaRPr lang="en-US" dirty="0"/>
          </a:p>
        </p:txBody>
      </p:sp>
      <p:sp>
        <p:nvSpPr>
          <p:cNvPr id="3" name="Text Placeholder 2"/>
          <p:cNvSpPr>
            <a:spLocks noGrp="1"/>
          </p:cNvSpPr>
          <p:nvPr>
            <p:ph type="body" sz="quarter" idx="11"/>
          </p:nvPr>
        </p:nvSpPr>
        <p:spPr>
          <a:xfrm>
            <a:off x="761999" y="1447060"/>
            <a:ext cx="6748509" cy="3734540"/>
          </a:xfrm>
        </p:spPr>
        <p:txBody>
          <a:bodyPr/>
          <a:lstStyle/>
          <a:p>
            <a:r>
              <a:rPr lang="en-US" sz="2400" b="0" dirty="0" smtClean="0"/>
              <a:t>The </a:t>
            </a:r>
            <a:r>
              <a:rPr lang="en-US" sz="2400" b="0" dirty="0"/>
              <a:t>word "culture" derives from a French term, which in turn derives from the Latin "</a:t>
            </a:r>
            <a:r>
              <a:rPr lang="en-US" sz="2400" b="0" dirty="0" err="1"/>
              <a:t>colere</a:t>
            </a:r>
            <a:r>
              <a:rPr lang="en-US" sz="2400" b="0" dirty="0"/>
              <a:t>," which means to tend to the earth and grow, or cultivation and nurture” (Cristina De Rossi) </a:t>
            </a:r>
            <a:r>
              <a:rPr lang="en-US" sz="2400" b="0" dirty="0" smtClean="0"/>
              <a:t> </a:t>
            </a:r>
          </a:p>
          <a:p>
            <a:r>
              <a:rPr lang="en-US" sz="2400" b="0" dirty="0" smtClean="0"/>
              <a:t>In </a:t>
            </a:r>
            <a:r>
              <a:rPr lang="en-US" sz="2400" b="0" dirty="0"/>
              <a:t>this sense culture is the man-made environment and the </a:t>
            </a:r>
            <a:r>
              <a:rPr lang="en-US" sz="2400" b="0" dirty="0" smtClean="0"/>
              <a:t>people </a:t>
            </a:r>
            <a:r>
              <a:rPr lang="en-US" sz="2400" b="0" dirty="0"/>
              <a:t>living in a society actually grow their way of life over time</a:t>
            </a:r>
            <a:r>
              <a:rPr lang="en-US" sz="2400" b="0" dirty="0" smtClean="0"/>
              <a:t>.</a:t>
            </a:r>
          </a:p>
          <a:p>
            <a:r>
              <a:rPr lang="en-US" sz="2400" b="0" dirty="0" smtClean="0"/>
              <a:t>Western </a:t>
            </a:r>
            <a:r>
              <a:rPr lang="en-US" sz="2400" b="0" dirty="0"/>
              <a:t>culture, European culture, </a:t>
            </a:r>
            <a:r>
              <a:rPr lang="en-US" sz="2400" b="0" dirty="0" smtClean="0"/>
              <a:t>Bengali </a:t>
            </a:r>
            <a:r>
              <a:rPr lang="en-US" sz="2400" b="0" dirty="0" err="1" smtClean="0"/>
              <a:t>cultureetc</a:t>
            </a:r>
            <a:r>
              <a:rPr lang="en-US" sz="2400" b="0" dirty="0" smtClean="0"/>
              <a:t>.</a:t>
            </a:r>
            <a:endParaRPr lang="en-US" sz="2400" b="0" dirty="0"/>
          </a:p>
        </p:txBody>
      </p:sp>
    </p:spTree>
    <p:extLst>
      <p:ext uri="{BB962C8B-B14F-4D97-AF65-F5344CB8AC3E}">
        <p14:creationId xmlns:p14="http://schemas.microsoft.com/office/powerpoint/2010/main" val="2019726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715961"/>
            <a:ext cx="6477000" cy="624567"/>
          </a:xfrm>
        </p:spPr>
        <p:txBody>
          <a:bodyPr/>
          <a:lstStyle/>
          <a:p>
            <a:r>
              <a:rPr lang="en-US" dirty="0" smtClean="0"/>
              <a:t>Defining Culture</a:t>
            </a:r>
            <a:endParaRPr lang="en-US" dirty="0"/>
          </a:p>
        </p:txBody>
      </p:sp>
      <p:sp>
        <p:nvSpPr>
          <p:cNvPr id="3" name="Text Placeholder 2"/>
          <p:cNvSpPr>
            <a:spLocks noGrp="1"/>
          </p:cNvSpPr>
          <p:nvPr>
            <p:ph type="body" sz="quarter" idx="11"/>
          </p:nvPr>
        </p:nvSpPr>
        <p:spPr>
          <a:xfrm>
            <a:off x="761999" y="1905000"/>
            <a:ext cx="6633099" cy="3581400"/>
          </a:xfrm>
        </p:spPr>
        <p:txBody>
          <a:bodyPr/>
          <a:lstStyle/>
          <a:p>
            <a:pPr marL="342900" indent="-342900">
              <a:buFont typeface="Arial" panose="020B0604020202020204" pitchFamily="34" charset="0"/>
              <a:buChar char="•"/>
            </a:pPr>
            <a:r>
              <a:rPr lang="en-US" sz="2400" b="0" dirty="0"/>
              <a:t>Culture … is that complex whole which includes knowledge, belief, arts, morals, laws, customs, and any other capabilities and habits acquired by man as a member of society. (Edward B. Taylor ,1871:1) </a:t>
            </a:r>
            <a:endParaRPr lang="en-US" sz="2400" b="0" dirty="0" smtClean="0"/>
          </a:p>
          <a:p>
            <a:pPr marL="342900" indent="-342900">
              <a:buFont typeface="Arial" panose="020B0604020202020204" pitchFamily="34" charset="0"/>
              <a:buChar char="•"/>
            </a:pPr>
            <a:r>
              <a:rPr lang="en-US" sz="2400" b="0" dirty="0" smtClean="0"/>
              <a:t>Culture </a:t>
            </a:r>
            <a:r>
              <a:rPr lang="en-US" sz="2400" b="0" dirty="0"/>
              <a:t>is the ways of thinking, the ways of acting, and the material objects that together form a people’s way of life (</a:t>
            </a:r>
            <a:r>
              <a:rPr lang="en-US" sz="2400" b="0" dirty="0" err="1"/>
              <a:t>Macionis</a:t>
            </a:r>
            <a:r>
              <a:rPr lang="en-US" sz="2400" b="0" dirty="0"/>
              <a:t>, 2012: 54)</a:t>
            </a:r>
          </a:p>
        </p:txBody>
      </p:sp>
    </p:spTree>
    <p:extLst>
      <p:ext uri="{BB962C8B-B14F-4D97-AF65-F5344CB8AC3E}">
        <p14:creationId xmlns:p14="http://schemas.microsoft.com/office/powerpoint/2010/main" val="3662997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715961"/>
            <a:ext cx="6477000" cy="731099"/>
          </a:xfrm>
        </p:spPr>
        <p:txBody>
          <a:bodyPr/>
          <a:lstStyle/>
          <a:p>
            <a:r>
              <a:rPr lang="en-US" dirty="0"/>
              <a:t>Characteristics of </a:t>
            </a:r>
            <a:r>
              <a:rPr lang="en-US" dirty="0" smtClean="0"/>
              <a:t>Culture</a:t>
            </a:r>
            <a:endParaRPr lang="en-US" dirty="0"/>
          </a:p>
        </p:txBody>
      </p:sp>
      <p:sp>
        <p:nvSpPr>
          <p:cNvPr id="3" name="Text Placeholder 2"/>
          <p:cNvSpPr>
            <a:spLocks noGrp="1"/>
          </p:cNvSpPr>
          <p:nvPr>
            <p:ph type="body" sz="quarter" idx="11"/>
          </p:nvPr>
        </p:nvSpPr>
        <p:spPr>
          <a:xfrm>
            <a:off x="762000" y="1562471"/>
            <a:ext cx="6477000" cy="4767308"/>
          </a:xfrm>
        </p:spPr>
        <p:txBody>
          <a:bodyPr/>
          <a:lstStyle/>
          <a:p>
            <a:r>
              <a:rPr lang="en-US" sz="2400" dirty="0" smtClean="0"/>
              <a:t>Culture </a:t>
            </a:r>
            <a:r>
              <a:rPr lang="en-US" sz="2400" dirty="0"/>
              <a:t>is learnt; </a:t>
            </a:r>
            <a:r>
              <a:rPr lang="en-US" sz="2400" b="0" dirty="0"/>
              <a:t>Culture is not inherited biologically, but </a:t>
            </a:r>
            <a:r>
              <a:rPr lang="en-US" sz="2400" dirty="0"/>
              <a:t>learnt</a:t>
            </a:r>
            <a:r>
              <a:rPr lang="en-US" sz="2400" b="0" dirty="0"/>
              <a:t> socially by man. It is not an inborn tendency. There is no cultural instinct as such culture is often “Learned ways of behavior”. </a:t>
            </a:r>
            <a:endParaRPr lang="en-US" sz="2400" b="0" dirty="0" smtClean="0"/>
          </a:p>
          <a:p>
            <a:r>
              <a:rPr lang="en-US" sz="2400" dirty="0" smtClean="0"/>
              <a:t>Culture </a:t>
            </a:r>
            <a:r>
              <a:rPr lang="en-US" sz="2400" dirty="0"/>
              <a:t>is social; </a:t>
            </a:r>
            <a:r>
              <a:rPr lang="en-US" sz="2400" b="0" dirty="0"/>
              <a:t>Culture does not exist in isolation. Neither is it an individual phenomenon</a:t>
            </a:r>
            <a:r>
              <a:rPr lang="en-US" sz="2400" dirty="0"/>
              <a:t>. It is a product of society.</a:t>
            </a:r>
            <a:r>
              <a:rPr lang="en-US" sz="2400" b="0" dirty="0"/>
              <a:t> It originates and develops through social interactions. It is shared by the members of </a:t>
            </a:r>
            <a:r>
              <a:rPr lang="en-US" sz="2400" b="0" dirty="0" smtClean="0"/>
              <a:t>society.</a:t>
            </a:r>
            <a:endParaRPr lang="en-US" sz="2400" b="0" dirty="0"/>
          </a:p>
        </p:txBody>
      </p:sp>
    </p:spTree>
    <p:extLst>
      <p:ext uri="{BB962C8B-B14F-4D97-AF65-F5344CB8AC3E}">
        <p14:creationId xmlns:p14="http://schemas.microsoft.com/office/powerpoint/2010/main" val="2488329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09933"/>
            <a:ext cx="6477000" cy="775488"/>
          </a:xfrm>
        </p:spPr>
        <p:txBody>
          <a:bodyPr/>
          <a:lstStyle/>
          <a:p>
            <a:r>
              <a:rPr lang="en-US" dirty="0" smtClean="0"/>
              <a:t>Cont’d</a:t>
            </a:r>
            <a:endParaRPr lang="en-US" dirty="0"/>
          </a:p>
        </p:txBody>
      </p:sp>
      <p:sp>
        <p:nvSpPr>
          <p:cNvPr id="3" name="Text Placeholder 2"/>
          <p:cNvSpPr>
            <a:spLocks noGrp="1"/>
          </p:cNvSpPr>
          <p:nvPr>
            <p:ph type="body" sz="quarter" idx="11"/>
          </p:nvPr>
        </p:nvSpPr>
        <p:spPr>
          <a:xfrm>
            <a:off x="762000" y="1091953"/>
            <a:ext cx="6477000" cy="5175682"/>
          </a:xfrm>
        </p:spPr>
        <p:txBody>
          <a:bodyPr/>
          <a:lstStyle/>
          <a:p>
            <a:r>
              <a:rPr lang="en-US" sz="2400" dirty="0"/>
              <a:t>Culture is shared; </a:t>
            </a:r>
            <a:r>
              <a:rPr lang="en-US" sz="2400" b="0" dirty="0"/>
              <a:t>Culture in the sociological sense, is something shared. It is not something that an individual alone can possess. For example, customs, traditions, beliefs, ideas, values, morals etc. are all shared by people of a group or society</a:t>
            </a:r>
            <a:r>
              <a:rPr lang="en-US" sz="2400" b="0" dirty="0" smtClean="0"/>
              <a:t>.</a:t>
            </a:r>
          </a:p>
          <a:p>
            <a:r>
              <a:rPr lang="en-US" sz="2400" dirty="0"/>
              <a:t>Culture is </a:t>
            </a:r>
            <a:r>
              <a:rPr lang="en-US" sz="2400" dirty="0" err="1"/>
              <a:t>transmissive</a:t>
            </a:r>
            <a:r>
              <a:rPr lang="en-US" sz="2400" dirty="0"/>
              <a:t>; </a:t>
            </a:r>
            <a:r>
              <a:rPr lang="en-US" sz="2400" b="0" dirty="0"/>
              <a:t>Culture is capable of being transmitted from one generation to the other. Parents pass on culture traits to their children, and they in turn to their children, and so on. Culture is transmitted </a:t>
            </a:r>
            <a:r>
              <a:rPr lang="en-US" sz="2400" dirty="0"/>
              <a:t>not through genes</a:t>
            </a:r>
            <a:r>
              <a:rPr lang="en-US" sz="2400" b="0" dirty="0"/>
              <a:t> but by means of language. Language is the main vehicle of culture.</a:t>
            </a:r>
          </a:p>
        </p:txBody>
      </p:sp>
    </p:spTree>
    <p:extLst>
      <p:ext uri="{BB962C8B-B14F-4D97-AF65-F5344CB8AC3E}">
        <p14:creationId xmlns:p14="http://schemas.microsoft.com/office/powerpoint/2010/main" val="3246701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715961"/>
            <a:ext cx="6477000" cy="633445"/>
          </a:xfrm>
        </p:spPr>
        <p:txBody>
          <a:bodyPr/>
          <a:lstStyle/>
          <a:p>
            <a:r>
              <a:rPr lang="en-US" dirty="0" smtClean="0"/>
              <a:t>Cont’d</a:t>
            </a:r>
            <a:endParaRPr lang="en-US" dirty="0"/>
          </a:p>
        </p:txBody>
      </p:sp>
      <p:sp>
        <p:nvSpPr>
          <p:cNvPr id="3" name="Text Placeholder 2"/>
          <p:cNvSpPr>
            <a:spLocks noGrp="1"/>
          </p:cNvSpPr>
          <p:nvPr>
            <p:ph type="body" sz="quarter" idx="11"/>
          </p:nvPr>
        </p:nvSpPr>
        <p:spPr>
          <a:xfrm>
            <a:off x="762000" y="1660123"/>
            <a:ext cx="6477000" cy="3915053"/>
          </a:xfrm>
        </p:spPr>
        <p:txBody>
          <a:bodyPr/>
          <a:lstStyle/>
          <a:p>
            <a:r>
              <a:rPr lang="en-US" sz="2400" dirty="0"/>
              <a:t>Culture is dynamic and adaptive; </a:t>
            </a:r>
            <a:r>
              <a:rPr lang="en-US" sz="2400" b="0" dirty="0"/>
              <a:t>Though culture is relatively stable it is not altogether static. It is subjected to </a:t>
            </a:r>
            <a:r>
              <a:rPr lang="en-US" sz="2400" dirty="0"/>
              <a:t>slow </a:t>
            </a:r>
            <a:r>
              <a:rPr lang="en-US" sz="2400" b="0" dirty="0"/>
              <a:t>but </a:t>
            </a:r>
            <a:r>
              <a:rPr lang="en-US" sz="2400" dirty="0"/>
              <a:t>constant changes</a:t>
            </a:r>
            <a:r>
              <a:rPr lang="en-US" sz="2400" b="0" dirty="0"/>
              <a:t>. Culture is responsive to the changing conditions of the physical world as it assists us to survive and adapt to the changes. </a:t>
            </a:r>
            <a:endParaRPr lang="en-US" sz="2400" b="0" dirty="0" smtClean="0"/>
          </a:p>
          <a:p>
            <a:r>
              <a:rPr lang="en-US" sz="2400" dirty="0" smtClean="0"/>
              <a:t>Culture </a:t>
            </a:r>
            <a:r>
              <a:rPr lang="en-US" sz="2400" dirty="0"/>
              <a:t>varies from society to society; </a:t>
            </a:r>
            <a:r>
              <a:rPr lang="en-US" sz="2400" b="0" dirty="0"/>
              <a:t>Every society has a culture of its own. It </a:t>
            </a:r>
            <a:r>
              <a:rPr lang="en-US" sz="2400" dirty="0"/>
              <a:t>differs from society to society</a:t>
            </a:r>
            <a:r>
              <a:rPr lang="en-US" sz="2400" b="0" dirty="0"/>
              <a:t>. Culture of every society is unique to itself. Cultures are not uniform.</a:t>
            </a:r>
          </a:p>
        </p:txBody>
      </p:sp>
    </p:spTree>
    <p:extLst>
      <p:ext uri="{BB962C8B-B14F-4D97-AF65-F5344CB8AC3E}">
        <p14:creationId xmlns:p14="http://schemas.microsoft.com/office/powerpoint/2010/main" val="2073133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715961"/>
            <a:ext cx="6477000" cy="686711"/>
          </a:xfrm>
        </p:spPr>
        <p:txBody>
          <a:bodyPr/>
          <a:lstStyle/>
          <a:p>
            <a:r>
              <a:rPr lang="en-US" dirty="0"/>
              <a:t>Components of Culture </a:t>
            </a:r>
            <a:br>
              <a:rPr lang="en-US" dirty="0"/>
            </a:br>
            <a:endParaRPr lang="en-US" dirty="0"/>
          </a:p>
        </p:txBody>
      </p:sp>
      <p:sp>
        <p:nvSpPr>
          <p:cNvPr id="3" name="Text Placeholder 2"/>
          <p:cNvSpPr>
            <a:spLocks noGrp="1"/>
          </p:cNvSpPr>
          <p:nvPr>
            <p:ph type="body" sz="quarter" idx="11"/>
          </p:nvPr>
        </p:nvSpPr>
        <p:spPr>
          <a:xfrm>
            <a:off x="762000" y="1904999"/>
            <a:ext cx="6477000" cy="3276601"/>
          </a:xfrm>
        </p:spPr>
        <p:txBody>
          <a:bodyPr/>
          <a:lstStyle/>
          <a:p>
            <a:r>
              <a:rPr lang="en-US" sz="2400" b="0" dirty="0" smtClean="0"/>
              <a:t>• </a:t>
            </a:r>
            <a:r>
              <a:rPr lang="en-US" sz="2400" b="0" dirty="0"/>
              <a:t>Values </a:t>
            </a:r>
            <a:endParaRPr lang="en-US" sz="2400" b="0" dirty="0" smtClean="0"/>
          </a:p>
          <a:p>
            <a:r>
              <a:rPr lang="en-US" sz="2400" b="0" dirty="0" smtClean="0"/>
              <a:t>• </a:t>
            </a:r>
            <a:r>
              <a:rPr lang="en-US" sz="2400" b="0" dirty="0"/>
              <a:t>Norms </a:t>
            </a:r>
            <a:endParaRPr lang="en-US" sz="2400" b="0" dirty="0" smtClean="0"/>
          </a:p>
          <a:p>
            <a:r>
              <a:rPr lang="en-US" sz="2400" b="0" dirty="0" smtClean="0"/>
              <a:t>• </a:t>
            </a:r>
            <a:r>
              <a:rPr lang="en-US" sz="2400" b="0" dirty="0"/>
              <a:t>Symbols </a:t>
            </a:r>
            <a:endParaRPr lang="en-US" sz="2400" b="0" dirty="0" smtClean="0"/>
          </a:p>
          <a:p>
            <a:r>
              <a:rPr lang="en-US" sz="2400" b="0" dirty="0" smtClean="0"/>
              <a:t>• </a:t>
            </a:r>
            <a:r>
              <a:rPr lang="en-US" sz="2400" b="0" dirty="0"/>
              <a:t>Language</a:t>
            </a:r>
          </a:p>
        </p:txBody>
      </p:sp>
    </p:spTree>
    <p:extLst>
      <p:ext uri="{BB962C8B-B14F-4D97-AF65-F5344CB8AC3E}">
        <p14:creationId xmlns:p14="http://schemas.microsoft.com/office/powerpoint/2010/main" val="1622481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30034"/>
            <a:ext cx="6477000" cy="748855"/>
          </a:xfrm>
        </p:spPr>
        <p:txBody>
          <a:bodyPr/>
          <a:lstStyle/>
          <a:p>
            <a:r>
              <a:rPr lang="en-US" dirty="0" smtClean="0"/>
              <a:t>Values and beliefs</a:t>
            </a:r>
            <a:endParaRPr lang="en-US" dirty="0"/>
          </a:p>
        </p:txBody>
      </p:sp>
      <p:sp>
        <p:nvSpPr>
          <p:cNvPr id="3" name="Text Placeholder 2"/>
          <p:cNvSpPr>
            <a:spLocks noGrp="1"/>
          </p:cNvSpPr>
          <p:nvPr>
            <p:ph type="body" sz="quarter" idx="11"/>
          </p:nvPr>
        </p:nvSpPr>
        <p:spPr>
          <a:xfrm>
            <a:off x="762000" y="1038687"/>
            <a:ext cx="6828408" cy="5450890"/>
          </a:xfrm>
        </p:spPr>
        <p:txBody>
          <a:bodyPr/>
          <a:lstStyle/>
          <a:p>
            <a:r>
              <a:rPr lang="en-US" sz="2400" dirty="0" smtClean="0"/>
              <a:t>Values</a:t>
            </a:r>
            <a:r>
              <a:rPr lang="en-US" sz="2400" b="0" dirty="0" smtClean="0"/>
              <a:t> </a:t>
            </a:r>
            <a:r>
              <a:rPr lang="en-US" sz="2400" b="0" dirty="0"/>
              <a:t>– Collective concept of what is good, </a:t>
            </a:r>
            <a:r>
              <a:rPr lang="en-US" sz="2400" b="0" dirty="0" smtClean="0"/>
              <a:t>bad, </a:t>
            </a:r>
            <a:r>
              <a:rPr lang="en-US" sz="2400" b="0" dirty="0"/>
              <a:t>desirable, </a:t>
            </a:r>
            <a:r>
              <a:rPr lang="en-US" sz="2400" b="0" dirty="0" smtClean="0"/>
              <a:t>proper, and </a:t>
            </a:r>
            <a:r>
              <a:rPr lang="en-US" sz="2400" b="0" dirty="0"/>
              <a:t>improper and that serve as broad guidelines for social living. </a:t>
            </a:r>
            <a:endParaRPr lang="en-US" sz="2400" b="0" dirty="0" smtClean="0"/>
          </a:p>
          <a:p>
            <a:r>
              <a:rPr lang="en-US" sz="2400" b="0" dirty="0" smtClean="0"/>
              <a:t>Values </a:t>
            </a:r>
            <a:r>
              <a:rPr lang="en-US" sz="2400" b="0" dirty="0"/>
              <a:t>indicate what people find important and morally right (or wrong) </a:t>
            </a:r>
            <a:endParaRPr lang="en-US" sz="2400" b="0" dirty="0" smtClean="0"/>
          </a:p>
          <a:p>
            <a:pPr marL="514350" lvl="1" indent="-285750"/>
            <a:r>
              <a:rPr lang="en-US" sz="2400" b="0" dirty="0" smtClean="0"/>
              <a:t>Respect </a:t>
            </a:r>
            <a:r>
              <a:rPr lang="en-US" sz="2400" b="0" dirty="0"/>
              <a:t>for parents, elders </a:t>
            </a:r>
            <a:endParaRPr lang="en-US" sz="2400" b="0" dirty="0" smtClean="0"/>
          </a:p>
          <a:p>
            <a:pPr marL="514350" lvl="1" indent="-285750"/>
            <a:r>
              <a:rPr lang="en-US" sz="2400" b="0" dirty="0" smtClean="0"/>
              <a:t>Cleanliness </a:t>
            </a:r>
          </a:p>
          <a:p>
            <a:pPr marL="514350" lvl="1" indent="-285750"/>
            <a:r>
              <a:rPr lang="en-US" sz="2400" b="0" dirty="0" smtClean="0"/>
              <a:t>Generosity </a:t>
            </a:r>
          </a:p>
          <a:p>
            <a:r>
              <a:rPr lang="en-US" sz="2400" b="0" dirty="0" smtClean="0"/>
              <a:t>Values </a:t>
            </a:r>
            <a:r>
              <a:rPr lang="en-US" sz="2400" b="0" dirty="0"/>
              <a:t>are broad principles that support beliefs. </a:t>
            </a:r>
            <a:endParaRPr lang="en-US" sz="2400" b="0" dirty="0" smtClean="0"/>
          </a:p>
          <a:p>
            <a:r>
              <a:rPr lang="en-US" sz="2400" dirty="0" smtClean="0"/>
              <a:t>Beliefs</a:t>
            </a:r>
            <a:r>
              <a:rPr lang="en-US" sz="2400" b="0" dirty="0" smtClean="0"/>
              <a:t> </a:t>
            </a:r>
            <a:r>
              <a:rPr lang="en-US" sz="2400" b="0" dirty="0"/>
              <a:t>are specific thoughts or ideas that people hold to be true.</a:t>
            </a:r>
          </a:p>
        </p:txBody>
      </p:sp>
    </p:spTree>
    <p:extLst>
      <p:ext uri="{BB962C8B-B14F-4D97-AF65-F5344CB8AC3E}">
        <p14:creationId xmlns:p14="http://schemas.microsoft.com/office/powerpoint/2010/main" val="1463154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431875"/>
            <a:ext cx="6477000" cy="668956"/>
          </a:xfrm>
        </p:spPr>
        <p:txBody>
          <a:bodyPr/>
          <a:lstStyle/>
          <a:p>
            <a:r>
              <a:rPr lang="en-US" dirty="0" smtClean="0"/>
              <a:t>Norms</a:t>
            </a:r>
            <a:endParaRPr lang="en-US" dirty="0"/>
          </a:p>
        </p:txBody>
      </p:sp>
      <p:sp>
        <p:nvSpPr>
          <p:cNvPr id="3" name="Text Placeholder 2"/>
          <p:cNvSpPr>
            <a:spLocks noGrp="1"/>
          </p:cNvSpPr>
          <p:nvPr>
            <p:ph type="body" sz="quarter" idx="11"/>
          </p:nvPr>
        </p:nvSpPr>
        <p:spPr>
          <a:xfrm>
            <a:off x="762000" y="1651248"/>
            <a:ext cx="6073806" cy="4163626"/>
          </a:xfrm>
        </p:spPr>
        <p:txBody>
          <a:bodyPr/>
          <a:lstStyle/>
          <a:p>
            <a:r>
              <a:rPr lang="en-US" sz="2400" dirty="0" smtClean="0"/>
              <a:t>Norms</a:t>
            </a:r>
            <a:r>
              <a:rPr lang="en-US" sz="2400" dirty="0"/>
              <a:t>;</a:t>
            </a:r>
            <a:r>
              <a:rPr lang="en-US" sz="2400" b="0" dirty="0"/>
              <a:t> rules developed by a group of people that specify how people must, should, may, should not and must not behave in various situations. </a:t>
            </a:r>
            <a:endParaRPr lang="en-US" sz="2400" b="0" dirty="0" smtClean="0"/>
          </a:p>
          <a:p>
            <a:r>
              <a:rPr lang="en-US" sz="2400" b="0" dirty="0" smtClean="0"/>
              <a:t>These </a:t>
            </a:r>
            <a:r>
              <a:rPr lang="en-US" sz="2400" b="0" dirty="0"/>
              <a:t>are rules and expectations by which a society guides the behavior of its members.</a:t>
            </a:r>
          </a:p>
        </p:txBody>
      </p:sp>
      <p:pic>
        <p:nvPicPr>
          <p:cNvPr id="4" name="Picture 3"/>
          <p:cNvPicPr>
            <a:picLocks noChangeAspect="1"/>
          </p:cNvPicPr>
          <p:nvPr/>
        </p:nvPicPr>
        <p:blipFill>
          <a:blip r:embed="rId2"/>
          <a:stretch>
            <a:fillRect/>
          </a:stretch>
        </p:blipFill>
        <p:spPr>
          <a:xfrm>
            <a:off x="7239000" y="0"/>
            <a:ext cx="5069888" cy="6858000"/>
          </a:xfrm>
          <a:prstGeom prst="rect">
            <a:avLst/>
          </a:prstGeom>
        </p:spPr>
      </p:pic>
    </p:spTree>
    <p:extLst>
      <p:ext uri="{BB962C8B-B14F-4D97-AF65-F5344CB8AC3E}">
        <p14:creationId xmlns:p14="http://schemas.microsoft.com/office/powerpoint/2010/main" val="2901027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89833"/>
            <a:ext cx="6477000" cy="1189038"/>
          </a:xfrm>
        </p:spPr>
        <p:txBody>
          <a:bodyPr/>
          <a:lstStyle/>
          <a:p>
            <a:r>
              <a:rPr lang="en-US" dirty="0" smtClean="0"/>
              <a:t>Folkways, Mores, and Laws</a:t>
            </a:r>
            <a:endParaRPr lang="en-US" dirty="0"/>
          </a:p>
        </p:txBody>
      </p:sp>
      <p:sp>
        <p:nvSpPr>
          <p:cNvPr id="3" name="Text Placeholder 2"/>
          <p:cNvSpPr>
            <a:spLocks noGrp="1"/>
          </p:cNvSpPr>
          <p:nvPr>
            <p:ph type="body" sz="quarter" idx="11"/>
          </p:nvPr>
        </p:nvSpPr>
        <p:spPr>
          <a:xfrm>
            <a:off x="762000" y="1624615"/>
            <a:ext cx="6477000" cy="4856084"/>
          </a:xfrm>
        </p:spPr>
        <p:txBody>
          <a:bodyPr/>
          <a:lstStyle/>
          <a:p>
            <a:r>
              <a:rPr lang="en-US" sz="2000" dirty="0" smtClean="0"/>
              <a:t>Folkways</a:t>
            </a:r>
            <a:r>
              <a:rPr lang="en-US" sz="2000" b="0" dirty="0" smtClean="0"/>
              <a:t> </a:t>
            </a:r>
            <a:r>
              <a:rPr lang="en-US" sz="2000" b="0" dirty="0"/>
              <a:t>are informal norms or everyday customs that may be violated </a:t>
            </a:r>
            <a:r>
              <a:rPr lang="en-US" sz="2000" dirty="0"/>
              <a:t>without serious consequences </a:t>
            </a:r>
            <a:r>
              <a:rPr lang="en-US" sz="2000" b="0" dirty="0"/>
              <a:t>within a particular culture. </a:t>
            </a:r>
          </a:p>
          <a:p>
            <a:r>
              <a:rPr lang="en-US" sz="2000" b="0" dirty="0"/>
              <a:t>N</a:t>
            </a:r>
            <a:r>
              <a:rPr lang="en-US" sz="2000" b="0" dirty="0" smtClean="0"/>
              <a:t>orms </a:t>
            </a:r>
            <a:r>
              <a:rPr lang="en-US" sz="2000" b="0" dirty="0"/>
              <a:t>of routine or casual interaction (ex. Shaking hands, eating styles, saying excuse me) </a:t>
            </a:r>
            <a:endParaRPr lang="en-US" sz="2000" b="0" dirty="0" smtClean="0"/>
          </a:p>
          <a:p>
            <a:r>
              <a:rPr lang="en-US" sz="2000" dirty="0" smtClean="0"/>
              <a:t>Mores</a:t>
            </a:r>
            <a:r>
              <a:rPr lang="en-US" sz="2000" b="0" dirty="0" smtClean="0"/>
              <a:t> </a:t>
            </a:r>
            <a:r>
              <a:rPr lang="en-US" sz="2000" b="0" dirty="0"/>
              <a:t>–(pronounced </a:t>
            </a:r>
            <a:r>
              <a:rPr lang="en-US" sz="2000" b="0" dirty="0" smtClean="0"/>
              <a:t>MOR-</a:t>
            </a:r>
            <a:r>
              <a:rPr lang="en-US" sz="2000" b="0" dirty="0" err="1" smtClean="0"/>
              <a:t>ays</a:t>
            </a:r>
            <a:r>
              <a:rPr lang="en-US" sz="2000" b="0" dirty="0" smtClean="0"/>
              <a:t>). Mores </a:t>
            </a:r>
            <a:r>
              <a:rPr lang="en-US" sz="2000" b="0" dirty="0"/>
              <a:t>norms that are widely observed and have great moral </a:t>
            </a:r>
            <a:r>
              <a:rPr lang="en-US" sz="2000" b="0" dirty="0" smtClean="0"/>
              <a:t>significance. </a:t>
            </a:r>
            <a:r>
              <a:rPr lang="en-US" sz="2000" b="0" dirty="0"/>
              <a:t>Often breaking norms lead to being outcast or imprisonment (ex. Incest, rape, murder) are strict norms that control moral and ethical behavior. </a:t>
            </a:r>
          </a:p>
          <a:p>
            <a:r>
              <a:rPr lang="en-US" sz="2000" dirty="0" smtClean="0"/>
              <a:t>Laws</a:t>
            </a:r>
            <a:r>
              <a:rPr lang="en-US" sz="2000" dirty="0"/>
              <a:t>-</a:t>
            </a:r>
            <a:r>
              <a:rPr lang="en-US" sz="2000" b="0" dirty="0" smtClean="0"/>
              <a:t> </a:t>
            </a:r>
            <a:r>
              <a:rPr lang="en-US" sz="2000" b="0" dirty="0"/>
              <a:t>are formal, standardized norms that have been enacted by legislatures and are enforced by formal sanctions. </a:t>
            </a:r>
          </a:p>
        </p:txBody>
      </p:sp>
    </p:spTree>
    <p:extLst>
      <p:ext uri="{BB962C8B-B14F-4D97-AF65-F5344CB8AC3E}">
        <p14:creationId xmlns:p14="http://schemas.microsoft.com/office/powerpoint/2010/main" val="2816903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Taboos</a:t>
            </a:r>
            <a:endParaRPr lang="en-US" dirty="0"/>
          </a:p>
        </p:txBody>
      </p:sp>
      <p:sp>
        <p:nvSpPr>
          <p:cNvPr id="3" name="Text Placeholder 2"/>
          <p:cNvSpPr>
            <a:spLocks noGrp="1"/>
          </p:cNvSpPr>
          <p:nvPr>
            <p:ph type="body" sz="quarter" idx="11"/>
          </p:nvPr>
        </p:nvSpPr>
        <p:spPr/>
        <p:txBody>
          <a:bodyPr/>
          <a:lstStyle/>
          <a:p>
            <a:r>
              <a:rPr lang="en-US" sz="2400" dirty="0" smtClean="0"/>
              <a:t>Taboos</a:t>
            </a:r>
            <a:r>
              <a:rPr lang="en-US" sz="2400" b="0" dirty="0" smtClean="0"/>
              <a:t> </a:t>
            </a:r>
            <a:r>
              <a:rPr lang="en-US" sz="2400" b="0" dirty="0"/>
              <a:t>are mores specifying what actions are prohibited in a culture. </a:t>
            </a:r>
            <a:endParaRPr lang="en-US" sz="2400" b="0" dirty="0" smtClean="0"/>
          </a:p>
          <a:p>
            <a:r>
              <a:rPr lang="en-US" sz="2400" b="0" dirty="0" smtClean="0"/>
              <a:t>Taboos </a:t>
            </a:r>
            <a:r>
              <a:rPr lang="en-US" sz="2400" b="0" dirty="0"/>
              <a:t>are mores so strong that their violation is considered to be extremely offensive and even unmentionable</a:t>
            </a:r>
            <a:r>
              <a:rPr lang="en-US" sz="2400" b="0" dirty="0" smtClean="0"/>
              <a:t>. </a:t>
            </a:r>
          </a:p>
          <a:p>
            <a:r>
              <a:rPr lang="en-US" sz="2400" b="0" dirty="0" smtClean="0"/>
              <a:t>Taboo </a:t>
            </a:r>
            <a:r>
              <a:rPr lang="en-US" sz="2400" b="0" dirty="0"/>
              <a:t>meaning a culture absolutely forbids them. </a:t>
            </a:r>
            <a:r>
              <a:rPr lang="en-US" sz="2400" b="0" dirty="0" smtClean="0"/>
              <a:t>Eating </a:t>
            </a:r>
            <a:r>
              <a:rPr lang="en-US" sz="2400" b="0" dirty="0"/>
              <a:t>human flesh </a:t>
            </a:r>
            <a:r>
              <a:rPr lang="en-US" sz="2400" b="0" dirty="0" smtClean="0"/>
              <a:t>– cannibalism, Incest</a:t>
            </a:r>
          </a:p>
          <a:p>
            <a:endParaRPr lang="en-US" dirty="0"/>
          </a:p>
        </p:txBody>
      </p:sp>
    </p:spTree>
    <p:extLst>
      <p:ext uri="{BB962C8B-B14F-4D97-AF65-F5344CB8AC3E}">
        <p14:creationId xmlns:p14="http://schemas.microsoft.com/office/powerpoint/2010/main" val="2579523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715961"/>
            <a:ext cx="6477000" cy="704466"/>
          </a:xfrm>
        </p:spPr>
        <p:txBody>
          <a:bodyPr/>
          <a:lstStyle/>
          <a:p>
            <a:r>
              <a:rPr lang="en-US" dirty="0" smtClean="0"/>
              <a:t>Symbols</a:t>
            </a:r>
            <a:endParaRPr lang="en-US" dirty="0"/>
          </a:p>
        </p:txBody>
      </p:sp>
      <p:sp>
        <p:nvSpPr>
          <p:cNvPr id="3" name="Text Placeholder 2"/>
          <p:cNvSpPr>
            <a:spLocks noGrp="1"/>
          </p:cNvSpPr>
          <p:nvPr>
            <p:ph type="body" sz="quarter" idx="11"/>
          </p:nvPr>
        </p:nvSpPr>
        <p:spPr>
          <a:xfrm>
            <a:off x="762000" y="1669003"/>
            <a:ext cx="6477000" cy="4918228"/>
          </a:xfrm>
        </p:spPr>
        <p:txBody>
          <a:bodyPr/>
          <a:lstStyle/>
          <a:p>
            <a:r>
              <a:rPr lang="en-US" sz="2400" dirty="0" smtClean="0"/>
              <a:t>Symbols</a:t>
            </a:r>
            <a:r>
              <a:rPr lang="en-US" sz="2400" dirty="0"/>
              <a:t>: </a:t>
            </a:r>
            <a:r>
              <a:rPr lang="en-US" sz="2400" b="0" dirty="0"/>
              <a:t>A symbol is an object, word, or action that stands for something else. </a:t>
            </a:r>
          </a:p>
          <a:p>
            <a:r>
              <a:rPr lang="en-US" sz="2400" b="0" dirty="0" smtClean="0"/>
              <a:t>Symbol </a:t>
            </a:r>
            <a:r>
              <a:rPr lang="en-US" sz="2400" b="0" dirty="0"/>
              <a:t>is anything that carries a particular meaning recognized by people who share a culture (a flag, a word, a flashing red light, a raised fist, an animal </a:t>
            </a:r>
            <a:r>
              <a:rPr lang="en-US" sz="2400" b="0" dirty="0" err="1"/>
              <a:t>etc</a:t>
            </a:r>
            <a:r>
              <a:rPr lang="en-US" sz="2400" b="0" dirty="0"/>
              <a:t>). </a:t>
            </a:r>
            <a:endParaRPr lang="en-US" sz="2400" b="0" dirty="0" smtClean="0"/>
          </a:p>
          <a:p>
            <a:r>
              <a:rPr lang="en-US" sz="2400" b="0" dirty="0"/>
              <a:t>Symbols help us communicate ideas. A siren is a symbol that denotes an emergency situation and sends the message to clear the way </a:t>
            </a:r>
            <a:r>
              <a:rPr lang="en-US" sz="2400" b="0" dirty="0" smtClean="0"/>
              <a:t>immediately</a:t>
            </a:r>
          </a:p>
          <a:p>
            <a:r>
              <a:rPr lang="en-US" sz="2400" dirty="0"/>
              <a:t>Non-verbal gestures </a:t>
            </a:r>
            <a:r>
              <a:rPr lang="en-US" sz="2400" b="0" dirty="0"/>
              <a:t>can be very “symbolic” and diverse. </a:t>
            </a:r>
          </a:p>
        </p:txBody>
      </p:sp>
    </p:spTree>
    <p:extLst>
      <p:ext uri="{BB962C8B-B14F-4D97-AF65-F5344CB8AC3E}">
        <p14:creationId xmlns:p14="http://schemas.microsoft.com/office/powerpoint/2010/main" val="3956009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715961"/>
            <a:ext cx="6477000" cy="748855"/>
          </a:xfrm>
        </p:spPr>
        <p:txBody>
          <a:bodyPr/>
          <a:lstStyle/>
          <a:p>
            <a:r>
              <a:rPr lang="en-US" dirty="0" smtClean="0"/>
              <a:t>Language</a:t>
            </a:r>
            <a:endParaRPr lang="en-US" dirty="0"/>
          </a:p>
        </p:txBody>
      </p:sp>
      <p:sp>
        <p:nvSpPr>
          <p:cNvPr id="3" name="Text Placeholder 2"/>
          <p:cNvSpPr>
            <a:spLocks noGrp="1"/>
          </p:cNvSpPr>
          <p:nvPr>
            <p:ph type="body" sz="quarter" idx="11"/>
          </p:nvPr>
        </p:nvSpPr>
        <p:spPr>
          <a:xfrm>
            <a:off x="762000" y="1766656"/>
            <a:ext cx="6477000" cy="4465468"/>
          </a:xfrm>
        </p:spPr>
        <p:txBody>
          <a:bodyPr/>
          <a:lstStyle/>
          <a:p>
            <a:r>
              <a:rPr lang="en-US" sz="2400" dirty="0" smtClean="0"/>
              <a:t>Language</a:t>
            </a:r>
            <a:r>
              <a:rPr lang="en-US" sz="2400" dirty="0"/>
              <a:t>: </a:t>
            </a:r>
            <a:r>
              <a:rPr lang="en-US" sz="2400" b="0" dirty="0" smtClean="0"/>
              <a:t>Culture </a:t>
            </a:r>
            <a:r>
              <a:rPr lang="en-US" sz="2400" b="0" dirty="0"/>
              <a:t>is the social heritage of the humans that is transmitted to the future generation mainly through language. </a:t>
            </a:r>
          </a:p>
          <a:p>
            <a:r>
              <a:rPr lang="en-US" sz="2400" b="0" dirty="0" smtClean="0"/>
              <a:t>Language </a:t>
            </a:r>
            <a:r>
              <a:rPr lang="en-US" sz="2400" b="0" dirty="0"/>
              <a:t>is a system of words and symbols used to communicate with other people. Language is a set of symbols that expresses ideas and enables people to think and communicate with one another</a:t>
            </a:r>
            <a:r>
              <a:rPr lang="en-US" sz="2400" b="0" dirty="0" smtClean="0"/>
              <a:t>. </a:t>
            </a:r>
          </a:p>
          <a:p>
            <a:r>
              <a:rPr lang="en-US" sz="2400" b="0" dirty="0" smtClean="0"/>
              <a:t>Verbal </a:t>
            </a:r>
            <a:r>
              <a:rPr lang="en-US" sz="2400" b="0" dirty="0"/>
              <a:t>(spoken) language and nonverbal (written or </a:t>
            </a:r>
            <a:r>
              <a:rPr lang="en-US" sz="2400" b="0" dirty="0" smtClean="0"/>
              <a:t>gestured) language </a:t>
            </a:r>
            <a:r>
              <a:rPr lang="en-US" sz="2400" b="0" dirty="0"/>
              <a:t>help us describe </a:t>
            </a:r>
            <a:r>
              <a:rPr lang="en-US" sz="2400" b="0" dirty="0" smtClean="0"/>
              <a:t>reality.</a:t>
            </a:r>
            <a:endParaRPr lang="en-US" sz="2400" b="0" dirty="0"/>
          </a:p>
        </p:txBody>
      </p:sp>
    </p:spTree>
    <p:extLst>
      <p:ext uri="{BB962C8B-B14F-4D97-AF65-F5344CB8AC3E}">
        <p14:creationId xmlns:p14="http://schemas.microsoft.com/office/powerpoint/2010/main" val="1232387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12279"/>
            <a:ext cx="6477000" cy="1189038"/>
          </a:xfrm>
        </p:spPr>
        <p:txBody>
          <a:bodyPr/>
          <a:lstStyle/>
          <a:p>
            <a:r>
              <a:rPr lang="en-US" dirty="0" smtClean="0"/>
              <a:t>Ethnocentrism &amp; Cultural Shock</a:t>
            </a:r>
            <a:endParaRPr lang="en-US" dirty="0"/>
          </a:p>
        </p:txBody>
      </p:sp>
      <p:sp>
        <p:nvSpPr>
          <p:cNvPr id="3" name="Text Placeholder 2"/>
          <p:cNvSpPr>
            <a:spLocks noGrp="1"/>
          </p:cNvSpPr>
          <p:nvPr>
            <p:ph type="body" sz="quarter" idx="11"/>
          </p:nvPr>
        </p:nvSpPr>
        <p:spPr>
          <a:xfrm>
            <a:off x="639193" y="1544714"/>
            <a:ext cx="6968970" cy="5313285"/>
          </a:xfrm>
        </p:spPr>
        <p:txBody>
          <a:bodyPr/>
          <a:lstStyle/>
          <a:p>
            <a:r>
              <a:rPr lang="en-US" sz="2400" dirty="0"/>
              <a:t>Ethnocentrism; </a:t>
            </a:r>
            <a:r>
              <a:rPr lang="en-US" sz="2400" b="0" dirty="0"/>
              <a:t>the tendency to judge other cultures according to the norms and values of our own culture</a:t>
            </a:r>
            <a:r>
              <a:rPr lang="en-US" sz="2400" b="0" dirty="0" smtClean="0"/>
              <a:t>. </a:t>
            </a:r>
            <a:r>
              <a:rPr lang="en-US" sz="2400" b="0" dirty="0"/>
              <a:t>Ethnocentrism is based on the assumption that one’s own way of life is </a:t>
            </a:r>
            <a:r>
              <a:rPr lang="en-US" sz="2400" dirty="0"/>
              <a:t>superior</a:t>
            </a:r>
            <a:r>
              <a:rPr lang="en-US" sz="2400" b="0" dirty="0"/>
              <a:t> to all others. </a:t>
            </a:r>
            <a:endParaRPr lang="en-US" sz="2400" b="0" dirty="0" smtClean="0"/>
          </a:p>
          <a:p>
            <a:r>
              <a:rPr lang="en-US" sz="2400" dirty="0"/>
              <a:t>Culture shock </a:t>
            </a:r>
            <a:r>
              <a:rPr lang="en-US" sz="2400" b="0" dirty="0"/>
              <a:t>is the term we use to describe the feelings of confusion and uncertainty that are experienced when you come into contact with a culture that is vastly different from your </a:t>
            </a:r>
            <a:r>
              <a:rPr lang="en-US" sz="2400" b="0" dirty="0" smtClean="0"/>
              <a:t>own. </a:t>
            </a:r>
          </a:p>
          <a:p>
            <a:r>
              <a:rPr lang="en-US" sz="2400" b="0" dirty="0" smtClean="0"/>
              <a:t>Culture </a:t>
            </a:r>
            <a:r>
              <a:rPr lang="en-US" sz="2400" b="0" dirty="0"/>
              <a:t>shock can be commonly seen in foreign students, immigrants and </a:t>
            </a:r>
            <a:r>
              <a:rPr lang="en-US" sz="2400" b="0" dirty="0" smtClean="0"/>
              <a:t>refugees. Suddenly</a:t>
            </a:r>
            <a:r>
              <a:rPr lang="en-US" sz="2400" b="0" dirty="0"/>
              <a:t>, you find yourself unable to </a:t>
            </a:r>
            <a:r>
              <a:rPr lang="en-US" sz="2400" b="0" dirty="0" smtClean="0"/>
              <a:t>understand.</a:t>
            </a:r>
            <a:endParaRPr lang="en-US" sz="2400" b="0" dirty="0"/>
          </a:p>
        </p:txBody>
      </p:sp>
    </p:spTree>
    <p:extLst>
      <p:ext uri="{BB962C8B-B14F-4D97-AF65-F5344CB8AC3E}">
        <p14:creationId xmlns:p14="http://schemas.microsoft.com/office/powerpoint/2010/main" val="979036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Hofstede’s</a:t>
            </a:r>
            <a:r>
              <a:rPr lang="en-US" dirty="0" smtClean="0"/>
              <a:t> Cultural Dimensions</a:t>
            </a:r>
            <a:endParaRPr lang="en-US" dirty="0"/>
          </a:p>
        </p:txBody>
      </p:sp>
      <p:sp>
        <p:nvSpPr>
          <p:cNvPr id="3" name="Text Placeholder 2"/>
          <p:cNvSpPr>
            <a:spLocks noGrp="1"/>
          </p:cNvSpPr>
          <p:nvPr>
            <p:ph type="body" sz="quarter" idx="11"/>
          </p:nvPr>
        </p:nvSpPr>
        <p:spPr>
          <a:xfrm>
            <a:off x="762000" y="2077374"/>
            <a:ext cx="6477000" cy="3728622"/>
          </a:xfrm>
        </p:spPr>
        <p:txBody>
          <a:bodyPr/>
          <a:lstStyle/>
          <a:p>
            <a:r>
              <a:rPr lang="en-US" sz="2400" b="0" dirty="0" err="1"/>
              <a:t>Hofstede’s</a:t>
            </a:r>
            <a:r>
              <a:rPr lang="en-US" sz="2400" b="0" dirty="0"/>
              <a:t> </a:t>
            </a:r>
            <a:r>
              <a:rPr lang="en-US" sz="2400" b="0" dirty="0" smtClean="0"/>
              <a:t>Framework: </a:t>
            </a:r>
            <a:r>
              <a:rPr lang="en-US" sz="2400" b="0" dirty="0"/>
              <a:t>One of the most widely referenced approaches for analyzing variations among cultures was introduced in the late 1970s by Geert </a:t>
            </a:r>
            <a:r>
              <a:rPr lang="en-US" sz="2400" b="0" dirty="0" err="1" smtClean="0"/>
              <a:t>Hofstede</a:t>
            </a:r>
            <a:r>
              <a:rPr lang="en-US" sz="2400" b="0" dirty="0" smtClean="0"/>
              <a:t>.</a:t>
            </a:r>
          </a:p>
          <a:p>
            <a:r>
              <a:rPr lang="en-US" sz="2400" b="0" dirty="0" err="1" smtClean="0"/>
              <a:t>Hofstede</a:t>
            </a:r>
            <a:r>
              <a:rPr lang="en-US" sz="2400" b="0" dirty="0" smtClean="0"/>
              <a:t> </a:t>
            </a:r>
            <a:r>
              <a:rPr lang="en-US" sz="2400" b="0" dirty="0"/>
              <a:t>surveyed more than </a:t>
            </a:r>
            <a:r>
              <a:rPr lang="en-US" sz="2400" dirty="0"/>
              <a:t>116,000 IBM employees</a:t>
            </a:r>
            <a:r>
              <a:rPr lang="en-US" sz="2400" b="0" dirty="0"/>
              <a:t> in </a:t>
            </a:r>
            <a:r>
              <a:rPr lang="en-US" sz="2400" dirty="0"/>
              <a:t>forty countries </a:t>
            </a:r>
            <a:r>
              <a:rPr lang="en-US" sz="2400" b="0" dirty="0"/>
              <a:t>about their </a:t>
            </a:r>
            <a:r>
              <a:rPr lang="en-US" sz="2400" dirty="0"/>
              <a:t>work-related values </a:t>
            </a:r>
            <a:r>
              <a:rPr lang="en-US" sz="2400" b="0" dirty="0"/>
              <a:t>and found that managers and employees varied on five value dimensions of national culture:</a:t>
            </a:r>
          </a:p>
        </p:txBody>
      </p:sp>
    </p:spTree>
    <p:extLst>
      <p:ext uri="{BB962C8B-B14F-4D97-AF65-F5344CB8AC3E}">
        <p14:creationId xmlns:p14="http://schemas.microsoft.com/office/powerpoint/2010/main" val="3297195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71251" y="337351"/>
            <a:ext cx="6979460" cy="6322227"/>
          </a:xfrm>
          <a:prstGeom prst="rect">
            <a:avLst/>
          </a:prstGeom>
        </p:spPr>
      </p:pic>
    </p:spTree>
    <p:extLst>
      <p:ext uri="{BB962C8B-B14F-4D97-AF65-F5344CB8AC3E}">
        <p14:creationId xmlns:p14="http://schemas.microsoft.com/office/powerpoint/2010/main" val="152348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0"/>
            <a:ext cx="12192000" cy="6858000"/>
          </a:xfrm>
          <a:prstGeom prst="rect">
            <a:avLst/>
          </a:prstGeom>
        </p:spPr>
      </p:pic>
      <p:sp>
        <p:nvSpPr>
          <p:cNvPr id="5" name="Rectangle 4"/>
          <p:cNvSpPr/>
          <p:nvPr/>
        </p:nvSpPr>
        <p:spPr>
          <a:xfrm>
            <a:off x="9472474" y="4811697"/>
            <a:ext cx="2476870" cy="1882066"/>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400" dirty="0" smtClean="0">
                <a:solidFill>
                  <a:schemeClr val="bg1"/>
                </a:solidFill>
              </a:rPr>
              <a:t>Source</a:t>
            </a:r>
            <a:r>
              <a:rPr lang="en-US" sz="1400" dirty="0">
                <a:solidFill>
                  <a:schemeClr val="bg1"/>
                </a:solidFill>
              </a:rPr>
              <a:t>: Hannah </a:t>
            </a:r>
            <a:r>
              <a:rPr lang="en-US" sz="1400" dirty="0" err="1">
                <a:solidFill>
                  <a:schemeClr val="bg1"/>
                </a:solidFill>
              </a:rPr>
              <a:t>Bierbaum</a:t>
            </a:r>
            <a:endParaRPr lang="en-US" sz="1400" dirty="0">
              <a:solidFill>
                <a:schemeClr val="bg1"/>
              </a:solidFill>
            </a:endParaRPr>
          </a:p>
        </p:txBody>
      </p:sp>
    </p:spTree>
    <p:extLst>
      <p:ext uri="{BB962C8B-B14F-4D97-AF65-F5344CB8AC3E}">
        <p14:creationId xmlns:p14="http://schemas.microsoft.com/office/powerpoint/2010/main" val="3552955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0"/>
            <a:ext cx="9161755" cy="6862369"/>
          </a:xfrm>
          <a:prstGeom prst="rect">
            <a:avLst/>
          </a:prstGeom>
        </p:spPr>
      </p:pic>
    </p:spTree>
    <p:extLst>
      <p:ext uri="{BB962C8B-B14F-4D97-AF65-F5344CB8AC3E}">
        <p14:creationId xmlns:p14="http://schemas.microsoft.com/office/powerpoint/2010/main" val="3482867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1664"/>
            <a:ext cx="12189041" cy="6856336"/>
          </a:xfrm>
          <a:prstGeom prst="rect">
            <a:avLst/>
          </a:prstGeom>
        </p:spPr>
      </p:pic>
    </p:spTree>
    <p:extLst>
      <p:ext uri="{BB962C8B-B14F-4D97-AF65-F5344CB8AC3E}">
        <p14:creationId xmlns:p14="http://schemas.microsoft.com/office/powerpoint/2010/main" val="3991141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0"/>
            <a:ext cx="9144000" cy="6858000"/>
          </a:xfrm>
          <a:prstGeom prst="rect">
            <a:avLst/>
          </a:prstGeom>
        </p:spPr>
      </p:pic>
      <p:sp>
        <p:nvSpPr>
          <p:cNvPr id="5" name="Rectangle 4"/>
          <p:cNvSpPr/>
          <p:nvPr/>
        </p:nvSpPr>
        <p:spPr>
          <a:xfrm>
            <a:off x="1065320" y="4829452"/>
            <a:ext cx="7723573" cy="100317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6" name="Rectangle 5"/>
          <p:cNvSpPr/>
          <p:nvPr/>
        </p:nvSpPr>
        <p:spPr>
          <a:xfrm>
            <a:off x="6818050" y="6383045"/>
            <a:ext cx="2139519" cy="21306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40214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2634282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0"/>
            <a:ext cx="8878119" cy="6858000"/>
          </a:xfrm>
          <a:prstGeom prst="rect">
            <a:avLst/>
          </a:prstGeom>
        </p:spPr>
      </p:pic>
    </p:spTree>
    <p:extLst>
      <p:ext uri="{BB962C8B-B14F-4D97-AF65-F5344CB8AC3E}">
        <p14:creationId xmlns:p14="http://schemas.microsoft.com/office/powerpoint/2010/main" val="2691709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Suggestions for Managing Cultural Diversity</a:t>
            </a:r>
          </a:p>
        </p:txBody>
      </p:sp>
      <p:sp>
        <p:nvSpPr>
          <p:cNvPr id="3" name="Text Placeholder 2"/>
          <p:cNvSpPr>
            <a:spLocks noGrp="1"/>
          </p:cNvSpPr>
          <p:nvPr>
            <p:ph type="body" sz="quarter" idx="11"/>
          </p:nvPr>
        </p:nvSpPr>
        <p:spPr/>
        <p:txBody>
          <a:bodyPr/>
          <a:lstStyle/>
          <a:p>
            <a:pPr marL="342900" indent="-342900">
              <a:buFont typeface="Arial" panose="020B0604020202020204" pitchFamily="34" charset="0"/>
              <a:buChar char="•"/>
            </a:pPr>
            <a:r>
              <a:rPr lang="en-US" sz="2400" b="0" dirty="0"/>
              <a:t>Help Employees Build Cultural Intelligence </a:t>
            </a:r>
            <a:endParaRPr lang="en-US" sz="2400" b="0" dirty="0" smtClean="0"/>
          </a:p>
          <a:p>
            <a:pPr marL="342900" indent="-342900">
              <a:buFont typeface="Arial" panose="020B0604020202020204" pitchFamily="34" charset="0"/>
              <a:buChar char="•"/>
            </a:pPr>
            <a:r>
              <a:rPr lang="en-US" sz="2400" b="0" dirty="0"/>
              <a:t>Avoid Ethnocentrism </a:t>
            </a:r>
            <a:endParaRPr lang="en-US" sz="2400" b="0" dirty="0" smtClean="0"/>
          </a:p>
          <a:p>
            <a:pPr marL="342900" indent="-342900">
              <a:buFont typeface="Arial" panose="020B0604020202020204" pitchFamily="34" charset="0"/>
              <a:buChar char="•"/>
            </a:pPr>
            <a:r>
              <a:rPr lang="en-US" sz="2400" b="0" dirty="0"/>
              <a:t>Listen to </a:t>
            </a:r>
            <a:r>
              <a:rPr lang="en-US" sz="2400" b="0" dirty="0" smtClean="0"/>
              <a:t>Locals</a:t>
            </a:r>
          </a:p>
          <a:p>
            <a:pPr marL="342900" indent="-342900">
              <a:buFont typeface="Arial" panose="020B0604020202020204" pitchFamily="34" charset="0"/>
              <a:buChar char="•"/>
            </a:pPr>
            <a:r>
              <a:rPr lang="en-US" sz="2400" b="0" dirty="0"/>
              <a:t>Recognize That Culture </a:t>
            </a:r>
            <a:r>
              <a:rPr lang="en-US" sz="2400" b="0" dirty="0" smtClean="0"/>
              <a:t>Changes</a:t>
            </a:r>
          </a:p>
          <a:p>
            <a:pPr marL="342900" indent="-342900">
              <a:buFont typeface="Arial" panose="020B0604020202020204" pitchFamily="34" charset="0"/>
              <a:buChar char="•"/>
            </a:pPr>
            <a:r>
              <a:rPr lang="en-US" sz="2400" b="0" dirty="0"/>
              <a:t>Do Not Always Assume That Culture Is the Problem</a:t>
            </a:r>
          </a:p>
        </p:txBody>
      </p:sp>
    </p:spTree>
    <p:extLst>
      <p:ext uri="{BB962C8B-B14F-4D97-AF65-F5344CB8AC3E}">
        <p14:creationId xmlns:p14="http://schemas.microsoft.com/office/powerpoint/2010/main" val="185727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Irish American">
      <a:dk1>
        <a:sysClr val="windowText" lastClr="000000"/>
      </a:dk1>
      <a:lt1>
        <a:sysClr val="window" lastClr="FFFFFF"/>
      </a:lt1>
      <a:dk2>
        <a:srgbClr val="44546A"/>
      </a:dk2>
      <a:lt2>
        <a:srgbClr val="D8D8D8"/>
      </a:lt2>
      <a:accent1>
        <a:srgbClr val="8FB399"/>
      </a:accent1>
      <a:accent2>
        <a:srgbClr val="FFA701"/>
      </a:accent2>
      <a:accent3>
        <a:srgbClr val="487629"/>
      </a:accent3>
      <a:accent4>
        <a:srgbClr val="90BF49"/>
      </a:accent4>
      <a:accent5>
        <a:srgbClr val="F18A00"/>
      </a:accent5>
      <a:accent6>
        <a:srgbClr val="E7E6E6"/>
      </a:accent6>
      <a:hlink>
        <a:srgbClr val="0563C1"/>
      </a:hlink>
      <a:folHlink>
        <a:srgbClr val="954F72"/>
      </a:folHlink>
    </a:clrScheme>
    <a:fontScheme name="Custom 8">
      <a:majorFont>
        <a:latin typeface="Segoe UI"/>
        <a:ea typeface=""/>
        <a:cs typeface=""/>
      </a:majorFont>
      <a:minorFont>
        <a:latin typeface="Segoe U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tarter Template_Heritage Month Presentation" id="{910467CA-E581-43CB-A3F9-242953556B2E}" vid="{325629C9-8C54-4982-A5E7-91DBF3E63BF9}"/>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26CB961-B093-4ED0-9551-8A62AE9AAD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6673EFD-F537-47AB-8353-122913B7188A}">
  <ds:schemaRefs>
    <ds:schemaRef ds:uri="http://purl.org/dc/elements/1.1/"/>
    <ds:schemaRef ds:uri="http://purl.org/dc/terms/"/>
    <ds:schemaRef ds:uri="http://www.w3.org/XML/1998/namespace"/>
    <ds:schemaRef ds:uri="230e9df3-be65-4c73-a93b-d1236ebd677e"/>
    <ds:schemaRef ds:uri="http://schemas.microsoft.com/office/infopath/2007/PartnerControls"/>
    <ds:schemaRef ds:uri="71af3243-3dd4-4a8d-8c0d-dd76da1f02a5"/>
    <ds:schemaRef ds:uri="http://schemas.microsoft.com/office/2006/documentManagement/types"/>
    <ds:schemaRef ds:uri="http://schemas.microsoft.com/sharepoint/v3"/>
    <ds:schemaRef ds:uri="http://purl.org/dc/dcmitype/"/>
    <ds:schemaRef ds:uri="http://schemas.openxmlformats.org/package/2006/metadata/core-properties"/>
    <ds:schemaRef ds:uri="16c05727-aa75-4e4a-9b5f-8a80a1165891"/>
    <ds:schemaRef ds:uri="http://schemas.microsoft.com/office/2006/metadata/properties"/>
  </ds:schemaRefs>
</ds:datastoreItem>
</file>

<file path=customXml/itemProps3.xml><?xml version="1.0" encoding="utf-8"?>
<ds:datastoreItem xmlns:ds="http://schemas.openxmlformats.org/officeDocument/2006/customXml" ds:itemID="{79C4BC6B-E254-4FD6-9CCA-F8CFD35CD8E1}">
  <ds:schemaRefs>
    <ds:schemaRef ds:uri="http://schemas.microsoft.com/sharepoint/v3/contenttype/forms"/>
  </ds:schemaRefs>
</ds:datastoreItem>
</file>

<file path=docMetadata/LabelInfo.xml><?xml version="1.0" encoding="utf-8"?>
<clbl:labelList xmlns:clbl="http://schemas.microsoft.com/office/2020/mipLabelMetadata">
  <clbl:label id="{72f988bf-86f1-41af-91ab-2d7cd011db47}" enabled="0" method="" siteId="{72f988bf-86f1-41af-91ab-2d7cd011db47}" removed="1"/>
</clbl:labelList>
</file>

<file path=docProps/app.xml><?xml version="1.0" encoding="utf-8"?>
<Properties xmlns="http://schemas.openxmlformats.org/officeDocument/2006/extended-properties" xmlns:vt="http://schemas.openxmlformats.org/officeDocument/2006/docPropsVTypes">
  <Template>Starter Template_Heritage Month Presentation</Template>
  <TotalTime>0</TotalTime>
  <Words>1593</Words>
  <Application>Microsoft Office PowerPoint</Application>
  <PresentationFormat>Widescreen</PresentationFormat>
  <Paragraphs>116</Paragraphs>
  <Slides>38</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Arial</vt:lpstr>
      <vt:lpstr>Calibri</vt:lpstr>
      <vt:lpstr>Segoe UI</vt:lpstr>
      <vt:lpstr>Office Theme</vt:lpstr>
      <vt:lpstr>Diversity and Culture</vt:lpstr>
      <vt:lpstr>Why the study of diversity and culture is important?</vt:lpstr>
      <vt:lpstr>Cont’d</vt:lpstr>
      <vt:lpstr>Diversity</vt:lpstr>
      <vt:lpstr>Levels of Diversity</vt:lpstr>
      <vt:lpstr>PowerPoint Presentation</vt:lpstr>
      <vt:lpstr>PowerPoint Presentation</vt:lpstr>
      <vt:lpstr>Age in the workplace</vt:lpstr>
      <vt:lpstr>Generational Differences</vt:lpstr>
      <vt:lpstr>Generation X</vt:lpstr>
      <vt:lpstr>Cont’d</vt:lpstr>
      <vt:lpstr>Generation Z </vt:lpstr>
      <vt:lpstr>5 benefits of age diversity in the workplace </vt:lpstr>
      <vt:lpstr>Prejudice and stereotypes</vt:lpstr>
      <vt:lpstr>Discrimination</vt:lpstr>
      <vt:lpstr>PowerPoint Presentation</vt:lpstr>
      <vt:lpstr>Culture </vt:lpstr>
      <vt:lpstr>Defining Culture</vt:lpstr>
      <vt:lpstr>Characteristics of Culture</vt:lpstr>
      <vt:lpstr>Cont’d</vt:lpstr>
      <vt:lpstr>Cont’d</vt:lpstr>
      <vt:lpstr>Components of Culture  </vt:lpstr>
      <vt:lpstr>Values and beliefs</vt:lpstr>
      <vt:lpstr>Norms</vt:lpstr>
      <vt:lpstr>Folkways, Mores, and Laws</vt:lpstr>
      <vt:lpstr>Taboos</vt:lpstr>
      <vt:lpstr>Symbols</vt:lpstr>
      <vt:lpstr>Language</vt:lpstr>
      <vt:lpstr>Ethnocentrism &amp; Cultural Shock</vt:lpstr>
      <vt:lpstr>Hofstede’s Cultural Dimensions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Suggestions for Managing Cultural Diversity</vt:lpstr>
    </vt:vector>
  </TitlesOfParts>
  <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2021-02-18T08:07:14Z</dcterms:created>
  <dcterms:modified xsi:type="dcterms:W3CDTF">2024-10-29T00:59:00Z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