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xls" ContentType="application/vnd.ms-excel"/>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heme/themeOverride1.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0"/>
  </p:notesMasterIdLst>
  <p:handoutMasterIdLst>
    <p:handoutMasterId r:id="rId51"/>
  </p:handoutMasterIdLst>
  <p:sldIdLst>
    <p:sldId id="659" r:id="rId2"/>
    <p:sldId id="664" r:id="rId3"/>
    <p:sldId id="660" r:id="rId4"/>
    <p:sldId id="661" r:id="rId5"/>
    <p:sldId id="662" r:id="rId6"/>
    <p:sldId id="533" r:id="rId7"/>
    <p:sldId id="626" r:id="rId8"/>
    <p:sldId id="535" r:id="rId9"/>
    <p:sldId id="605" r:id="rId10"/>
    <p:sldId id="606" r:id="rId11"/>
    <p:sldId id="550" r:id="rId12"/>
    <p:sldId id="551" r:id="rId13"/>
    <p:sldId id="627" r:id="rId14"/>
    <p:sldId id="663" r:id="rId15"/>
    <p:sldId id="608" r:id="rId16"/>
    <p:sldId id="609" r:id="rId17"/>
    <p:sldId id="585" r:id="rId18"/>
    <p:sldId id="586" r:id="rId19"/>
    <p:sldId id="646" r:id="rId20"/>
    <p:sldId id="681" r:id="rId21"/>
    <p:sldId id="682" r:id="rId22"/>
    <p:sldId id="631" r:id="rId23"/>
    <p:sldId id="583" r:id="rId24"/>
    <p:sldId id="542" r:id="rId25"/>
    <p:sldId id="545" r:id="rId26"/>
    <p:sldId id="552" r:id="rId27"/>
    <p:sldId id="541" r:id="rId28"/>
    <p:sldId id="647" r:id="rId29"/>
    <p:sldId id="666" r:id="rId30"/>
    <p:sldId id="649" r:id="rId31"/>
    <p:sldId id="667" r:id="rId32"/>
    <p:sldId id="668" r:id="rId33"/>
    <p:sldId id="670" r:id="rId34"/>
    <p:sldId id="653" r:id="rId35"/>
    <p:sldId id="671" r:id="rId36"/>
    <p:sldId id="672" r:id="rId37"/>
    <p:sldId id="673" r:id="rId38"/>
    <p:sldId id="657" r:id="rId39"/>
    <p:sldId id="675" r:id="rId40"/>
    <p:sldId id="547" r:id="rId41"/>
    <p:sldId id="634" r:id="rId42"/>
    <p:sldId id="635" r:id="rId43"/>
    <p:sldId id="548" r:id="rId44"/>
    <p:sldId id="676" r:id="rId45"/>
    <p:sldId id="519" r:id="rId46"/>
    <p:sldId id="584" r:id="rId47"/>
    <p:sldId id="677" r:id="rId48"/>
    <p:sldId id="678" r:id="rId49"/>
  </p:sldIdLst>
  <p:sldSz cx="9144000" cy="6858000" type="screen4x3"/>
  <p:notesSz cx="7004050" cy="9290050"/>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E5E5E"/>
    <a:srgbClr val="FF9900"/>
    <a:srgbClr val="0000D2"/>
    <a:srgbClr val="0000CC"/>
    <a:srgbClr val="0027A4"/>
    <a:srgbClr val="0033CC"/>
    <a:srgbClr val="FF6600"/>
    <a:srgbClr val="000066"/>
    <a:srgbClr val="EE8E00"/>
    <a:srgbClr val="C5C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84547" autoAdjust="0"/>
  </p:normalViewPr>
  <p:slideViewPr>
    <p:cSldViewPr>
      <p:cViewPr varScale="1">
        <p:scale>
          <a:sx n="62" d="100"/>
          <a:sy n="62" d="100"/>
        </p:scale>
        <p:origin x="-1596" y="-7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Lst>
  </p:outlineViewPr>
  <p:notesTextViewPr>
    <p:cViewPr>
      <p:scale>
        <a:sx n="100" d="100"/>
        <a:sy n="100" d="100"/>
      </p:scale>
      <p:origin x="0" y="0"/>
    </p:cViewPr>
  </p:notesTextViewPr>
  <p:sorterViewPr>
    <p:cViewPr>
      <p:scale>
        <a:sx n="100" d="100"/>
        <a:sy n="100" d="100"/>
      </p:scale>
      <p:origin x="0" y="1302"/>
    </p:cViewPr>
  </p:sorterViewPr>
  <p:notesViewPr>
    <p:cSldViewPr>
      <p:cViewPr>
        <p:scale>
          <a:sx n="75" d="100"/>
          <a:sy n="75" d="100"/>
        </p:scale>
        <p:origin x="-2406" y="-246"/>
      </p:cViewPr>
      <p:guideLst>
        <p:guide orient="horz" pos="2925"/>
        <p:guide pos="220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13" Type="http://schemas.openxmlformats.org/officeDocument/2006/relationships/slide" Target="slides/slide15.xml"/><Relationship Id="rId18" Type="http://schemas.openxmlformats.org/officeDocument/2006/relationships/slide" Target="slides/slide20.xml"/><Relationship Id="rId26" Type="http://schemas.openxmlformats.org/officeDocument/2006/relationships/slide" Target="slides/slide28.xml"/><Relationship Id="rId39" Type="http://schemas.openxmlformats.org/officeDocument/2006/relationships/slide" Target="slides/slide41.xml"/><Relationship Id="rId3" Type="http://schemas.openxmlformats.org/officeDocument/2006/relationships/slide" Target="slides/slide4.xml"/><Relationship Id="rId21" Type="http://schemas.openxmlformats.org/officeDocument/2006/relationships/slide" Target="slides/slide23.xml"/><Relationship Id="rId34" Type="http://schemas.openxmlformats.org/officeDocument/2006/relationships/slide" Target="slides/slide36.xml"/><Relationship Id="rId42" Type="http://schemas.openxmlformats.org/officeDocument/2006/relationships/slide" Target="slides/slide44.xml"/><Relationship Id="rId7" Type="http://schemas.openxmlformats.org/officeDocument/2006/relationships/slide" Target="slides/slide8.xml"/><Relationship Id="rId12" Type="http://schemas.openxmlformats.org/officeDocument/2006/relationships/slide" Target="slides/slide14.xml"/><Relationship Id="rId17" Type="http://schemas.openxmlformats.org/officeDocument/2006/relationships/slide" Target="slides/slide19.xml"/><Relationship Id="rId25" Type="http://schemas.openxmlformats.org/officeDocument/2006/relationships/slide" Target="slides/slide27.xml"/><Relationship Id="rId33" Type="http://schemas.openxmlformats.org/officeDocument/2006/relationships/slide" Target="slides/slide35.xml"/><Relationship Id="rId38" Type="http://schemas.openxmlformats.org/officeDocument/2006/relationships/slide" Target="slides/slide40.xml"/><Relationship Id="rId46" Type="http://schemas.openxmlformats.org/officeDocument/2006/relationships/slide" Target="slides/slide48.xml"/><Relationship Id="rId2" Type="http://schemas.openxmlformats.org/officeDocument/2006/relationships/slide" Target="slides/slide3.xml"/><Relationship Id="rId16" Type="http://schemas.openxmlformats.org/officeDocument/2006/relationships/slide" Target="slides/slide18.xml"/><Relationship Id="rId20" Type="http://schemas.openxmlformats.org/officeDocument/2006/relationships/slide" Target="slides/slide22.xml"/><Relationship Id="rId29" Type="http://schemas.openxmlformats.org/officeDocument/2006/relationships/slide" Target="slides/slide31.xml"/><Relationship Id="rId41" Type="http://schemas.openxmlformats.org/officeDocument/2006/relationships/slide" Target="slides/slide43.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3.xml"/><Relationship Id="rId24" Type="http://schemas.openxmlformats.org/officeDocument/2006/relationships/slide" Target="slides/slide26.xml"/><Relationship Id="rId32" Type="http://schemas.openxmlformats.org/officeDocument/2006/relationships/slide" Target="slides/slide34.xml"/><Relationship Id="rId37" Type="http://schemas.openxmlformats.org/officeDocument/2006/relationships/slide" Target="slides/slide39.xml"/><Relationship Id="rId40" Type="http://schemas.openxmlformats.org/officeDocument/2006/relationships/slide" Target="slides/slide42.xml"/><Relationship Id="rId45" Type="http://schemas.openxmlformats.org/officeDocument/2006/relationships/slide" Target="slides/slide47.xml"/><Relationship Id="rId5" Type="http://schemas.openxmlformats.org/officeDocument/2006/relationships/slide" Target="slides/slide6.xml"/><Relationship Id="rId15" Type="http://schemas.openxmlformats.org/officeDocument/2006/relationships/slide" Target="slides/slide17.xml"/><Relationship Id="rId23" Type="http://schemas.openxmlformats.org/officeDocument/2006/relationships/slide" Target="slides/slide25.xml"/><Relationship Id="rId28" Type="http://schemas.openxmlformats.org/officeDocument/2006/relationships/slide" Target="slides/slide30.xml"/><Relationship Id="rId36" Type="http://schemas.openxmlformats.org/officeDocument/2006/relationships/slide" Target="slides/slide38.xml"/><Relationship Id="rId10" Type="http://schemas.openxmlformats.org/officeDocument/2006/relationships/slide" Target="slides/slide12.xml"/><Relationship Id="rId19" Type="http://schemas.openxmlformats.org/officeDocument/2006/relationships/slide" Target="slides/slide21.xml"/><Relationship Id="rId31" Type="http://schemas.openxmlformats.org/officeDocument/2006/relationships/slide" Target="slides/slide33.xml"/><Relationship Id="rId44" Type="http://schemas.openxmlformats.org/officeDocument/2006/relationships/slide" Target="slides/slide46.xml"/><Relationship Id="rId4" Type="http://schemas.openxmlformats.org/officeDocument/2006/relationships/slide" Target="slides/slide5.xml"/><Relationship Id="rId9" Type="http://schemas.openxmlformats.org/officeDocument/2006/relationships/slide" Target="slides/slide11.xml"/><Relationship Id="rId14" Type="http://schemas.openxmlformats.org/officeDocument/2006/relationships/slide" Target="slides/slide16.xml"/><Relationship Id="rId22" Type="http://schemas.openxmlformats.org/officeDocument/2006/relationships/slide" Target="slides/slide24.xml"/><Relationship Id="rId27" Type="http://schemas.openxmlformats.org/officeDocument/2006/relationships/slide" Target="slides/slide29.xml"/><Relationship Id="rId30" Type="http://schemas.openxmlformats.org/officeDocument/2006/relationships/slide" Target="slides/slide32.xml"/><Relationship Id="rId35" Type="http://schemas.openxmlformats.org/officeDocument/2006/relationships/slide" Target="slides/slide37.xml"/><Relationship Id="rId43" Type="http://schemas.openxmlformats.org/officeDocument/2006/relationships/slide" Target="slides/slide4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jpe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8.jpeg"/><Relationship Id="rId1" Type="http://schemas.openxmlformats.org/officeDocument/2006/relationships/image" Target="../media/image11.emf"/><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081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388938" y="4413250"/>
            <a:ext cx="6303962" cy="4179888"/>
          </a:xfrm>
          <a:prstGeom prst="rect">
            <a:avLst/>
          </a:prstGeom>
          <a:noFill/>
          <a:ln w="12700">
            <a:noFill/>
            <a:miter lim="800000"/>
            <a:headEnd/>
            <a:tailEnd/>
          </a:ln>
          <a:effectLst/>
        </p:spPr>
        <p:txBody>
          <a:bodyPr vert="horz" wrap="square" lIns="91871" tIns="45130" rIns="91871" bIns="45130" numCol="1" anchor="t" anchorCtr="0" compatLnSpc="1">
            <a:prstTxWarp prst="textNoShape">
              <a:avLst/>
            </a:prstTxWarp>
          </a:bodyPr>
          <a:lstStyle/>
          <a:p>
            <a:pPr lvl="0"/>
            <a:r>
              <a:rPr lang="en-US" noProof="0" smtClean="0"/>
              <a:t>Click to edit Master notes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5299" name="Rectangle 3"/>
          <p:cNvSpPr>
            <a:spLocks noGrp="1" noRot="1" noChangeAspect="1" noChangeArrowheads="1" noTextEdit="1"/>
          </p:cNvSpPr>
          <p:nvPr>
            <p:ph type="sldImg" idx="2"/>
          </p:nvPr>
        </p:nvSpPr>
        <p:spPr bwMode="auto">
          <a:xfrm>
            <a:off x="1189038" y="703263"/>
            <a:ext cx="4627562" cy="34702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6745354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4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4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4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4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1189038" y="703263"/>
            <a:ext cx="4625975" cy="3470275"/>
          </a:xfrm>
          <a:ln/>
        </p:spPr>
      </p:sp>
      <p:sp>
        <p:nvSpPr>
          <p:cNvPr id="583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Rot="1" noChangeAspect="1" noChangeArrowheads="1" noTextEdit="1"/>
          </p:cNvSpPr>
          <p:nvPr>
            <p:ph type="sldImg"/>
          </p:nvPr>
        </p:nvSpPr>
        <p:spPr>
          <a:xfrm>
            <a:off x="1189038" y="703263"/>
            <a:ext cx="4625975" cy="3470275"/>
          </a:xfrm>
          <a:ln/>
        </p:spPr>
      </p:sp>
      <p:sp>
        <p:nvSpPr>
          <p:cNvPr id="515075" name="Rectangle 3"/>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xfrm>
            <a:off x="1189038" y="703263"/>
            <a:ext cx="4625975" cy="3470275"/>
          </a:xfrm>
          <a:ln/>
        </p:spPr>
      </p:sp>
      <p:sp>
        <p:nvSpPr>
          <p:cNvPr id="135171" name="Rectangle 3"/>
          <p:cNvSpPr>
            <a:spLocks noGrp="1" noChangeArrowheads="1"/>
          </p:cNvSpPr>
          <p:nvPr>
            <p:ph type="body" idx="1"/>
          </p:nvPr>
        </p:nvSpPr>
        <p:spPr>
          <a:noFill/>
        </p:spPr>
        <p:txBody>
          <a:bodyPr/>
          <a:lstStyle/>
          <a:p>
            <a:endParaRPr lang="en-US" alt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xfrm>
            <a:off x="1189038" y="703263"/>
            <a:ext cx="4625975" cy="3470275"/>
          </a:xfrm>
          <a:ln/>
        </p:spPr>
      </p:sp>
      <p:sp>
        <p:nvSpPr>
          <p:cNvPr id="136195" name="Rectangle 3"/>
          <p:cNvSpPr>
            <a:spLocks noGrp="1" noChangeArrowheads="1"/>
          </p:cNvSpPr>
          <p:nvPr>
            <p:ph type="body" idx="1"/>
          </p:nvPr>
        </p:nvSpPr>
        <p:spPr>
          <a:noFill/>
        </p:spPr>
        <p:txBody>
          <a:bodyPr/>
          <a:lstStyle/>
          <a:p>
            <a:endParaRPr lang="en-US" alt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89038" y="703263"/>
            <a:ext cx="4625975" cy="3470275"/>
          </a:xfrm>
          <a:ln/>
        </p:spPr>
      </p:sp>
      <p:sp>
        <p:nvSpPr>
          <p:cNvPr id="624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1189038" y="703263"/>
            <a:ext cx="4625975" cy="3470275"/>
          </a:xfrm>
          <a:ln/>
        </p:spPr>
      </p:sp>
      <p:sp>
        <p:nvSpPr>
          <p:cNvPr id="6349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89038" y="703263"/>
            <a:ext cx="4625975" cy="3470275"/>
          </a:xfrm>
          <a:ln/>
        </p:spPr>
      </p:sp>
      <p:sp>
        <p:nvSpPr>
          <p:cNvPr id="645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89038" y="703263"/>
            <a:ext cx="4625975" cy="3470275"/>
          </a:xfrm>
          <a:ln/>
        </p:spPr>
      </p:sp>
      <p:sp>
        <p:nvSpPr>
          <p:cNvPr id="706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Rot="1" noChangeAspect="1" noChangeArrowheads="1" noTextEdit="1"/>
          </p:cNvSpPr>
          <p:nvPr>
            <p:ph type="sldImg"/>
          </p:nvPr>
        </p:nvSpPr>
        <p:spPr>
          <a:xfrm>
            <a:off x="1190625" y="704850"/>
            <a:ext cx="4624388" cy="3468688"/>
          </a:xfrm>
          <a:ln/>
        </p:spPr>
      </p:sp>
      <p:sp>
        <p:nvSpPr>
          <p:cNvPr id="373763" name="Rectangle 3"/>
          <p:cNvSpPr>
            <a:spLocks noGrp="1" noChangeArrowheads="1"/>
          </p:cNvSpPr>
          <p:nvPr>
            <p:ph type="body" idx="1"/>
          </p:nvPr>
        </p:nvSpPr>
        <p:spPr>
          <a:xfrm>
            <a:off x="389114" y="4413020"/>
            <a:ext cx="6303645" cy="4179379"/>
          </a:xfrm>
        </p:spPr>
        <p:txBody>
          <a:bodyPr/>
          <a:lstStyle/>
          <a:p>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89038" y="703263"/>
            <a:ext cx="4625975" cy="3470275"/>
          </a:xfrm>
          <a:ln/>
        </p:spPr>
      </p:sp>
      <p:sp>
        <p:nvSpPr>
          <p:cNvPr id="7270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1189038" y="703263"/>
            <a:ext cx="4625975" cy="3470275"/>
          </a:xfrm>
          <a:ln/>
        </p:spPr>
      </p:sp>
      <p:sp>
        <p:nvSpPr>
          <p:cNvPr id="7373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189038" y="703263"/>
            <a:ext cx="4625975" cy="3470275"/>
          </a:xfrm>
          <a:ln/>
        </p:spPr>
      </p:sp>
      <p:sp>
        <p:nvSpPr>
          <p:cNvPr id="942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189038" y="703263"/>
            <a:ext cx="4625975" cy="3470275"/>
          </a:xfrm>
          <a:ln/>
        </p:spPr>
      </p:sp>
      <p:sp>
        <p:nvSpPr>
          <p:cNvPr id="942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89038" y="703263"/>
            <a:ext cx="4625975" cy="3470275"/>
          </a:xfrm>
          <a:ln/>
        </p:spPr>
      </p:sp>
      <p:sp>
        <p:nvSpPr>
          <p:cNvPr id="7782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89038" y="703263"/>
            <a:ext cx="4625975" cy="3470275"/>
          </a:xfrm>
          <a:ln/>
        </p:spPr>
      </p:sp>
      <p:sp>
        <p:nvSpPr>
          <p:cNvPr id="788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1189038" y="703263"/>
            <a:ext cx="4625975" cy="3470275"/>
          </a:xfrm>
          <a:ln/>
        </p:spPr>
      </p:sp>
      <p:sp>
        <p:nvSpPr>
          <p:cNvPr id="7987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89038" y="703263"/>
            <a:ext cx="4625975" cy="3470275"/>
          </a:xfrm>
          <a:ln/>
        </p:spPr>
      </p:sp>
      <p:sp>
        <p:nvSpPr>
          <p:cNvPr id="8294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89038" y="703263"/>
            <a:ext cx="4625975" cy="3470275"/>
          </a:xfrm>
          <a:ln/>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89038" y="703263"/>
            <a:ext cx="4625975" cy="3470275"/>
          </a:xfrm>
          <a:ln/>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1189038" y="703263"/>
            <a:ext cx="4625975" cy="3470275"/>
          </a:xfrm>
          <a:ln/>
        </p:spPr>
      </p:sp>
      <p:sp>
        <p:nvSpPr>
          <p:cNvPr id="962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189038" y="703263"/>
            <a:ext cx="4625975" cy="3470275"/>
          </a:xfrm>
          <a:ln/>
        </p:spPr>
      </p:sp>
      <p:sp>
        <p:nvSpPr>
          <p:cNvPr id="942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89038" y="703263"/>
            <a:ext cx="4625975" cy="3470275"/>
          </a:xfrm>
          <a:ln/>
        </p:spPr>
      </p:sp>
      <p:sp>
        <p:nvSpPr>
          <p:cNvPr id="9728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1189038" y="703263"/>
            <a:ext cx="4625975" cy="3470275"/>
          </a:xfrm>
          <a:ln/>
        </p:spPr>
      </p:sp>
      <p:sp>
        <p:nvSpPr>
          <p:cNvPr id="9830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1189038" y="703263"/>
            <a:ext cx="4625975" cy="3470275"/>
          </a:xfrm>
          <a:ln/>
        </p:spPr>
      </p:sp>
      <p:sp>
        <p:nvSpPr>
          <p:cNvPr id="7373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1189038" y="703263"/>
            <a:ext cx="4625975" cy="3470275"/>
          </a:xfrm>
          <a:ln/>
        </p:spPr>
      </p:sp>
      <p:sp>
        <p:nvSpPr>
          <p:cNvPr id="10035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189038" y="703263"/>
            <a:ext cx="4625975" cy="3470275"/>
          </a:xfrm>
          <a:ln/>
        </p:spPr>
      </p:sp>
      <p:sp>
        <p:nvSpPr>
          <p:cNvPr id="942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189038" y="703263"/>
            <a:ext cx="4625975" cy="3470275"/>
          </a:xfrm>
          <a:ln/>
        </p:spPr>
      </p:sp>
      <p:sp>
        <p:nvSpPr>
          <p:cNvPr id="942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391561758"/>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13176184"/>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27856360"/>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23710363"/>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41606395"/>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64354485"/>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0254862"/>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94030202"/>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62415666"/>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02371845"/>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354013"/>
            <a:ext cx="2095500" cy="55895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354013"/>
            <a:ext cx="6134100" cy="55895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7409810"/>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01339696"/>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34332499"/>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7" name="Rectangle 13"/>
          <p:cNvSpPr>
            <a:spLocks noGrp="1" noChangeArrowheads="1"/>
          </p:cNvSpPr>
          <p:nvPr>
            <p:ph type="title"/>
          </p:nvPr>
        </p:nvSpPr>
        <p:spPr bwMode="auto">
          <a:xfrm>
            <a:off x="1149350" y="354013"/>
            <a:ext cx="7607300" cy="560387"/>
          </a:xfrm>
          <a:prstGeom prst="rect">
            <a:avLst/>
          </a:prstGeom>
          <a:solidFill>
            <a:srgbClr val="003399"/>
          </a:solidFill>
          <a:ln w="63500">
            <a:solidFill>
              <a:srgbClr val="54385C"/>
            </a:solidFill>
            <a:miter lim="800000"/>
            <a:headEnd/>
            <a:tailEnd/>
          </a:ln>
          <a:effectLst/>
        </p:spPr>
        <p:txBody>
          <a:bodyPr vert="horz" wrap="square" lIns="92075" tIns="46038" rIns="92075" bIns="46038" numCol="1" anchor="ctr" anchorCtr="0" compatLnSpc="1">
            <a:prstTxWarp prst="textNoShape">
              <a:avLst/>
            </a:prstTxWarp>
          </a:bodyPr>
          <a:lstStyle/>
          <a:p>
            <a:pPr lvl="0"/>
            <a:r>
              <a:rPr lang="en-US" smtClean="0"/>
              <a:t>Click to edit Master title style</a:t>
            </a:r>
          </a:p>
        </p:txBody>
      </p:sp>
      <p:sp>
        <p:nvSpPr>
          <p:cNvPr id="1038" name="Rectangle 14"/>
          <p:cNvSpPr>
            <a:spLocks noGrp="1" noChangeArrowheads="1"/>
          </p:cNvSpPr>
          <p:nvPr>
            <p:ph type="body" idx="1"/>
          </p:nvPr>
        </p:nvSpPr>
        <p:spPr bwMode="auto">
          <a:xfrm>
            <a:off x="381000" y="1143000"/>
            <a:ext cx="8382000" cy="4800600"/>
          </a:xfrm>
          <a:prstGeom prst="rect">
            <a:avLst/>
          </a:prstGeom>
          <a:noFill/>
          <a:ln w="12700">
            <a:noFill/>
            <a:miter lim="800000"/>
            <a:headEnd/>
            <a:tailEnd/>
          </a:ln>
          <a:effectLst/>
        </p:spPr>
        <p:txBody>
          <a:bodyPr vert="horz" wrap="square" lIns="182562" tIns="46038" rIns="182562" bIns="46038"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0" name="Text Box 16"/>
          <p:cNvSpPr txBox="1">
            <a:spLocks noChangeArrowheads="1"/>
          </p:cNvSpPr>
          <p:nvPr/>
        </p:nvSpPr>
        <p:spPr bwMode="auto">
          <a:xfrm>
            <a:off x="76200" y="6400800"/>
            <a:ext cx="685800" cy="274638"/>
          </a:xfrm>
          <a:prstGeom prst="rect">
            <a:avLst/>
          </a:prstGeom>
          <a:noFill/>
          <a:ln w="12700">
            <a:noFill/>
            <a:miter lim="800000"/>
            <a:headEnd/>
            <a:tailEnd/>
          </a:ln>
          <a:effec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1200" b="1" dirty="0">
                <a:latin typeface="Arial" charset="0"/>
              </a:rPr>
              <a:t>2-</a:t>
            </a:r>
            <a:fld id="{BD9C72E0-C824-4CAC-BAED-7E641140918E}" type="slidenum">
              <a:rPr lang="en-US" altLang="en-US" sz="1200" b="1">
                <a:latin typeface="Arial" charset="0"/>
              </a:rPr>
              <a:pPr>
                <a:spcBef>
                  <a:spcPct val="50000"/>
                </a:spcBef>
              </a:pPr>
              <a:t>‹#›</a:t>
            </a:fld>
            <a:endParaRPr lang="en-US" altLang="en-US" sz="1200" b="1" dirty="0">
              <a:latin typeface="Arial"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wipe dir="r"/>
  </p:transition>
  <p:txStyles>
    <p:titleStyle>
      <a:lvl1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itchFamily="66" charset="0"/>
        </a:defRPr>
      </a:lvl2pPr>
      <a:lvl3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itchFamily="66" charset="0"/>
        </a:defRPr>
      </a:lvl3pPr>
      <a:lvl4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itchFamily="66" charset="0"/>
        </a:defRPr>
      </a:lvl4pPr>
      <a:lvl5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itchFamily="66" charset="0"/>
        </a:defRPr>
      </a:lvl5pPr>
      <a:lvl6pPr marL="457200"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itchFamily="66" charset="0"/>
        </a:defRPr>
      </a:lvl6pPr>
      <a:lvl7pPr marL="914400"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itchFamily="66" charset="0"/>
        </a:defRPr>
      </a:lvl7pPr>
      <a:lvl8pPr marL="1371600"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itchFamily="66" charset="0"/>
        </a:defRPr>
      </a:lvl8pPr>
      <a:lvl9pPr marL="1828800"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itchFamily="66" charset="0"/>
        </a:defRPr>
      </a:lvl9pPr>
    </p:titleStyle>
    <p:bodyStyle>
      <a:lvl1pPr marL="342900" indent="-342900" algn="l" rtl="0" eaLnBrk="0" fontAlgn="base" hangingPunct="0">
        <a:spcBef>
          <a:spcPct val="20000"/>
        </a:spcBef>
        <a:spcAft>
          <a:spcPct val="0"/>
        </a:spcAft>
        <a:buClr>
          <a:schemeClr val="accent2"/>
        </a:buClr>
        <a:buSzPct val="75000"/>
        <a:buFont typeface="Wingdings" pitchFamily="2" charset="2"/>
        <a:buChar char="l"/>
        <a:defRPr sz="2800" b="1">
          <a:solidFill>
            <a:schemeClr val="bg2"/>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itchFamily="2" charset="2"/>
        <a:buChar char="l"/>
        <a:defRPr sz="2400" b="1">
          <a:solidFill>
            <a:schemeClr val="bg2"/>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5pPr>
      <a:lvl6pPr marL="25146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6pPr>
      <a:lvl7pPr marL="29718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7pPr>
      <a:lvl8pPr marL="34290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8pPr>
      <a:lvl9pPr marL="38862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image" Target="../media/image2.w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3.e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7.xml"/><Relationship Id="rId7" Type="http://schemas.openxmlformats.org/officeDocument/2006/relationships/image" Target="../media/image6.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5.emf"/><Relationship Id="rId4" Type="http://schemas.openxmlformats.org/officeDocument/2006/relationships/oleObject" Target="../embeddings/oleObject6.bin"/><Relationship Id="rId9" Type="http://schemas.openxmlformats.org/officeDocument/2006/relationships/image" Target="../media/image7.emf"/></Relationships>
</file>

<file path=ppt/slides/_rels/slide8.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notesSlide" Target="../notesSlides/notesSlide8.xml"/><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8.jpeg"/><Relationship Id="rId5" Type="http://schemas.openxmlformats.org/officeDocument/2006/relationships/image" Target="../media/image9.emf"/><Relationship Id="rId4"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oleObject" Target="../embeddings/oleObject15.bin"/><Relationship Id="rId3" Type="http://schemas.openxmlformats.org/officeDocument/2006/relationships/notesSlide" Target="../notesSlides/notesSlide9.xml"/><Relationship Id="rId7" Type="http://schemas.openxmlformats.org/officeDocument/2006/relationships/image" Target="../media/image12.emf"/><Relationship Id="rId12" Type="http://schemas.openxmlformats.org/officeDocument/2006/relationships/image" Target="../media/image14.emf"/><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oleObject" Target="../embeddings/oleObject12.bin"/><Relationship Id="rId11" Type="http://schemas.openxmlformats.org/officeDocument/2006/relationships/oleObject" Target="../embeddings/oleObject14.bin"/><Relationship Id="rId5" Type="http://schemas.openxmlformats.org/officeDocument/2006/relationships/image" Target="../media/image11.emf"/><Relationship Id="rId10" Type="http://schemas.openxmlformats.org/officeDocument/2006/relationships/image" Target="../media/image13.emf"/><Relationship Id="rId4" Type="http://schemas.openxmlformats.org/officeDocument/2006/relationships/oleObject" Target="../embeddings/oleObject11.bin"/><Relationship Id="rId9" Type="http://schemas.openxmlformats.org/officeDocument/2006/relationships/oleObject" Target="../embeddings/oleObject13.bin"/><Relationship Id="rId1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25.emf"/><Relationship Id="rId4" Type="http://schemas.openxmlformats.org/officeDocument/2006/relationships/oleObject" Target="../embeddings/Microsoft_Excel_97-2003_Worksheet1.xls"/></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26.emf"/><Relationship Id="rId4" Type="http://schemas.openxmlformats.org/officeDocument/2006/relationships/oleObject" Target="../embeddings/Microsoft_Excel_97-2003_Worksheet2.xls"/></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46.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20.png"/><Relationship Id="rId7"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0" y="228600"/>
            <a:ext cx="9144000" cy="1752600"/>
          </a:xfrm>
          <a:prstGeom prst="rect">
            <a:avLst/>
          </a:prstGeom>
          <a:solidFill>
            <a:srgbClr val="C5C5FF"/>
          </a:solidFill>
          <a:ln>
            <a:noFill/>
          </a:ln>
          <a:effectLst/>
        </p:spPr>
        <p:txBody>
          <a:bodyPr wrap="none" anchor="ctr"/>
          <a:lstStyle/>
          <a:p>
            <a:endParaRPr lang="en-US" dirty="0">
              <a:latin typeface="Liberation Sans" panose="020B0604020202020204" pitchFamily="34" charset="0"/>
            </a:endParaRPr>
          </a:p>
        </p:txBody>
      </p:sp>
      <p:sp>
        <p:nvSpPr>
          <p:cNvPr id="8" name="Rectangle 6"/>
          <p:cNvSpPr>
            <a:spLocks noChangeArrowheads="1"/>
          </p:cNvSpPr>
          <p:nvPr/>
        </p:nvSpPr>
        <p:spPr bwMode="auto">
          <a:xfrm>
            <a:off x="0" y="685800"/>
            <a:ext cx="2514600" cy="914400"/>
          </a:xfrm>
          <a:prstGeom prst="rect">
            <a:avLst/>
          </a:prstGeom>
          <a:solidFill>
            <a:schemeClr val="bg1">
              <a:lumMod val="6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9" name="Rectangle 8"/>
          <p:cNvSpPr txBox="1">
            <a:spLocks noChangeArrowheads="1"/>
          </p:cNvSpPr>
          <p:nvPr/>
        </p:nvSpPr>
        <p:spPr>
          <a:xfrm>
            <a:off x="2514600" y="533400"/>
            <a:ext cx="5943600" cy="1200329"/>
          </a:xfrm>
          <a:prstGeom prst="rect">
            <a:avLst/>
          </a:prstGeom>
          <a:solidFill>
            <a:schemeClr val="bg1"/>
          </a:solidFill>
          <a:ln w="28575" cap="flat" cmpd="sng" algn="ctr">
            <a:solidFill>
              <a:schemeClr val="bg1">
                <a:lumMod val="65000"/>
              </a:schemeClr>
            </a:solidFill>
            <a:prstDash val="solid"/>
            <a:miter lim="800000"/>
            <a:headEnd/>
            <a:tailEnd/>
          </a:ln>
        </p:spPr>
        <p:txBody>
          <a:bodyPr wrap="square" lIns="91440" tIns="45720" rIns="91440" bIns="45720" anchor="ctr" anchorCtr="0">
            <a:noAutofit/>
          </a:bodyPr>
          <a:lstStyle>
            <a:lvl1pPr marL="342900" indent="-342900" algn="l" rtl="0" eaLnBrk="0" fontAlgn="base" hangingPunct="0">
              <a:spcBef>
                <a:spcPct val="20000"/>
              </a:spcBef>
              <a:spcAft>
                <a:spcPct val="0"/>
              </a:spcAft>
              <a:buClr>
                <a:schemeClr val="accent2"/>
              </a:buClr>
              <a:buSzPct val="75000"/>
              <a:buFont typeface="Wingdings" pitchFamily="2" charset="2"/>
              <a:buChar char="l"/>
              <a:defRPr sz="2800" b="1">
                <a:solidFill>
                  <a:schemeClr val="bg2"/>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itchFamily="2" charset="2"/>
              <a:buChar char="l"/>
              <a:defRPr sz="2400" b="1">
                <a:solidFill>
                  <a:schemeClr val="bg2"/>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5pPr>
            <a:lvl6pPr marL="25146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6pPr>
            <a:lvl7pPr marL="29718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7pPr>
            <a:lvl8pPr marL="34290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8pPr>
            <a:lvl9pPr marL="3886200" indent="-228600" algn="l" rtl="0" eaLnBrk="0" fontAlgn="base" hangingPunct="0">
              <a:spcBef>
                <a:spcPct val="20000"/>
              </a:spcBef>
              <a:spcAft>
                <a:spcPct val="0"/>
              </a:spcAft>
              <a:buClr>
                <a:schemeClr val="accent2"/>
              </a:buClr>
              <a:buSzPct val="75000"/>
              <a:buFont typeface="Wingdings" pitchFamily="2" charset="2"/>
              <a:buChar char="l"/>
              <a:defRPr sz="2000" b="1">
                <a:solidFill>
                  <a:schemeClr val="bg2"/>
                </a:solidFill>
                <a:effectLst>
                  <a:outerShdw blurRad="38100" dist="38100" dir="2700000" algn="tl">
                    <a:srgbClr val="C0C0C0"/>
                  </a:outerShdw>
                </a:effectLst>
                <a:latin typeface="+mn-lt"/>
              </a:defRPr>
            </a:lvl9pPr>
          </a:lstStyle>
          <a:p>
            <a:pPr marL="58738" indent="0">
              <a:spcBef>
                <a:spcPct val="50000"/>
              </a:spcBef>
              <a:buSzTx/>
              <a:buFontTx/>
              <a:buNone/>
            </a:pPr>
            <a:r>
              <a:rPr lang="en-US" altLang="en-US" sz="3800" kern="0" dirty="0" smtClean="0">
                <a:solidFill>
                  <a:srgbClr val="CC0000"/>
                </a:solidFill>
                <a:effectLst/>
                <a:latin typeface="Liberation Sans" panose="020B0604020202020204" pitchFamily="34" charset="0"/>
              </a:rPr>
              <a:t>The Recording Process</a:t>
            </a:r>
            <a:endParaRPr lang="en-US" altLang="en-US" sz="3800" kern="0" dirty="0">
              <a:solidFill>
                <a:srgbClr val="CC0000"/>
              </a:solidFill>
              <a:effectLst/>
              <a:latin typeface="Liberation Sans" panose="020B0604020202020204" pitchFamily="34" charset="0"/>
            </a:endParaRPr>
          </a:p>
        </p:txBody>
      </p:sp>
      <p:sp>
        <p:nvSpPr>
          <p:cNvPr id="10" name="Oval 9"/>
          <p:cNvSpPr/>
          <p:nvPr/>
        </p:nvSpPr>
        <p:spPr bwMode="auto">
          <a:xfrm>
            <a:off x="762000" y="381000"/>
            <a:ext cx="1447800" cy="1447800"/>
          </a:xfrm>
          <a:prstGeom prst="ellipse">
            <a:avLst/>
          </a:prstGeom>
          <a:solidFill>
            <a:srgbClr val="0027A4"/>
          </a:solidFill>
          <a:ln w="12700" cap="flat" cmpd="sng" algn="ctr">
            <a:noFill/>
            <a:prstDash val="solid"/>
            <a:round/>
            <a:headEnd type="none" w="med" len="med"/>
            <a:tailEnd type="none" w="med" len="med"/>
          </a:ln>
          <a:effectLst/>
        </p:spPr>
        <p:txBody>
          <a:bodyPr vert="horz" wrap="square" lIns="91440" tIns="0" rIns="91440" bIns="45720" numCol="1" rtlCol="0" anchor="ctr" anchorCtr="0" compatLnSpc="1">
            <a:prstTxWarp prst="textNoShape">
              <a:avLst/>
            </a:prstTxWarp>
          </a:bodyPr>
          <a:lstStyle/>
          <a:p>
            <a:pPr algn="ctr"/>
            <a:r>
              <a:rPr lang="en-US" sz="10000" dirty="0" smtClean="0">
                <a:solidFill>
                  <a:schemeClr val="bg1"/>
                </a:solidFill>
                <a:latin typeface="Liberation Sans" panose="020B0604020202020204" pitchFamily="34" charset="0"/>
              </a:rPr>
              <a:t>2</a:t>
            </a:r>
            <a:endParaRPr lang="en-US" sz="10000" dirty="0">
              <a:solidFill>
                <a:schemeClr val="bg1"/>
              </a:solidFill>
              <a:latin typeface="Liberation Sans" panose="020B0604020202020204" pitchFamily="34" charset="0"/>
            </a:endParaRPr>
          </a:p>
        </p:txBody>
      </p:sp>
      <p:sp>
        <p:nvSpPr>
          <p:cNvPr id="11" name="Rectangle 6"/>
          <p:cNvSpPr>
            <a:spLocks noChangeArrowheads="1"/>
          </p:cNvSpPr>
          <p:nvPr/>
        </p:nvSpPr>
        <p:spPr bwMode="auto">
          <a:xfrm>
            <a:off x="0" y="3773424"/>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12" name="Rectangle 6"/>
          <p:cNvSpPr>
            <a:spLocks noChangeArrowheads="1"/>
          </p:cNvSpPr>
          <p:nvPr/>
        </p:nvSpPr>
        <p:spPr bwMode="auto">
          <a:xfrm>
            <a:off x="0" y="2846832"/>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13" name="Rectangle 10"/>
          <p:cNvSpPr>
            <a:spLocks noChangeArrowheads="1"/>
          </p:cNvSpPr>
          <p:nvPr/>
        </p:nvSpPr>
        <p:spPr bwMode="auto">
          <a:xfrm>
            <a:off x="457200" y="2133600"/>
            <a:ext cx="4419600" cy="523220"/>
          </a:xfrm>
          <a:prstGeom prst="rect">
            <a:avLst/>
          </a:prstGeom>
          <a:noFill/>
          <a:ln>
            <a:noFill/>
          </a:ln>
          <a:effectLst/>
        </p:spPr>
        <p:txBody>
          <a:bodyPr wrap="square">
            <a:spAutoFit/>
          </a:bodyPr>
          <a:lstStyle/>
          <a:p>
            <a:pPr algn="l" eaLnBrk="1" hangingPunct="1">
              <a:spcBef>
                <a:spcPct val="30000"/>
              </a:spcBef>
            </a:pPr>
            <a:r>
              <a:rPr lang="en-US" altLang="en-US" sz="2800" b="1" dirty="0">
                <a:latin typeface="Liberation Sans" panose="020B0604020202020204" pitchFamily="34" charset="0"/>
              </a:rPr>
              <a:t>Learning Objectives</a:t>
            </a:r>
          </a:p>
        </p:txBody>
      </p:sp>
      <p:sp>
        <p:nvSpPr>
          <p:cNvPr id="14" name="Rectangle 5"/>
          <p:cNvSpPr>
            <a:spLocks noChangeArrowheads="1"/>
          </p:cNvSpPr>
          <p:nvPr/>
        </p:nvSpPr>
        <p:spPr bwMode="auto">
          <a:xfrm>
            <a:off x="1447800" y="2782824"/>
            <a:ext cx="7696200" cy="850392"/>
          </a:xfrm>
          <a:prstGeom prst="rect">
            <a:avLst/>
          </a:prstGeom>
          <a:solidFill>
            <a:srgbClr val="0027A4"/>
          </a:solidFill>
          <a:ln>
            <a:noFill/>
          </a:ln>
          <a:effectLst/>
        </p:spPr>
        <p:txBody>
          <a:bodyPr wrap="square" tIns="27432" anchor="ctr"/>
          <a:lstStyle/>
          <a:p>
            <a:pPr marL="117475" algn="l"/>
            <a:r>
              <a:rPr lang="en-US" sz="2000" b="1" dirty="0">
                <a:solidFill>
                  <a:schemeClr val="bg1"/>
                </a:solidFill>
                <a:latin typeface="Liberation Sans" panose="020B0604020202020204" pitchFamily="34" charset="0"/>
              </a:rPr>
              <a:t>Describe how accounts, debits, and credits are used to record business transactions.</a:t>
            </a:r>
          </a:p>
        </p:txBody>
      </p:sp>
      <p:sp>
        <p:nvSpPr>
          <p:cNvPr id="15" name="Rectangle 5"/>
          <p:cNvSpPr>
            <a:spLocks noChangeArrowheads="1"/>
          </p:cNvSpPr>
          <p:nvPr/>
        </p:nvSpPr>
        <p:spPr bwMode="auto">
          <a:xfrm>
            <a:off x="1447800" y="3773424"/>
            <a:ext cx="7696200" cy="722376"/>
          </a:xfrm>
          <a:prstGeom prst="rect">
            <a:avLst/>
          </a:prstGeom>
          <a:solidFill>
            <a:srgbClr val="0027A4"/>
          </a:solidFill>
          <a:ln>
            <a:noFill/>
          </a:ln>
          <a:effectLst/>
        </p:spPr>
        <p:txBody>
          <a:bodyPr wrap="square" tIns="27432" anchor="ctr"/>
          <a:lstStyle/>
          <a:p>
            <a:pPr marL="117475" algn="l"/>
            <a:r>
              <a:rPr lang="en-US" sz="2000" b="1" dirty="0">
                <a:solidFill>
                  <a:schemeClr val="bg1"/>
                </a:solidFill>
                <a:latin typeface="Liberation Sans" panose="020B0604020202020204" pitchFamily="34" charset="0"/>
              </a:rPr>
              <a:t>Indicate how a journal is used in the recording process.</a:t>
            </a:r>
          </a:p>
        </p:txBody>
      </p:sp>
      <p:sp>
        <p:nvSpPr>
          <p:cNvPr id="16" name="Rectangle 6"/>
          <p:cNvSpPr>
            <a:spLocks noChangeArrowheads="1"/>
          </p:cNvSpPr>
          <p:nvPr/>
        </p:nvSpPr>
        <p:spPr bwMode="auto">
          <a:xfrm>
            <a:off x="0" y="4675632"/>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17" name="Rectangle 5"/>
          <p:cNvSpPr>
            <a:spLocks noChangeArrowheads="1"/>
          </p:cNvSpPr>
          <p:nvPr/>
        </p:nvSpPr>
        <p:spPr bwMode="auto">
          <a:xfrm>
            <a:off x="1447800" y="4611624"/>
            <a:ext cx="7696200" cy="850392"/>
          </a:xfrm>
          <a:prstGeom prst="rect">
            <a:avLst/>
          </a:prstGeom>
          <a:solidFill>
            <a:srgbClr val="0027A4"/>
          </a:solidFill>
          <a:ln>
            <a:noFill/>
          </a:ln>
          <a:effectLst/>
        </p:spPr>
        <p:txBody>
          <a:bodyPr wrap="square" tIns="27432" anchor="ctr"/>
          <a:lstStyle/>
          <a:p>
            <a:pPr marL="117475" algn="l"/>
            <a:r>
              <a:rPr lang="en-US" sz="2000" b="1" dirty="0">
                <a:solidFill>
                  <a:schemeClr val="bg1"/>
                </a:solidFill>
                <a:latin typeface="Liberation Sans" panose="020B0604020202020204" pitchFamily="34" charset="0"/>
              </a:rPr>
              <a:t>Explain how a ledger and posting help in the recording process.</a:t>
            </a:r>
          </a:p>
        </p:txBody>
      </p:sp>
      <p:sp>
        <p:nvSpPr>
          <p:cNvPr id="18" name="Oval 17"/>
          <p:cNvSpPr/>
          <p:nvPr/>
        </p:nvSpPr>
        <p:spPr bwMode="auto">
          <a:xfrm>
            <a:off x="685800" y="4760976"/>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r>
              <a:rPr lang="en-US" sz="2500" b="1" dirty="0">
                <a:solidFill>
                  <a:schemeClr val="bg1"/>
                </a:solidFill>
                <a:latin typeface="Liberation Sans" panose="020B0604020202020204" pitchFamily="34" charset="0"/>
              </a:rPr>
              <a:t>3</a:t>
            </a:r>
          </a:p>
        </p:txBody>
      </p:sp>
      <p:sp>
        <p:nvSpPr>
          <p:cNvPr id="19" name="Rectangle 5"/>
          <p:cNvSpPr>
            <a:spLocks noChangeArrowheads="1"/>
          </p:cNvSpPr>
          <p:nvPr/>
        </p:nvSpPr>
        <p:spPr bwMode="auto">
          <a:xfrm>
            <a:off x="1447800" y="5602224"/>
            <a:ext cx="7696200" cy="722376"/>
          </a:xfrm>
          <a:prstGeom prst="rect">
            <a:avLst/>
          </a:prstGeom>
          <a:solidFill>
            <a:srgbClr val="0027A4"/>
          </a:solidFill>
          <a:ln>
            <a:noFill/>
          </a:ln>
          <a:effectLst/>
        </p:spPr>
        <p:txBody>
          <a:bodyPr wrap="square" tIns="27432" anchor="ctr"/>
          <a:lstStyle/>
          <a:p>
            <a:pPr marL="117475" algn="l"/>
            <a:r>
              <a:rPr lang="en-US" sz="2000" b="1" dirty="0">
                <a:solidFill>
                  <a:schemeClr val="bg1"/>
                </a:solidFill>
                <a:latin typeface="Liberation Sans" panose="020B0604020202020204" pitchFamily="34" charset="0"/>
              </a:rPr>
              <a:t>Prepare a trial balance.</a:t>
            </a:r>
          </a:p>
        </p:txBody>
      </p:sp>
      <p:sp>
        <p:nvSpPr>
          <p:cNvPr id="20" name="Oval 19"/>
          <p:cNvSpPr/>
          <p:nvPr/>
        </p:nvSpPr>
        <p:spPr bwMode="auto">
          <a:xfrm>
            <a:off x="685800" y="3870960"/>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r>
              <a:rPr lang="en-US" sz="2500" b="1" dirty="0">
                <a:solidFill>
                  <a:schemeClr val="bg1"/>
                </a:solidFill>
                <a:latin typeface="Liberation Sans" panose="020B0604020202020204" pitchFamily="34" charset="0"/>
              </a:rPr>
              <a:t>2</a:t>
            </a:r>
          </a:p>
        </p:txBody>
      </p:sp>
      <p:sp>
        <p:nvSpPr>
          <p:cNvPr id="21" name="Oval 20"/>
          <p:cNvSpPr/>
          <p:nvPr/>
        </p:nvSpPr>
        <p:spPr bwMode="auto">
          <a:xfrm>
            <a:off x="685800" y="2932176"/>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r>
              <a:rPr lang="en-US" sz="2500" b="1" dirty="0" smtClean="0">
                <a:solidFill>
                  <a:schemeClr val="bg1"/>
                </a:solidFill>
                <a:latin typeface="Liberation Sans" panose="020B0604020202020204" pitchFamily="34" charset="0"/>
              </a:rPr>
              <a:t>1</a:t>
            </a:r>
            <a:endParaRPr lang="en-US" sz="2500" b="1" dirty="0">
              <a:solidFill>
                <a:schemeClr val="bg1"/>
              </a:solidFill>
              <a:latin typeface="Liberation Sans" panose="020B0604020202020204" pitchFamily="34" charset="0"/>
            </a:endParaRPr>
          </a:p>
        </p:txBody>
      </p:sp>
      <p:sp>
        <p:nvSpPr>
          <p:cNvPr id="22" name="Rectangle 6"/>
          <p:cNvSpPr>
            <a:spLocks noChangeArrowheads="1"/>
          </p:cNvSpPr>
          <p:nvPr/>
        </p:nvSpPr>
        <p:spPr bwMode="auto">
          <a:xfrm>
            <a:off x="0" y="5602224"/>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23" name="Oval 22"/>
          <p:cNvSpPr/>
          <p:nvPr/>
        </p:nvSpPr>
        <p:spPr bwMode="auto">
          <a:xfrm>
            <a:off x="685800" y="5699760"/>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r>
              <a:rPr lang="en-US" sz="2500" b="1" dirty="0">
                <a:solidFill>
                  <a:schemeClr val="bg1"/>
                </a:solidFill>
                <a:latin typeface="Liberation Sans" panose="020B0604020202020204" pitchFamily="34" charset="0"/>
              </a:rPr>
              <a:t>4</a:t>
            </a:r>
          </a:p>
        </p:txBody>
      </p:sp>
    </p:spTree>
    <p:extLst>
      <p:ext uri="{BB962C8B-B14F-4D97-AF65-F5344CB8AC3E}">
        <p14:creationId xmlns:p14="http://schemas.microsoft.com/office/powerpoint/2010/main" val="575254862"/>
      </p:ext>
    </p:extLst>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ChangeAspect="1"/>
          </p:cNvGraphicFramePr>
          <p:nvPr>
            <p:extLst>
              <p:ext uri="{D42A27DB-BD31-4B8C-83A1-F6EECF244321}">
                <p14:modId xmlns:p14="http://schemas.microsoft.com/office/powerpoint/2010/main" val="719743199"/>
              </p:ext>
            </p:extLst>
          </p:nvPr>
        </p:nvGraphicFramePr>
        <p:xfrm>
          <a:off x="4114800" y="3486150"/>
          <a:ext cx="4800600" cy="3600450"/>
        </p:xfrm>
        <a:graphic>
          <a:graphicData uri="http://schemas.openxmlformats.org/presentationml/2006/ole">
            <mc:AlternateContent xmlns:mc="http://schemas.openxmlformats.org/markup-compatibility/2006">
              <mc:Choice xmlns:v="urn:schemas-microsoft-com:vml" Requires="v">
                <p:oleObj spid="_x0000_s114807" name="Slide" r:id="rId4" imgW="4321958" imgH="3240679" progId="PowerPoint.Slide.8">
                  <p:embed/>
                </p:oleObj>
              </mc:Choice>
              <mc:Fallback>
                <p:oleObj name="Slide" r:id="rId4" imgW="4321958" imgH="3240679" progId="PowerPoint.Slide.8">
                  <p:embed/>
                  <p:pic>
                    <p:nvPicPr>
                      <p:cNvPr id="0" name=""/>
                      <p:cNvPicPr>
                        <a:picLocks noChangeAspect="1" noChangeArrowheads="1"/>
                      </p:cNvPicPr>
                      <p:nvPr/>
                    </p:nvPicPr>
                    <p:blipFill>
                      <a:blip r:embed="rId5"/>
                      <a:srcRect/>
                      <a:stretch>
                        <a:fillRect/>
                      </a:stretch>
                    </p:blipFill>
                    <p:spPr bwMode="auto">
                      <a:xfrm>
                        <a:off x="4114800" y="3486150"/>
                        <a:ext cx="4800600"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 name="Text Box 3"/>
          <p:cNvSpPr txBox="1">
            <a:spLocks noChangeArrowheads="1"/>
          </p:cNvSpPr>
          <p:nvPr/>
        </p:nvSpPr>
        <p:spPr bwMode="auto">
          <a:xfrm>
            <a:off x="3276600" y="1546225"/>
            <a:ext cx="5410200" cy="2039020"/>
          </a:xfrm>
          <a:prstGeom prst="rect">
            <a:avLst/>
          </a:prstGeom>
          <a:solidFill>
            <a:schemeClr val="bg1"/>
          </a:solidFill>
          <a:ln>
            <a:noFill/>
          </a:ln>
          <a:effectLst/>
          <a:extLst>
            <a:ext uri="{91240B29-F687-4F45-9708-019B960494DF}">
              <a14:hiddenLine xmlns:a14="http://schemas.microsoft.com/office/drawing/2010/main" w="28575" cap="sq">
                <a:solidFill>
                  <a:srgbClr val="003366"/>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lvl1pPr marL="571500" indent="-449263">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95000"/>
              </a:lnSpc>
              <a:spcAft>
                <a:spcPct val="50000"/>
              </a:spcAft>
              <a:buClr>
                <a:srgbClr val="800000"/>
              </a:buClr>
              <a:buSzPct val="80000"/>
              <a:buFont typeface="Wingdings" pitchFamily="2" charset="2"/>
              <a:buChar char="u"/>
            </a:pPr>
            <a:r>
              <a:rPr lang="en-US" altLang="en-US" sz="2200" dirty="0">
                <a:latin typeface="Liberation Sans" panose="020B0604020202020204" pitchFamily="34" charset="0"/>
              </a:rPr>
              <a:t>Record of increases and decreases in a specific asset, liability, </a:t>
            </a:r>
            <a:r>
              <a:rPr lang="en-US" altLang="en-US" sz="2200" dirty="0" smtClean="0">
                <a:latin typeface="Liberation Sans" panose="020B0604020202020204" pitchFamily="34" charset="0"/>
              </a:rPr>
              <a:t>owners’ equity</a:t>
            </a:r>
            <a:r>
              <a:rPr lang="en-US" altLang="en-US" sz="2200" dirty="0">
                <a:latin typeface="Liberation Sans" panose="020B0604020202020204" pitchFamily="34" charset="0"/>
              </a:rPr>
              <a:t>, revenue, or expense item.</a:t>
            </a:r>
          </a:p>
          <a:p>
            <a:pPr algn="l">
              <a:lnSpc>
                <a:spcPct val="95000"/>
              </a:lnSpc>
              <a:spcAft>
                <a:spcPct val="50000"/>
              </a:spcAft>
              <a:buClr>
                <a:srgbClr val="800000"/>
              </a:buClr>
              <a:buSzPct val="80000"/>
              <a:buFont typeface="Wingdings" pitchFamily="2" charset="2"/>
              <a:buChar char="u"/>
            </a:pPr>
            <a:r>
              <a:rPr lang="en-US" altLang="en-US" sz="2200" dirty="0">
                <a:latin typeface="Liberation Sans" panose="020B0604020202020204" pitchFamily="34" charset="0"/>
              </a:rPr>
              <a:t>Debit = “Left”</a:t>
            </a:r>
          </a:p>
          <a:p>
            <a:pPr algn="l">
              <a:lnSpc>
                <a:spcPct val="95000"/>
              </a:lnSpc>
              <a:buClr>
                <a:srgbClr val="800000"/>
              </a:buClr>
              <a:buSzPct val="80000"/>
              <a:buFont typeface="Wingdings" pitchFamily="2" charset="2"/>
              <a:buChar char="u"/>
            </a:pPr>
            <a:r>
              <a:rPr lang="en-US" altLang="en-US" sz="2200" dirty="0">
                <a:latin typeface="Liberation Sans" panose="020B0604020202020204" pitchFamily="34" charset="0"/>
              </a:rPr>
              <a:t>Credit = “Right”</a:t>
            </a:r>
          </a:p>
        </p:txBody>
      </p:sp>
      <p:sp>
        <p:nvSpPr>
          <p:cNvPr id="122884" name="Text Box 4"/>
          <p:cNvSpPr txBox="1">
            <a:spLocks noChangeArrowheads="1"/>
          </p:cNvSpPr>
          <p:nvPr/>
        </p:nvSpPr>
        <p:spPr bwMode="auto">
          <a:xfrm>
            <a:off x="457200" y="1371600"/>
            <a:ext cx="1828800" cy="1384995"/>
          </a:xfrm>
          <a:prstGeom prst="rect">
            <a:avLst/>
          </a:prstGeom>
          <a:noFill/>
          <a:ln w="63500">
            <a:noFill/>
            <a:miter lim="800000"/>
            <a:headEnd/>
            <a:tailEnd/>
          </a:ln>
          <a:effectLst/>
          <a:extLst/>
        </p:spPr>
        <p:txBody>
          <a:bodyPr vert="horz" wrap="square" lIns="90488" tIns="44450" rIns="90488" bIns="44450" numCol="1" anchor="ctr" anchorCtr="0" compatLnSpc="1">
            <a:prstTxWarp prst="textNoShape">
              <a:avLst/>
            </a:prstTxWarp>
          </a:bodyPr>
          <a:lstStyle>
            <a:defPPr>
              <a:defRPr lang="en-US"/>
            </a:defPPr>
            <a:lvl1pPr algn="l">
              <a:defRPr sz="2800" b="1">
                <a:solidFill>
                  <a:srgbClr val="000099"/>
                </a:solidFill>
                <a:latin typeface="Liberation Sans" panose="020B0604020202020204" pitchFamily="34" charset="0"/>
              </a:defRPr>
            </a:lvl1pPr>
            <a:lvl2pPr algn="l">
              <a:defRPr sz="2800" b="1">
                <a:latin typeface="Times New Roman" pitchFamily="18" charset="0"/>
              </a:defRPr>
            </a:lvl2pPr>
            <a:lvl3pPr algn="l">
              <a:defRPr sz="2800" b="1">
                <a:latin typeface="Times New Roman" pitchFamily="18" charset="0"/>
              </a:defRPr>
            </a:lvl3pPr>
            <a:lvl4pPr algn="l">
              <a:defRPr sz="2800" b="1">
                <a:latin typeface="Times New Roman" pitchFamily="18" charset="0"/>
              </a:defRPr>
            </a:lvl4pPr>
            <a:lvl5pPr algn="l">
              <a:defRPr sz="2800" b="1">
                <a:latin typeface="Times New Roman" pitchFamily="18" charset="0"/>
              </a:defRPr>
            </a:lvl5pPr>
            <a:lvl6pPr>
              <a:defRPr sz="2800" b="1">
                <a:latin typeface="Times New Roman" pitchFamily="18" charset="0"/>
              </a:defRPr>
            </a:lvl6pPr>
            <a:lvl7pPr>
              <a:defRPr sz="2800" b="1">
                <a:latin typeface="Times New Roman" pitchFamily="18" charset="0"/>
              </a:defRPr>
            </a:lvl7pPr>
            <a:lvl8pPr>
              <a:defRPr sz="2800" b="1">
                <a:latin typeface="Times New Roman" pitchFamily="18" charset="0"/>
              </a:defRPr>
            </a:lvl8pPr>
            <a:lvl9pPr>
              <a:defRPr sz="2800" b="1">
                <a:latin typeface="Times New Roman" pitchFamily="18" charset="0"/>
              </a:defRPr>
            </a:lvl9pPr>
          </a:lstStyle>
          <a:p>
            <a:pPr algn="ctr"/>
            <a:r>
              <a:rPr lang="en-US" sz="3200" dirty="0">
                <a:solidFill>
                  <a:schemeClr val="tx2">
                    <a:lumMod val="75000"/>
                  </a:schemeClr>
                </a:solidFill>
              </a:rPr>
              <a:t>The</a:t>
            </a:r>
          </a:p>
          <a:p>
            <a:pPr algn="ctr"/>
            <a:r>
              <a:rPr lang="en-US" sz="3200" dirty="0">
                <a:solidFill>
                  <a:schemeClr val="tx2">
                    <a:lumMod val="75000"/>
                  </a:schemeClr>
                </a:solidFill>
              </a:rPr>
              <a:t>Account</a:t>
            </a:r>
          </a:p>
        </p:txBody>
      </p:sp>
      <p:sp>
        <p:nvSpPr>
          <p:cNvPr id="5125" name="AutoShape 5"/>
          <p:cNvSpPr>
            <a:spLocks noChangeArrowheads="1"/>
          </p:cNvSpPr>
          <p:nvPr/>
        </p:nvSpPr>
        <p:spPr bwMode="auto">
          <a:xfrm>
            <a:off x="2362200" y="1862138"/>
            <a:ext cx="762000" cy="228600"/>
          </a:xfrm>
          <a:custGeom>
            <a:avLst/>
            <a:gdLst>
              <a:gd name="T0" fmla="*/ 711244097 w 21600"/>
              <a:gd name="T1" fmla="*/ 0 h 21600"/>
              <a:gd name="T2" fmla="*/ 0 w 21600"/>
              <a:gd name="T3" fmla="*/ 12802394 h 21600"/>
              <a:gd name="T4" fmla="*/ 711244097 w 21600"/>
              <a:gd name="T5" fmla="*/ 25604788 h 21600"/>
              <a:gd name="T6" fmla="*/ 948325475 w 21600"/>
              <a:gd name="T7" fmla="*/ 12802394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990033"/>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Liberation Sans" panose="020B0604020202020204" pitchFamily="34" charset="0"/>
            </a:endParaRPr>
          </a:p>
        </p:txBody>
      </p:sp>
      <p:sp>
        <p:nvSpPr>
          <p:cNvPr id="5126" name="Text Box 6"/>
          <p:cNvSpPr txBox="1">
            <a:spLocks noChangeArrowheads="1"/>
          </p:cNvSpPr>
          <p:nvPr/>
        </p:nvSpPr>
        <p:spPr bwMode="auto">
          <a:xfrm>
            <a:off x="533400" y="3867150"/>
            <a:ext cx="2743200" cy="1225550"/>
          </a:xfrm>
          <a:prstGeom prst="rect">
            <a:avLst/>
          </a:prstGeom>
          <a:solidFill>
            <a:srgbClr val="F7F48B"/>
          </a:solidFill>
          <a:ln w="28575" cap="sq">
            <a:solidFill>
              <a:schemeClr val="tx1"/>
            </a:solidFill>
            <a:miter lim="800000"/>
            <a:headEnd type="none" w="sm" len="sm"/>
            <a:tailEnd type="none" w="sm" len="sm"/>
          </a:ln>
          <a:effectLst>
            <a:innerShdw blurRad="114300">
              <a:prstClr val="black"/>
            </a:innerShdw>
          </a:effectLst>
          <a:extLst/>
        </p:spPr>
        <p:txBody>
          <a:bodyPr wrap="square" tIns="9144" anchor="ctr" anchorCtr="0">
            <a:no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buSzPct val="80000"/>
            </a:pPr>
            <a:r>
              <a:rPr lang="en-US" altLang="en-US" sz="2300" b="1" dirty="0">
                <a:latin typeface="Liberation Sans" panose="020B0604020202020204" pitchFamily="34" charset="0"/>
              </a:rPr>
              <a:t>An account can be illustrated in a   T-account form.</a:t>
            </a:r>
          </a:p>
        </p:txBody>
      </p:sp>
      <p:sp>
        <p:nvSpPr>
          <p:cNvPr id="5127" name="AutoShape 7"/>
          <p:cNvSpPr>
            <a:spLocks noChangeArrowheads="1"/>
          </p:cNvSpPr>
          <p:nvPr/>
        </p:nvSpPr>
        <p:spPr bwMode="auto">
          <a:xfrm>
            <a:off x="3657600" y="4324350"/>
            <a:ext cx="762000" cy="228600"/>
          </a:xfrm>
          <a:custGeom>
            <a:avLst/>
            <a:gdLst>
              <a:gd name="T0" fmla="*/ 711244097 w 21600"/>
              <a:gd name="T1" fmla="*/ 0 h 21600"/>
              <a:gd name="T2" fmla="*/ 0 w 21600"/>
              <a:gd name="T3" fmla="*/ 12802394 h 21600"/>
              <a:gd name="T4" fmla="*/ 711244097 w 21600"/>
              <a:gd name="T5" fmla="*/ 25604788 h 21600"/>
              <a:gd name="T6" fmla="*/ 948325475 w 21600"/>
              <a:gd name="T7" fmla="*/ 12802394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990033"/>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Liberation Sans" panose="020B0604020202020204" pitchFamily="34" charset="0"/>
            </a:endParaRPr>
          </a:p>
        </p:txBody>
      </p:sp>
      <p:sp>
        <p:nvSpPr>
          <p:cNvPr id="17" name="Rectangle 6"/>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latin typeface="Liberation Sans" panose="020B0604020202020204" pitchFamily="34" charset="0"/>
              </a:rPr>
              <a:t>LEARNING</a:t>
            </a:r>
          </a:p>
          <a:p>
            <a:pPr algn="l"/>
            <a:r>
              <a:rPr lang="en-US" altLang="en-US" sz="1700" b="1" dirty="0">
                <a:latin typeface="Liberation Sans" panose="020B0604020202020204" pitchFamily="34" charset="0"/>
              </a:rPr>
              <a:t>OBJECTIVE</a:t>
            </a:r>
          </a:p>
        </p:txBody>
      </p:sp>
      <p:sp>
        <p:nvSpPr>
          <p:cNvPr id="18"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tIns="27432" anchor="ctr"/>
          <a:lstStyle/>
          <a:p>
            <a:pPr marL="117475" algn="l"/>
            <a:r>
              <a:rPr lang="en-US" sz="2100" b="1" dirty="0">
                <a:solidFill>
                  <a:schemeClr val="bg1"/>
                </a:solidFill>
                <a:latin typeface="Liberation Sans" panose="020B0604020202020204" pitchFamily="34" charset="0"/>
              </a:rPr>
              <a:t>Describe how accounts, debits, and credits are used to record business transactions.</a:t>
            </a:r>
          </a:p>
        </p:txBody>
      </p:sp>
      <p:sp>
        <p:nvSpPr>
          <p:cNvPr id="19" name="Oval 18"/>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prstTxWarp prst="textNoShape">
              <a:avLst/>
            </a:prstTxWarp>
            <a:noAutofit/>
          </a:bodyPr>
          <a:lstStyle/>
          <a:p>
            <a:pPr algn="ctr"/>
            <a:r>
              <a:rPr lang="en-US" b="1" dirty="0">
                <a:solidFill>
                  <a:schemeClr val="bg1"/>
                </a:solidFill>
                <a:latin typeface="Liberation Sans" panose="020B0604020202020204" pitchFamily="34" charset="0"/>
              </a:rPr>
              <a:t>1</a:t>
            </a:r>
          </a:p>
        </p:txBody>
      </p:sp>
      <p:sp>
        <p:nvSpPr>
          <p:cNvPr id="11"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306723859"/>
      </p:ext>
    </p:extLst>
  </p:cSld>
  <p:clrMapOvr>
    <a:masterClrMapping/>
  </p:clrMapOvr>
  <p:transition>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Text Box 2"/>
          <p:cNvSpPr txBox="1">
            <a:spLocks noChangeArrowheads="1"/>
          </p:cNvSpPr>
          <p:nvPr/>
        </p:nvSpPr>
        <p:spPr bwMode="auto">
          <a:xfrm>
            <a:off x="533400" y="1905000"/>
            <a:ext cx="7696200" cy="31585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690563" indent="-457200" algn="l">
              <a:defRPr sz="2400">
                <a:solidFill>
                  <a:schemeClr val="tx1"/>
                </a:solidFill>
                <a:latin typeface="Times New Roman" pitchFamily="18" charset="0"/>
              </a:defRPr>
            </a:lvl2pPr>
            <a:lvl3pPr marL="1600200" indent="-457200" algn="l">
              <a:defRPr sz="2400">
                <a:solidFill>
                  <a:schemeClr val="tx1"/>
                </a:solidFill>
                <a:latin typeface="Times New Roman" pitchFamily="18" charset="0"/>
              </a:defRPr>
            </a:lvl3pPr>
            <a:lvl4pPr marL="2171700" indent="-457200" algn="l">
              <a:defRPr sz="2400">
                <a:solidFill>
                  <a:schemeClr val="tx1"/>
                </a:solidFill>
                <a:latin typeface="Times New Roman" pitchFamily="18" charset="0"/>
              </a:defRPr>
            </a:lvl4pPr>
            <a:lvl5pPr marL="2743200" indent="-457200" algn="l">
              <a:defRPr sz="2400">
                <a:solidFill>
                  <a:schemeClr val="tx1"/>
                </a:solidFill>
                <a:latin typeface="Times New Roman" pitchFamily="18" charset="0"/>
              </a:defRPr>
            </a:lvl5pPr>
            <a:lvl6pPr marL="3200400" indent="-457200" eaLnBrk="0" fontAlgn="base" hangingPunct="0">
              <a:spcBef>
                <a:spcPct val="0"/>
              </a:spcBef>
              <a:spcAft>
                <a:spcPct val="0"/>
              </a:spcAft>
              <a:defRPr sz="2400">
                <a:solidFill>
                  <a:schemeClr val="tx1"/>
                </a:solidFill>
                <a:latin typeface="Times New Roman" pitchFamily="18" charset="0"/>
              </a:defRPr>
            </a:lvl6pPr>
            <a:lvl7pPr marL="3657600" indent="-457200" eaLnBrk="0" fontAlgn="base" hangingPunct="0">
              <a:spcBef>
                <a:spcPct val="0"/>
              </a:spcBef>
              <a:spcAft>
                <a:spcPct val="0"/>
              </a:spcAft>
              <a:defRPr sz="2400">
                <a:solidFill>
                  <a:schemeClr val="tx1"/>
                </a:solidFill>
                <a:latin typeface="Times New Roman" pitchFamily="18" charset="0"/>
              </a:defRPr>
            </a:lvl7pPr>
            <a:lvl8pPr marL="4114800" indent="-457200" eaLnBrk="0" fontAlgn="base" hangingPunct="0">
              <a:spcBef>
                <a:spcPct val="0"/>
              </a:spcBef>
              <a:spcAft>
                <a:spcPct val="0"/>
              </a:spcAft>
              <a:defRPr sz="2400">
                <a:solidFill>
                  <a:schemeClr val="tx1"/>
                </a:solidFill>
                <a:latin typeface="Times New Roman" pitchFamily="18" charset="0"/>
              </a:defRPr>
            </a:lvl8pPr>
            <a:lvl9pPr marL="4572000" indent="-457200" eaLnBrk="0" fontAlgn="base" hangingPunct="0">
              <a:spcBef>
                <a:spcPct val="0"/>
              </a:spcBef>
              <a:spcAft>
                <a:spcPct val="0"/>
              </a:spcAft>
              <a:defRPr sz="2400">
                <a:solidFill>
                  <a:schemeClr val="tx1"/>
                </a:solidFill>
                <a:latin typeface="Times New Roman" pitchFamily="18" charset="0"/>
              </a:defRPr>
            </a:lvl9pPr>
          </a:lstStyle>
          <a:p>
            <a:pPr>
              <a:lnSpc>
                <a:spcPct val="125000"/>
              </a:lnSpc>
              <a:spcBef>
                <a:spcPct val="50000"/>
              </a:spcBef>
              <a:buSzPct val="80000"/>
            </a:pPr>
            <a:r>
              <a:rPr lang="en-US" altLang="en-US" b="1" dirty="0">
                <a:solidFill>
                  <a:schemeClr val="tx2">
                    <a:lumMod val="75000"/>
                  </a:schemeClr>
                </a:solidFill>
                <a:latin typeface="Liberation Sans" panose="020B0604020202020204" pitchFamily="34" charset="0"/>
              </a:rPr>
              <a:t>Double-entry system</a:t>
            </a:r>
          </a:p>
          <a:p>
            <a:pPr lvl="1">
              <a:lnSpc>
                <a:spcPct val="125000"/>
              </a:lnSpc>
              <a:spcBef>
                <a:spcPct val="50000"/>
              </a:spcBef>
              <a:buClr>
                <a:srgbClr val="800000"/>
              </a:buClr>
              <a:buSzPct val="80000"/>
              <a:buFont typeface="Wingdings" pitchFamily="2" charset="2"/>
              <a:buChar char="u"/>
            </a:pPr>
            <a:r>
              <a:rPr lang="en-US" altLang="en-US" sz="2200" dirty="0">
                <a:latin typeface="Liberation Sans" panose="020B0604020202020204" pitchFamily="34" charset="0"/>
              </a:rPr>
              <a:t>Each transaction must affect two or more accounts to keep the basic accounting equation in balance.</a:t>
            </a:r>
          </a:p>
          <a:p>
            <a:pPr lvl="1">
              <a:lnSpc>
                <a:spcPct val="125000"/>
              </a:lnSpc>
              <a:spcBef>
                <a:spcPct val="50000"/>
              </a:spcBef>
              <a:buClr>
                <a:srgbClr val="800000"/>
              </a:buClr>
              <a:buSzPct val="80000"/>
              <a:buFont typeface="Wingdings" pitchFamily="2" charset="2"/>
              <a:buChar char="u"/>
            </a:pPr>
            <a:r>
              <a:rPr lang="en-US" altLang="en-US" sz="2200" dirty="0">
                <a:latin typeface="Liberation Sans" panose="020B0604020202020204" pitchFamily="34" charset="0"/>
              </a:rPr>
              <a:t>Recording done by debiting at least one account and crediting </a:t>
            </a:r>
            <a:r>
              <a:rPr lang="en-US" altLang="en-US" sz="2200" dirty="0" smtClean="0">
                <a:latin typeface="Liberation Sans" panose="020B0604020202020204" pitchFamily="34" charset="0"/>
              </a:rPr>
              <a:t>at least one other account.</a:t>
            </a:r>
            <a:endParaRPr lang="en-US" altLang="en-US" sz="2200" dirty="0">
              <a:latin typeface="Liberation Sans" panose="020B0604020202020204" pitchFamily="34" charset="0"/>
            </a:endParaRPr>
          </a:p>
          <a:p>
            <a:pPr lvl="1">
              <a:lnSpc>
                <a:spcPct val="125000"/>
              </a:lnSpc>
              <a:spcBef>
                <a:spcPct val="50000"/>
              </a:spcBef>
              <a:buClr>
                <a:srgbClr val="800000"/>
              </a:buClr>
              <a:buSzPct val="80000"/>
              <a:buFont typeface="Wingdings" pitchFamily="2" charset="2"/>
              <a:buChar char="u"/>
            </a:pPr>
            <a:r>
              <a:rPr lang="en-US" altLang="en-US" sz="2200" b="1" dirty="0">
                <a:latin typeface="Liberation Sans" panose="020B0604020202020204" pitchFamily="34" charset="0"/>
              </a:rPr>
              <a:t>DEBITS must equal CREDITS</a:t>
            </a:r>
            <a:r>
              <a:rPr lang="en-US" altLang="en-US" sz="2200" dirty="0">
                <a:latin typeface="Liberation Sans" panose="020B0604020202020204" pitchFamily="34" charset="0"/>
              </a:rPr>
              <a:t>.</a:t>
            </a:r>
          </a:p>
        </p:txBody>
      </p:sp>
      <p:sp>
        <p:nvSpPr>
          <p:cNvPr id="514055" name="Rectangle 7"/>
          <p:cNvSpPr>
            <a:spLocks noChangeArrowheads="1"/>
          </p:cNvSpPr>
          <p:nvPr/>
        </p:nvSpPr>
        <p:spPr bwMode="auto">
          <a:xfrm>
            <a:off x="533400" y="1295400"/>
            <a:ext cx="8001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l">
              <a:defRPr sz="2400">
                <a:solidFill>
                  <a:schemeClr val="tx1"/>
                </a:solidFill>
                <a:latin typeface="Times New Roman" pitchFamily="18" charset="0"/>
              </a:defRPr>
            </a:lvl1pPr>
            <a:lvl2pPr marL="742950" indent="-285750" algn="l">
              <a:defRPr sz="2400">
                <a:solidFill>
                  <a:schemeClr val="tx1"/>
                </a:solidFill>
                <a:latin typeface="Times New Roman" pitchFamily="18" charset="0"/>
              </a:defRPr>
            </a:lvl2pPr>
            <a:lvl3pPr marL="1143000" indent="-228600" algn="l">
              <a:defRPr sz="2400">
                <a:solidFill>
                  <a:schemeClr val="tx1"/>
                </a:solidFill>
                <a:latin typeface="Times New Roman" pitchFamily="18" charset="0"/>
              </a:defRPr>
            </a:lvl3pPr>
            <a:lvl4pPr marL="1600200" indent="-228600" algn="l">
              <a:defRPr sz="2400">
                <a:solidFill>
                  <a:schemeClr val="tx1"/>
                </a:solidFill>
                <a:latin typeface="Times New Roman" pitchFamily="18" charset="0"/>
              </a:defRPr>
            </a:lvl4pPr>
            <a:lvl5pPr marL="2057400" indent="-228600" algn="l">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SzPct val="80000"/>
            </a:pPr>
            <a:r>
              <a:rPr lang="en-US" altLang="en-US" sz="2700" b="1" dirty="0" smtClean="0">
                <a:latin typeface="Liberation Sans" panose="020B0604020202020204" pitchFamily="34" charset="0"/>
              </a:rPr>
              <a:t>DEBIT AND CREDIT PROCEDURES</a:t>
            </a:r>
            <a:endParaRPr lang="en-US" altLang="en-US" sz="2700" b="1" dirty="0">
              <a:latin typeface="Liberation Sans" panose="020B0604020202020204" pitchFamily="34" charset="0"/>
            </a:endParaRPr>
          </a:p>
        </p:txBody>
      </p:sp>
      <p:sp>
        <p:nvSpPr>
          <p:cNvPr id="8"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The Account</a:t>
            </a:r>
          </a:p>
        </p:txBody>
      </p:sp>
      <p:sp>
        <p:nvSpPr>
          <p:cNvPr id="9"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6"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1233197185"/>
      </p:ext>
    </p:extLst>
  </p:cSld>
  <p:clrMapOvr>
    <a:masterClrMapping/>
  </p:clrMapOvr>
  <p:transition>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2"/>
          <p:cNvGraphicFramePr>
            <a:graphicFrameLocks noChangeAspect="1"/>
          </p:cNvGraphicFramePr>
          <p:nvPr>
            <p:extLst>
              <p:ext uri="{D42A27DB-BD31-4B8C-83A1-F6EECF244321}">
                <p14:modId xmlns:p14="http://schemas.microsoft.com/office/powerpoint/2010/main" val="1395657254"/>
              </p:ext>
            </p:extLst>
          </p:nvPr>
        </p:nvGraphicFramePr>
        <p:xfrm>
          <a:off x="1905000" y="2038350"/>
          <a:ext cx="5334000" cy="4000500"/>
        </p:xfrm>
        <a:graphic>
          <a:graphicData uri="http://schemas.openxmlformats.org/presentationml/2006/ole">
            <mc:AlternateContent xmlns:mc="http://schemas.openxmlformats.org/markup-compatibility/2006">
              <mc:Choice xmlns:v="urn:schemas-microsoft-com:vml" Requires="v">
                <p:oleObj spid="_x0000_s111756" name="Slide" r:id="rId4" imgW="4494213" imgH="3370263" progId="PowerPoint.Slide.8">
                  <p:embed/>
                </p:oleObj>
              </mc:Choice>
              <mc:Fallback>
                <p:oleObj name="Slide" r:id="rId4" imgW="4494213" imgH="3370263" progId="PowerPoint.Slid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2038350"/>
                        <a:ext cx="5334000"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68" name="Text Box 6"/>
          <p:cNvSpPr txBox="1">
            <a:spLocks noChangeArrowheads="1"/>
          </p:cNvSpPr>
          <p:nvPr/>
        </p:nvSpPr>
        <p:spPr bwMode="auto">
          <a:xfrm>
            <a:off x="2819400" y="3429000"/>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r">
              <a:spcBef>
                <a:spcPct val="50000"/>
              </a:spcBef>
            </a:pPr>
            <a:r>
              <a:rPr lang="en-US" altLang="en-US" sz="2000" b="1" dirty="0">
                <a:latin typeface="Liberation Sans" panose="020B0604020202020204" pitchFamily="34" charset="0"/>
              </a:rPr>
              <a:t>$10,000</a:t>
            </a:r>
          </a:p>
        </p:txBody>
      </p:sp>
      <p:sp>
        <p:nvSpPr>
          <p:cNvPr id="11269" name="Text Box 7"/>
          <p:cNvSpPr txBox="1">
            <a:spLocks noChangeArrowheads="1"/>
          </p:cNvSpPr>
          <p:nvPr/>
        </p:nvSpPr>
        <p:spPr bwMode="auto">
          <a:xfrm>
            <a:off x="6781800" y="3429000"/>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en-US" sz="2000" b="1" dirty="0">
                <a:latin typeface="Liberation Sans" panose="020B0604020202020204" pitchFamily="34" charset="0"/>
              </a:rPr>
              <a:t>Transaction #2</a:t>
            </a:r>
          </a:p>
        </p:txBody>
      </p:sp>
      <p:sp>
        <p:nvSpPr>
          <p:cNvPr id="11270" name="Text Box 8"/>
          <p:cNvSpPr txBox="1">
            <a:spLocks noChangeArrowheads="1"/>
          </p:cNvSpPr>
          <p:nvPr/>
        </p:nvSpPr>
        <p:spPr bwMode="auto">
          <a:xfrm>
            <a:off x="4953000" y="34290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r">
              <a:spcBef>
                <a:spcPct val="50000"/>
              </a:spcBef>
            </a:pPr>
            <a:r>
              <a:rPr lang="en-US" altLang="en-US" sz="2000" b="1" dirty="0">
                <a:latin typeface="Liberation Sans" panose="020B0604020202020204" pitchFamily="34" charset="0"/>
              </a:rPr>
              <a:t>$3,000</a:t>
            </a:r>
          </a:p>
        </p:txBody>
      </p:sp>
      <p:sp>
        <p:nvSpPr>
          <p:cNvPr id="11272" name="Text Box 10"/>
          <p:cNvSpPr txBox="1">
            <a:spLocks noChangeArrowheads="1"/>
          </p:cNvSpPr>
          <p:nvPr/>
        </p:nvSpPr>
        <p:spPr bwMode="auto">
          <a:xfrm>
            <a:off x="3048000" y="3870325"/>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r">
              <a:spcBef>
                <a:spcPct val="50000"/>
              </a:spcBef>
            </a:pPr>
            <a:r>
              <a:rPr lang="en-US" altLang="en-US" sz="2000" b="1" dirty="0">
                <a:latin typeface="Liberation Sans" panose="020B0604020202020204" pitchFamily="34" charset="0"/>
              </a:rPr>
              <a:t>8,000</a:t>
            </a:r>
          </a:p>
        </p:txBody>
      </p:sp>
      <p:sp>
        <p:nvSpPr>
          <p:cNvPr id="11273" name="Text Box 12"/>
          <p:cNvSpPr txBox="1">
            <a:spLocks noChangeArrowheads="1"/>
          </p:cNvSpPr>
          <p:nvPr/>
        </p:nvSpPr>
        <p:spPr bwMode="auto">
          <a:xfrm>
            <a:off x="381000" y="4800600"/>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en-US" sz="2000" b="1" dirty="0">
                <a:latin typeface="Liberation Sans" panose="020B0604020202020204" pitchFamily="34" charset="0"/>
              </a:rPr>
              <a:t>Balance</a:t>
            </a:r>
          </a:p>
        </p:txBody>
      </p:sp>
      <p:sp>
        <p:nvSpPr>
          <p:cNvPr id="11274" name="Text Box 13"/>
          <p:cNvSpPr txBox="1">
            <a:spLocks noChangeArrowheads="1"/>
          </p:cNvSpPr>
          <p:nvPr/>
        </p:nvSpPr>
        <p:spPr bwMode="auto">
          <a:xfrm>
            <a:off x="381000" y="3429000"/>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en-US" sz="2000" b="1" dirty="0">
                <a:latin typeface="Liberation Sans" panose="020B0604020202020204" pitchFamily="34" charset="0"/>
              </a:rPr>
              <a:t>Transaction #1</a:t>
            </a:r>
          </a:p>
        </p:txBody>
      </p:sp>
      <p:sp>
        <p:nvSpPr>
          <p:cNvPr id="11275" name="Text Box 14"/>
          <p:cNvSpPr txBox="1">
            <a:spLocks noChangeArrowheads="1"/>
          </p:cNvSpPr>
          <p:nvPr/>
        </p:nvSpPr>
        <p:spPr bwMode="auto">
          <a:xfrm>
            <a:off x="381000" y="3870325"/>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en-US" sz="2000" b="1" dirty="0">
                <a:latin typeface="Liberation Sans" panose="020B0604020202020204" pitchFamily="34" charset="0"/>
              </a:rPr>
              <a:t>Transaction #3</a:t>
            </a:r>
          </a:p>
        </p:txBody>
      </p:sp>
      <p:sp>
        <p:nvSpPr>
          <p:cNvPr id="11276" name="Text Box 15"/>
          <p:cNvSpPr txBox="1">
            <a:spLocks noChangeArrowheads="1"/>
          </p:cNvSpPr>
          <p:nvPr/>
        </p:nvSpPr>
        <p:spPr bwMode="auto">
          <a:xfrm>
            <a:off x="533400" y="1295400"/>
            <a:ext cx="7772400" cy="906463"/>
          </a:xfrm>
          <a:prstGeom prst="rect">
            <a:avLst/>
          </a:prstGeom>
          <a:solidFill>
            <a:schemeClr val="bg1"/>
          </a:solidFill>
          <a:ln>
            <a:noFill/>
          </a:ln>
          <a:effectLst/>
          <a:extLst>
            <a:ext uri="{91240B29-F687-4F45-9708-019B960494DF}">
              <a14:hiddenLine xmlns:a14="http://schemas.microsoft.com/office/drawing/2010/main" w="28575" cap="sq">
                <a:solidFill>
                  <a:srgbClr val="003366"/>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lvl1pPr marL="1588" indent="11113">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lnSpc>
                <a:spcPct val="115000"/>
              </a:lnSpc>
              <a:spcBef>
                <a:spcPct val="10000"/>
              </a:spcBef>
              <a:buSzPct val="80000"/>
            </a:pPr>
            <a:r>
              <a:rPr lang="en-US" altLang="en-US" sz="2300" b="1" dirty="0">
                <a:latin typeface="Liberation Sans" panose="020B0604020202020204" pitchFamily="34" charset="0"/>
              </a:rPr>
              <a:t>If the sum of Debit entries are </a:t>
            </a:r>
            <a:r>
              <a:rPr lang="en-US" altLang="en-US" sz="2300" b="1" dirty="0">
                <a:solidFill>
                  <a:srgbClr val="990000"/>
                </a:solidFill>
                <a:latin typeface="Liberation Sans" panose="020B0604020202020204" pitchFamily="34" charset="0"/>
              </a:rPr>
              <a:t>greater than</a:t>
            </a:r>
            <a:r>
              <a:rPr lang="en-US" altLang="en-US" sz="2300" b="1" dirty="0">
                <a:latin typeface="Liberation Sans" panose="020B0604020202020204" pitchFamily="34" charset="0"/>
              </a:rPr>
              <a:t> the sum of Credit entries, the account will have a debit balance.</a:t>
            </a:r>
          </a:p>
        </p:txBody>
      </p:sp>
      <p:sp>
        <p:nvSpPr>
          <p:cNvPr id="258057" name="Text Box 9"/>
          <p:cNvSpPr txBox="1">
            <a:spLocks noChangeArrowheads="1"/>
          </p:cNvSpPr>
          <p:nvPr/>
        </p:nvSpPr>
        <p:spPr bwMode="auto">
          <a:xfrm>
            <a:off x="2715768" y="4800600"/>
            <a:ext cx="1792224" cy="400110"/>
          </a:xfrm>
          <a:prstGeom prst="rect">
            <a:avLst/>
          </a:prstGeom>
          <a:solidFill>
            <a:srgbClr val="F7F48B"/>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204913" algn="r"/>
              </a:tabLst>
              <a:defRPr sz="2400">
                <a:solidFill>
                  <a:schemeClr val="tx1"/>
                </a:solidFill>
                <a:latin typeface="Times New Roman" pitchFamily="18" charset="0"/>
              </a:defRPr>
            </a:lvl1pPr>
            <a:lvl2pPr marL="742950" indent="-285750">
              <a:tabLst>
                <a:tab pos="1204913" algn="r"/>
              </a:tabLst>
              <a:defRPr sz="2400">
                <a:solidFill>
                  <a:schemeClr val="tx1"/>
                </a:solidFill>
                <a:latin typeface="Times New Roman" pitchFamily="18" charset="0"/>
              </a:defRPr>
            </a:lvl2pPr>
            <a:lvl3pPr marL="1143000" indent="-228600">
              <a:tabLst>
                <a:tab pos="1204913" algn="r"/>
              </a:tabLst>
              <a:defRPr sz="2400">
                <a:solidFill>
                  <a:schemeClr val="tx1"/>
                </a:solidFill>
                <a:latin typeface="Times New Roman" pitchFamily="18" charset="0"/>
              </a:defRPr>
            </a:lvl3pPr>
            <a:lvl4pPr marL="1600200" indent="-228600">
              <a:tabLst>
                <a:tab pos="1204913" algn="r"/>
              </a:tabLst>
              <a:defRPr sz="2400">
                <a:solidFill>
                  <a:schemeClr val="tx1"/>
                </a:solidFill>
                <a:latin typeface="Times New Roman" pitchFamily="18" charset="0"/>
              </a:defRPr>
            </a:lvl4pPr>
            <a:lvl5pPr marL="2057400" indent="-228600">
              <a:tabLst>
                <a:tab pos="1204913" algn="r"/>
              </a:tabLst>
              <a:defRPr sz="2400">
                <a:solidFill>
                  <a:schemeClr val="tx1"/>
                </a:solidFill>
                <a:latin typeface="Times New Roman" pitchFamily="18" charset="0"/>
              </a:defRPr>
            </a:lvl5pPr>
            <a:lvl6pPr marL="2514600" indent="-228600" algn="ctr" eaLnBrk="0" fontAlgn="base" hangingPunct="0">
              <a:spcBef>
                <a:spcPct val="0"/>
              </a:spcBef>
              <a:spcAft>
                <a:spcPct val="0"/>
              </a:spcAft>
              <a:tabLst>
                <a:tab pos="1204913" algn="r"/>
              </a:tabLst>
              <a:defRPr sz="2400">
                <a:solidFill>
                  <a:schemeClr val="tx1"/>
                </a:solidFill>
                <a:latin typeface="Times New Roman" pitchFamily="18" charset="0"/>
              </a:defRPr>
            </a:lvl6pPr>
            <a:lvl7pPr marL="2971800" indent="-228600" algn="ctr" eaLnBrk="0" fontAlgn="base" hangingPunct="0">
              <a:spcBef>
                <a:spcPct val="0"/>
              </a:spcBef>
              <a:spcAft>
                <a:spcPct val="0"/>
              </a:spcAft>
              <a:tabLst>
                <a:tab pos="1204913" algn="r"/>
              </a:tabLst>
              <a:defRPr sz="2400">
                <a:solidFill>
                  <a:schemeClr val="tx1"/>
                </a:solidFill>
                <a:latin typeface="Times New Roman" pitchFamily="18" charset="0"/>
              </a:defRPr>
            </a:lvl7pPr>
            <a:lvl8pPr marL="3429000" indent="-228600" algn="ctr" eaLnBrk="0" fontAlgn="base" hangingPunct="0">
              <a:spcBef>
                <a:spcPct val="0"/>
              </a:spcBef>
              <a:spcAft>
                <a:spcPct val="0"/>
              </a:spcAft>
              <a:tabLst>
                <a:tab pos="1204913" algn="r"/>
              </a:tabLst>
              <a:defRPr sz="2400">
                <a:solidFill>
                  <a:schemeClr val="tx1"/>
                </a:solidFill>
                <a:latin typeface="Times New Roman" pitchFamily="18" charset="0"/>
              </a:defRPr>
            </a:lvl8pPr>
            <a:lvl9pPr marL="3886200" indent="-228600" algn="ctr" eaLnBrk="0" fontAlgn="base" hangingPunct="0">
              <a:spcBef>
                <a:spcPct val="0"/>
              </a:spcBef>
              <a:spcAft>
                <a:spcPct val="0"/>
              </a:spcAft>
              <a:tabLst>
                <a:tab pos="1204913" algn="r"/>
              </a:tabLst>
              <a:defRPr sz="2400">
                <a:solidFill>
                  <a:schemeClr val="tx1"/>
                </a:solidFill>
                <a:latin typeface="Times New Roman" pitchFamily="18" charset="0"/>
              </a:defRPr>
            </a:lvl9pPr>
          </a:lstStyle>
          <a:p>
            <a:pPr algn="l">
              <a:spcBef>
                <a:spcPct val="50000"/>
              </a:spcBef>
            </a:pPr>
            <a:r>
              <a:rPr lang="en-US" altLang="en-US" sz="2000" b="1" dirty="0">
                <a:solidFill>
                  <a:srgbClr val="990000"/>
                </a:solidFill>
                <a:latin typeface="Liberation Sans" panose="020B0604020202020204" pitchFamily="34" charset="0"/>
              </a:rPr>
              <a:t>	$15,000</a:t>
            </a:r>
          </a:p>
        </p:txBody>
      </p:sp>
      <p:sp>
        <p:nvSpPr>
          <p:cNvPr id="17" name="Rectangle 16"/>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smtClean="0">
                <a:solidFill>
                  <a:schemeClr val="tx2">
                    <a:lumMod val="75000"/>
                  </a:schemeClr>
                </a:solidFill>
                <a:latin typeface="Liberation Sans" panose="020B0604020202020204" pitchFamily="34" charset="0"/>
              </a:rPr>
              <a:t>Debits and Credits</a:t>
            </a:r>
            <a:endParaRPr lang="en-US" altLang="en-US" sz="3200" b="1" dirty="0">
              <a:solidFill>
                <a:schemeClr val="tx2">
                  <a:lumMod val="75000"/>
                </a:schemeClr>
              </a:solidFill>
              <a:latin typeface="Liberation Sans" panose="020B0604020202020204" pitchFamily="34" charset="0"/>
            </a:endParaRPr>
          </a:p>
        </p:txBody>
      </p:sp>
      <p:sp>
        <p:nvSpPr>
          <p:cNvPr id="18"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4"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260657283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8057"/>
                                        </p:tgtEl>
                                        <p:attrNameLst>
                                          <p:attrName>style.visibility</p:attrName>
                                        </p:attrNameLst>
                                      </p:cBhvr>
                                      <p:to>
                                        <p:strVal val="visible"/>
                                      </p:to>
                                    </p:set>
                                    <p:animEffect transition="in" filter="wipe(left)">
                                      <p:cBhvr>
                                        <p:cTn id="7" dur="500"/>
                                        <p:tgtEl>
                                          <p:spTgt spid="258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7"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a:graphicFrameLocks noChangeAspect="1"/>
          </p:cNvGraphicFramePr>
          <p:nvPr>
            <p:extLst>
              <p:ext uri="{D42A27DB-BD31-4B8C-83A1-F6EECF244321}">
                <p14:modId xmlns:p14="http://schemas.microsoft.com/office/powerpoint/2010/main" val="3813364277"/>
              </p:ext>
            </p:extLst>
          </p:nvPr>
        </p:nvGraphicFramePr>
        <p:xfrm>
          <a:off x="1905000" y="2038350"/>
          <a:ext cx="5334000" cy="4000500"/>
        </p:xfrm>
        <a:graphic>
          <a:graphicData uri="http://schemas.openxmlformats.org/presentationml/2006/ole">
            <mc:AlternateContent xmlns:mc="http://schemas.openxmlformats.org/markup-compatibility/2006">
              <mc:Choice xmlns:v="urn:schemas-microsoft-com:vml" Requires="v">
                <p:oleObj spid="_x0000_s112780" name="Slide" r:id="rId4" imgW="4494213" imgH="3370263" progId="PowerPoint.Slide.8">
                  <p:embed/>
                </p:oleObj>
              </mc:Choice>
              <mc:Fallback>
                <p:oleObj name="Slide" r:id="rId4" imgW="4494213" imgH="3370263" progId="PowerPoint.Slid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2038350"/>
                        <a:ext cx="5334000"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1" name="Text Box 4"/>
          <p:cNvSpPr txBox="1">
            <a:spLocks noChangeArrowheads="1"/>
          </p:cNvSpPr>
          <p:nvPr/>
        </p:nvSpPr>
        <p:spPr bwMode="auto">
          <a:xfrm>
            <a:off x="533400" y="1295400"/>
            <a:ext cx="7772400" cy="906463"/>
          </a:xfrm>
          <a:prstGeom prst="rect">
            <a:avLst/>
          </a:prstGeom>
          <a:solidFill>
            <a:schemeClr val="bg1"/>
          </a:solidFill>
          <a:ln>
            <a:noFill/>
          </a:ln>
          <a:effectLst/>
          <a:extLst>
            <a:ext uri="{91240B29-F687-4F45-9708-019B960494DF}">
              <a14:hiddenLine xmlns:a14="http://schemas.microsoft.com/office/drawing/2010/main" w="28575" cap="sq" algn="ctr">
                <a:solidFill>
                  <a:srgbClr val="003366"/>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lvl1pPr marL="1588" indent="11113">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lnSpc>
                <a:spcPct val="115000"/>
              </a:lnSpc>
              <a:spcBef>
                <a:spcPct val="10000"/>
              </a:spcBef>
              <a:buSzPct val="80000"/>
            </a:pPr>
            <a:r>
              <a:rPr lang="en-US" altLang="en-US" sz="2300" b="1" dirty="0">
                <a:latin typeface="Liberation Sans" panose="020B0604020202020204" pitchFamily="34" charset="0"/>
              </a:rPr>
              <a:t>If the sum of Credit entries are </a:t>
            </a:r>
            <a:r>
              <a:rPr lang="en-US" altLang="en-US" sz="2300" b="1" dirty="0">
                <a:solidFill>
                  <a:srgbClr val="800000"/>
                </a:solidFill>
                <a:latin typeface="Liberation Sans" panose="020B0604020202020204" pitchFamily="34" charset="0"/>
              </a:rPr>
              <a:t>greater than</a:t>
            </a:r>
            <a:r>
              <a:rPr lang="en-US" altLang="en-US" sz="2300" b="1" dirty="0">
                <a:latin typeface="Liberation Sans" panose="020B0604020202020204" pitchFamily="34" charset="0"/>
              </a:rPr>
              <a:t> the sum of Debit entries, the account will have a credit balance.</a:t>
            </a:r>
          </a:p>
        </p:txBody>
      </p:sp>
      <p:sp>
        <p:nvSpPr>
          <p:cNvPr id="12293" name="Text Box 6"/>
          <p:cNvSpPr txBox="1">
            <a:spLocks noChangeArrowheads="1"/>
          </p:cNvSpPr>
          <p:nvPr/>
        </p:nvSpPr>
        <p:spPr bwMode="auto">
          <a:xfrm>
            <a:off x="2819400" y="3429000"/>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r">
              <a:spcBef>
                <a:spcPct val="50000"/>
              </a:spcBef>
            </a:pPr>
            <a:r>
              <a:rPr lang="en-US" altLang="en-US" sz="2000" b="1" dirty="0">
                <a:latin typeface="Liberation Sans" panose="020B0604020202020204" pitchFamily="34" charset="0"/>
              </a:rPr>
              <a:t>$10,000</a:t>
            </a:r>
          </a:p>
        </p:txBody>
      </p:sp>
      <p:sp>
        <p:nvSpPr>
          <p:cNvPr id="12294" name="Text Box 7"/>
          <p:cNvSpPr txBox="1">
            <a:spLocks noChangeArrowheads="1"/>
          </p:cNvSpPr>
          <p:nvPr/>
        </p:nvSpPr>
        <p:spPr bwMode="auto">
          <a:xfrm>
            <a:off x="6781800" y="3429000"/>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en-US" sz="2000" b="1" dirty="0">
                <a:latin typeface="Liberation Sans" panose="020B0604020202020204" pitchFamily="34" charset="0"/>
              </a:rPr>
              <a:t>Transaction #2</a:t>
            </a:r>
          </a:p>
        </p:txBody>
      </p:sp>
      <p:sp>
        <p:nvSpPr>
          <p:cNvPr id="12295" name="Text Box 8"/>
          <p:cNvSpPr txBox="1">
            <a:spLocks noChangeArrowheads="1"/>
          </p:cNvSpPr>
          <p:nvPr/>
        </p:nvSpPr>
        <p:spPr bwMode="auto">
          <a:xfrm>
            <a:off x="4953000" y="34290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r">
              <a:spcBef>
                <a:spcPct val="50000"/>
              </a:spcBef>
            </a:pPr>
            <a:r>
              <a:rPr lang="en-US" altLang="en-US" sz="2000" b="1" dirty="0">
                <a:latin typeface="Liberation Sans" panose="020B0604020202020204" pitchFamily="34" charset="0"/>
              </a:rPr>
              <a:t>$3,000</a:t>
            </a:r>
          </a:p>
        </p:txBody>
      </p:sp>
      <p:sp>
        <p:nvSpPr>
          <p:cNvPr id="12297" name="Text Box 10"/>
          <p:cNvSpPr txBox="1">
            <a:spLocks noChangeArrowheads="1"/>
          </p:cNvSpPr>
          <p:nvPr/>
        </p:nvSpPr>
        <p:spPr bwMode="auto">
          <a:xfrm>
            <a:off x="4953000" y="3870325"/>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r">
              <a:spcBef>
                <a:spcPct val="50000"/>
              </a:spcBef>
            </a:pPr>
            <a:r>
              <a:rPr lang="en-US" altLang="en-US" sz="2000" b="1" dirty="0">
                <a:latin typeface="Liberation Sans" panose="020B0604020202020204" pitchFamily="34" charset="0"/>
              </a:rPr>
              <a:t>8,000</a:t>
            </a:r>
          </a:p>
        </p:txBody>
      </p:sp>
      <p:sp>
        <p:nvSpPr>
          <p:cNvPr id="12298" name="Text Box 11"/>
          <p:cNvSpPr txBox="1">
            <a:spLocks noChangeArrowheads="1"/>
          </p:cNvSpPr>
          <p:nvPr/>
        </p:nvSpPr>
        <p:spPr bwMode="auto">
          <a:xfrm>
            <a:off x="6781800" y="3870325"/>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en-US" sz="2000" b="1" dirty="0">
                <a:latin typeface="Liberation Sans" panose="020B0604020202020204" pitchFamily="34" charset="0"/>
              </a:rPr>
              <a:t>Transaction #3</a:t>
            </a:r>
          </a:p>
        </p:txBody>
      </p:sp>
      <p:sp>
        <p:nvSpPr>
          <p:cNvPr id="12299" name="Text Box 12"/>
          <p:cNvSpPr txBox="1">
            <a:spLocks noChangeArrowheads="1"/>
          </p:cNvSpPr>
          <p:nvPr/>
        </p:nvSpPr>
        <p:spPr bwMode="auto">
          <a:xfrm>
            <a:off x="381000" y="4800600"/>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en-US" sz="2000" b="1" dirty="0">
                <a:latin typeface="Liberation Sans" panose="020B0604020202020204" pitchFamily="34" charset="0"/>
              </a:rPr>
              <a:t>Balance</a:t>
            </a:r>
          </a:p>
        </p:txBody>
      </p:sp>
      <p:sp>
        <p:nvSpPr>
          <p:cNvPr id="12300" name="Text Box 13"/>
          <p:cNvSpPr txBox="1">
            <a:spLocks noChangeArrowheads="1"/>
          </p:cNvSpPr>
          <p:nvPr/>
        </p:nvSpPr>
        <p:spPr bwMode="auto">
          <a:xfrm>
            <a:off x="381000" y="3429000"/>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en-US" sz="2000" b="1" dirty="0">
                <a:latin typeface="Liberation Sans" panose="020B0604020202020204" pitchFamily="34" charset="0"/>
              </a:rPr>
              <a:t>Transaction #1</a:t>
            </a:r>
          </a:p>
        </p:txBody>
      </p:sp>
      <p:sp>
        <p:nvSpPr>
          <p:cNvPr id="17" name="Text Box 9"/>
          <p:cNvSpPr txBox="1">
            <a:spLocks noChangeArrowheads="1"/>
          </p:cNvSpPr>
          <p:nvPr/>
        </p:nvSpPr>
        <p:spPr bwMode="auto">
          <a:xfrm>
            <a:off x="4544568" y="4800600"/>
            <a:ext cx="1828800" cy="400110"/>
          </a:xfrm>
          <a:prstGeom prst="rect">
            <a:avLst/>
          </a:prstGeom>
          <a:solidFill>
            <a:srgbClr val="F7F48B"/>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204913" algn="r"/>
              </a:tabLst>
              <a:defRPr sz="2400">
                <a:solidFill>
                  <a:schemeClr val="tx1"/>
                </a:solidFill>
                <a:latin typeface="Times New Roman" pitchFamily="18" charset="0"/>
              </a:defRPr>
            </a:lvl1pPr>
            <a:lvl2pPr marL="742950" indent="-285750">
              <a:tabLst>
                <a:tab pos="1204913" algn="r"/>
              </a:tabLst>
              <a:defRPr sz="2400">
                <a:solidFill>
                  <a:schemeClr val="tx1"/>
                </a:solidFill>
                <a:latin typeface="Times New Roman" pitchFamily="18" charset="0"/>
              </a:defRPr>
            </a:lvl2pPr>
            <a:lvl3pPr marL="1143000" indent="-228600">
              <a:tabLst>
                <a:tab pos="1204913" algn="r"/>
              </a:tabLst>
              <a:defRPr sz="2400">
                <a:solidFill>
                  <a:schemeClr val="tx1"/>
                </a:solidFill>
                <a:latin typeface="Times New Roman" pitchFamily="18" charset="0"/>
              </a:defRPr>
            </a:lvl3pPr>
            <a:lvl4pPr marL="1600200" indent="-228600">
              <a:tabLst>
                <a:tab pos="1204913" algn="r"/>
              </a:tabLst>
              <a:defRPr sz="2400">
                <a:solidFill>
                  <a:schemeClr val="tx1"/>
                </a:solidFill>
                <a:latin typeface="Times New Roman" pitchFamily="18" charset="0"/>
              </a:defRPr>
            </a:lvl4pPr>
            <a:lvl5pPr marL="2057400" indent="-228600">
              <a:tabLst>
                <a:tab pos="1204913" algn="r"/>
              </a:tabLst>
              <a:defRPr sz="2400">
                <a:solidFill>
                  <a:schemeClr val="tx1"/>
                </a:solidFill>
                <a:latin typeface="Times New Roman" pitchFamily="18" charset="0"/>
              </a:defRPr>
            </a:lvl5pPr>
            <a:lvl6pPr marL="2514600" indent="-228600" algn="ctr" eaLnBrk="0" fontAlgn="base" hangingPunct="0">
              <a:spcBef>
                <a:spcPct val="0"/>
              </a:spcBef>
              <a:spcAft>
                <a:spcPct val="0"/>
              </a:spcAft>
              <a:tabLst>
                <a:tab pos="1204913" algn="r"/>
              </a:tabLst>
              <a:defRPr sz="2400">
                <a:solidFill>
                  <a:schemeClr val="tx1"/>
                </a:solidFill>
                <a:latin typeface="Times New Roman" pitchFamily="18" charset="0"/>
              </a:defRPr>
            </a:lvl6pPr>
            <a:lvl7pPr marL="2971800" indent="-228600" algn="ctr" eaLnBrk="0" fontAlgn="base" hangingPunct="0">
              <a:spcBef>
                <a:spcPct val="0"/>
              </a:spcBef>
              <a:spcAft>
                <a:spcPct val="0"/>
              </a:spcAft>
              <a:tabLst>
                <a:tab pos="1204913" algn="r"/>
              </a:tabLst>
              <a:defRPr sz="2400">
                <a:solidFill>
                  <a:schemeClr val="tx1"/>
                </a:solidFill>
                <a:latin typeface="Times New Roman" pitchFamily="18" charset="0"/>
              </a:defRPr>
            </a:lvl7pPr>
            <a:lvl8pPr marL="3429000" indent="-228600" algn="ctr" eaLnBrk="0" fontAlgn="base" hangingPunct="0">
              <a:spcBef>
                <a:spcPct val="0"/>
              </a:spcBef>
              <a:spcAft>
                <a:spcPct val="0"/>
              </a:spcAft>
              <a:tabLst>
                <a:tab pos="1204913" algn="r"/>
              </a:tabLst>
              <a:defRPr sz="2400">
                <a:solidFill>
                  <a:schemeClr val="tx1"/>
                </a:solidFill>
                <a:latin typeface="Times New Roman" pitchFamily="18" charset="0"/>
              </a:defRPr>
            </a:lvl8pPr>
            <a:lvl9pPr marL="3886200" indent="-228600" algn="ctr" eaLnBrk="0" fontAlgn="base" hangingPunct="0">
              <a:spcBef>
                <a:spcPct val="0"/>
              </a:spcBef>
              <a:spcAft>
                <a:spcPct val="0"/>
              </a:spcAft>
              <a:tabLst>
                <a:tab pos="1204913" algn="r"/>
              </a:tabLst>
              <a:defRPr sz="2400">
                <a:solidFill>
                  <a:schemeClr val="tx1"/>
                </a:solidFill>
                <a:latin typeface="Times New Roman" pitchFamily="18" charset="0"/>
              </a:defRPr>
            </a:lvl9pPr>
          </a:lstStyle>
          <a:p>
            <a:pPr algn="l">
              <a:spcBef>
                <a:spcPct val="50000"/>
              </a:spcBef>
            </a:pPr>
            <a:r>
              <a:rPr lang="en-US" altLang="en-US" sz="2000" b="1" dirty="0">
                <a:solidFill>
                  <a:srgbClr val="990000"/>
                </a:solidFill>
                <a:latin typeface="Liberation Sans" panose="020B0604020202020204" pitchFamily="34" charset="0"/>
              </a:rPr>
              <a:t>	$</a:t>
            </a:r>
            <a:r>
              <a:rPr lang="en-US" altLang="en-US" sz="2000" b="1" dirty="0" smtClean="0">
                <a:solidFill>
                  <a:srgbClr val="990000"/>
                </a:solidFill>
                <a:latin typeface="Liberation Sans" panose="020B0604020202020204" pitchFamily="34" charset="0"/>
              </a:rPr>
              <a:t>1,000</a:t>
            </a:r>
            <a:endParaRPr lang="en-US" altLang="en-US" sz="2000" b="1" dirty="0">
              <a:solidFill>
                <a:srgbClr val="990000"/>
              </a:solidFill>
              <a:latin typeface="Liberation Sans" panose="020B0604020202020204" pitchFamily="34" charset="0"/>
            </a:endParaRPr>
          </a:p>
        </p:txBody>
      </p:sp>
      <p:sp>
        <p:nvSpPr>
          <p:cNvPr id="18" name="Rectangle 1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smtClean="0">
                <a:solidFill>
                  <a:schemeClr val="tx2">
                    <a:lumMod val="75000"/>
                  </a:schemeClr>
                </a:solidFill>
                <a:latin typeface="Liberation Sans" panose="020B0604020202020204" pitchFamily="34" charset="0"/>
              </a:rPr>
              <a:t>Debits and Credits</a:t>
            </a:r>
            <a:endParaRPr lang="en-US" altLang="en-US" sz="3200" b="1" dirty="0">
              <a:solidFill>
                <a:schemeClr val="tx2">
                  <a:lumMod val="75000"/>
                </a:schemeClr>
              </a:solidFill>
              <a:latin typeface="Liberation Sans" panose="020B0604020202020204" pitchFamily="34" charset="0"/>
            </a:endParaRPr>
          </a:p>
        </p:txBody>
      </p:sp>
      <p:sp>
        <p:nvSpPr>
          <p:cNvPr id="19"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4"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257668650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3886200" y="1371600"/>
            <a:ext cx="4572000"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marL="457200" indent="-457200">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0000"/>
              </a:lnSpc>
              <a:spcBef>
                <a:spcPct val="50000"/>
              </a:spcBef>
              <a:buClr>
                <a:srgbClr val="800000"/>
              </a:buClr>
              <a:buSzPct val="80000"/>
              <a:buFont typeface="Wingdings" pitchFamily="2" charset="2"/>
              <a:buChar char="u"/>
            </a:pPr>
            <a:r>
              <a:rPr lang="en-US" altLang="en-US" sz="2100" b="1" dirty="0">
                <a:latin typeface="Liberation Sans" panose="020B0604020202020204" pitchFamily="34" charset="0"/>
              </a:rPr>
              <a:t>Assets</a:t>
            </a:r>
            <a:r>
              <a:rPr lang="en-US" altLang="en-US" sz="2100" dirty="0">
                <a:latin typeface="Liberation Sans" panose="020B0604020202020204" pitchFamily="34" charset="0"/>
              </a:rPr>
              <a:t> - Debits should exceed credits.</a:t>
            </a:r>
          </a:p>
          <a:p>
            <a:pPr algn="l">
              <a:lnSpc>
                <a:spcPct val="120000"/>
              </a:lnSpc>
              <a:spcBef>
                <a:spcPct val="50000"/>
              </a:spcBef>
              <a:buClr>
                <a:srgbClr val="800000"/>
              </a:buClr>
              <a:buSzPct val="80000"/>
              <a:buFont typeface="Wingdings" pitchFamily="2" charset="2"/>
              <a:buChar char="u"/>
            </a:pPr>
            <a:r>
              <a:rPr lang="en-US" altLang="en-US" sz="2100" b="1" dirty="0">
                <a:latin typeface="Liberation Sans" panose="020B0604020202020204" pitchFamily="34" charset="0"/>
              </a:rPr>
              <a:t>Liabilities</a:t>
            </a:r>
            <a:r>
              <a:rPr lang="en-US" altLang="en-US" sz="2100" dirty="0">
                <a:latin typeface="Liberation Sans" panose="020B0604020202020204" pitchFamily="34" charset="0"/>
              </a:rPr>
              <a:t> – Credits should exceed debits. </a:t>
            </a:r>
          </a:p>
          <a:p>
            <a:pPr algn="l">
              <a:lnSpc>
                <a:spcPct val="120000"/>
              </a:lnSpc>
              <a:spcBef>
                <a:spcPct val="50000"/>
              </a:spcBef>
              <a:buClr>
                <a:srgbClr val="800000"/>
              </a:buClr>
              <a:buSzPct val="80000"/>
              <a:buFont typeface="Wingdings" pitchFamily="2" charset="2"/>
              <a:buChar char="u"/>
            </a:pPr>
            <a:r>
              <a:rPr lang="en-US" altLang="en-US" sz="2100" b="1" dirty="0">
                <a:latin typeface="Liberation Sans" panose="020B0604020202020204" pitchFamily="34" charset="0"/>
              </a:rPr>
              <a:t>Normal balance</a:t>
            </a:r>
            <a:r>
              <a:rPr lang="en-US" altLang="en-US" sz="2100" dirty="0">
                <a:latin typeface="Liberation Sans" panose="020B0604020202020204" pitchFamily="34" charset="0"/>
              </a:rPr>
              <a:t> is on the increase side.</a:t>
            </a:r>
          </a:p>
        </p:txBody>
      </p:sp>
      <p:graphicFrame>
        <p:nvGraphicFramePr>
          <p:cNvPr id="9219" name="Object 5"/>
          <p:cNvGraphicFramePr>
            <a:graphicFrameLocks noChangeAspect="1"/>
          </p:cNvGraphicFramePr>
          <p:nvPr>
            <p:extLst>
              <p:ext uri="{D42A27DB-BD31-4B8C-83A1-F6EECF244321}">
                <p14:modId xmlns:p14="http://schemas.microsoft.com/office/powerpoint/2010/main" val="4003297954"/>
              </p:ext>
            </p:extLst>
          </p:nvPr>
        </p:nvGraphicFramePr>
        <p:xfrm>
          <a:off x="762000" y="1447800"/>
          <a:ext cx="2743200" cy="2057400"/>
        </p:xfrm>
        <a:graphic>
          <a:graphicData uri="http://schemas.openxmlformats.org/presentationml/2006/ole">
            <mc:AlternateContent xmlns:mc="http://schemas.openxmlformats.org/markup-compatibility/2006">
              <mc:Choice xmlns:v="urn:schemas-microsoft-com:vml" Requires="v">
                <p:oleObj spid="_x0000_s9536" name="Slide" r:id="rId4" imgW="4572064" imgH="3428891" progId="PowerPoint.Slide.8">
                  <p:embed/>
                </p:oleObj>
              </mc:Choice>
              <mc:Fallback>
                <p:oleObj name="Slide" r:id="rId4" imgW="4572064" imgH="3428891" progId="PowerPoint.Slide.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447800"/>
                        <a:ext cx="2743200" cy="2057400"/>
                      </a:xfrm>
                      <a:prstGeom prst="rect">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0" name="Object 6"/>
          <p:cNvGraphicFramePr>
            <a:graphicFrameLocks noChangeAspect="1"/>
          </p:cNvGraphicFramePr>
          <p:nvPr>
            <p:extLst>
              <p:ext uri="{D42A27DB-BD31-4B8C-83A1-F6EECF244321}">
                <p14:modId xmlns:p14="http://schemas.microsoft.com/office/powerpoint/2010/main" val="821983980"/>
              </p:ext>
            </p:extLst>
          </p:nvPr>
        </p:nvGraphicFramePr>
        <p:xfrm>
          <a:off x="762000" y="3886200"/>
          <a:ext cx="2743200" cy="2057400"/>
        </p:xfrm>
        <a:graphic>
          <a:graphicData uri="http://schemas.openxmlformats.org/presentationml/2006/ole">
            <mc:AlternateContent xmlns:mc="http://schemas.openxmlformats.org/markup-compatibility/2006">
              <mc:Choice xmlns:v="urn:schemas-microsoft-com:vml" Requires="v">
                <p:oleObj spid="_x0000_s9537" name="Slide" r:id="rId6" imgW="4572064" imgH="3428891" progId="PowerPoint.Slide.8">
                  <p:embed/>
                </p:oleObj>
              </mc:Choice>
              <mc:Fallback>
                <p:oleObj name="Slide" r:id="rId6" imgW="4572064" imgH="3428891" progId="PowerPoint.Slide.8">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3886200"/>
                        <a:ext cx="2743200" cy="2057400"/>
                      </a:xfrm>
                      <a:prstGeom prst="rect">
                        <a:avLst/>
                      </a:prstGeom>
                      <a:noFill/>
                      <a:ln w="28575"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1"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Debits and Credits</a:t>
            </a:r>
          </a:p>
        </p:txBody>
      </p:sp>
      <p:sp>
        <p:nvSpPr>
          <p:cNvPr id="9222"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7"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3886200" y="1371600"/>
            <a:ext cx="5029200" cy="2192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457200" indent="-457200">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0000"/>
              </a:lnSpc>
              <a:spcBef>
                <a:spcPct val="50000"/>
              </a:spcBef>
              <a:buClr>
                <a:srgbClr val="800000"/>
              </a:buClr>
              <a:buSzPct val="80000"/>
              <a:buFont typeface="Wingdings" pitchFamily="2" charset="2"/>
              <a:buChar char="u"/>
            </a:pPr>
            <a:r>
              <a:rPr lang="en-US" altLang="en-US" sz="2100" b="1" dirty="0">
                <a:latin typeface="Liberation Sans" panose="020B0604020202020204" pitchFamily="34" charset="0"/>
              </a:rPr>
              <a:t>Owner’s investments</a:t>
            </a:r>
            <a:r>
              <a:rPr lang="en-US" altLang="en-US" sz="2100" dirty="0">
                <a:solidFill>
                  <a:srgbClr val="000000"/>
                </a:solidFill>
                <a:latin typeface="Liberation Sans" panose="020B0604020202020204" pitchFamily="34" charset="0"/>
              </a:rPr>
              <a:t> and </a:t>
            </a:r>
            <a:r>
              <a:rPr lang="en-US" altLang="en-US" sz="2100" b="1" dirty="0">
                <a:latin typeface="Liberation Sans" panose="020B0604020202020204" pitchFamily="34" charset="0"/>
              </a:rPr>
              <a:t>revenues</a:t>
            </a:r>
            <a:r>
              <a:rPr lang="en-US" altLang="en-US" sz="2100" dirty="0">
                <a:solidFill>
                  <a:srgbClr val="000000"/>
                </a:solidFill>
                <a:latin typeface="Liberation Sans" panose="020B0604020202020204" pitchFamily="34" charset="0"/>
              </a:rPr>
              <a:t> increase owner’s equity (credit). </a:t>
            </a:r>
          </a:p>
          <a:p>
            <a:pPr algn="l">
              <a:lnSpc>
                <a:spcPct val="120000"/>
              </a:lnSpc>
              <a:spcBef>
                <a:spcPct val="50000"/>
              </a:spcBef>
              <a:buClr>
                <a:srgbClr val="800000"/>
              </a:buClr>
              <a:buSzPct val="80000"/>
              <a:buFont typeface="Wingdings" pitchFamily="2" charset="2"/>
              <a:buChar char="u"/>
            </a:pPr>
            <a:r>
              <a:rPr lang="en-US" altLang="en-US" sz="2100" b="1" dirty="0">
                <a:latin typeface="Liberation Sans" panose="020B0604020202020204" pitchFamily="34" charset="0"/>
              </a:rPr>
              <a:t>Owner’s drawings</a:t>
            </a:r>
            <a:r>
              <a:rPr lang="en-US" altLang="en-US" sz="2100" dirty="0">
                <a:solidFill>
                  <a:srgbClr val="000000"/>
                </a:solidFill>
                <a:latin typeface="Liberation Sans" panose="020B0604020202020204" pitchFamily="34" charset="0"/>
              </a:rPr>
              <a:t> and </a:t>
            </a:r>
            <a:r>
              <a:rPr lang="en-US" altLang="en-US" sz="2100" b="1" dirty="0">
                <a:latin typeface="Liberation Sans" panose="020B0604020202020204" pitchFamily="34" charset="0"/>
              </a:rPr>
              <a:t>expenses</a:t>
            </a:r>
            <a:r>
              <a:rPr lang="en-US" altLang="en-US" sz="2100" dirty="0">
                <a:solidFill>
                  <a:srgbClr val="000000"/>
                </a:solidFill>
                <a:latin typeface="Liberation Sans" panose="020B0604020202020204" pitchFamily="34" charset="0"/>
              </a:rPr>
              <a:t> decrease owner’s equity (debit).</a:t>
            </a:r>
          </a:p>
        </p:txBody>
      </p:sp>
      <p:graphicFrame>
        <p:nvGraphicFramePr>
          <p:cNvPr id="10243" name="Object 4"/>
          <p:cNvGraphicFramePr>
            <a:graphicFrameLocks noChangeAspect="1"/>
          </p:cNvGraphicFramePr>
          <p:nvPr>
            <p:extLst>
              <p:ext uri="{D42A27DB-BD31-4B8C-83A1-F6EECF244321}">
                <p14:modId xmlns:p14="http://schemas.microsoft.com/office/powerpoint/2010/main" val="2896499070"/>
              </p:ext>
            </p:extLst>
          </p:nvPr>
        </p:nvGraphicFramePr>
        <p:xfrm>
          <a:off x="228600" y="4114800"/>
          <a:ext cx="2743200" cy="2057400"/>
        </p:xfrm>
        <a:graphic>
          <a:graphicData uri="http://schemas.openxmlformats.org/presentationml/2006/ole">
            <mc:AlternateContent xmlns:mc="http://schemas.openxmlformats.org/markup-compatibility/2006">
              <mc:Choice xmlns:v="urn:schemas-microsoft-com:vml" Requires="v">
                <p:oleObj spid="_x0000_s10719" name="Slide" r:id="rId4" imgW="4482003" imgH="3360493" progId="PowerPoint.Slide.8">
                  <p:embed/>
                </p:oleObj>
              </mc:Choice>
              <mc:Fallback>
                <p:oleObj name="Slide" r:id="rId4" imgW="4482003" imgH="3360493" progId="PowerPoint.Slid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4114800"/>
                        <a:ext cx="2743200" cy="2057400"/>
                      </a:xfrm>
                      <a:prstGeom prst="rect">
                        <a:avLst/>
                      </a:prstGeom>
                      <a:noFill/>
                      <a:ln w="28575"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4" name="Object 5"/>
          <p:cNvGraphicFramePr>
            <a:graphicFrameLocks noChangeAspect="1"/>
          </p:cNvGraphicFramePr>
          <p:nvPr>
            <p:extLst>
              <p:ext uri="{D42A27DB-BD31-4B8C-83A1-F6EECF244321}">
                <p14:modId xmlns:p14="http://schemas.microsoft.com/office/powerpoint/2010/main" val="4209056906"/>
              </p:ext>
            </p:extLst>
          </p:nvPr>
        </p:nvGraphicFramePr>
        <p:xfrm>
          <a:off x="3276600" y="4114800"/>
          <a:ext cx="2743200" cy="2057400"/>
        </p:xfrm>
        <a:graphic>
          <a:graphicData uri="http://schemas.openxmlformats.org/presentationml/2006/ole">
            <mc:AlternateContent xmlns:mc="http://schemas.openxmlformats.org/markup-compatibility/2006">
              <mc:Choice xmlns:v="urn:schemas-microsoft-com:vml" Requires="v">
                <p:oleObj spid="_x0000_s10720" name="Slide" r:id="rId6" imgW="4482003" imgH="3360493" progId="PowerPoint.Slide.8">
                  <p:embed/>
                </p:oleObj>
              </mc:Choice>
              <mc:Fallback>
                <p:oleObj name="Slide" r:id="rId6" imgW="4482003" imgH="3360493" progId="PowerPoint.Slide.8">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4114800"/>
                        <a:ext cx="2743200" cy="2057400"/>
                      </a:xfrm>
                      <a:prstGeom prst="rect">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5" name="Object 6"/>
          <p:cNvGraphicFramePr>
            <a:graphicFrameLocks noChangeAspect="1"/>
          </p:cNvGraphicFramePr>
          <p:nvPr>
            <p:extLst>
              <p:ext uri="{D42A27DB-BD31-4B8C-83A1-F6EECF244321}">
                <p14:modId xmlns:p14="http://schemas.microsoft.com/office/powerpoint/2010/main" val="1827600509"/>
              </p:ext>
            </p:extLst>
          </p:nvPr>
        </p:nvGraphicFramePr>
        <p:xfrm>
          <a:off x="762000" y="1447800"/>
          <a:ext cx="2743200" cy="2057400"/>
        </p:xfrm>
        <a:graphic>
          <a:graphicData uri="http://schemas.openxmlformats.org/presentationml/2006/ole">
            <mc:AlternateContent xmlns:mc="http://schemas.openxmlformats.org/markup-compatibility/2006">
              <mc:Choice xmlns:v="urn:schemas-microsoft-com:vml" Requires="v">
                <p:oleObj spid="_x0000_s10721" name="Slide" r:id="rId8" imgW="4447010" imgH="3336019" progId="PowerPoint.Slide.8">
                  <p:embed/>
                </p:oleObj>
              </mc:Choice>
              <mc:Fallback>
                <p:oleObj name="Slide" r:id="rId8" imgW="4447010" imgH="3336019" progId="PowerPoint.Slide.8">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0" y="1447800"/>
                        <a:ext cx="2743200" cy="2057400"/>
                      </a:xfrm>
                      <a:prstGeom prst="rect">
                        <a:avLst/>
                      </a:prstGeom>
                      <a:noFill/>
                      <a:ln w="28575"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6" name="AutoShape 7"/>
          <p:cNvSpPr>
            <a:spLocks/>
          </p:cNvSpPr>
          <p:nvPr/>
        </p:nvSpPr>
        <p:spPr bwMode="auto">
          <a:xfrm rot="5400000" flipH="1" flipV="1">
            <a:off x="2933700" y="952500"/>
            <a:ext cx="381000" cy="5791200"/>
          </a:xfrm>
          <a:prstGeom prst="rightBrace">
            <a:avLst>
              <a:gd name="adj1" fmla="val 190000"/>
              <a:gd name="adj2" fmla="val 32116"/>
            </a:avLst>
          </a:prstGeom>
          <a:noFill/>
          <a:ln w="38100" cap="sq">
            <a:solidFill>
              <a:srgbClr val="8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endParaRPr lang="en-US" altLang="en-US" dirty="0">
              <a:latin typeface="Liberation Sans" panose="020B0604020202020204" pitchFamily="34" charset="0"/>
            </a:endParaRPr>
          </a:p>
        </p:txBody>
      </p:sp>
      <p:sp>
        <p:nvSpPr>
          <p:cNvPr id="10247"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Debits and Credits</a:t>
            </a:r>
          </a:p>
        </p:txBody>
      </p:sp>
      <p:sp>
        <p:nvSpPr>
          <p:cNvPr id="10248" name="Line 1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2" name="Rectangle 1"/>
          <p:cNvSpPr/>
          <p:nvPr/>
        </p:nvSpPr>
        <p:spPr>
          <a:xfrm>
            <a:off x="6378575" y="4267200"/>
            <a:ext cx="2384425" cy="1692771"/>
          </a:xfrm>
          <a:prstGeom prst="rect">
            <a:avLst/>
          </a:prstGeom>
          <a:solidFill>
            <a:schemeClr val="bg1"/>
          </a:solidFill>
          <a:ln w="28575">
            <a:solidFill>
              <a:schemeClr val="tx1"/>
            </a:solidFill>
          </a:ln>
          <a:effectLst>
            <a:innerShdw blurRad="114300">
              <a:prstClr val="black"/>
            </a:innerShdw>
          </a:effectLst>
        </p:spPr>
        <p:txBody>
          <a:bodyPr lIns="137160" tIns="91440" rIns="137160" bIns="91440">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r>
              <a:rPr lang="en-US" altLang="en-US" sz="1400" b="1" dirty="0">
                <a:latin typeface="Liberation Sans" panose="020B0604020202020204" pitchFamily="34" charset="0"/>
              </a:rPr>
              <a:t>Helpful Hint </a:t>
            </a:r>
            <a:r>
              <a:rPr lang="en-US" altLang="en-US" sz="1400" dirty="0">
                <a:latin typeface="Liberation Sans" panose="020B0604020202020204" pitchFamily="34" charset="0"/>
              </a:rPr>
              <a:t>Because</a:t>
            </a:r>
          </a:p>
          <a:p>
            <a:pPr algn="l"/>
            <a:r>
              <a:rPr lang="en-US" altLang="en-US" sz="1400" dirty="0">
                <a:latin typeface="Liberation Sans" panose="020B0604020202020204" pitchFamily="34" charset="0"/>
              </a:rPr>
              <a:t>revenues increase owner’s</a:t>
            </a:r>
          </a:p>
          <a:p>
            <a:pPr algn="l"/>
            <a:r>
              <a:rPr lang="en-US" altLang="en-US" sz="1400" dirty="0">
                <a:latin typeface="Liberation Sans" panose="020B0604020202020204" pitchFamily="34" charset="0"/>
              </a:rPr>
              <a:t>equity, a revenue account</a:t>
            </a:r>
          </a:p>
          <a:p>
            <a:pPr algn="l"/>
            <a:r>
              <a:rPr lang="en-US" altLang="en-US" sz="1400" dirty="0">
                <a:latin typeface="Liberation Sans" panose="020B0604020202020204" pitchFamily="34" charset="0"/>
              </a:rPr>
              <a:t>has the same debit/credit</a:t>
            </a:r>
          </a:p>
          <a:p>
            <a:pPr algn="l"/>
            <a:r>
              <a:rPr lang="en-US" altLang="en-US" sz="1400" dirty="0">
                <a:latin typeface="Liberation Sans" panose="020B0604020202020204" pitchFamily="34" charset="0"/>
              </a:rPr>
              <a:t>rules as the Owner’s</a:t>
            </a:r>
          </a:p>
          <a:p>
            <a:pPr algn="l"/>
            <a:r>
              <a:rPr lang="en-US" altLang="en-US" sz="1400" dirty="0">
                <a:latin typeface="Liberation Sans" panose="020B0604020202020204" pitchFamily="34" charset="0"/>
              </a:rPr>
              <a:t>Capital account. Expenses</a:t>
            </a:r>
          </a:p>
          <a:p>
            <a:pPr algn="l"/>
            <a:r>
              <a:rPr lang="en-US" altLang="en-US" sz="1400" dirty="0">
                <a:latin typeface="Liberation Sans" panose="020B0604020202020204" pitchFamily="34" charset="0"/>
              </a:rPr>
              <a:t>have the opposite effect.</a:t>
            </a:r>
          </a:p>
        </p:txBody>
      </p:sp>
      <p:sp>
        <p:nvSpPr>
          <p:cNvPr id="11"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9" descr="Recycled paper"/>
          <p:cNvGraphicFramePr>
            <a:graphicFrameLocks noChangeAspect="1"/>
          </p:cNvGraphicFramePr>
          <p:nvPr>
            <p:extLst>
              <p:ext uri="{D42A27DB-BD31-4B8C-83A1-F6EECF244321}">
                <p14:modId xmlns:p14="http://schemas.microsoft.com/office/powerpoint/2010/main" val="3570717361"/>
              </p:ext>
            </p:extLst>
          </p:nvPr>
        </p:nvGraphicFramePr>
        <p:xfrm>
          <a:off x="762000" y="3886200"/>
          <a:ext cx="2743200" cy="2057400"/>
        </p:xfrm>
        <a:graphic>
          <a:graphicData uri="http://schemas.openxmlformats.org/presentationml/2006/ole">
            <mc:AlternateContent xmlns:mc="http://schemas.openxmlformats.org/markup-compatibility/2006">
              <mc:Choice xmlns:v="urn:schemas-microsoft-com:vml" Requires="v">
                <p:oleObj spid="_x0000_s11584" name="Slide" r:id="rId4" imgW="4572064" imgH="3428891" progId="PowerPoint.Slide.8">
                  <p:embed/>
                </p:oleObj>
              </mc:Choice>
              <mc:Fallback>
                <p:oleObj name="Slide" r:id="rId4" imgW="4572064" imgH="3428891" progId="PowerPoint.Slide.8">
                  <p:embed/>
                  <p:pic>
                    <p:nvPicPr>
                      <p:cNvPr id="0" name="Object 9" descr="Recycled pap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3886200"/>
                        <a:ext cx="2743200" cy="2057400"/>
                      </a:xfrm>
                      <a:prstGeom prst="rect">
                        <a:avLst/>
                      </a:prstGeom>
                      <a:blipFill dpi="0" rotWithShape="0">
                        <a:blip r:embed="rId6"/>
                        <a:srcRect/>
                        <a:tile tx="0" ty="0" sx="100000" sy="100000" flip="none" algn="tl"/>
                      </a:blip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7" name="Object 10"/>
          <p:cNvGraphicFramePr>
            <a:graphicFrameLocks noChangeAspect="1"/>
          </p:cNvGraphicFramePr>
          <p:nvPr>
            <p:extLst>
              <p:ext uri="{D42A27DB-BD31-4B8C-83A1-F6EECF244321}">
                <p14:modId xmlns:p14="http://schemas.microsoft.com/office/powerpoint/2010/main" val="4213514025"/>
              </p:ext>
            </p:extLst>
          </p:nvPr>
        </p:nvGraphicFramePr>
        <p:xfrm>
          <a:off x="762000" y="1447800"/>
          <a:ext cx="2743200" cy="2057400"/>
        </p:xfrm>
        <a:graphic>
          <a:graphicData uri="http://schemas.openxmlformats.org/presentationml/2006/ole">
            <mc:AlternateContent xmlns:mc="http://schemas.openxmlformats.org/markup-compatibility/2006">
              <mc:Choice xmlns:v="urn:schemas-microsoft-com:vml" Requires="v">
                <p:oleObj spid="_x0000_s11585" name="Slide" r:id="rId7" imgW="4572064" imgH="3428891" progId="PowerPoint.Slide.8">
                  <p:embed/>
                </p:oleObj>
              </mc:Choice>
              <mc:Fallback>
                <p:oleObj name="Slide" r:id="rId7" imgW="4572064" imgH="3428891" progId="PowerPoint.Slide.8">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1447800"/>
                        <a:ext cx="2743200" cy="2057400"/>
                      </a:xfrm>
                      <a:prstGeom prst="rect">
                        <a:avLst/>
                      </a:prstGeom>
                      <a:noFill/>
                      <a:ln w="28575"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68"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Debits and Credits</a:t>
            </a:r>
          </a:p>
        </p:txBody>
      </p:sp>
      <p:sp>
        <p:nvSpPr>
          <p:cNvPr id="11269"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1271" name="Text Box 11"/>
          <p:cNvSpPr txBox="1">
            <a:spLocks noChangeArrowheads="1"/>
          </p:cNvSpPr>
          <p:nvPr/>
        </p:nvSpPr>
        <p:spPr bwMode="auto">
          <a:xfrm>
            <a:off x="3886200" y="1371600"/>
            <a:ext cx="4800600" cy="351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457200" indent="-457200">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0000"/>
              </a:lnSpc>
              <a:spcBef>
                <a:spcPct val="50000"/>
              </a:spcBef>
              <a:buClr>
                <a:srgbClr val="800000"/>
              </a:buClr>
              <a:buSzPct val="80000"/>
              <a:buFont typeface="Wingdings" pitchFamily="2" charset="2"/>
              <a:buChar char="u"/>
            </a:pPr>
            <a:r>
              <a:rPr lang="en-US" altLang="en-US" sz="2100" dirty="0">
                <a:solidFill>
                  <a:srgbClr val="000000"/>
                </a:solidFill>
                <a:latin typeface="Liberation Sans" panose="020B0604020202020204" pitchFamily="34" charset="0"/>
              </a:rPr>
              <a:t>The purpose of earning </a:t>
            </a:r>
            <a:r>
              <a:rPr lang="en-US" altLang="en-US" sz="2100" b="1" dirty="0">
                <a:latin typeface="Liberation Sans" panose="020B0604020202020204" pitchFamily="34" charset="0"/>
              </a:rPr>
              <a:t>revenues</a:t>
            </a:r>
            <a:r>
              <a:rPr lang="en-US" altLang="en-US" sz="2100" dirty="0">
                <a:solidFill>
                  <a:srgbClr val="000000"/>
                </a:solidFill>
                <a:latin typeface="Liberation Sans" panose="020B0604020202020204" pitchFamily="34" charset="0"/>
              </a:rPr>
              <a:t> is to benefit the owner(s).</a:t>
            </a:r>
          </a:p>
          <a:p>
            <a:pPr algn="l">
              <a:lnSpc>
                <a:spcPct val="120000"/>
              </a:lnSpc>
              <a:spcBef>
                <a:spcPct val="50000"/>
              </a:spcBef>
              <a:buClr>
                <a:srgbClr val="800000"/>
              </a:buClr>
              <a:buSzPct val="80000"/>
              <a:buFont typeface="Wingdings" pitchFamily="2" charset="2"/>
              <a:buChar char="u"/>
            </a:pPr>
            <a:r>
              <a:rPr lang="en-US" altLang="en-US" sz="2100" dirty="0">
                <a:solidFill>
                  <a:srgbClr val="000000"/>
                </a:solidFill>
                <a:latin typeface="Liberation Sans" panose="020B0604020202020204" pitchFamily="34" charset="0"/>
              </a:rPr>
              <a:t>The effect of debits and credits on revenue accounts is the </a:t>
            </a:r>
            <a:r>
              <a:rPr lang="en-US" altLang="en-US" sz="2100" b="1" dirty="0">
                <a:latin typeface="Liberation Sans" panose="020B0604020202020204" pitchFamily="34" charset="0"/>
              </a:rPr>
              <a:t>same as</a:t>
            </a:r>
            <a:r>
              <a:rPr lang="en-US" altLang="en-US" sz="2100" dirty="0">
                <a:solidFill>
                  <a:srgbClr val="000000"/>
                </a:solidFill>
                <a:latin typeface="Liberation Sans" panose="020B0604020202020204" pitchFamily="34" charset="0"/>
              </a:rPr>
              <a:t> their effect on Owner’s Capital.</a:t>
            </a:r>
          </a:p>
          <a:p>
            <a:pPr algn="l">
              <a:lnSpc>
                <a:spcPct val="120000"/>
              </a:lnSpc>
              <a:spcBef>
                <a:spcPct val="50000"/>
              </a:spcBef>
              <a:buClr>
                <a:srgbClr val="800000"/>
              </a:buClr>
              <a:buSzPct val="80000"/>
              <a:buFont typeface="Wingdings" pitchFamily="2" charset="2"/>
              <a:buChar char="u"/>
            </a:pPr>
            <a:r>
              <a:rPr lang="en-US" altLang="en-US" sz="2100" b="1" dirty="0">
                <a:latin typeface="Liberation Sans" panose="020B0604020202020204" pitchFamily="34" charset="0"/>
              </a:rPr>
              <a:t>Expenses</a:t>
            </a:r>
            <a:r>
              <a:rPr lang="en-US" altLang="en-US" sz="2100" dirty="0">
                <a:solidFill>
                  <a:srgbClr val="000000"/>
                </a:solidFill>
                <a:latin typeface="Liberation Sans" panose="020B0604020202020204" pitchFamily="34" charset="0"/>
              </a:rPr>
              <a:t> have the opposite effect: expenses decrease owner’s equity.</a:t>
            </a:r>
          </a:p>
        </p:txBody>
      </p:sp>
      <p:sp>
        <p:nvSpPr>
          <p:cNvPr id="7"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a:graphicFrameLocks noChangeAspect="1"/>
          </p:cNvGraphicFramePr>
          <p:nvPr>
            <p:extLst>
              <p:ext uri="{D42A27DB-BD31-4B8C-83A1-F6EECF244321}">
                <p14:modId xmlns:p14="http://schemas.microsoft.com/office/powerpoint/2010/main" val="2590225627"/>
              </p:ext>
            </p:extLst>
          </p:nvPr>
        </p:nvGraphicFramePr>
        <p:xfrm>
          <a:off x="457200" y="2362200"/>
          <a:ext cx="2743200" cy="2057400"/>
        </p:xfrm>
        <a:graphic>
          <a:graphicData uri="http://schemas.openxmlformats.org/presentationml/2006/ole">
            <mc:AlternateContent xmlns:mc="http://schemas.openxmlformats.org/markup-compatibility/2006">
              <mc:Choice xmlns:v="urn:schemas-microsoft-com:vml" Requires="v">
                <p:oleObj spid="_x0000_s13085" name="Slide" r:id="rId4" imgW="4572064" imgH="3428891" progId="PowerPoint.Slide.8">
                  <p:embed/>
                </p:oleObj>
              </mc:Choice>
              <mc:Fallback>
                <p:oleObj name="Slide" r:id="rId4" imgW="4572064" imgH="3428891" progId="PowerPoint.Slide.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2362200"/>
                        <a:ext cx="2743200" cy="2057400"/>
                      </a:xfrm>
                      <a:prstGeom prst="rect">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1" name="Object 3" descr="Recycled paper"/>
          <p:cNvGraphicFramePr>
            <a:graphicFrameLocks noChangeAspect="1"/>
          </p:cNvGraphicFramePr>
          <p:nvPr>
            <p:extLst>
              <p:ext uri="{D42A27DB-BD31-4B8C-83A1-F6EECF244321}">
                <p14:modId xmlns:p14="http://schemas.microsoft.com/office/powerpoint/2010/main" val="2740623768"/>
              </p:ext>
            </p:extLst>
          </p:nvPr>
        </p:nvGraphicFramePr>
        <p:xfrm>
          <a:off x="1143000" y="4191000"/>
          <a:ext cx="2743200" cy="2057400"/>
        </p:xfrm>
        <a:graphic>
          <a:graphicData uri="http://schemas.openxmlformats.org/presentationml/2006/ole">
            <mc:AlternateContent xmlns:mc="http://schemas.openxmlformats.org/markup-compatibility/2006">
              <mc:Choice xmlns:v="urn:schemas-microsoft-com:vml" Requires="v">
                <p:oleObj spid="_x0000_s13086" name="Slide" r:id="rId6" imgW="4572064" imgH="3428891" progId="PowerPoint.Slide.8">
                  <p:embed/>
                </p:oleObj>
              </mc:Choice>
              <mc:Fallback>
                <p:oleObj name="Slide" r:id="rId6" imgW="4572064" imgH="3428891" progId="PowerPoint.Slide.8">
                  <p:embed/>
                  <p:pic>
                    <p:nvPicPr>
                      <p:cNvPr id="0" name="Object 3" descr="Recycled pape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4191000"/>
                        <a:ext cx="2743200" cy="2057400"/>
                      </a:xfrm>
                      <a:prstGeom prst="rect">
                        <a:avLst/>
                      </a:prstGeom>
                      <a:blipFill dpi="0" rotWithShape="0">
                        <a:blip r:embed="rId8"/>
                        <a:srcRect/>
                        <a:tile tx="0" ty="0" sx="100000" sy="100000" flip="none" algn="tl"/>
                      </a:blip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2" name="Text Box 7"/>
          <p:cNvSpPr txBox="1">
            <a:spLocks noChangeArrowheads="1"/>
          </p:cNvSpPr>
          <p:nvPr/>
        </p:nvSpPr>
        <p:spPr bwMode="auto">
          <a:xfrm>
            <a:off x="4038600" y="1100138"/>
            <a:ext cx="1600200" cy="1109662"/>
          </a:xfrm>
          <a:prstGeom prst="rect">
            <a:avLst/>
          </a:prstGeom>
          <a:solidFill>
            <a:srgbClr val="F8EB8E"/>
          </a:solidFill>
          <a:ln w="12700" cap="sq">
            <a:solidFill>
              <a:schemeClr val="bg2"/>
            </a:solidFill>
            <a:miter lim="800000"/>
            <a:headEnd type="none" w="sm" len="sm"/>
            <a:tailEnd type="none" w="sm" len="sm"/>
          </a:ln>
          <a:effectLst>
            <a:outerShdw dist="107763" dir="2700000" algn="ctr" rotWithShape="0">
              <a:schemeClr val="bg2"/>
            </a:outerShdw>
          </a:effec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2200" dirty="0">
                <a:latin typeface="Liberation Sans" panose="020B0604020202020204" pitchFamily="34" charset="0"/>
              </a:rPr>
              <a:t>Normal Balance </a:t>
            </a:r>
            <a:r>
              <a:rPr lang="en-US" altLang="en-US" sz="2200" b="1" dirty="0">
                <a:solidFill>
                  <a:srgbClr val="800000"/>
                </a:solidFill>
                <a:latin typeface="Liberation Sans" panose="020B0604020202020204" pitchFamily="34" charset="0"/>
              </a:rPr>
              <a:t>Credit</a:t>
            </a:r>
          </a:p>
        </p:txBody>
      </p:sp>
      <p:sp>
        <p:nvSpPr>
          <p:cNvPr id="12293" name="Text Box 8"/>
          <p:cNvSpPr txBox="1">
            <a:spLocks noChangeArrowheads="1"/>
          </p:cNvSpPr>
          <p:nvPr/>
        </p:nvSpPr>
        <p:spPr bwMode="auto">
          <a:xfrm>
            <a:off x="1066800" y="1066800"/>
            <a:ext cx="1600200" cy="1109663"/>
          </a:xfrm>
          <a:prstGeom prst="rect">
            <a:avLst/>
          </a:prstGeom>
          <a:solidFill>
            <a:srgbClr val="F8EB8E"/>
          </a:solidFill>
          <a:ln w="12700" cap="sq">
            <a:solidFill>
              <a:schemeClr val="bg2"/>
            </a:solidFill>
            <a:miter lim="800000"/>
            <a:headEnd type="none" w="sm" len="sm"/>
            <a:tailEnd type="none" w="sm" len="sm"/>
          </a:ln>
          <a:effectLst>
            <a:outerShdw dist="107763" dir="2700000" algn="ctr" rotWithShape="0">
              <a:schemeClr val="bg2"/>
            </a:outerShdw>
          </a:effec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2200" dirty="0">
                <a:latin typeface="Liberation Sans" panose="020B0604020202020204" pitchFamily="34" charset="0"/>
              </a:rPr>
              <a:t>Normal Balance </a:t>
            </a:r>
            <a:r>
              <a:rPr lang="en-US" altLang="en-US" sz="2200" b="1" dirty="0">
                <a:solidFill>
                  <a:srgbClr val="800000"/>
                </a:solidFill>
                <a:latin typeface="Liberation Sans" panose="020B0604020202020204" pitchFamily="34" charset="0"/>
              </a:rPr>
              <a:t>Debit</a:t>
            </a:r>
          </a:p>
        </p:txBody>
      </p:sp>
      <p:sp>
        <p:nvSpPr>
          <p:cNvPr id="12294" name="Freeform 10"/>
          <p:cNvSpPr>
            <a:spLocks/>
          </p:cNvSpPr>
          <p:nvPr/>
        </p:nvSpPr>
        <p:spPr bwMode="auto">
          <a:xfrm>
            <a:off x="1806575" y="2751138"/>
            <a:ext cx="1588" cy="1189037"/>
          </a:xfrm>
          <a:custGeom>
            <a:avLst/>
            <a:gdLst>
              <a:gd name="T0" fmla="*/ 0 w 1"/>
              <a:gd name="T1" fmla="*/ 0 h 749"/>
              <a:gd name="T2" fmla="*/ 0 w 1"/>
              <a:gd name="T3" fmla="*/ 2147483647 h 749"/>
              <a:gd name="T4" fmla="*/ 0 60000 65536"/>
              <a:gd name="T5" fmla="*/ 0 60000 65536"/>
            </a:gdLst>
            <a:ahLst/>
            <a:cxnLst>
              <a:cxn ang="T4">
                <a:pos x="T0" y="T1"/>
              </a:cxn>
              <a:cxn ang="T5">
                <a:pos x="T2" y="T3"/>
              </a:cxn>
            </a:cxnLst>
            <a:rect l="0" t="0" r="r" b="b"/>
            <a:pathLst>
              <a:path w="1" h="749">
                <a:moveTo>
                  <a:pt x="0" y="0"/>
                </a:moveTo>
                <a:lnTo>
                  <a:pt x="0" y="749"/>
                </a:lnTo>
              </a:path>
            </a:pathLst>
          </a:custGeom>
          <a:noFill/>
          <a:ln w="19050" cap="sq" cmpd="sng">
            <a:solidFill>
              <a:schemeClr val="tx1"/>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295" name="Freeform 11"/>
          <p:cNvSpPr>
            <a:spLocks/>
          </p:cNvSpPr>
          <p:nvPr/>
        </p:nvSpPr>
        <p:spPr bwMode="auto">
          <a:xfrm>
            <a:off x="2487613" y="4575175"/>
            <a:ext cx="1587" cy="1181100"/>
          </a:xfrm>
          <a:custGeom>
            <a:avLst/>
            <a:gdLst>
              <a:gd name="T0" fmla="*/ 0 w 1"/>
              <a:gd name="T1" fmla="*/ 0 h 744"/>
              <a:gd name="T2" fmla="*/ 0 w 1"/>
              <a:gd name="T3" fmla="*/ 2147483647 h 744"/>
              <a:gd name="T4" fmla="*/ 0 60000 65536"/>
              <a:gd name="T5" fmla="*/ 0 60000 65536"/>
            </a:gdLst>
            <a:ahLst/>
            <a:cxnLst>
              <a:cxn ang="T4">
                <a:pos x="T0" y="T1"/>
              </a:cxn>
              <a:cxn ang="T5">
                <a:pos x="T2" y="T3"/>
              </a:cxn>
            </a:cxnLst>
            <a:rect l="0" t="0" r="r" b="b"/>
            <a:pathLst>
              <a:path w="1" h="744">
                <a:moveTo>
                  <a:pt x="0" y="0"/>
                </a:moveTo>
                <a:lnTo>
                  <a:pt x="0" y="744"/>
                </a:lnTo>
              </a:path>
            </a:pathLst>
          </a:custGeom>
          <a:noFill/>
          <a:ln w="19050" cap="sq" cmpd="sng">
            <a:solidFill>
              <a:schemeClr val="tx1"/>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296" name="Freeform 12"/>
          <p:cNvSpPr>
            <a:spLocks/>
          </p:cNvSpPr>
          <p:nvPr/>
        </p:nvSpPr>
        <p:spPr bwMode="auto">
          <a:xfrm>
            <a:off x="5913438" y="2911475"/>
            <a:ext cx="1587" cy="1173163"/>
          </a:xfrm>
          <a:custGeom>
            <a:avLst/>
            <a:gdLst>
              <a:gd name="T0" fmla="*/ 0 w 1"/>
              <a:gd name="T1" fmla="*/ 0 h 739"/>
              <a:gd name="T2" fmla="*/ 0 w 1"/>
              <a:gd name="T3" fmla="*/ 2147483647 h 739"/>
              <a:gd name="T4" fmla="*/ 0 60000 65536"/>
              <a:gd name="T5" fmla="*/ 0 60000 65536"/>
            </a:gdLst>
            <a:ahLst/>
            <a:cxnLst>
              <a:cxn ang="T4">
                <a:pos x="T0" y="T1"/>
              </a:cxn>
              <a:cxn ang="T5">
                <a:pos x="T2" y="T3"/>
              </a:cxn>
            </a:cxnLst>
            <a:rect l="0" t="0" r="r" b="b"/>
            <a:pathLst>
              <a:path w="1" h="739">
                <a:moveTo>
                  <a:pt x="0" y="0"/>
                </a:moveTo>
                <a:lnTo>
                  <a:pt x="0" y="739"/>
                </a:lnTo>
              </a:path>
            </a:pathLst>
          </a:custGeom>
          <a:noFill/>
          <a:ln w="19050" cap="sq" cmpd="sng">
            <a:solidFill>
              <a:schemeClr val="tx1"/>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297" name="Freeform 13"/>
          <p:cNvSpPr>
            <a:spLocks/>
          </p:cNvSpPr>
          <p:nvPr/>
        </p:nvSpPr>
        <p:spPr bwMode="auto">
          <a:xfrm>
            <a:off x="7289800" y="1076325"/>
            <a:ext cx="1588" cy="1174750"/>
          </a:xfrm>
          <a:custGeom>
            <a:avLst/>
            <a:gdLst>
              <a:gd name="T0" fmla="*/ 0 w 1"/>
              <a:gd name="T1" fmla="*/ 0 h 740"/>
              <a:gd name="T2" fmla="*/ 0 w 1"/>
              <a:gd name="T3" fmla="*/ 2147483647 h 740"/>
              <a:gd name="T4" fmla="*/ 0 60000 65536"/>
              <a:gd name="T5" fmla="*/ 0 60000 65536"/>
            </a:gdLst>
            <a:ahLst/>
            <a:cxnLst>
              <a:cxn ang="T4">
                <a:pos x="T0" y="T1"/>
              </a:cxn>
              <a:cxn ang="T5">
                <a:pos x="T2" y="T3"/>
              </a:cxn>
            </a:cxnLst>
            <a:rect l="0" t="0" r="r" b="b"/>
            <a:pathLst>
              <a:path w="1" h="740">
                <a:moveTo>
                  <a:pt x="0" y="0"/>
                </a:moveTo>
                <a:lnTo>
                  <a:pt x="0" y="740"/>
                </a:lnTo>
              </a:path>
            </a:pathLst>
          </a:custGeom>
          <a:noFill/>
          <a:ln w="19050" cap="sq" cmpd="sng">
            <a:solidFill>
              <a:schemeClr val="tx1"/>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298" name="Freeform 14"/>
          <p:cNvSpPr>
            <a:spLocks/>
          </p:cNvSpPr>
          <p:nvPr/>
        </p:nvSpPr>
        <p:spPr bwMode="auto">
          <a:xfrm>
            <a:off x="7289800" y="4657725"/>
            <a:ext cx="1588" cy="1179513"/>
          </a:xfrm>
          <a:custGeom>
            <a:avLst/>
            <a:gdLst>
              <a:gd name="T0" fmla="*/ 0 w 1"/>
              <a:gd name="T1" fmla="*/ 0 h 743"/>
              <a:gd name="T2" fmla="*/ 0 w 1"/>
              <a:gd name="T3" fmla="*/ 2147483647 h 743"/>
              <a:gd name="T4" fmla="*/ 0 60000 65536"/>
              <a:gd name="T5" fmla="*/ 0 60000 65536"/>
            </a:gdLst>
            <a:ahLst/>
            <a:cxnLst>
              <a:cxn ang="T4">
                <a:pos x="T0" y="T1"/>
              </a:cxn>
              <a:cxn ang="T5">
                <a:pos x="T2" y="T3"/>
              </a:cxn>
            </a:cxnLst>
            <a:rect l="0" t="0" r="r" b="b"/>
            <a:pathLst>
              <a:path w="1" h="743">
                <a:moveTo>
                  <a:pt x="0" y="0"/>
                </a:moveTo>
                <a:lnTo>
                  <a:pt x="0" y="743"/>
                </a:lnTo>
              </a:path>
            </a:pathLst>
          </a:custGeom>
          <a:noFill/>
          <a:ln w="19050" cap="sq" cmpd="sng">
            <a:solidFill>
              <a:schemeClr val="tx1"/>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299" name="Rectangle 7"/>
          <p:cNvSpPr>
            <a:spLocks noChangeArrowheads="1"/>
          </p:cNvSpPr>
          <p:nvPr/>
        </p:nvSpPr>
        <p:spPr bwMode="auto">
          <a:xfrm>
            <a:off x="533400" y="152400"/>
            <a:ext cx="50292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Debits/Credits Rules</a:t>
            </a:r>
          </a:p>
        </p:txBody>
      </p:sp>
      <p:sp>
        <p:nvSpPr>
          <p:cNvPr id="12300" name="Line 17"/>
          <p:cNvSpPr>
            <a:spLocks noChangeShapeType="1"/>
          </p:cNvSpPr>
          <p:nvPr/>
        </p:nvSpPr>
        <p:spPr bwMode="auto">
          <a:xfrm>
            <a:off x="304800" y="8382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graphicFrame>
        <p:nvGraphicFramePr>
          <p:cNvPr id="12301" name="Object 4"/>
          <p:cNvGraphicFramePr>
            <a:graphicFrameLocks noChangeAspect="1"/>
          </p:cNvGraphicFramePr>
          <p:nvPr>
            <p:extLst>
              <p:ext uri="{D42A27DB-BD31-4B8C-83A1-F6EECF244321}">
                <p14:modId xmlns:p14="http://schemas.microsoft.com/office/powerpoint/2010/main" val="1978379316"/>
              </p:ext>
            </p:extLst>
          </p:nvPr>
        </p:nvGraphicFramePr>
        <p:xfrm>
          <a:off x="5943600" y="685800"/>
          <a:ext cx="2743200" cy="2057400"/>
        </p:xfrm>
        <a:graphic>
          <a:graphicData uri="http://schemas.openxmlformats.org/presentationml/2006/ole">
            <mc:AlternateContent xmlns:mc="http://schemas.openxmlformats.org/markup-compatibility/2006">
              <mc:Choice xmlns:v="urn:schemas-microsoft-com:vml" Requires="v">
                <p:oleObj spid="_x0000_s13087" name="Slide" r:id="rId9" imgW="4572064" imgH="3428891" progId="PowerPoint.Slide.8">
                  <p:embed/>
                </p:oleObj>
              </mc:Choice>
              <mc:Fallback>
                <p:oleObj name="Slide" r:id="rId9" imgW="4572064" imgH="3428891" progId="PowerPoint.Slide.8">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3600" y="685800"/>
                        <a:ext cx="2743200" cy="2057400"/>
                      </a:xfrm>
                      <a:prstGeom prst="rect">
                        <a:avLst/>
                      </a:prstGeom>
                      <a:noFill/>
                      <a:ln w="28575"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302" name="Object 5"/>
          <p:cNvGraphicFramePr>
            <a:graphicFrameLocks noChangeAspect="1"/>
          </p:cNvGraphicFramePr>
          <p:nvPr>
            <p:extLst>
              <p:ext uri="{D42A27DB-BD31-4B8C-83A1-F6EECF244321}">
                <p14:modId xmlns:p14="http://schemas.microsoft.com/office/powerpoint/2010/main" val="1227980625"/>
              </p:ext>
            </p:extLst>
          </p:nvPr>
        </p:nvGraphicFramePr>
        <p:xfrm>
          <a:off x="4572000" y="2514600"/>
          <a:ext cx="2743200" cy="2057400"/>
        </p:xfrm>
        <a:graphic>
          <a:graphicData uri="http://schemas.openxmlformats.org/presentationml/2006/ole">
            <mc:AlternateContent xmlns:mc="http://schemas.openxmlformats.org/markup-compatibility/2006">
              <mc:Choice xmlns:v="urn:schemas-microsoft-com:vml" Requires="v">
                <p:oleObj spid="_x0000_s13088" name="Slide" r:id="rId11" imgW="4510863" imgH="3383168" progId="PowerPoint.Slide.8">
                  <p:embed/>
                </p:oleObj>
              </mc:Choice>
              <mc:Fallback>
                <p:oleObj name="Slide" r:id="rId11" imgW="4510863" imgH="3383168" progId="PowerPoint.Slide.8">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0" y="2514600"/>
                        <a:ext cx="2743200" cy="2057400"/>
                      </a:xfrm>
                      <a:prstGeom prst="rect">
                        <a:avLst/>
                      </a:prstGeom>
                      <a:noFill/>
                      <a:ln w="28575"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304" name="Object 6"/>
          <p:cNvGraphicFramePr>
            <a:graphicFrameLocks noChangeAspect="1"/>
          </p:cNvGraphicFramePr>
          <p:nvPr>
            <p:extLst>
              <p:ext uri="{D42A27DB-BD31-4B8C-83A1-F6EECF244321}">
                <p14:modId xmlns:p14="http://schemas.microsoft.com/office/powerpoint/2010/main" val="230414247"/>
              </p:ext>
            </p:extLst>
          </p:nvPr>
        </p:nvGraphicFramePr>
        <p:xfrm>
          <a:off x="5943600" y="4267200"/>
          <a:ext cx="2743200" cy="2057400"/>
        </p:xfrm>
        <a:graphic>
          <a:graphicData uri="http://schemas.openxmlformats.org/presentationml/2006/ole">
            <mc:AlternateContent xmlns:mc="http://schemas.openxmlformats.org/markup-compatibility/2006">
              <mc:Choice xmlns:v="urn:schemas-microsoft-com:vml" Requires="v">
                <p:oleObj spid="_x0000_s13089" name="Slide" r:id="rId13" imgW="4572064" imgH="3428891" progId="PowerPoint.Slide.8">
                  <p:embed/>
                </p:oleObj>
              </mc:Choice>
              <mc:Fallback>
                <p:oleObj name="Slide" r:id="rId13" imgW="4572064" imgH="3428891" progId="PowerPoint.Slide.8">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43600" y="4267200"/>
                        <a:ext cx="2743200" cy="2057400"/>
                      </a:xfrm>
                      <a:prstGeom prst="rect">
                        <a:avLst/>
                      </a:prstGeom>
                      <a:noFill/>
                      <a:ln w="28575"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AutoShape 2"/>
          <p:cNvSpPr>
            <a:spLocks noChangeArrowheads="1"/>
          </p:cNvSpPr>
          <p:nvPr/>
        </p:nvSpPr>
        <p:spPr bwMode="auto">
          <a:xfrm rot="-5400000">
            <a:off x="1666875" y="2976563"/>
            <a:ext cx="771525" cy="600075"/>
          </a:xfrm>
          <a:prstGeom prst="rightArrow">
            <a:avLst>
              <a:gd name="adj1" fmla="val 50000"/>
              <a:gd name="adj2" fmla="val 64304"/>
            </a:avLst>
          </a:prstGeom>
          <a:solidFill>
            <a:srgbClr val="0000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endParaRPr lang="en-US" altLang="en-US" sz="900" dirty="0">
              <a:latin typeface="Liberation Sans" panose="020B0604020202020204" pitchFamily="34" charset="0"/>
            </a:endParaRPr>
          </a:p>
        </p:txBody>
      </p:sp>
      <p:sp>
        <p:nvSpPr>
          <p:cNvPr id="132099" name="AutoShape 3"/>
          <p:cNvSpPr>
            <a:spLocks noChangeArrowheads="1"/>
          </p:cNvSpPr>
          <p:nvPr/>
        </p:nvSpPr>
        <p:spPr bwMode="auto">
          <a:xfrm rot="-5400000">
            <a:off x="7740650" y="2984500"/>
            <a:ext cx="771525" cy="600075"/>
          </a:xfrm>
          <a:prstGeom prst="rightArrow">
            <a:avLst>
              <a:gd name="adj1" fmla="val 50000"/>
              <a:gd name="adj2" fmla="val 64304"/>
            </a:avLst>
          </a:prstGeom>
          <a:solidFill>
            <a:srgbClr val="0000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endParaRPr lang="en-US" altLang="en-US" dirty="0">
              <a:latin typeface="Liberation Sans" panose="020B0604020202020204" pitchFamily="34" charset="0"/>
            </a:endParaRPr>
          </a:p>
        </p:txBody>
      </p:sp>
      <p:sp>
        <p:nvSpPr>
          <p:cNvPr id="13316" name="Rectangle 4"/>
          <p:cNvSpPr>
            <a:spLocks noChangeArrowheads="1"/>
          </p:cNvSpPr>
          <p:nvPr/>
        </p:nvSpPr>
        <p:spPr bwMode="auto">
          <a:xfrm>
            <a:off x="1177925" y="1358900"/>
            <a:ext cx="804227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20000"/>
              </a:spcBef>
            </a:pPr>
            <a:r>
              <a:rPr lang="en-US" altLang="en-US" b="1" dirty="0">
                <a:solidFill>
                  <a:srgbClr val="800000"/>
                </a:solidFill>
                <a:latin typeface="Liberation Sans" panose="020B0604020202020204" pitchFamily="34" charset="0"/>
              </a:rPr>
              <a:t>      </a:t>
            </a:r>
            <a:r>
              <a:rPr lang="en-US" altLang="en-US" b="1" u="sng" dirty="0">
                <a:solidFill>
                  <a:srgbClr val="800000"/>
                </a:solidFill>
                <a:latin typeface="Liberation Sans" panose="020B0604020202020204" pitchFamily="34" charset="0"/>
              </a:rPr>
              <a:t>        Balance Sheet        </a:t>
            </a:r>
            <a:r>
              <a:rPr lang="en-US" altLang="en-US" b="1" dirty="0">
                <a:solidFill>
                  <a:srgbClr val="800000"/>
                </a:solidFill>
                <a:latin typeface="Liberation Sans" panose="020B0604020202020204" pitchFamily="34" charset="0"/>
              </a:rPr>
              <a:t>          </a:t>
            </a:r>
            <a:r>
              <a:rPr lang="en-US" altLang="en-US" b="1" u="sng" dirty="0">
                <a:solidFill>
                  <a:srgbClr val="800000"/>
                </a:solidFill>
                <a:latin typeface="Liberation Sans" panose="020B0604020202020204" pitchFamily="34" charset="0"/>
              </a:rPr>
              <a:t>Income Statement</a:t>
            </a:r>
          </a:p>
        </p:txBody>
      </p:sp>
      <p:sp>
        <p:nvSpPr>
          <p:cNvPr id="13317" name="Rectangle 5"/>
          <p:cNvSpPr>
            <a:spLocks noChangeArrowheads="1"/>
          </p:cNvSpPr>
          <p:nvPr/>
        </p:nvSpPr>
        <p:spPr bwMode="auto">
          <a:xfrm>
            <a:off x="2620963" y="1984375"/>
            <a:ext cx="44132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dirty="0">
                <a:solidFill>
                  <a:srgbClr val="800000"/>
                </a:solidFill>
                <a:latin typeface="Liberation Sans" panose="020B0604020202020204" pitchFamily="34" charset="0"/>
              </a:rPr>
              <a:t>=</a:t>
            </a:r>
          </a:p>
        </p:txBody>
      </p:sp>
      <p:sp>
        <p:nvSpPr>
          <p:cNvPr id="13318" name="Rectangle 6"/>
          <p:cNvSpPr>
            <a:spLocks noChangeArrowheads="1"/>
          </p:cNvSpPr>
          <p:nvPr/>
        </p:nvSpPr>
        <p:spPr bwMode="auto">
          <a:xfrm>
            <a:off x="4283075" y="1970088"/>
            <a:ext cx="44132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dirty="0">
                <a:solidFill>
                  <a:srgbClr val="800000"/>
                </a:solidFill>
                <a:latin typeface="Liberation Sans" panose="020B0604020202020204" pitchFamily="34" charset="0"/>
              </a:rPr>
              <a:t>+</a:t>
            </a:r>
          </a:p>
        </p:txBody>
      </p:sp>
      <p:sp>
        <p:nvSpPr>
          <p:cNvPr id="13319" name="Rectangle 8"/>
          <p:cNvSpPr>
            <a:spLocks noChangeArrowheads="1"/>
          </p:cNvSpPr>
          <p:nvPr/>
        </p:nvSpPr>
        <p:spPr bwMode="auto">
          <a:xfrm>
            <a:off x="7227888" y="1968500"/>
            <a:ext cx="392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dirty="0">
                <a:solidFill>
                  <a:srgbClr val="800000"/>
                </a:solidFill>
                <a:latin typeface="Liberation Sans" panose="020B0604020202020204" pitchFamily="34" charset="0"/>
              </a:rPr>
              <a:t>-</a:t>
            </a:r>
          </a:p>
        </p:txBody>
      </p:sp>
      <p:sp>
        <p:nvSpPr>
          <p:cNvPr id="13320" name="Text Box 9"/>
          <p:cNvSpPr txBox="1">
            <a:spLocks noChangeArrowheads="1"/>
          </p:cNvSpPr>
          <p:nvPr/>
        </p:nvSpPr>
        <p:spPr bwMode="auto">
          <a:xfrm>
            <a:off x="1371600" y="1981200"/>
            <a:ext cx="13716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2200" b="1" dirty="0">
                <a:latin typeface="Liberation Sans" panose="020B0604020202020204" pitchFamily="34" charset="0"/>
              </a:rPr>
              <a:t>Asset</a:t>
            </a:r>
          </a:p>
        </p:txBody>
      </p:sp>
      <p:sp>
        <p:nvSpPr>
          <p:cNvPr id="13321" name="Text Box 10"/>
          <p:cNvSpPr txBox="1">
            <a:spLocks noChangeArrowheads="1"/>
          </p:cNvSpPr>
          <p:nvPr/>
        </p:nvSpPr>
        <p:spPr bwMode="auto">
          <a:xfrm>
            <a:off x="2971800" y="1981200"/>
            <a:ext cx="13716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2200" b="1" dirty="0">
                <a:latin typeface="Liberation Sans" panose="020B0604020202020204" pitchFamily="34" charset="0"/>
              </a:rPr>
              <a:t>Liability</a:t>
            </a:r>
          </a:p>
        </p:txBody>
      </p:sp>
      <p:sp>
        <p:nvSpPr>
          <p:cNvPr id="13322" name="Text Box 11"/>
          <p:cNvSpPr txBox="1">
            <a:spLocks noChangeArrowheads="1"/>
          </p:cNvSpPr>
          <p:nvPr/>
        </p:nvSpPr>
        <p:spPr bwMode="auto">
          <a:xfrm>
            <a:off x="4495800" y="1981200"/>
            <a:ext cx="13716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2200" b="1" dirty="0">
                <a:latin typeface="Liberation Sans" panose="020B0604020202020204" pitchFamily="34" charset="0"/>
              </a:rPr>
              <a:t>Equity</a:t>
            </a:r>
          </a:p>
        </p:txBody>
      </p:sp>
      <p:sp>
        <p:nvSpPr>
          <p:cNvPr id="13323" name="Text Box 12"/>
          <p:cNvSpPr txBox="1">
            <a:spLocks noChangeArrowheads="1"/>
          </p:cNvSpPr>
          <p:nvPr/>
        </p:nvSpPr>
        <p:spPr bwMode="auto">
          <a:xfrm>
            <a:off x="5943600" y="1981200"/>
            <a:ext cx="13716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2200" b="1" dirty="0">
                <a:latin typeface="Liberation Sans" panose="020B0604020202020204" pitchFamily="34" charset="0"/>
              </a:rPr>
              <a:t>Revenue</a:t>
            </a:r>
          </a:p>
        </p:txBody>
      </p:sp>
      <p:sp>
        <p:nvSpPr>
          <p:cNvPr id="13324" name="Text Box 13"/>
          <p:cNvSpPr txBox="1">
            <a:spLocks noChangeArrowheads="1"/>
          </p:cNvSpPr>
          <p:nvPr/>
        </p:nvSpPr>
        <p:spPr bwMode="auto">
          <a:xfrm>
            <a:off x="7391400" y="1981200"/>
            <a:ext cx="13716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2200" b="1" dirty="0">
                <a:latin typeface="Liberation Sans" panose="020B0604020202020204" pitchFamily="34" charset="0"/>
              </a:rPr>
              <a:t>Expense</a:t>
            </a:r>
          </a:p>
        </p:txBody>
      </p:sp>
      <p:sp>
        <p:nvSpPr>
          <p:cNvPr id="13325" name="Text Box 14"/>
          <p:cNvSpPr txBox="1">
            <a:spLocks noChangeArrowheads="1"/>
          </p:cNvSpPr>
          <p:nvPr/>
        </p:nvSpPr>
        <p:spPr bwMode="auto">
          <a:xfrm>
            <a:off x="152400" y="3043238"/>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b="1" dirty="0">
                <a:latin typeface="Liberation Sans" panose="020B0604020202020204" pitchFamily="34" charset="0"/>
              </a:rPr>
              <a:t>Debit</a:t>
            </a:r>
          </a:p>
        </p:txBody>
      </p:sp>
      <p:sp>
        <p:nvSpPr>
          <p:cNvPr id="13326" name="Text Box 15"/>
          <p:cNvSpPr txBox="1">
            <a:spLocks noChangeArrowheads="1"/>
          </p:cNvSpPr>
          <p:nvPr/>
        </p:nvSpPr>
        <p:spPr bwMode="auto">
          <a:xfrm>
            <a:off x="152400" y="4586288"/>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b="1" dirty="0">
                <a:latin typeface="Liberation Sans" panose="020B0604020202020204" pitchFamily="34" charset="0"/>
              </a:rPr>
              <a:t>Credit</a:t>
            </a:r>
          </a:p>
        </p:txBody>
      </p:sp>
      <p:sp>
        <p:nvSpPr>
          <p:cNvPr id="13327" name="Line 16"/>
          <p:cNvSpPr>
            <a:spLocks noChangeShapeType="1"/>
          </p:cNvSpPr>
          <p:nvPr/>
        </p:nvSpPr>
        <p:spPr bwMode="auto">
          <a:xfrm>
            <a:off x="1447800" y="2438400"/>
            <a:ext cx="1143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3328" name="Line 17"/>
          <p:cNvSpPr>
            <a:spLocks noChangeShapeType="1"/>
          </p:cNvSpPr>
          <p:nvPr/>
        </p:nvSpPr>
        <p:spPr bwMode="auto">
          <a:xfrm>
            <a:off x="3048000" y="2438400"/>
            <a:ext cx="1219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3329" name="Line 18"/>
          <p:cNvSpPr>
            <a:spLocks noChangeShapeType="1"/>
          </p:cNvSpPr>
          <p:nvPr/>
        </p:nvSpPr>
        <p:spPr bwMode="auto">
          <a:xfrm>
            <a:off x="4572000" y="2438400"/>
            <a:ext cx="1143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3330" name="Line 19"/>
          <p:cNvSpPr>
            <a:spLocks noChangeShapeType="1"/>
          </p:cNvSpPr>
          <p:nvPr/>
        </p:nvSpPr>
        <p:spPr bwMode="auto">
          <a:xfrm>
            <a:off x="6019800" y="2438400"/>
            <a:ext cx="1219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3331" name="Line 20"/>
          <p:cNvSpPr>
            <a:spLocks noChangeShapeType="1"/>
          </p:cNvSpPr>
          <p:nvPr/>
        </p:nvSpPr>
        <p:spPr bwMode="auto">
          <a:xfrm>
            <a:off x="7467600" y="2438400"/>
            <a:ext cx="1143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32118"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865438"/>
            <a:ext cx="3810000" cy="86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2119"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419600"/>
            <a:ext cx="67818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34"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Debits/Credits Rules</a:t>
            </a:r>
          </a:p>
        </p:txBody>
      </p:sp>
      <p:sp>
        <p:nvSpPr>
          <p:cNvPr id="13335" name="Line 2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24"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2098"/>
                                        </p:tgtEl>
                                        <p:attrNameLst>
                                          <p:attrName>style.visibility</p:attrName>
                                        </p:attrNameLst>
                                      </p:cBhvr>
                                      <p:to>
                                        <p:strVal val="visible"/>
                                      </p:to>
                                    </p:set>
                                    <p:animEffect transition="in" filter="wipe(down)">
                                      <p:cBhvr>
                                        <p:cTn id="7" dur="500"/>
                                        <p:tgtEl>
                                          <p:spTgt spid="1320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2099"/>
                                        </p:tgtEl>
                                        <p:attrNameLst>
                                          <p:attrName>style.visibility</p:attrName>
                                        </p:attrNameLst>
                                      </p:cBhvr>
                                      <p:to>
                                        <p:strVal val="visible"/>
                                      </p:to>
                                    </p:set>
                                    <p:animEffect transition="in" filter="wipe(down)">
                                      <p:cBhvr>
                                        <p:cTn id="12" dur="500"/>
                                        <p:tgtEl>
                                          <p:spTgt spid="1320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2118"/>
                                        </p:tgtEl>
                                        <p:attrNameLst>
                                          <p:attrName>style.visibility</p:attrName>
                                        </p:attrNameLst>
                                      </p:cBhvr>
                                      <p:to>
                                        <p:strVal val="visible"/>
                                      </p:to>
                                    </p:set>
                                    <p:animEffect transition="in" filter="wipe(up)">
                                      <p:cBhvr>
                                        <p:cTn id="17" dur="500"/>
                                        <p:tgtEl>
                                          <p:spTgt spid="1321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32119"/>
                                        </p:tgtEl>
                                        <p:attrNameLst>
                                          <p:attrName>style.visibility</p:attrName>
                                        </p:attrNameLst>
                                      </p:cBhvr>
                                      <p:to>
                                        <p:strVal val="visible"/>
                                      </p:to>
                                    </p:set>
                                    <p:animEffect transition="in" filter="wipe(down)">
                                      <p:cBhvr>
                                        <p:cTn id="22" dur="500"/>
                                        <p:tgtEl>
                                          <p:spTgt spid="132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animBg="1" autoUpdateAnimBg="0"/>
      <p:bldP spid="13209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474663" y="1905000"/>
            <a:ext cx="8001000" cy="3276600"/>
          </a:xfrm>
          <a:prstGeom prst="rect">
            <a:avLst/>
          </a:prstGeom>
          <a:solidFill>
            <a:schemeClr val="bg1"/>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562" tIns="46038" rIns="182562" bIns="46038"/>
          <a:lstStyle>
            <a:lvl1pPr>
              <a:defRPr sz="2400">
                <a:solidFill>
                  <a:schemeClr val="tx1"/>
                </a:solidFill>
                <a:latin typeface="Comic Sans MS" pitchFamily="66" charset="0"/>
              </a:defRPr>
            </a:lvl1pPr>
            <a:lvl2pPr marL="685800" indent="-455613">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5000"/>
              </a:lnSpc>
              <a:spcBef>
                <a:spcPts val="1200"/>
              </a:spcBef>
              <a:buClr>
                <a:schemeClr val="tx1"/>
              </a:buClr>
              <a:buFont typeface="Wingdings" pitchFamily="2" charset="2"/>
              <a:buNone/>
            </a:pPr>
            <a:r>
              <a:rPr lang="en-US" altLang="en-US" sz="2300" dirty="0">
                <a:latin typeface="Liberation Sans" panose="020B0604020202020204" pitchFamily="34" charset="0"/>
              </a:rPr>
              <a:t>Debits:</a:t>
            </a:r>
          </a:p>
          <a:p>
            <a:pPr lvl="1" algn="l">
              <a:lnSpc>
                <a:spcPct val="125000"/>
              </a:lnSpc>
              <a:spcBef>
                <a:spcPts val="1200"/>
              </a:spcBef>
              <a:buClr>
                <a:schemeClr val="tx1"/>
              </a:buClr>
              <a:buFont typeface="Wingdings" pitchFamily="2" charset="2"/>
              <a:buAutoNum type="alphaLcPeriod"/>
            </a:pPr>
            <a:r>
              <a:rPr lang="en-US" altLang="en-US" sz="2300" dirty="0">
                <a:latin typeface="Liberation Sans" panose="020B0604020202020204" pitchFamily="34" charset="0"/>
              </a:rPr>
              <a:t>increase both assets and liabilities.</a:t>
            </a:r>
          </a:p>
          <a:p>
            <a:pPr lvl="1" algn="l">
              <a:lnSpc>
                <a:spcPct val="125000"/>
              </a:lnSpc>
              <a:spcBef>
                <a:spcPts val="1200"/>
              </a:spcBef>
              <a:buClr>
                <a:schemeClr val="tx1"/>
              </a:buClr>
              <a:buFont typeface="Wingdings" pitchFamily="2" charset="2"/>
              <a:buAutoNum type="alphaLcPeriod"/>
            </a:pPr>
            <a:r>
              <a:rPr lang="en-US" altLang="en-US" sz="2300" dirty="0">
                <a:latin typeface="Liberation Sans" panose="020B0604020202020204" pitchFamily="34" charset="0"/>
              </a:rPr>
              <a:t>decrease both assets and liabilities.</a:t>
            </a:r>
          </a:p>
          <a:p>
            <a:pPr lvl="1" algn="l">
              <a:lnSpc>
                <a:spcPct val="125000"/>
              </a:lnSpc>
              <a:spcBef>
                <a:spcPts val="1200"/>
              </a:spcBef>
              <a:buClr>
                <a:schemeClr val="tx1"/>
              </a:buClr>
              <a:buFont typeface="Wingdings" pitchFamily="2" charset="2"/>
              <a:buAutoNum type="alphaLcPeriod"/>
            </a:pPr>
            <a:r>
              <a:rPr lang="en-US" altLang="en-US" sz="2300" dirty="0">
                <a:latin typeface="Liberation Sans" panose="020B0604020202020204" pitchFamily="34" charset="0"/>
              </a:rPr>
              <a:t>increase assets and decrease liabilities.</a:t>
            </a:r>
          </a:p>
          <a:p>
            <a:pPr lvl="1" algn="l">
              <a:lnSpc>
                <a:spcPct val="125000"/>
              </a:lnSpc>
              <a:spcBef>
                <a:spcPts val="1200"/>
              </a:spcBef>
              <a:buClr>
                <a:schemeClr val="tx1"/>
              </a:buClr>
              <a:buFont typeface="Wingdings" pitchFamily="2" charset="2"/>
              <a:buAutoNum type="alphaLcPeriod"/>
            </a:pPr>
            <a:r>
              <a:rPr lang="en-US" altLang="en-US" sz="2300" dirty="0">
                <a:latin typeface="Liberation Sans" panose="020B0604020202020204" pitchFamily="34" charset="0"/>
              </a:rPr>
              <a:t>decrease assets and increase liabilities.</a:t>
            </a:r>
          </a:p>
        </p:txBody>
      </p:sp>
      <p:sp>
        <p:nvSpPr>
          <p:cNvPr id="14339"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Debits/Credits Rules</a:t>
            </a:r>
          </a:p>
        </p:txBody>
      </p:sp>
      <p:sp>
        <p:nvSpPr>
          <p:cNvPr id="14340"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4341" name="Rectangle 4"/>
          <p:cNvSpPr>
            <a:spLocks noChangeArrowheads="1"/>
          </p:cNvSpPr>
          <p:nvPr/>
        </p:nvSpPr>
        <p:spPr bwMode="auto">
          <a:xfrm>
            <a:off x="533400" y="1295400"/>
            <a:ext cx="53340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buSzPct val="80000"/>
            </a:pPr>
            <a:r>
              <a:rPr lang="en-US" altLang="en-US" sz="3000" b="1" dirty="0">
                <a:solidFill>
                  <a:srgbClr val="800000"/>
                </a:solidFill>
                <a:latin typeface="Liberation Sans" panose="020B0604020202020204" pitchFamily="34" charset="0"/>
              </a:rPr>
              <a:t>Question</a:t>
            </a:r>
          </a:p>
        </p:txBody>
      </p:sp>
      <p:sp>
        <p:nvSpPr>
          <p:cNvPr id="7"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
        <p:nvSpPr>
          <p:cNvPr id="9" name="Notched Right Arrow 8"/>
          <p:cNvSpPr/>
          <p:nvPr/>
        </p:nvSpPr>
        <p:spPr bwMode="auto">
          <a:xfrm>
            <a:off x="152400" y="3733800"/>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defPPr>
              <a:defRPr lang="en-US"/>
            </a:defPPr>
            <a:lvl1pPr algn="l" rtl="0" eaLnBrk="0" fontAlgn="base" hangingPunct="0">
              <a:spcBef>
                <a:spcPct val="0"/>
              </a:spcBef>
              <a:spcAft>
                <a:spcPct val="0"/>
              </a:spcAft>
              <a:defRPr sz="2800" b="1" kern="1200">
                <a:solidFill>
                  <a:schemeClr val="bg1"/>
                </a:solidFill>
                <a:latin typeface="Arial" charset="0"/>
                <a:ea typeface="+mn-ea"/>
                <a:cs typeface="+mn-cs"/>
              </a:defRPr>
            </a:lvl1pPr>
            <a:lvl2pPr marL="457200" algn="l" rtl="0" eaLnBrk="0" fontAlgn="base" hangingPunct="0">
              <a:spcBef>
                <a:spcPct val="0"/>
              </a:spcBef>
              <a:spcAft>
                <a:spcPct val="0"/>
              </a:spcAft>
              <a:defRPr sz="2800" b="1" kern="1200">
                <a:solidFill>
                  <a:schemeClr val="bg1"/>
                </a:solidFill>
                <a:latin typeface="Arial" charset="0"/>
                <a:ea typeface="+mn-ea"/>
                <a:cs typeface="+mn-cs"/>
              </a:defRPr>
            </a:lvl2pPr>
            <a:lvl3pPr marL="914400" algn="l" rtl="0" eaLnBrk="0" fontAlgn="base" hangingPunct="0">
              <a:spcBef>
                <a:spcPct val="0"/>
              </a:spcBef>
              <a:spcAft>
                <a:spcPct val="0"/>
              </a:spcAft>
              <a:defRPr sz="2800" b="1" kern="1200">
                <a:solidFill>
                  <a:schemeClr val="bg1"/>
                </a:solidFill>
                <a:latin typeface="Arial" charset="0"/>
                <a:ea typeface="+mn-ea"/>
                <a:cs typeface="+mn-cs"/>
              </a:defRPr>
            </a:lvl3pPr>
            <a:lvl4pPr marL="1371600" algn="l" rtl="0" eaLnBrk="0" fontAlgn="base" hangingPunct="0">
              <a:spcBef>
                <a:spcPct val="0"/>
              </a:spcBef>
              <a:spcAft>
                <a:spcPct val="0"/>
              </a:spcAft>
              <a:defRPr sz="2800" b="1" kern="1200">
                <a:solidFill>
                  <a:schemeClr val="bg1"/>
                </a:solidFill>
                <a:latin typeface="Arial" charset="0"/>
                <a:ea typeface="+mn-ea"/>
                <a:cs typeface="+mn-cs"/>
              </a:defRPr>
            </a:lvl4pPr>
            <a:lvl5pPr marL="1828800" algn="l" rtl="0" eaLnBrk="0" fontAlgn="base" hangingPunct="0">
              <a:spcBef>
                <a:spcPct val="0"/>
              </a:spcBef>
              <a:spcAft>
                <a:spcPct val="0"/>
              </a:spcAft>
              <a:defRPr sz="2800" b="1" kern="1200">
                <a:solidFill>
                  <a:schemeClr val="bg1"/>
                </a:solidFill>
                <a:latin typeface="Arial" charset="0"/>
                <a:ea typeface="+mn-ea"/>
                <a:cs typeface="+mn-cs"/>
              </a:defRPr>
            </a:lvl5pPr>
            <a:lvl6pPr marL="2286000" algn="l" defTabSz="914400" rtl="0" eaLnBrk="1" latinLnBrk="0" hangingPunct="1">
              <a:defRPr sz="2800" b="1" kern="1200">
                <a:solidFill>
                  <a:schemeClr val="bg1"/>
                </a:solidFill>
                <a:latin typeface="Arial" charset="0"/>
                <a:ea typeface="+mn-ea"/>
                <a:cs typeface="+mn-cs"/>
              </a:defRPr>
            </a:lvl6pPr>
            <a:lvl7pPr marL="2743200" algn="l" defTabSz="914400" rtl="0" eaLnBrk="1" latinLnBrk="0" hangingPunct="1">
              <a:defRPr sz="2800" b="1" kern="1200">
                <a:solidFill>
                  <a:schemeClr val="bg1"/>
                </a:solidFill>
                <a:latin typeface="Arial" charset="0"/>
                <a:ea typeface="+mn-ea"/>
                <a:cs typeface="+mn-cs"/>
              </a:defRPr>
            </a:lvl7pPr>
            <a:lvl8pPr marL="3200400" algn="l" defTabSz="914400" rtl="0" eaLnBrk="1" latinLnBrk="0" hangingPunct="1">
              <a:defRPr sz="2800" b="1" kern="1200">
                <a:solidFill>
                  <a:schemeClr val="bg1"/>
                </a:solidFill>
                <a:latin typeface="Arial" charset="0"/>
                <a:ea typeface="+mn-ea"/>
                <a:cs typeface="+mn-cs"/>
              </a:defRPr>
            </a:lvl8pPr>
            <a:lvl9pPr marL="3657600" algn="l" defTabSz="914400" rtl="0" eaLnBrk="1" latinLnBrk="0" hangingPunct="1">
              <a:defRPr sz="2800" b="1" kern="1200">
                <a:solidFill>
                  <a:schemeClr val="bg1"/>
                </a:solidFill>
                <a:latin typeface="Arial" charset="0"/>
                <a:ea typeface="+mn-ea"/>
                <a:cs typeface="+mn-cs"/>
              </a:defRPr>
            </a:lvl9pPr>
          </a:lstStyle>
          <a:p>
            <a:endParaRPr lang="en-US" altLang="en-US">
              <a:solidFill>
                <a:schemeClr val="accent6">
                  <a:lumMod val="50000"/>
                </a:schemeClr>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474663" y="1905000"/>
            <a:ext cx="8001000" cy="3276600"/>
          </a:xfrm>
          <a:prstGeom prst="rect">
            <a:avLst/>
          </a:prstGeom>
          <a:solidFill>
            <a:schemeClr val="bg1"/>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562" tIns="46038" rIns="182562" bIns="46038"/>
          <a:lstStyle>
            <a:lvl1pPr>
              <a:defRPr sz="2400">
                <a:solidFill>
                  <a:schemeClr val="tx1"/>
                </a:solidFill>
                <a:latin typeface="Comic Sans MS" pitchFamily="66" charset="0"/>
              </a:defRPr>
            </a:lvl1pPr>
            <a:lvl2pPr marL="685800" indent="-455613">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5000"/>
              </a:lnSpc>
              <a:spcBef>
                <a:spcPts val="1200"/>
              </a:spcBef>
              <a:buClr>
                <a:schemeClr val="tx1"/>
              </a:buClr>
              <a:buFont typeface="Wingdings" pitchFamily="2" charset="2"/>
              <a:buNone/>
            </a:pPr>
            <a:r>
              <a:rPr lang="en-US" altLang="en-US" sz="2300" dirty="0">
                <a:latin typeface="Liberation Sans" panose="020B0604020202020204" pitchFamily="34" charset="0"/>
              </a:rPr>
              <a:t>Accounts that normally have debit balances are:</a:t>
            </a:r>
          </a:p>
          <a:p>
            <a:pPr lvl="1" algn="l">
              <a:lnSpc>
                <a:spcPct val="125000"/>
              </a:lnSpc>
              <a:spcBef>
                <a:spcPts val="1200"/>
              </a:spcBef>
              <a:buClr>
                <a:schemeClr val="tx1"/>
              </a:buClr>
              <a:buFont typeface="Wingdings" pitchFamily="2" charset="2"/>
              <a:buAutoNum type="alphaLcPeriod"/>
            </a:pPr>
            <a:r>
              <a:rPr lang="en-US" altLang="en-US" sz="2300" dirty="0">
                <a:latin typeface="Liberation Sans" panose="020B0604020202020204" pitchFamily="34" charset="0"/>
              </a:rPr>
              <a:t>assets, expenses, and revenues.</a:t>
            </a:r>
          </a:p>
          <a:p>
            <a:pPr lvl="1" algn="l">
              <a:lnSpc>
                <a:spcPct val="125000"/>
              </a:lnSpc>
              <a:spcBef>
                <a:spcPts val="1200"/>
              </a:spcBef>
              <a:buClr>
                <a:schemeClr val="tx1"/>
              </a:buClr>
              <a:buFont typeface="Wingdings" pitchFamily="2" charset="2"/>
              <a:buAutoNum type="alphaLcPeriod"/>
            </a:pPr>
            <a:r>
              <a:rPr lang="en-US" altLang="en-US" sz="2300" dirty="0">
                <a:latin typeface="Liberation Sans" panose="020B0604020202020204" pitchFamily="34" charset="0"/>
              </a:rPr>
              <a:t>assets, expenses, and equity.</a:t>
            </a:r>
          </a:p>
          <a:p>
            <a:pPr lvl="1" algn="l">
              <a:lnSpc>
                <a:spcPct val="125000"/>
              </a:lnSpc>
              <a:spcBef>
                <a:spcPts val="1200"/>
              </a:spcBef>
              <a:buClr>
                <a:schemeClr val="tx1"/>
              </a:buClr>
              <a:buFont typeface="Wingdings" pitchFamily="2" charset="2"/>
              <a:buAutoNum type="alphaLcPeriod"/>
            </a:pPr>
            <a:r>
              <a:rPr lang="en-US" altLang="en-US" sz="2300" dirty="0">
                <a:latin typeface="Liberation Sans" panose="020B0604020202020204" pitchFamily="34" charset="0"/>
              </a:rPr>
              <a:t>assets, liabilities, and owner’s drawing.</a:t>
            </a:r>
          </a:p>
          <a:p>
            <a:pPr lvl="1" algn="l">
              <a:lnSpc>
                <a:spcPct val="125000"/>
              </a:lnSpc>
              <a:spcBef>
                <a:spcPts val="1200"/>
              </a:spcBef>
              <a:buClr>
                <a:schemeClr val="tx1"/>
              </a:buClr>
              <a:buFont typeface="Wingdings" pitchFamily="2" charset="2"/>
              <a:buAutoNum type="alphaLcPeriod"/>
            </a:pPr>
            <a:r>
              <a:rPr lang="en-US" altLang="en-US" sz="2300" dirty="0">
                <a:latin typeface="Liberation Sans" panose="020B0604020202020204" pitchFamily="34" charset="0"/>
              </a:rPr>
              <a:t>assets, owner’s drawing, and expenses.</a:t>
            </a:r>
          </a:p>
        </p:txBody>
      </p:sp>
      <p:sp>
        <p:nvSpPr>
          <p:cNvPr id="15363"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Debits/Credits Rules</a:t>
            </a:r>
          </a:p>
        </p:txBody>
      </p:sp>
      <p:sp>
        <p:nvSpPr>
          <p:cNvPr id="15364"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5365" name="Rectangle 4"/>
          <p:cNvSpPr>
            <a:spLocks noChangeArrowheads="1"/>
          </p:cNvSpPr>
          <p:nvPr/>
        </p:nvSpPr>
        <p:spPr bwMode="auto">
          <a:xfrm>
            <a:off x="533400" y="1295400"/>
            <a:ext cx="53340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buSzPct val="80000"/>
            </a:pPr>
            <a:r>
              <a:rPr lang="en-US" altLang="en-US" sz="3000" b="1" dirty="0">
                <a:solidFill>
                  <a:srgbClr val="800000"/>
                </a:solidFill>
                <a:latin typeface="Liberation Sans" panose="020B0604020202020204" pitchFamily="34" charset="0"/>
              </a:rPr>
              <a:t>Question</a:t>
            </a:r>
          </a:p>
        </p:txBody>
      </p:sp>
      <p:sp>
        <p:nvSpPr>
          <p:cNvPr id="7"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
        <p:nvSpPr>
          <p:cNvPr id="8" name="Notched Right Arrow 7"/>
          <p:cNvSpPr/>
          <p:nvPr/>
        </p:nvSpPr>
        <p:spPr bwMode="auto">
          <a:xfrm>
            <a:off x="152400" y="4306824"/>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defPPr>
              <a:defRPr lang="en-US"/>
            </a:defPPr>
            <a:lvl1pPr algn="l" rtl="0" eaLnBrk="0" fontAlgn="base" hangingPunct="0">
              <a:spcBef>
                <a:spcPct val="0"/>
              </a:spcBef>
              <a:spcAft>
                <a:spcPct val="0"/>
              </a:spcAft>
              <a:defRPr sz="2800" b="1" kern="1200">
                <a:solidFill>
                  <a:schemeClr val="bg1"/>
                </a:solidFill>
                <a:latin typeface="Arial" charset="0"/>
                <a:ea typeface="+mn-ea"/>
                <a:cs typeface="+mn-cs"/>
              </a:defRPr>
            </a:lvl1pPr>
            <a:lvl2pPr marL="457200" algn="l" rtl="0" eaLnBrk="0" fontAlgn="base" hangingPunct="0">
              <a:spcBef>
                <a:spcPct val="0"/>
              </a:spcBef>
              <a:spcAft>
                <a:spcPct val="0"/>
              </a:spcAft>
              <a:defRPr sz="2800" b="1" kern="1200">
                <a:solidFill>
                  <a:schemeClr val="bg1"/>
                </a:solidFill>
                <a:latin typeface="Arial" charset="0"/>
                <a:ea typeface="+mn-ea"/>
                <a:cs typeface="+mn-cs"/>
              </a:defRPr>
            </a:lvl2pPr>
            <a:lvl3pPr marL="914400" algn="l" rtl="0" eaLnBrk="0" fontAlgn="base" hangingPunct="0">
              <a:spcBef>
                <a:spcPct val="0"/>
              </a:spcBef>
              <a:spcAft>
                <a:spcPct val="0"/>
              </a:spcAft>
              <a:defRPr sz="2800" b="1" kern="1200">
                <a:solidFill>
                  <a:schemeClr val="bg1"/>
                </a:solidFill>
                <a:latin typeface="Arial" charset="0"/>
                <a:ea typeface="+mn-ea"/>
                <a:cs typeface="+mn-cs"/>
              </a:defRPr>
            </a:lvl3pPr>
            <a:lvl4pPr marL="1371600" algn="l" rtl="0" eaLnBrk="0" fontAlgn="base" hangingPunct="0">
              <a:spcBef>
                <a:spcPct val="0"/>
              </a:spcBef>
              <a:spcAft>
                <a:spcPct val="0"/>
              </a:spcAft>
              <a:defRPr sz="2800" b="1" kern="1200">
                <a:solidFill>
                  <a:schemeClr val="bg1"/>
                </a:solidFill>
                <a:latin typeface="Arial" charset="0"/>
                <a:ea typeface="+mn-ea"/>
                <a:cs typeface="+mn-cs"/>
              </a:defRPr>
            </a:lvl4pPr>
            <a:lvl5pPr marL="1828800" algn="l" rtl="0" eaLnBrk="0" fontAlgn="base" hangingPunct="0">
              <a:spcBef>
                <a:spcPct val="0"/>
              </a:spcBef>
              <a:spcAft>
                <a:spcPct val="0"/>
              </a:spcAft>
              <a:defRPr sz="2800" b="1" kern="1200">
                <a:solidFill>
                  <a:schemeClr val="bg1"/>
                </a:solidFill>
                <a:latin typeface="Arial" charset="0"/>
                <a:ea typeface="+mn-ea"/>
                <a:cs typeface="+mn-cs"/>
              </a:defRPr>
            </a:lvl5pPr>
            <a:lvl6pPr marL="2286000" algn="l" defTabSz="914400" rtl="0" eaLnBrk="1" latinLnBrk="0" hangingPunct="1">
              <a:defRPr sz="2800" b="1" kern="1200">
                <a:solidFill>
                  <a:schemeClr val="bg1"/>
                </a:solidFill>
                <a:latin typeface="Arial" charset="0"/>
                <a:ea typeface="+mn-ea"/>
                <a:cs typeface="+mn-cs"/>
              </a:defRPr>
            </a:lvl6pPr>
            <a:lvl7pPr marL="2743200" algn="l" defTabSz="914400" rtl="0" eaLnBrk="1" latinLnBrk="0" hangingPunct="1">
              <a:defRPr sz="2800" b="1" kern="1200">
                <a:solidFill>
                  <a:schemeClr val="bg1"/>
                </a:solidFill>
                <a:latin typeface="Arial" charset="0"/>
                <a:ea typeface="+mn-ea"/>
                <a:cs typeface="+mn-cs"/>
              </a:defRPr>
            </a:lvl7pPr>
            <a:lvl8pPr marL="3200400" algn="l" defTabSz="914400" rtl="0" eaLnBrk="1" latinLnBrk="0" hangingPunct="1">
              <a:defRPr sz="2800" b="1" kern="1200">
                <a:solidFill>
                  <a:schemeClr val="bg1"/>
                </a:solidFill>
                <a:latin typeface="Arial" charset="0"/>
                <a:ea typeface="+mn-ea"/>
                <a:cs typeface="+mn-cs"/>
              </a:defRPr>
            </a:lvl8pPr>
            <a:lvl9pPr marL="3657600" algn="l" defTabSz="914400" rtl="0" eaLnBrk="1" latinLnBrk="0" hangingPunct="1">
              <a:defRPr sz="2800" b="1" kern="1200">
                <a:solidFill>
                  <a:schemeClr val="bg1"/>
                </a:solidFill>
                <a:latin typeface="Arial" charset="0"/>
                <a:ea typeface="+mn-ea"/>
                <a:cs typeface="+mn-cs"/>
              </a:defRPr>
            </a:lvl9pPr>
          </a:lstStyle>
          <a:p>
            <a:endParaRPr lang="en-US" altLang="en-US">
              <a:solidFill>
                <a:schemeClr val="accent6">
                  <a:lumMod val="50000"/>
                </a:schemeClr>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5"/>
          <p:cNvSpPr txBox="1">
            <a:spLocks noChangeArrowheads="1"/>
          </p:cNvSpPr>
          <p:nvPr/>
        </p:nvSpPr>
        <p:spPr bwMode="auto">
          <a:xfrm>
            <a:off x="7391400" y="2287588"/>
            <a:ext cx="1524000" cy="2746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cap="sq" algn="ctr">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1200" b="1" dirty="0">
                <a:latin typeface="Liberation Sans" panose="020B0604020202020204" pitchFamily="34" charset="0"/>
              </a:rPr>
              <a:t>Illustration 2-11</a:t>
            </a:r>
          </a:p>
        </p:txBody>
      </p:sp>
      <p:sp>
        <p:nvSpPr>
          <p:cNvPr id="17411" name="Text Box 6"/>
          <p:cNvSpPr txBox="1">
            <a:spLocks noChangeArrowheads="1"/>
          </p:cNvSpPr>
          <p:nvPr/>
        </p:nvSpPr>
        <p:spPr bwMode="auto">
          <a:xfrm>
            <a:off x="1676400" y="2666999"/>
            <a:ext cx="24384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sz="1600" b="1" dirty="0" smtClean="0">
                <a:latin typeface="Liberation Sans" panose="020B0604020202020204" pitchFamily="34" charset="0"/>
              </a:rPr>
              <a:t>Assets  =  Liabilities +</a:t>
            </a:r>
            <a:endParaRPr lang="en-US" altLang="en-US" sz="1600" b="1" dirty="0">
              <a:latin typeface="Liberation Sans" panose="020B0604020202020204" pitchFamily="34" charset="0"/>
            </a:endParaRPr>
          </a:p>
        </p:txBody>
      </p:sp>
      <p:sp>
        <p:nvSpPr>
          <p:cNvPr id="17414" name="Text Box 11"/>
          <p:cNvSpPr txBox="1">
            <a:spLocks noChangeArrowheads="1"/>
          </p:cNvSpPr>
          <p:nvPr/>
        </p:nvSpPr>
        <p:spPr bwMode="auto">
          <a:xfrm>
            <a:off x="309562" y="2543175"/>
            <a:ext cx="121443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sz="1500" b="1" dirty="0">
                <a:solidFill>
                  <a:srgbClr val="800000"/>
                </a:solidFill>
                <a:latin typeface="Liberation Sans" panose="020B0604020202020204" pitchFamily="34" charset="0"/>
              </a:rPr>
              <a:t>Basic Equation</a:t>
            </a:r>
          </a:p>
        </p:txBody>
      </p:sp>
      <p:sp>
        <p:nvSpPr>
          <p:cNvPr id="17415" name="Text Box 12"/>
          <p:cNvSpPr txBox="1">
            <a:spLocks noChangeArrowheads="1"/>
          </p:cNvSpPr>
          <p:nvPr/>
        </p:nvSpPr>
        <p:spPr bwMode="auto">
          <a:xfrm>
            <a:off x="304800" y="3218688"/>
            <a:ext cx="1295400"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sz="1500" b="1" dirty="0">
                <a:solidFill>
                  <a:srgbClr val="800000"/>
                </a:solidFill>
                <a:latin typeface="Liberation Sans" panose="020B0604020202020204" pitchFamily="34" charset="0"/>
              </a:rPr>
              <a:t>Expanded </a:t>
            </a:r>
            <a:r>
              <a:rPr lang="en-US" altLang="en-US" sz="1500" b="1" dirty="0" smtClean="0">
                <a:solidFill>
                  <a:srgbClr val="800000"/>
                </a:solidFill>
                <a:latin typeface="Liberation Sans" panose="020B0604020202020204" pitchFamily="34" charset="0"/>
              </a:rPr>
              <a:t> Equation</a:t>
            </a:r>
          </a:p>
          <a:p>
            <a:pPr algn="l">
              <a:spcBef>
                <a:spcPct val="50000"/>
              </a:spcBef>
            </a:pPr>
            <a:r>
              <a:rPr lang="en-US" altLang="en-US" sz="1500" b="1" dirty="0" smtClean="0">
                <a:solidFill>
                  <a:srgbClr val="800000"/>
                </a:solidFill>
                <a:latin typeface="Liberation Sans" panose="020B0604020202020204" pitchFamily="34" charset="0"/>
              </a:rPr>
              <a:t>Debit/Credit Effects</a:t>
            </a:r>
            <a:endParaRPr lang="en-US" altLang="en-US" sz="1500" b="1" dirty="0">
              <a:solidFill>
                <a:srgbClr val="800000"/>
              </a:solidFill>
              <a:latin typeface="Liberation Sans" panose="020B0604020202020204" pitchFamily="34" charset="0"/>
            </a:endParaRPr>
          </a:p>
        </p:txBody>
      </p:sp>
      <p:sp>
        <p:nvSpPr>
          <p:cNvPr id="17417"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Summary of </a:t>
            </a:r>
            <a:r>
              <a:rPr lang="en-US" altLang="en-US" sz="3200" b="1" dirty="0" smtClean="0">
                <a:solidFill>
                  <a:schemeClr val="tx2">
                    <a:lumMod val="75000"/>
                  </a:schemeClr>
                </a:solidFill>
                <a:latin typeface="Liberation Sans" panose="020B0604020202020204" pitchFamily="34" charset="0"/>
              </a:rPr>
              <a:t>Debit/Credit </a:t>
            </a:r>
            <a:r>
              <a:rPr lang="en-US" altLang="en-US" sz="3200" b="1" dirty="0">
                <a:solidFill>
                  <a:schemeClr val="tx2">
                    <a:lumMod val="75000"/>
                  </a:schemeClr>
                </a:solidFill>
                <a:latin typeface="Liberation Sans" panose="020B0604020202020204" pitchFamily="34" charset="0"/>
              </a:rPr>
              <a:t>Rules</a:t>
            </a:r>
          </a:p>
        </p:txBody>
      </p:sp>
      <p:sp>
        <p:nvSpPr>
          <p:cNvPr id="17418" name="Line 19"/>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7419" name="Rectangle 4"/>
          <p:cNvSpPr>
            <a:spLocks noChangeArrowheads="1"/>
          </p:cNvSpPr>
          <p:nvPr/>
        </p:nvSpPr>
        <p:spPr bwMode="auto">
          <a:xfrm>
            <a:off x="533400" y="1295400"/>
            <a:ext cx="82296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15000"/>
              </a:lnSpc>
              <a:spcBef>
                <a:spcPct val="25000"/>
              </a:spcBef>
              <a:spcAft>
                <a:spcPct val="50000"/>
              </a:spcAft>
              <a:buClr>
                <a:srgbClr val="800000"/>
              </a:buClr>
              <a:buSzPct val="80000"/>
              <a:buFont typeface="Wingdings" pitchFamily="2" charset="2"/>
              <a:buNone/>
            </a:pPr>
            <a:r>
              <a:rPr lang="en-US" altLang="en-US" sz="2300" dirty="0">
                <a:solidFill>
                  <a:srgbClr val="000000"/>
                </a:solidFill>
                <a:latin typeface="Liberation Sans" panose="020B0604020202020204" pitchFamily="34" charset="0"/>
              </a:rPr>
              <a:t>Relationship among the assets, liabilities and owner’s equity of a business:  </a:t>
            </a:r>
          </a:p>
        </p:txBody>
      </p:sp>
      <p:sp>
        <p:nvSpPr>
          <p:cNvPr id="17420" name="Rectangle 5"/>
          <p:cNvSpPr>
            <a:spLocks noChangeArrowheads="1"/>
          </p:cNvSpPr>
          <p:nvPr/>
        </p:nvSpPr>
        <p:spPr bwMode="auto">
          <a:xfrm>
            <a:off x="533400" y="4876800"/>
            <a:ext cx="7924800" cy="8710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15000"/>
              </a:lnSpc>
              <a:spcBef>
                <a:spcPct val="25000"/>
              </a:spcBef>
              <a:spcAft>
                <a:spcPct val="50000"/>
              </a:spcAft>
              <a:buClr>
                <a:srgbClr val="800000"/>
              </a:buClr>
              <a:buSzPct val="80000"/>
              <a:buFont typeface="Wingdings" pitchFamily="2" charset="2"/>
              <a:buNone/>
            </a:pPr>
            <a:r>
              <a:rPr lang="en-US" altLang="en-US" sz="2200" dirty="0">
                <a:latin typeface="Liberation Sans" panose="020B0604020202020204" pitchFamily="34" charset="0"/>
              </a:rPr>
              <a:t>The equation must be in balance after every transaction.  </a:t>
            </a:r>
            <a:r>
              <a:rPr lang="en-US" altLang="en-US" sz="2200" dirty="0" smtClean="0">
                <a:latin typeface="Liberation Sans" panose="020B0604020202020204" pitchFamily="34" charset="0"/>
              </a:rPr>
              <a:t>Total </a:t>
            </a:r>
            <a:r>
              <a:rPr lang="en-US" altLang="en-US" sz="2200" b="1" dirty="0" smtClean="0">
                <a:latin typeface="Liberation Sans" panose="020B0604020202020204" pitchFamily="34" charset="0"/>
              </a:rPr>
              <a:t>Debits</a:t>
            </a:r>
            <a:r>
              <a:rPr lang="en-US" altLang="en-US" sz="2200" dirty="0" smtClean="0">
                <a:latin typeface="Liberation Sans" panose="020B0604020202020204" pitchFamily="34" charset="0"/>
              </a:rPr>
              <a:t> must equal total </a:t>
            </a:r>
            <a:r>
              <a:rPr lang="en-US" altLang="en-US" sz="2200" b="1" dirty="0" smtClean="0">
                <a:latin typeface="Liberation Sans" panose="020B0604020202020204" pitchFamily="34" charset="0"/>
              </a:rPr>
              <a:t>Credits</a:t>
            </a:r>
            <a:r>
              <a:rPr lang="en-US" altLang="en-US" sz="2200" dirty="0" smtClean="0">
                <a:latin typeface="Liberation Sans" panose="020B0604020202020204" pitchFamily="34" charset="0"/>
              </a:rPr>
              <a:t>.</a:t>
            </a:r>
            <a:endParaRPr lang="en-US" altLang="en-US" sz="2200" dirty="0">
              <a:latin typeface="Liberation Sans" panose="020B0604020202020204" pitchFamily="34" charset="0"/>
            </a:endParaRPr>
          </a:p>
        </p:txBody>
      </p:sp>
      <p:pic>
        <p:nvPicPr>
          <p:cNvPr id="1742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363" y="3230563"/>
            <a:ext cx="7132637"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17423" name="Text Box 12"/>
          <p:cNvSpPr txBox="1">
            <a:spLocks noChangeArrowheads="1"/>
          </p:cNvSpPr>
          <p:nvPr/>
        </p:nvSpPr>
        <p:spPr bwMode="auto">
          <a:xfrm>
            <a:off x="5334000" y="2667000"/>
            <a:ext cx="1981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1600" b="1" dirty="0">
                <a:latin typeface="Liberation Sans" panose="020B0604020202020204" pitchFamily="34" charset="0"/>
              </a:rPr>
              <a:t>Owner’s Equity</a:t>
            </a:r>
          </a:p>
        </p:txBody>
      </p:sp>
      <p:sp>
        <p:nvSpPr>
          <p:cNvPr id="17424" name="AutoShape 13"/>
          <p:cNvSpPr>
            <a:spLocks/>
          </p:cNvSpPr>
          <p:nvPr/>
        </p:nvSpPr>
        <p:spPr bwMode="auto">
          <a:xfrm rot="5400000">
            <a:off x="6210300" y="800100"/>
            <a:ext cx="304800" cy="4648200"/>
          </a:xfrm>
          <a:prstGeom prst="leftBrace">
            <a:avLst>
              <a:gd name="adj1" fmla="val 127083"/>
              <a:gd name="adj2" fmla="val 50000"/>
            </a:avLst>
          </a:prstGeom>
          <a:noFill/>
          <a:ln w="28575"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endParaRPr lang="en-US" altLang="en-US" dirty="0">
              <a:latin typeface="Liberation Sans" panose="020B0604020202020204" pitchFamily="34" charset="0"/>
            </a:endParaRPr>
          </a:p>
        </p:txBody>
      </p:sp>
      <p:sp>
        <p:nvSpPr>
          <p:cNvPr id="13"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2765" name="Line 29"/>
          <p:cNvSpPr>
            <a:spLocks noChangeShapeType="1"/>
          </p:cNvSpPr>
          <p:nvPr/>
        </p:nvSpPr>
        <p:spPr bwMode="auto">
          <a:xfrm>
            <a:off x="290286" y="784324"/>
            <a:ext cx="8636000" cy="1489"/>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37276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71"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372769"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286" y="357188"/>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372770"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372771"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2" name="TextBox 1"/>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1</a:t>
            </a:r>
          </a:p>
        </p:txBody>
      </p:sp>
      <p:sp>
        <p:nvSpPr>
          <p:cNvPr id="3" name="TextBox 2"/>
          <p:cNvSpPr txBox="1"/>
          <p:nvPr/>
        </p:nvSpPr>
        <p:spPr>
          <a:xfrm>
            <a:off x="3338286" y="508909"/>
            <a:ext cx="5515429" cy="519373"/>
          </a:xfrm>
          <a:prstGeom prst="rect">
            <a:avLst/>
          </a:prstGeom>
          <a:noFill/>
        </p:spPr>
        <p:txBody>
          <a:bodyPr wrap="square" lIns="86493" tIns="43247" rIns="86493" bIns="43247" rtlCol="0">
            <a:spAutoFit/>
          </a:bodyPr>
          <a:lstStyle/>
          <a:p>
            <a:pPr marL="111120" algn="l"/>
            <a:r>
              <a:rPr lang="en-US" sz="2800" b="1" dirty="0" smtClean="0">
                <a:solidFill>
                  <a:schemeClr val="bg1"/>
                </a:solidFill>
                <a:latin typeface="Liberation Sans" panose="020B0604020202020204" pitchFamily="34" charset="0"/>
              </a:rPr>
              <a:t>Normal Account Balances</a:t>
            </a:r>
            <a:endParaRPr lang="en-US" sz="2800" b="1" dirty="0">
              <a:solidFill>
                <a:schemeClr val="bg1"/>
              </a:solidFill>
              <a:latin typeface="Liberation Sans" panose="020B0604020202020204" pitchFamily="34" charset="0"/>
            </a:endParaRPr>
          </a:p>
        </p:txBody>
      </p:sp>
      <p:sp>
        <p:nvSpPr>
          <p:cNvPr id="17" name="Rectangle 18"/>
          <p:cNvSpPr>
            <a:spLocks noChangeArrowheads="1"/>
          </p:cNvSpPr>
          <p:nvPr/>
        </p:nvSpPr>
        <p:spPr bwMode="auto">
          <a:xfrm>
            <a:off x="685800" y="1404938"/>
            <a:ext cx="8058150" cy="2786062"/>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5000"/>
              </a:lnSpc>
            </a:pPr>
            <a:r>
              <a:rPr lang="en-US" altLang="en-US" sz="2000" dirty="0">
                <a:latin typeface="Arial" charset="0"/>
              </a:rPr>
              <a:t>Kate Browne has just rented space in a shopping mall. In this space, she will open a hair salon to be called “Hair It Is.” A friend has advised Kate to set up a double-entry set of accounting records in which to record all of her business transactions. Identify the balance sheet accounts that Kate will likely need to record the transactions needed to open her business. Indicate whether the normal balance of each account is a debit or a credit.</a:t>
            </a:r>
          </a:p>
        </p:txBody>
      </p:sp>
      <p:sp>
        <p:nvSpPr>
          <p:cNvPr id="18" name="Rectangle 21"/>
          <p:cNvSpPr>
            <a:spLocks noChangeArrowheads="1"/>
          </p:cNvSpPr>
          <p:nvPr/>
        </p:nvSpPr>
        <p:spPr bwMode="auto">
          <a:xfrm>
            <a:off x="381000" y="4419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2000" b="1" dirty="0">
                <a:latin typeface="Arial" charset="0"/>
              </a:rPr>
              <a:t>Assets</a:t>
            </a:r>
          </a:p>
        </p:txBody>
      </p:sp>
      <p:sp>
        <p:nvSpPr>
          <p:cNvPr id="19" name="Rectangle 22"/>
          <p:cNvSpPr>
            <a:spLocks noChangeArrowheads="1"/>
          </p:cNvSpPr>
          <p:nvPr/>
        </p:nvSpPr>
        <p:spPr bwMode="auto">
          <a:xfrm>
            <a:off x="381000" y="4953000"/>
            <a:ext cx="2819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1900" dirty="0">
                <a:latin typeface="Arial" charset="0"/>
              </a:rPr>
              <a:t>Cash (debit)</a:t>
            </a:r>
          </a:p>
          <a:p>
            <a:pPr>
              <a:spcBef>
                <a:spcPct val="40000"/>
              </a:spcBef>
            </a:pPr>
            <a:r>
              <a:rPr lang="en-US" altLang="en-US" sz="1900" dirty="0">
                <a:latin typeface="Arial" charset="0"/>
              </a:rPr>
              <a:t>Supplies (debit)</a:t>
            </a:r>
          </a:p>
          <a:p>
            <a:pPr>
              <a:spcBef>
                <a:spcPct val="40000"/>
              </a:spcBef>
            </a:pPr>
            <a:r>
              <a:rPr lang="en-US" altLang="en-US" sz="1900" dirty="0">
                <a:latin typeface="Arial" charset="0"/>
              </a:rPr>
              <a:t>Equipment (debit)</a:t>
            </a:r>
          </a:p>
          <a:p>
            <a:pPr>
              <a:spcBef>
                <a:spcPct val="40000"/>
              </a:spcBef>
            </a:pPr>
            <a:endParaRPr lang="en-US" altLang="en-US" sz="1900" dirty="0">
              <a:latin typeface="Arial" charset="0"/>
            </a:endParaRPr>
          </a:p>
        </p:txBody>
      </p:sp>
      <p:sp>
        <p:nvSpPr>
          <p:cNvPr id="20" name="Rectangle 23"/>
          <p:cNvSpPr>
            <a:spLocks noChangeArrowheads="1"/>
          </p:cNvSpPr>
          <p:nvPr/>
        </p:nvSpPr>
        <p:spPr bwMode="auto">
          <a:xfrm>
            <a:off x="3200400" y="4419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2000" b="1" dirty="0">
                <a:latin typeface="Arial" charset="0"/>
              </a:rPr>
              <a:t>Liabilities</a:t>
            </a:r>
          </a:p>
        </p:txBody>
      </p:sp>
      <p:sp>
        <p:nvSpPr>
          <p:cNvPr id="21" name="Rectangle 24"/>
          <p:cNvSpPr>
            <a:spLocks noChangeArrowheads="1"/>
          </p:cNvSpPr>
          <p:nvPr/>
        </p:nvSpPr>
        <p:spPr bwMode="auto">
          <a:xfrm>
            <a:off x="3200400" y="4953000"/>
            <a:ext cx="2819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1900" dirty="0">
                <a:latin typeface="Arial" charset="0"/>
              </a:rPr>
              <a:t>Notes payable (credit)</a:t>
            </a:r>
          </a:p>
          <a:p>
            <a:pPr>
              <a:spcBef>
                <a:spcPct val="50000"/>
              </a:spcBef>
            </a:pPr>
            <a:r>
              <a:rPr lang="en-US" altLang="en-US" sz="1900" dirty="0">
                <a:latin typeface="Arial" charset="0"/>
              </a:rPr>
              <a:t>Accounts payable (credit)</a:t>
            </a:r>
          </a:p>
        </p:txBody>
      </p:sp>
      <p:sp>
        <p:nvSpPr>
          <p:cNvPr id="22" name="Rectangle 25"/>
          <p:cNvSpPr>
            <a:spLocks noChangeArrowheads="1"/>
          </p:cNvSpPr>
          <p:nvPr/>
        </p:nvSpPr>
        <p:spPr bwMode="auto">
          <a:xfrm>
            <a:off x="6019800" y="4419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2000" b="1" dirty="0">
                <a:latin typeface="Arial" charset="0"/>
              </a:rPr>
              <a:t>Equity</a:t>
            </a:r>
          </a:p>
        </p:txBody>
      </p:sp>
      <p:sp>
        <p:nvSpPr>
          <p:cNvPr id="23" name="Rectangle 26"/>
          <p:cNvSpPr>
            <a:spLocks noChangeArrowheads="1"/>
          </p:cNvSpPr>
          <p:nvPr/>
        </p:nvSpPr>
        <p:spPr bwMode="auto">
          <a:xfrm>
            <a:off x="6019800" y="4953000"/>
            <a:ext cx="2819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1900" dirty="0">
                <a:latin typeface="Arial" charset="0"/>
              </a:rPr>
              <a:t>Owner’s Capital (credit)</a:t>
            </a:r>
          </a:p>
          <a:p>
            <a:pPr>
              <a:spcBef>
                <a:spcPct val="40000"/>
              </a:spcBef>
            </a:pPr>
            <a:endParaRPr lang="en-US" altLang="en-US" sz="1900" dirty="0">
              <a:latin typeface="Arial" charset="0"/>
            </a:endParaRPr>
          </a:p>
        </p:txBody>
      </p:sp>
      <p:sp>
        <p:nvSpPr>
          <p:cNvPr id="24" name="Line 27"/>
          <p:cNvSpPr>
            <a:spLocks noChangeShapeType="1"/>
          </p:cNvSpPr>
          <p:nvPr/>
        </p:nvSpPr>
        <p:spPr bwMode="auto">
          <a:xfrm>
            <a:off x="3276600" y="4800600"/>
            <a:ext cx="2667000" cy="0"/>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5" name="Line 28"/>
          <p:cNvSpPr>
            <a:spLocks noChangeShapeType="1"/>
          </p:cNvSpPr>
          <p:nvPr/>
        </p:nvSpPr>
        <p:spPr bwMode="auto">
          <a:xfrm>
            <a:off x="6096000" y="4800600"/>
            <a:ext cx="2667000" cy="0"/>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26" name="Line 29"/>
          <p:cNvSpPr>
            <a:spLocks noChangeShapeType="1"/>
          </p:cNvSpPr>
          <p:nvPr/>
        </p:nvSpPr>
        <p:spPr bwMode="auto">
          <a:xfrm>
            <a:off x="457200" y="4800600"/>
            <a:ext cx="2667000" cy="0"/>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pic>
        <p:nvPicPr>
          <p:cNvPr id="11366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
        <p:nvSpPr>
          <p:cNvPr id="6" name="TextBox 5"/>
          <p:cNvSpPr txBox="1"/>
          <p:nvPr/>
        </p:nvSpPr>
        <p:spPr>
          <a:xfrm>
            <a:off x="152400" y="381000"/>
            <a:ext cx="2209800" cy="738664"/>
          </a:xfrm>
          <a:prstGeom prst="rect">
            <a:avLst/>
          </a:prstGeom>
          <a:noFill/>
        </p:spPr>
        <p:txBody>
          <a:bodyPr wrap="square" rtlCol="0">
            <a:spAutoFit/>
          </a:bodyPr>
          <a:lstStyle/>
          <a:p>
            <a:r>
              <a:rPr lang="en-US" sz="4200" b="1" dirty="0" smtClean="0">
                <a:solidFill>
                  <a:srgbClr val="FF9900"/>
                </a:solidFill>
                <a:effectLst>
                  <a:outerShdw blurRad="38100" dist="38100" dir="2700000" algn="tl">
                    <a:srgbClr val="000000">
                      <a:alpha val="43137"/>
                    </a:srgbClr>
                  </a:outerShdw>
                </a:effectLst>
                <a:latin typeface="Liberation Sans" panose="020B0604020202020204" pitchFamily="34" charset="0"/>
              </a:rPr>
              <a:t>DO IT!</a:t>
            </a:r>
            <a:endPar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endParaRPr>
          </a:p>
        </p:txBody>
      </p:sp>
      <p:sp>
        <p:nvSpPr>
          <p:cNvPr id="27"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1</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315443456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left)">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wipe(left)">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wipe(left)">
                                      <p:cBhvr>
                                        <p:cTn id="17" dur="500"/>
                                        <p:tgtEl>
                                          <p:spTgt spid="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
                                            <p:txEl>
                                              <p:pRg st="0" end="0"/>
                                            </p:txEl>
                                          </p:spTgt>
                                        </p:tgtEl>
                                        <p:attrNameLst>
                                          <p:attrName>style.visibility</p:attrName>
                                        </p:attrNameLst>
                                      </p:cBhvr>
                                      <p:to>
                                        <p:strVal val="visible"/>
                                      </p:to>
                                    </p:set>
                                    <p:animEffect transition="in" filter="wipe(left)">
                                      <p:cBhvr>
                                        <p:cTn id="22" dur="500"/>
                                        <p:tgtEl>
                                          <p:spTgt spid="2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
                                            <p:txEl>
                                              <p:pRg st="1" end="1"/>
                                            </p:txEl>
                                          </p:spTgt>
                                        </p:tgtEl>
                                        <p:attrNameLst>
                                          <p:attrName>style.visibility</p:attrName>
                                        </p:attrNameLst>
                                      </p:cBhvr>
                                      <p:to>
                                        <p:strVal val="visible"/>
                                      </p:to>
                                    </p:set>
                                    <p:animEffect transition="in" filter="wipe(left)">
                                      <p:cBhvr>
                                        <p:cTn id="27" dur="500"/>
                                        <p:tgtEl>
                                          <p:spTgt spid="21">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xEl>
                                              <p:pRg st="0" end="0"/>
                                            </p:txEl>
                                          </p:spTgt>
                                        </p:tgtEl>
                                        <p:attrNameLst>
                                          <p:attrName>style.visibility</p:attrName>
                                        </p:attrNameLst>
                                      </p:cBhvr>
                                      <p:to>
                                        <p:strVal val="visible"/>
                                      </p:to>
                                    </p:set>
                                    <p:animEffect transition="in" filter="wipe(left)">
                                      <p:cBhvr>
                                        <p:cTn id="32" dur="5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autoUpdateAnimBg="0"/>
      <p:bldP spid="21" grpId="0" build="p" autoUpdateAnimBg="0"/>
      <p:bldP spid="2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471738"/>
            <a:ext cx="8001000" cy="2687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9" name="Text Box 6"/>
          <p:cNvSpPr txBox="1">
            <a:spLocks noChangeArrowheads="1"/>
          </p:cNvSpPr>
          <p:nvPr/>
        </p:nvSpPr>
        <p:spPr bwMode="auto">
          <a:xfrm>
            <a:off x="685800" y="5353050"/>
            <a:ext cx="8001000" cy="9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0000"/>
              </a:lnSpc>
              <a:buSzPct val="80000"/>
            </a:pPr>
            <a:r>
              <a:rPr lang="en-US" altLang="en-US" sz="2200" b="1" dirty="0">
                <a:latin typeface="Liberation Sans" panose="020B0604020202020204" pitchFamily="34" charset="0"/>
              </a:rPr>
              <a:t>Business documents</a:t>
            </a:r>
            <a:r>
              <a:rPr lang="en-US" altLang="en-US" sz="2200" dirty="0">
                <a:latin typeface="Liberation Sans" panose="020B0604020202020204" pitchFamily="34" charset="0"/>
              </a:rPr>
              <a:t>, such as a sales slip, a check, </a:t>
            </a:r>
            <a:r>
              <a:rPr lang="en-US" altLang="en-US" sz="2200" dirty="0" smtClean="0">
                <a:latin typeface="Liberation Sans" panose="020B0604020202020204" pitchFamily="34" charset="0"/>
              </a:rPr>
              <a:t>or a </a:t>
            </a:r>
            <a:r>
              <a:rPr lang="en-US" altLang="en-US" sz="2200" dirty="0">
                <a:latin typeface="Liberation Sans" panose="020B0604020202020204" pitchFamily="34" charset="0"/>
              </a:rPr>
              <a:t>bill, </a:t>
            </a:r>
            <a:r>
              <a:rPr lang="en-US" altLang="en-US" sz="2200" dirty="0" smtClean="0">
                <a:latin typeface="Liberation Sans" panose="020B0604020202020204" pitchFamily="34" charset="0"/>
              </a:rPr>
              <a:t>provide </a:t>
            </a:r>
            <a:r>
              <a:rPr lang="en-US" altLang="en-US" sz="2200" dirty="0">
                <a:latin typeface="Liberation Sans" panose="020B0604020202020204" pitchFamily="34" charset="0"/>
              </a:rPr>
              <a:t>evidence of the transaction.</a:t>
            </a:r>
          </a:p>
        </p:txBody>
      </p:sp>
      <p:sp>
        <p:nvSpPr>
          <p:cNvPr id="20489" name="Text Box 10"/>
          <p:cNvSpPr txBox="1">
            <a:spLocks noChangeArrowheads="1"/>
          </p:cNvSpPr>
          <p:nvPr/>
        </p:nvSpPr>
        <p:spPr bwMode="auto">
          <a:xfrm>
            <a:off x="609600" y="4794250"/>
            <a:ext cx="2133600" cy="274638"/>
          </a:xfrm>
          <a:prstGeom prst="rect">
            <a:avLst/>
          </a:prstGeom>
          <a:solidFill>
            <a:schemeClr val="accent3"/>
          </a:solidFill>
          <a:ln>
            <a:noFill/>
          </a:ln>
          <a:effec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defRPr/>
            </a:pPr>
            <a:r>
              <a:rPr lang="en-US" sz="1200" b="1" dirty="0" smtClean="0">
                <a:latin typeface="Liberation Sans" panose="020B0604020202020204" pitchFamily="34" charset="0"/>
              </a:rPr>
              <a:t>Analyze each transaction</a:t>
            </a:r>
          </a:p>
        </p:txBody>
      </p:sp>
      <p:sp>
        <p:nvSpPr>
          <p:cNvPr id="20490" name="Text Box 11"/>
          <p:cNvSpPr txBox="1">
            <a:spLocks noChangeArrowheads="1"/>
          </p:cNvSpPr>
          <p:nvPr/>
        </p:nvSpPr>
        <p:spPr bwMode="auto">
          <a:xfrm>
            <a:off x="3124200" y="4794250"/>
            <a:ext cx="2438400" cy="274638"/>
          </a:xfrm>
          <a:prstGeom prst="rect">
            <a:avLst/>
          </a:prstGeom>
          <a:solidFill>
            <a:schemeClr val="accent3"/>
          </a:solidFill>
          <a:ln>
            <a:noFill/>
          </a:ln>
          <a:effec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defRPr/>
            </a:pPr>
            <a:r>
              <a:rPr lang="en-US" sz="1200" b="1" dirty="0" smtClean="0">
                <a:latin typeface="Liberation Sans" panose="020B0604020202020204" pitchFamily="34" charset="0"/>
              </a:rPr>
              <a:t>Enter transaction in a journal</a:t>
            </a:r>
          </a:p>
        </p:txBody>
      </p:sp>
      <p:sp>
        <p:nvSpPr>
          <p:cNvPr id="20491" name="Text Box 12"/>
          <p:cNvSpPr txBox="1">
            <a:spLocks noChangeArrowheads="1"/>
          </p:cNvSpPr>
          <p:nvPr/>
        </p:nvSpPr>
        <p:spPr bwMode="auto">
          <a:xfrm>
            <a:off x="5867400" y="4759325"/>
            <a:ext cx="2438400" cy="422275"/>
          </a:xfrm>
          <a:prstGeom prst="rect">
            <a:avLst/>
          </a:prstGeom>
          <a:solidFill>
            <a:schemeClr val="accent3"/>
          </a:solidFill>
          <a:ln>
            <a:noFill/>
          </a:ln>
          <a:effec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nSpc>
                <a:spcPct val="90000"/>
              </a:lnSpc>
              <a:spcBef>
                <a:spcPct val="50000"/>
              </a:spcBef>
              <a:defRPr/>
            </a:pPr>
            <a:r>
              <a:rPr lang="en-US" sz="1200" b="1" dirty="0" smtClean="0">
                <a:latin typeface="Liberation Sans" panose="020B0604020202020204" pitchFamily="34" charset="0"/>
              </a:rPr>
              <a:t>Transfer journal information to ledger accounts</a:t>
            </a:r>
          </a:p>
        </p:txBody>
      </p:sp>
      <p:sp>
        <p:nvSpPr>
          <p:cNvPr id="19465" name="Rectangle 7"/>
          <p:cNvSpPr>
            <a:spLocks noChangeArrowheads="1"/>
          </p:cNvSpPr>
          <p:nvPr/>
        </p:nvSpPr>
        <p:spPr bwMode="auto">
          <a:xfrm>
            <a:off x="533400" y="15240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Steps in the Recording Process</a:t>
            </a:r>
          </a:p>
        </p:txBody>
      </p:sp>
      <p:sp>
        <p:nvSpPr>
          <p:cNvPr id="19466" name="Line 15"/>
          <p:cNvSpPr>
            <a:spLocks noChangeShapeType="1"/>
          </p:cNvSpPr>
          <p:nvPr/>
        </p:nvSpPr>
        <p:spPr bwMode="auto">
          <a:xfrm>
            <a:off x="304800" y="22098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1" name="Rectangle 6"/>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latin typeface="Liberation Sans" panose="020B0604020202020204" pitchFamily="34" charset="0"/>
              </a:rPr>
              <a:t>LEARNING</a:t>
            </a:r>
          </a:p>
          <a:p>
            <a:pPr algn="l"/>
            <a:r>
              <a:rPr lang="en-US" altLang="en-US" sz="1700" b="1" dirty="0">
                <a:latin typeface="Liberation Sans" panose="020B0604020202020204" pitchFamily="34" charset="0"/>
              </a:rPr>
              <a:t>OBJECTIVE</a:t>
            </a:r>
          </a:p>
        </p:txBody>
      </p:sp>
      <p:sp>
        <p:nvSpPr>
          <p:cNvPr id="12"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tIns="27432" anchor="ctr"/>
          <a:lstStyle/>
          <a:p>
            <a:pPr marL="117475" algn="l"/>
            <a:r>
              <a:rPr lang="en-US" sz="2100" b="1" dirty="0" smtClean="0">
                <a:solidFill>
                  <a:schemeClr val="bg1"/>
                </a:solidFill>
                <a:latin typeface="Liberation Sans" panose="020B0604020202020204" pitchFamily="34" charset="0"/>
              </a:rPr>
              <a:t>Indicate </a:t>
            </a:r>
            <a:r>
              <a:rPr lang="en-US" sz="2100" b="1" dirty="0">
                <a:solidFill>
                  <a:schemeClr val="bg1"/>
                </a:solidFill>
                <a:latin typeface="Liberation Sans" panose="020B0604020202020204" pitchFamily="34" charset="0"/>
              </a:rPr>
              <a:t>how a journal is used in </a:t>
            </a:r>
            <a:r>
              <a:rPr lang="en-US" sz="2100" b="1" dirty="0" smtClean="0">
                <a:solidFill>
                  <a:schemeClr val="bg1"/>
                </a:solidFill>
                <a:latin typeface="Liberation Sans" panose="020B0604020202020204" pitchFamily="34" charset="0"/>
              </a:rPr>
              <a:t>the </a:t>
            </a:r>
          </a:p>
          <a:p>
            <a:pPr marL="117475" algn="l"/>
            <a:r>
              <a:rPr lang="en-US" sz="2100" b="1" dirty="0" smtClean="0">
                <a:solidFill>
                  <a:schemeClr val="bg1"/>
                </a:solidFill>
                <a:latin typeface="Liberation Sans" panose="020B0604020202020204" pitchFamily="34" charset="0"/>
              </a:rPr>
              <a:t>recording </a:t>
            </a:r>
            <a:r>
              <a:rPr lang="en-US" sz="2100" b="1" dirty="0">
                <a:solidFill>
                  <a:schemeClr val="bg1"/>
                </a:solidFill>
                <a:latin typeface="Liberation Sans" panose="020B0604020202020204" pitchFamily="34" charset="0"/>
              </a:rPr>
              <a:t>process.</a:t>
            </a:r>
          </a:p>
        </p:txBody>
      </p:sp>
      <p:sp>
        <p:nvSpPr>
          <p:cNvPr id="13" name="Oval 12"/>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prstTxWarp prst="textNoShape">
              <a:avLst/>
            </a:prstTxWarp>
            <a:noAutofit/>
          </a:bodyPr>
          <a:lstStyle/>
          <a:p>
            <a:pPr algn="ctr"/>
            <a:r>
              <a:rPr lang="en-US" b="1" dirty="0" smtClean="0">
                <a:solidFill>
                  <a:schemeClr val="bg1"/>
                </a:solidFill>
                <a:latin typeface="Liberation Sans" panose="020B0604020202020204" pitchFamily="34" charset="0"/>
              </a:rPr>
              <a:t>2</a:t>
            </a:r>
            <a:endParaRPr lang="en-US" b="1" dirty="0">
              <a:solidFill>
                <a:schemeClr val="bg1"/>
              </a:solidFill>
              <a:latin typeface="Liberation Sans" panose="020B0604020202020204" pitchFamily="34" charset="0"/>
            </a:endParaRPr>
          </a:p>
        </p:txBody>
      </p:sp>
      <p:sp>
        <p:nvSpPr>
          <p:cNvPr id="19461" name="Text Box 9"/>
          <p:cNvSpPr txBox="1">
            <a:spLocks noChangeArrowheads="1"/>
          </p:cNvSpPr>
          <p:nvPr/>
        </p:nvSpPr>
        <p:spPr bwMode="auto">
          <a:xfrm>
            <a:off x="7086600" y="2057400"/>
            <a:ext cx="1524000" cy="274638"/>
          </a:xfrm>
          <a:prstGeom prst="rect">
            <a:avLst/>
          </a:prstGeom>
          <a:solidFill>
            <a:schemeClr val="bg1"/>
          </a:solidFill>
          <a:ln>
            <a:noFill/>
          </a:ln>
          <a:effec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1200" b="1" dirty="0">
                <a:latin typeface="Liberation Sans" panose="020B0604020202020204" pitchFamily="34" charset="0"/>
              </a:rPr>
              <a:t>Illustration 2-12</a:t>
            </a:r>
          </a:p>
        </p:txBody>
      </p:sp>
      <p:sp>
        <p:nvSpPr>
          <p:cNvPr id="14"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2</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533400" y="1905000"/>
            <a:ext cx="8153400" cy="3881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Comic Sans MS" pitchFamily="66" charset="0"/>
              </a:defRPr>
            </a:lvl1pPr>
            <a:lvl2pPr marL="973138" indent="-45720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marL="693738" algn="l">
              <a:lnSpc>
                <a:spcPct val="125000"/>
              </a:lnSpc>
              <a:spcBef>
                <a:spcPts val="1200"/>
              </a:spcBef>
              <a:buClr>
                <a:srgbClr val="800000"/>
              </a:buClr>
              <a:buSzPct val="80000"/>
              <a:buFont typeface="Wingdings" pitchFamily="2" charset="2"/>
              <a:buChar char="u"/>
            </a:pPr>
            <a:r>
              <a:rPr lang="en-US" altLang="en-US" sz="2300" dirty="0">
                <a:latin typeface="Liberation Sans" panose="020B0604020202020204" pitchFamily="34" charset="0"/>
              </a:rPr>
              <a:t>Book of original entry.</a:t>
            </a:r>
          </a:p>
          <a:p>
            <a:pPr marL="693738" algn="l">
              <a:lnSpc>
                <a:spcPct val="125000"/>
              </a:lnSpc>
              <a:spcBef>
                <a:spcPts val="1200"/>
              </a:spcBef>
              <a:buClr>
                <a:srgbClr val="800000"/>
              </a:buClr>
              <a:buSzPct val="80000"/>
              <a:buFont typeface="Wingdings" pitchFamily="2" charset="2"/>
              <a:buChar char="u"/>
            </a:pPr>
            <a:r>
              <a:rPr lang="en-US" altLang="en-US" sz="2300" dirty="0">
                <a:latin typeface="Liberation Sans" panose="020B0604020202020204" pitchFamily="34" charset="0"/>
              </a:rPr>
              <a:t>Transactions recorded in chronological order.</a:t>
            </a:r>
          </a:p>
          <a:p>
            <a:pPr marL="693738" algn="l">
              <a:lnSpc>
                <a:spcPct val="125000"/>
              </a:lnSpc>
              <a:spcBef>
                <a:spcPts val="1200"/>
              </a:spcBef>
              <a:buClr>
                <a:srgbClr val="800000"/>
              </a:buClr>
              <a:buSzPct val="80000"/>
              <a:buFont typeface="Wingdings" pitchFamily="2" charset="2"/>
              <a:buChar char="u"/>
            </a:pPr>
            <a:r>
              <a:rPr lang="en-US" altLang="en-US" sz="2300" dirty="0">
                <a:latin typeface="Liberation Sans" panose="020B0604020202020204" pitchFamily="34" charset="0"/>
              </a:rPr>
              <a:t>Contributions to the recording process:</a:t>
            </a:r>
          </a:p>
          <a:p>
            <a:pPr marL="1371600" lvl="1" algn="l">
              <a:lnSpc>
                <a:spcPct val="125000"/>
              </a:lnSpc>
              <a:spcBef>
                <a:spcPts val="1200"/>
              </a:spcBef>
              <a:buClr>
                <a:schemeClr val="tx1"/>
              </a:buClr>
              <a:buFontTx/>
              <a:buAutoNum type="arabicPeriod"/>
            </a:pPr>
            <a:r>
              <a:rPr lang="en-US" altLang="en-US" sz="2200" dirty="0">
                <a:latin typeface="Liberation Sans" panose="020B0604020202020204" pitchFamily="34" charset="0"/>
              </a:rPr>
              <a:t>Discloses the </a:t>
            </a:r>
            <a:r>
              <a:rPr lang="en-US" altLang="en-US" sz="2200" b="1" dirty="0">
                <a:latin typeface="Liberation Sans" panose="020B0604020202020204" pitchFamily="34" charset="0"/>
              </a:rPr>
              <a:t>complete effects of a transaction</a:t>
            </a:r>
            <a:r>
              <a:rPr lang="en-US" altLang="en-US" sz="2200" dirty="0">
                <a:latin typeface="Liberation Sans" panose="020B0604020202020204" pitchFamily="34" charset="0"/>
              </a:rPr>
              <a:t>.</a:t>
            </a:r>
          </a:p>
          <a:p>
            <a:pPr marL="1371600" lvl="1" algn="l">
              <a:lnSpc>
                <a:spcPct val="125000"/>
              </a:lnSpc>
              <a:spcBef>
                <a:spcPts val="1200"/>
              </a:spcBef>
              <a:buClr>
                <a:schemeClr val="tx1"/>
              </a:buClr>
              <a:buFontTx/>
              <a:buAutoNum type="arabicPeriod"/>
            </a:pPr>
            <a:r>
              <a:rPr lang="en-US" altLang="en-US" sz="2200" dirty="0">
                <a:latin typeface="Liberation Sans" panose="020B0604020202020204" pitchFamily="34" charset="0"/>
              </a:rPr>
              <a:t>Provides a </a:t>
            </a:r>
            <a:r>
              <a:rPr lang="en-US" altLang="en-US" sz="2200" b="1" dirty="0">
                <a:latin typeface="Liberation Sans" panose="020B0604020202020204" pitchFamily="34" charset="0"/>
              </a:rPr>
              <a:t>chronological record</a:t>
            </a:r>
            <a:r>
              <a:rPr lang="en-US" altLang="en-US" sz="2200" dirty="0">
                <a:latin typeface="Liberation Sans" panose="020B0604020202020204" pitchFamily="34" charset="0"/>
              </a:rPr>
              <a:t> of transactions.</a:t>
            </a:r>
          </a:p>
          <a:p>
            <a:pPr marL="1371600" lvl="1" algn="l">
              <a:lnSpc>
                <a:spcPct val="125000"/>
              </a:lnSpc>
              <a:spcBef>
                <a:spcPts val="1200"/>
              </a:spcBef>
              <a:buClr>
                <a:schemeClr val="tx1"/>
              </a:buClr>
              <a:buFontTx/>
              <a:buAutoNum type="arabicPeriod"/>
            </a:pPr>
            <a:r>
              <a:rPr lang="en-US" altLang="en-US" sz="2200" dirty="0">
                <a:latin typeface="Liberation Sans" panose="020B0604020202020204" pitchFamily="34" charset="0"/>
              </a:rPr>
              <a:t>Helps to</a:t>
            </a:r>
            <a:r>
              <a:rPr lang="en-US" altLang="en-US" sz="2200" b="1" dirty="0">
                <a:latin typeface="Liberation Sans" panose="020B0604020202020204" pitchFamily="34" charset="0"/>
              </a:rPr>
              <a:t> prevent or locate errors</a:t>
            </a:r>
            <a:r>
              <a:rPr lang="en-US" altLang="en-US" sz="2200" dirty="0">
                <a:latin typeface="Liberation Sans" panose="020B0604020202020204" pitchFamily="34" charset="0"/>
              </a:rPr>
              <a:t> because the debit and credit amounts can be easily compared.</a:t>
            </a:r>
          </a:p>
        </p:txBody>
      </p:sp>
      <p:sp>
        <p:nvSpPr>
          <p:cNvPr id="20484" name="Rectangle 5"/>
          <p:cNvSpPr>
            <a:spLocks noChangeArrowheads="1"/>
          </p:cNvSpPr>
          <p:nvPr/>
        </p:nvSpPr>
        <p:spPr bwMode="auto">
          <a:xfrm>
            <a:off x="533400" y="1295400"/>
            <a:ext cx="8001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buSzPct val="80000"/>
            </a:pPr>
            <a:r>
              <a:rPr lang="en-US" altLang="en-US" sz="2800" b="1" dirty="0">
                <a:solidFill>
                  <a:schemeClr val="tx2">
                    <a:lumMod val="75000"/>
                  </a:schemeClr>
                </a:solidFill>
                <a:latin typeface="Liberation Sans" panose="020B0604020202020204" pitchFamily="34" charset="0"/>
              </a:rPr>
              <a:t>The Journal</a:t>
            </a:r>
          </a:p>
        </p:txBody>
      </p:sp>
      <p:sp>
        <p:nvSpPr>
          <p:cNvPr id="20485"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Steps in the Recording Process</a:t>
            </a:r>
          </a:p>
        </p:txBody>
      </p:sp>
      <p:sp>
        <p:nvSpPr>
          <p:cNvPr id="20486"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6"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2</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533400" y="1295400"/>
            <a:ext cx="822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sz="2700" b="1" dirty="0" smtClean="0">
                <a:solidFill>
                  <a:schemeClr val="tx2">
                    <a:lumMod val="75000"/>
                  </a:schemeClr>
                </a:solidFill>
                <a:latin typeface="Liberation Sans" panose="020B0604020202020204" pitchFamily="34" charset="0"/>
              </a:rPr>
              <a:t>JOURNALIZING</a:t>
            </a:r>
            <a:r>
              <a:rPr lang="en-US" altLang="en-US" dirty="0" smtClean="0">
                <a:solidFill>
                  <a:schemeClr val="tx2">
                    <a:lumMod val="75000"/>
                  </a:schemeClr>
                </a:solidFill>
                <a:latin typeface="Liberation Sans" panose="020B0604020202020204" pitchFamily="34" charset="0"/>
                <a:cs typeface="Arial" charset="0"/>
              </a:rPr>
              <a:t> </a:t>
            </a:r>
            <a:r>
              <a:rPr lang="en-US" altLang="en-US" sz="2200" dirty="0">
                <a:solidFill>
                  <a:srgbClr val="000000"/>
                </a:solidFill>
                <a:latin typeface="Liberation Sans" panose="020B0604020202020204" pitchFamily="34" charset="0"/>
                <a:cs typeface="Arial" charset="0"/>
              </a:rPr>
              <a:t>- Entering transaction data in the journal.</a:t>
            </a:r>
          </a:p>
        </p:txBody>
      </p:sp>
      <p:sp>
        <p:nvSpPr>
          <p:cNvPr id="21508" name="Text Box 2"/>
          <p:cNvSpPr txBox="1">
            <a:spLocks noChangeArrowheads="1"/>
          </p:cNvSpPr>
          <p:nvPr/>
        </p:nvSpPr>
        <p:spPr bwMode="auto">
          <a:xfrm>
            <a:off x="533400" y="1905000"/>
            <a:ext cx="82296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10000"/>
              </a:lnSpc>
            </a:pPr>
            <a:r>
              <a:rPr lang="en-US" altLang="en-US" sz="2100" b="1" dirty="0">
                <a:latin typeface="Liberation Sans" panose="020B0604020202020204" pitchFamily="34" charset="0"/>
              </a:rPr>
              <a:t>Illustration:</a:t>
            </a:r>
            <a:r>
              <a:rPr lang="en-US" altLang="en-US" sz="2100" dirty="0">
                <a:latin typeface="Liberation Sans" panose="020B0604020202020204" pitchFamily="34" charset="0"/>
              </a:rPr>
              <a:t>  On September 1, Ray Neal invested $15,000 cash in the business, and Softbyte purchased computer equipment for $7,000 cash.</a:t>
            </a:r>
            <a:endParaRPr lang="en-US" altLang="en-US" sz="2100" dirty="0">
              <a:latin typeface="Liberation Sans" panose="020B0604020202020204" pitchFamily="34" charset="0"/>
              <a:cs typeface="Arial" charset="0"/>
            </a:endParaRPr>
          </a:p>
        </p:txBody>
      </p:sp>
      <p:graphicFrame>
        <p:nvGraphicFramePr>
          <p:cNvPr id="21509" name="Object 2"/>
          <p:cNvGraphicFramePr>
            <a:graphicFrameLocks noChangeAspect="1"/>
          </p:cNvGraphicFramePr>
          <p:nvPr>
            <p:extLst>
              <p:ext uri="{D42A27DB-BD31-4B8C-83A1-F6EECF244321}">
                <p14:modId xmlns:p14="http://schemas.microsoft.com/office/powerpoint/2010/main" val="384974090"/>
              </p:ext>
            </p:extLst>
          </p:nvPr>
        </p:nvGraphicFramePr>
        <p:xfrm>
          <a:off x="609600" y="3286125"/>
          <a:ext cx="7962900" cy="2971800"/>
        </p:xfrm>
        <a:graphic>
          <a:graphicData uri="http://schemas.openxmlformats.org/presentationml/2006/ole">
            <mc:AlternateContent xmlns:mc="http://schemas.openxmlformats.org/markup-compatibility/2006">
              <mc:Choice xmlns:v="urn:schemas-microsoft-com:vml" Requires="v">
                <p:oleObj spid="_x0000_s21679" name="Worksheet" r:id="rId4" imgW="3981358" imgH="1485984" progId="Excel.Sheet.8">
                  <p:embed/>
                </p:oleObj>
              </mc:Choice>
              <mc:Fallback>
                <p:oleObj name="Worksheet" r:id="rId4" imgW="3981358" imgH="1485984" progId="Excel.Sheet.8">
                  <p:embed/>
                  <p:pic>
                    <p:nvPicPr>
                      <p:cNvPr id="0" name="Object 2"/>
                      <p:cNvPicPr>
                        <a:picLocks noChangeAspect="1" noChangeArrowheads="1"/>
                      </p:cNvPicPr>
                      <p:nvPr/>
                    </p:nvPicPr>
                    <p:blipFill>
                      <a:blip r:embed="rId5"/>
                      <a:srcRect/>
                      <a:stretch>
                        <a:fillRect/>
                      </a:stretch>
                    </p:blipFill>
                    <p:spPr bwMode="auto">
                      <a:xfrm>
                        <a:off x="609600" y="3286125"/>
                        <a:ext cx="7962900" cy="2971800"/>
                      </a:xfrm>
                      <a:prstGeom prst="rect">
                        <a:avLst/>
                      </a:prstGeom>
                      <a:solidFill>
                        <a:srgbClr val="F8EB8E"/>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336" name="Text Box 8"/>
          <p:cNvSpPr txBox="1">
            <a:spLocks noChangeArrowheads="1"/>
          </p:cNvSpPr>
          <p:nvPr/>
        </p:nvSpPr>
        <p:spPr bwMode="auto">
          <a:xfrm>
            <a:off x="1752600" y="4357688"/>
            <a:ext cx="2514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sz="1800" dirty="0">
                <a:latin typeface="Liberation Sans" panose="020B0604020202020204" pitchFamily="34" charset="0"/>
              </a:rPr>
              <a:t>Cash</a:t>
            </a:r>
          </a:p>
        </p:txBody>
      </p:sp>
      <p:sp>
        <p:nvSpPr>
          <p:cNvPr id="99337" name="Text Box 9"/>
          <p:cNvSpPr txBox="1">
            <a:spLocks noChangeArrowheads="1"/>
          </p:cNvSpPr>
          <p:nvPr/>
        </p:nvSpPr>
        <p:spPr bwMode="auto">
          <a:xfrm>
            <a:off x="1752600" y="4738688"/>
            <a:ext cx="2514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Comic Sans MS" pitchFamily="66" charset="0"/>
              </a:defRPr>
            </a:lvl1pPr>
            <a:lvl2pPr>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lvl="1" algn="l">
              <a:spcBef>
                <a:spcPct val="50000"/>
              </a:spcBef>
            </a:pPr>
            <a:r>
              <a:rPr lang="en-US" altLang="en-US" sz="1800" dirty="0">
                <a:latin typeface="Liberation Sans" panose="020B0604020202020204" pitchFamily="34" charset="0"/>
              </a:rPr>
              <a:t>Owner’s Capital</a:t>
            </a:r>
          </a:p>
        </p:txBody>
      </p:sp>
      <p:sp>
        <p:nvSpPr>
          <p:cNvPr id="21512" name="Text Box 10"/>
          <p:cNvSpPr txBox="1">
            <a:spLocks noChangeArrowheads="1"/>
          </p:cNvSpPr>
          <p:nvPr/>
        </p:nvSpPr>
        <p:spPr bwMode="auto">
          <a:xfrm>
            <a:off x="609600" y="43434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sz="1800" dirty="0">
                <a:latin typeface="Liberation Sans" panose="020B0604020202020204" pitchFamily="34" charset="0"/>
              </a:rPr>
              <a:t>Sept. 1</a:t>
            </a:r>
          </a:p>
        </p:txBody>
      </p:sp>
      <p:sp>
        <p:nvSpPr>
          <p:cNvPr id="99339" name="Text Box 11"/>
          <p:cNvSpPr txBox="1">
            <a:spLocks noChangeArrowheads="1"/>
          </p:cNvSpPr>
          <p:nvPr/>
        </p:nvSpPr>
        <p:spPr bwMode="auto">
          <a:xfrm>
            <a:off x="5943600" y="43576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altLang="en-US" sz="1800" dirty="0">
                <a:latin typeface="Liberation Sans" panose="020B0604020202020204" pitchFamily="34" charset="0"/>
              </a:rPr>
              <a:t>15,000</a:t>
            </a:r>
          </a:p>
        </p:txBody>
      </p:sp>
      <p:sp>
        <p:nvSpPr>
          <p:cNvPr id="99340" name="Text Box 12"/>
          <p:cNvSpPr txBox="1">
            <a:spLocks noChangeArrowheads="1"/>
          </p:cNvSpPr>
          <p:nvPr/>
        </p:nvSpPr>
        <p:spPr bwMode="auto">
          <a:xfrm>
            <a:off x="7239000" y="47386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altLang="en-US" sz="1800" dirty="0">
                <a:latin typeface="Liberation Sans" panose="020B0604020202020204" pitchFamily="34" charset="0"/>
              </a:rPr>
              <a:t>15,000</a:t>
            </a:r>
          </a:p>
        </p:txBody>
      </p:sp>
      <p:sp>
        <p:nvSpPr>
          <p:cNvPr id="21515" name="Text Box 4"/>
          <p:cNvSpPr txBox="1">
            <a:spLocks noChangeArrowheads="1"/>
          </p:cNvSpPr>
          <p:nvPr/>
        </p:nvSpPr>
        <p:spPr bwMode="auto">
          <a:xfrm>
            <a:off x="2819400" y="3379113"/>
            <a:ext cx="3581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2200" b="1" dirty="0" smtClean="0">
                <a:solidFill>
                  <a:schemeClr val="bg1"/>
                </a:solidFill>
                <a:latin typeface="Liberation Sans" panose="020B0604020202020204" pitchFamily="34" charset="0"/>
              </a:rPr>
              <a:t>GENERAL JOURNAL</a:t>
            </a:r>
            <a:endParaRPr lang="en-US" altLang="en-US" sz="2200" b="1" dirty="0">
              <a:solidFill>
                <a:schemeClr val="bg1"/>
              </a:solidFill>
              <a:latin typeface="Liberation Sans" panose="020B0604020202020204" pitchFamily="34" charset="0"/>
            </a:endParaRPr>
          </a:p>
        </p:txBody>
      </p:sp>
      <p:sp>
        <p:nvSpPr>
          <p:cNvPr id="99343" name="Text Box 15"/>
          <p:cNvSpPr txBox="1">
            <a:spLocks noChangeArrowheads="1"/>
          </p:cNvSpPr>
          <p:nvPr/>
        </p:nvSpPr>
        <p:spPr bwMode="auto">
          <a:xfrm>
            <a:off x="1752600" y="5486400"/>
            <a:ext cx="2514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sz="1800" dirty="0">
                <a:latin typeface="Liberation Sans" panose="020B0604020202020204" pitchFamily="34" charset="0"/>
              </a:rPr>
              <a:t>Equipment</a:t>
            </a:r>
          </a:p>
        </p:txBody>
      </p:sp>
      <p:sp>
        <p:nvSpPr>
          <p:cNvPr id="99344" name="Text Box 16"/>
          <p:cNvSpPr txBox="1">
            <a:spLocks noChangeArrowheads="1"/>
          </p:cNvSpPr>
          <p:nvPr/>
        </p:nvSpPr>
        <p:spPr bwMode="auto">
          <a:xfrm>
            <a:off x="1752600" y="5867400"/>
            <a:ext cx="2514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Comic Sans MS" pitchFamily="66" charset="0"/>
              </a:defRPr>
            </a:lvl1pPr>
            <a:lvl2pPr>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lvl="1" algn="l">
              <a:spcBef>
                <a:spcPct val="50000"/>
              </a:spcBef>
            </a:pPr>
            <a:r>
              <a:rPr lang="en-US" altLang="en-US" sz="1800" dirty="0">
                <a:latin typeface="Liberation Sans" panose="020B0604020202020204" pitchFamily="34" charset="0"/>
              </a:rPr>
              <a:t>Cash</a:t>
            </a:r>
          </a:p>
        </p:txBody>
      </p:sp>
      <p:sp>
        <p:nvSpPr>
          <p:cNvPr id="99345" name="Text Box 17"/>
          <p:cNvSpPr txBox="1">
            <a:spLocks noChangeArrowheads="1"/>
          </p:cNvSpPr>
          <p:nvPr/>
        </p:nvSpPr>
        <p:spPr bwMode="auto">
          <a:xfrm>
            <a:off x="5943600" y="55006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altLang="en-US" sz="1800" dirty="0">
                <a:latin typeface="Liberation Sans" panose="020B0604020202020204" pitchFamily="34" charset="0"/>
              </a:rPr>
              <a:t>7,000</a:t>
            </a:r>
          </a:p>
        </p:txBody>
      </p:sp>
      <p:sp>
        <p:nvSpPr>
          <p:cNvPr id="99346" name="Text Box 18"/>
          <p:cNvSpPr txBox="1">
            <a:spLocks noChangeArrowheads="1"/>
          </p:cNvSpPr>
          <p:nvPr/>
        </p:nvSpPr>
        <p:spPr bwMode="auto">
          <a:xfrm>
            <a:off x="7239000" y="58816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altLang="en-US" sz="1800" dirty="0">
                <a:latin typeface="Liberation Sans" panose="020B0604020202020204" pitchFamily="34" charset="0"/>
              </a:rPr>
              <a:t>7,000</a:t>
            </a:r>
          </a:p>
        </p:txBody>
      </p:sp>
      <p:sp>
        <p:nvSpPr>
          <p:cNvPr id="21520" name="Rectangle 19"/>
          <p:cNvSpPr>
            <a:spLocks noChangeArrowheads="1"/>
          </p:cNvSpPr>
          <p:nvPr/>
        </p:nvSpPr>
        <p:spPr bwMode="auto">
          <a:xfrm>
            <a:off x="7162800" y="2971800"/>
            <a:ext cx="152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1200" b="1" dirty="0">
                <a:latin typeface="Liberation Sans" panose="020B0604020202020204" pitchFamily="34" charset="0"/>
              </a:rPr>
              <a:t>Illustration 2-13</a:t>
            </a:r>
          </a:p>
        </p:txBody>
      </p:sp>
      <p:sp>
        <p:nvSpPr>
          <p:cNvPr id="21521"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Steps in the Recording Process</a:t>
            </a:r>
          </a:p>
        </p:txBody>
      </p:sp>
      <p:sp>
        <p:nvSpPr>
          <p:cNvPr id="21522" name="Line 21"/>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9"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2</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336"/>
                                        </p:tgtEl>
                                        <p:attrNameLst>
                                          <p:attrName>style.visibility</p:attrName>
                                        </p:attrNameLst>
                                      </p:cBhvr>
                                      <p:to>
                                        <p:strVal val="visible"/>
                                      </p:to>
                                    </p:set>
                                    <p:animEffect transition="in" filter="wipe(left)">
                                      <p:cBhvr>
                                        <p:cTn id="7" dur="500"/>
                                        <p:tgtEl>
                                          <p:spTgt spid="9933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9339"/>
                                        </p:tgtEl>
                                        <p:attrNameLst>
                                          <p:attrName>style.visibility</p:attrName>
                                        </p:attrNameLst>
                                      </p:cBhvr>
                                      <p:to>
                                        <p:strVal val="visible"/>
                                      </p:to>
                                    </p:set>
                                    <p:animEffect transition="in" filter="wipe(left)">
                                      <p:cBhvr>
                                        <p:cTn id="11" dur="500"/>
                                        <p:tgtEl>
                                          <p:spTgt spid="9933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9337"/>
                                        </p:tgtEl>
                                        <p:attrNameLst>
                                          <p:attrName>style.visibility</p:attrName>
                                        </p:attrNameLst>
                                      </p:cBhvr>
                                      <p:to>
                                        <p:strVal val="visible"/>
                                      </p:to>
                                    </p:set>
                                    <p:animEffect transition="in" filter="wipe(left)">
                                      <p:cBhvr>
                                        <p:cTn id="16" dur="500"/>
                                        <p:tgtEl>
                                          <p:spTgt spid="99337"/>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99340"/>
                                        </p:tgtEl>
                                        <p:attrNameLst>
                                          <p:attrName>style.visibility</p:attrName>
                                        </p:attrNameLst>
                                      </p:cBhvr>
                                      <p:to>
                                        <p:strVal val="visible"/>
                                      </p:to>
                                    </p:set>
                                    <p:animEffect transition="in" filter="wipe(left)">
                                      <p:cBhvr>
                                        <p:cTn id="20" dur="500"/>
                                        <p:tgtEl>
                                          <p:spTgt spid="9934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9343"/>
                                        </p:tgtEl>
                                        <p:attrNameLst>
                                          <p:attrName>style.visibility</p:attrName>
                                        </p:attrNameLst>
                                      </p:cBhvr>
                                      <p:to>
                                        <p:strVal val="visible"/>
                                      </p:to>
                                    </p:set>
                                    <p:animEffect transition="in" filter="wipe(left)">
                                      <p:cBhvr>
                                        <p:cTn id="25" dur="500"/>
                                        <p:tgtEl>
                                          <p:spTgt spid="99343"/>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99345"/>
                                        </p:tgtEl>
                                        <p:attrNameLst>
                                          <p:attrName>style.visibility</p:attrName>
                                        </p:attrNameLst>
                                      </p:cBhvr>
                                      <p:to>
                                        <p:strVal val="visible"/>
                                      </p:to>
                                    </p:set>
                                    <p:animEffect transition="in" filter="wipe(left)">
                                      <p:cBhvr>
                                        <p:cTn id="29" dur="500"/>
                                        <p:tgtEl>
                                          <p:spTgt spid="9934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9344"/>
                                        </p:tgtEl>
                                        <p:attrNameLst>
                                          <p:attrName>style.visibility</p:attrName>
                                        </p:attrNameLst>
                                      </p:cBhvr>
                                      <p:to>
                                        <p:strVal val="visible"/>
                                      </p:to>
                                    </p:set>
                                    <p:animEffect transition="in" filter="wipe(left)">
                                      <p:cBhvr>
                                        <p:cTn id="34" dur="500"/>
                                        <p:tgtEl>
                                          <p:spTgt spid="99344"/>
                                        </p:tgtEl>
                                      </p:cBhvr>
                                    </p:animEffect>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99346"/>
                                        </p:tgtEl>
                                        <p:attrNameLst>
                                          <p:attrName>style.visibility</p:attrName>
                                        </p:attrNameLst>
                                      </p:cBhvr>
                                      <p:to>
                                        <p:strVal val="visible"/>
                                      </p:to>
                                    </p:set>
                                    <p:animEffect transition="in" filter="wipe(left)">
                                      <p:cBhvr>
                                        <p:cTn id="38" dur="500"/>
                                        <p:tgtEl>
                                          <p:spTgt spid="99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6" grpId="0"/>
      <p:bldP spid="99337" grpId="0"/>
      <p:bldP spid="99339" grpId="0"/>
      <p:bldP spid="99340" grpId="0"/>
      <p:bldP spid="99343" grpId="0"/>
      <p:bldP spid="99344" grpId="0"/>
      <p:bldP spid="99345" grpId="0"/>
      <p:bldP spid="9934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2"/>
          <p:cNvGraphicFramePr>
            <a:graphicFrameLocks noChangeAspect="1"/>
          </p:cNvGraphicFramePr>
          <p:nvPr>
            <p:extLst>
              <p:ext uri="{D42A27DB-BD31-4B8C-83A1-F6EECF244321}">
                <p14:modId xmlns:p14="http://schemas.microsoft.com/office/powerpoint/2010/main" val="1116059133"/>
              </p:ext>
            </p:extLst>
          </p:nvPr>
        </p:nvGraphicFramePr>
        <p:xfrm>
          <a:off x="609600" y="3286125"/>
          <a:ext cx="7962900" cy="2590800"/>
        </p:xfrm>
        <a:graphic>
          <a:graphicData uri="http://schemas.openxmlformats.org/presentationml/2006/ole">
            <mc:AlternateContent xmlns:mc="http://schemas.openxmlformats.org/markup-compatibility/2006">
              <mc:Choice xmlns:v="urn:schemas-microsoft-com:vml" Requires="v">
                <p:oleObj spid="_x0000_s22701" name="Worksheet" r:id="rId4" imgW="3981358" imgH="1295411" progId="Excel.Sheet.8">
                  <p:embed/>
                </p:oleObj>
              </mc:Choice>
              <mc:Fallback>
                <p:oleObj name="Worksheet" r:id="rId4" imgW="3981358" imgH="1295411" progId="Excel.Sheet.8">
                  <p:embed/>
                  <p:pic>
                    <p:nvPicPr>
                      <p:cNvPr id="0" name=""/>
                      <p:cNvPicPr>
                        <a:picLocks noChangeAspect="1" noChangeArrowheads="1"/>
                      </p:cNvPicPr>
                      <p:nvPr/>
                    </p:nvPicPr>
                    <p:blipFill>
                      <a:blip r:embed="rId5"/>
                      <a:srcRect/>
                      <a:stretch>
                        <a:fillRect/>
                      </a:stretch>
                    </p:blipFill>
                    <p:spPr bwMode="auto">
                      <a:xfrm>
                        <a:off x="609600" y="3286125"/>
                        <a:ext cx="7962900" cy="2590800"/>
                      </a:xfrm>
                      <a:prstGeom prst="rect">
                        <a:avLst/>
                      </a:prstGeom>
                      <a:solidFill>
                        <a:srgbClr val="F8EB8E"/>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0" name="Text Box 2"/>
          <p:cNvSpPr txBox="1">
            <a:spLocks noChangeArrowheads="1"/>
          </p:cNvSpPr>
          <p:nvPr/>
        </p:nvSpPr>
        <p:spPr bwMode="auto">
          <a:xfrm>
            <a:off x="533400" y="1295400"/>
            <a:ext cx="82296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buSzPct val="80000"/>
            </a:pPr>
            <a:r>
              <a:rPr lang="en-US" altLang="en-US" sz="2700" b="1" dirty="0" smtClean="0">
                <a:solidFill>
                  <a:schemeClr val="tx2">
                    <a:lumMod val="75000"/>
                  </a:schemeClr>
                </a:solidFill>
                <a:latin typeface="Liberation Sans" panose="020B0604020202020204" pitchFamily="34" charset="0"/>
              </a:rPr>
              <a:t>SIMPLE AND COMPOUND ENTRIES</a:t>
            </a:r>
            <a:endParaRPr lang="en-US" altLang="en-US" sz="2700" b="1" dirty="0">
              <a:solidFill>
                <a:schemeClr val="tx2">
                  <a:lumMod val="75000"/>
                </a:schemeClr>
              </a:solidFill>
              <a:latin typeface="Liberation Sans" panose="020B0604020202020204" pitchFamily="34" charset="0"/>
            </a:endParaRPr>
          </a:p>
        </p:txBody>
      </p:sp>
      <p:sp>
        <p:nvSpPr>
          <p:cNvPr id="22532" name="Text Box 2"/>
          <p:cNvSpPr txBox="1">
            <a:spLocks noChangeArrowheads="1"/>
          </p:cNvSpPr>
          <p:nvPr/>
        </p:nvSpPr>
        <p:spPr bwMode="auto">
          <a:xfrm>
            <a:off x="533400" y="1905000"/>
            <a:ext cx="8229600" cy="114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10000"/>
              </a:lnSpc>
            </a:pPr>
            <a:r>
              <a:rPr lang="en-US" altLang="en-US" sz="2100" b="1" dirty="0">
                <a:latin typeface="Liberation Sans" panose="020B0604020202020204" pitchFamily="34" charset="0"/>
              </a:rPr>
              <a:t>Illustration:</a:t>
            </a:r>
            <a:r>
              <a:rPr lang="en-US" altLang="en-US" sz="2100" dirty="0">
                <a:latin typeface="Liberation Sans" panose="020B0604020202020204" pitchFamily="34" charset="0"/>
              </a:rPr>
              <a:t>  On July 1, Butler Company purchases a delivery truck costing $14,000.  It pays $8,000 cash now and agrees to pay the remaining $6,000 on account.</a:t>
            </a:r>
          </a:p>
        </p:txBody>
      </p:sp>
      <p:sp>
        <p:nvSpPr>
          <p:cNvPr id="100359" name="Text Box 7"/>
          <p:cNvSpPr txBox="1">
            <a:spLocks noChangeArrowheads="1"/>
          </p:cNvSpPr>
          <p:nvPr/>
        </p:nvSpPr>
        <p:spPr bwMode="auto">
          <a:xfrm>
            <a:off x="1752600" y="4357688"/>
            <a:ext cx="2514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sz="1800" dirty="0">
                <a:latin typeface="Liberation Sans" panose="020B0604020202020204" pitchFamily="34" charset="0"/>
              </a:rPr>
              <a:t>Equipment</a:t>
            </a:r>
          </a:p>
        </p:txBody>
      </p:sp>
      <p:sp>
        <p:nvSpPr>
          <p:cNvPr id="100360" name="Text Box 8"/>
          <p:cNvSpPr txBox="1">
            <a:spLocks noChangeArrowheads="1"/>
          </p:cNvSpPr>
          <p:nvPr/>
        </p:nvSpPr>
        <p:spPr bwMode="auto">
          <a:xfrm>
            <a:off x="1752600" y="4738688"/>
            <a:ext cx="2514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Comic Sans MS" pitchFamily="66" charset="0"/>
              </a:defRPr>
            </a:lvl1pPr>
            <a:lvl2pPr>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lvl="1" algn="l">
              <a:spcBef>
                <a:spcPct val="50000"/>
              </a:spcBef>
            </a:pPr>
            <a:r>
              <a:rPr lang="en-US" altLang="en-US" sz="1800" dirty="0">
                <a:latin typeface="Liberation Sans" panose="020B0604020202020204" pitchFamily="34" charset="0"/>
              </a:rPr>
              <a:t>Cash</a:t>
            </a:r>
          </a:p>
        </p:txBody>
      </p:sp>
      <p:sp>
        <p:nvSpPr>
          <p:cNvPr id="22536" name="Text Box 9"/>
          <p:cNvSpPr txBox="1">
            <a:spLocks noChangeArrowheads="1"/>
          </p:cNvSpPr>
          <p:nvPr/>
        </p:nvSpPr>
        <p:spPr bwMode="auto">
          <a:xfrm>
            <a:off x="685800" y="43434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spcBef>
                <a:spcPct val="50000"/>
              </a:spcBef>
            </a:pPr>
            <a:r>
              <a:rPr lang="en-US" altLang="en-US" sz="1800" dirty="0">
                <a:latin typeface="Liberation Sans" panose="020B0604020202020204" pitchFamily="34" charset="0"/>
              </a:rPr>
              <a:t>July 1</a:t>
            </a:r>
          </a:p>
        </p:txBody>
      </p:sp>
      <p:sp>
        <p:nvSpPr>
          <p:cNvPr id="100362" name="Text Box 10"/>
          <p:cNvSpPr txBox="1">
            <a:spLocks noChangeArrowheads="1"/>
          </p:cNvSpPr>
          <p:nvPr/>
        </p:nvSpPr>
        <p:spPr bwMode="auto">
          <a:xfrm>
            <a:off x="5943600" y="43576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altLang="en-US" sz="1800" dirty="0">
                <a:latin typeface="Liberation Sans" panose="020B0604020202020204" pitchFamily="34" charset="0"/>
              </a:rPr>
              <a:t>14,000</a:t>
            </a:r>
          </a:p>
        </p:txBody>
      </p:sp>
      <p:sp>
        <p:nvSpPr>
          <p:cNvPr id="100363" name="Text Box 11"/>
          <p:cNvSpPr txBox="1">
            <a:spLocks noChangeArrowheads="1"/>
          </p:cNvSpPr>
          <p:nvPr/>
        </p:nvSpPr>
        <p:spPr bwMode="auto">
          <a:xfrm>
            <a:off x="7239000" y="47386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altLang="en-US" sz="1800" dirty="0">
                <a:latin typeface="Liberation Sans" panose="020B0604020202020204" pitchFamily="34" charset="0"/>
              </a:rPr>
              <a:t>8,000</a:t>
            </a:r>
          </a:p>
        </p:txBody>
      </p:sp>
      <p:sp>
        <p:nvSpPr>
          <p:cNvPr id="100368" name="Text Box 16"/>
          <p:cNvSpPr txBox="1">
            <a:spLocks noChangeArrowheads="1"/>
          </p:cNvSpPr>
          <p:nvPr/>
        </p:nvSpPr>
        <p:spPr bwMode="auto">
          <a:xfrm>
            <a:off x="7239000" y="51054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altLang="en-US" sz="1800" dirty="0">
                <a:latin typeface="Liberation Sans" panose="020B0604020202020204" pitchFamily="34" charset="0"/>
              </a:rPr>
              <a:t>6,000</a:t>
            </a:r>
          </a:p>
        </p:txBody>
      </p:sp>
      <p:sp>
        <p:nvSpPr>
          <p:cNvPr id="100369" name="Text Box 17"/>
          <p:cNvSpPr txBox="1">
            <a:spLocks noChangeArrowheads="1"/>
          </p:cNvSpPr>
          <p:nvPr/>
        </p:nvSpPr>
        <p:spPr bwMode="auto">
          <a:xfrm>
            <a:off x="1752600" y="5119688"/>
            <a:ext cx="2514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Comic Sans MS" pitchFamily="66" charset="0"/>
              </a:defRPr>
            </a:lvl1pPr>
            <a:lvl2pPr>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lvl="1" algn="l">
              <a:spcBef>
                <a:spcPct val="50000"/>
              </a:spcBef>
            </a:pPr>
            <a:r>
              <a:rPr lang="en-US" altLang="en-US" sz="1800" dirty="0">
                <a:latin typeface="Liberation Sans" panose="020B0604020202020204" pitchFamily="34" charset="0"/>
              </a:rPr>
              <a:t>Accounts payable</a:t>
            </a:r>
          </a:p>
        </p:txBody>
      </p:sp>
      <p:sp>
        <p:nvSpPr>
          <p:cNvPr id="22542" name="Rectangle 18"/>
          <p:cNvSpPr>
            <a:spLocks noChangeArrowheads="1"/>
          </p:cNvSpPr>
          <p:nvPr/>
        </p:nvSpPr>
        <p:spPr bwMode="auto">
          <a:xfrm>
            <a:off x="6705600" y="2788920"/>
            <a:ext cx="1981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r>
              <a:rPr lang="en-US" altLang="en-US" sz="1200" b="1" dirty="0">
                <a:latin typeface="Liberation Sans" panose="020B0604020202020204" pitchFamily="34" charset="0"/>
              </a:rPr>
              <a:t>Illustration </a:t>
            </a:r>
            <a:r>
              <a:rPr lang="en-US" altLang="en-US" sz="1200" b="1" dirty="0" smtClean="0">
                <a:latin typeface="Liberation Sans" panose="020B0604020202020204" pitchFamily="34" charset="0"/>
              </a:rPr>
              <a:t>2-14</a:t>
            </a:r>
          </a:p>
          <a:p>
            <a:pPr algn="l"/>
            <a:r>
              <a:rPr lang="en-US" altLang="en-US" sz="1200" dirty="0" smtClean="0">
                <a:latin typeface="Liberation Sans" panose="020B0604020202020204" pitchFamily="34" charset="0"/>
              </a:rPr>
              <a:t>Compound journal entry</a:t>
            </a:r>
            <a:endParaRPr lang="en-US" altLang="en-US" sz="1200" dirty="0">
              <a:latin typeface="Liberation Sans" panose="020B0604020202020204" pitchFamily="34" charset="0"/>
            </a:endParaRPr>
          </a:p>
        </p:txBody>
      </p:sp>
      <p:sp>
        <p:nvSpPr>
          <p:cNvPr id="22543"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Steps in the Recording Process</a:t>
            </a:r>
          </a:p>
        </p:txBody>
      </p:sp>
      <p:sp>
        <p:nvSpPr>
          <p:cNvPr id="22544" name="Line 20"/>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8" name="Text Box 4"/>
          <p:cNvSpPr txBox="1">
            <a:spLocks noChangeArrowheads="1"/>
          </p:cNvSpPr>
          <p:nvPr/>
        </p:nvSpPr>
        <p:spPr bwMode="auto">
          <a:xfrm>
            <a:off x="2819400" y="3379113"/>
            <a:ext cx="3581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altLang="en-US" sz="2200" b="1" dirty="0" smtClean="0">
                <a:solidFill>
                  <a:schemeClr val="bg1"/>
                </a:solidFill>
                <a:latin typeface="Liberation Sans" panose="020B0604020202020204" pitchFamily="34" charset="0"/>
              </a:rPr>
              <a:t>GENERAL JOURNAL</a:t>
            </a:r>
            <a:endParaRPr lang="en-US" altLang="en-US" sz="2200" b="1" dirty="0">
              <a:solidFill>
                <a:schemeClr val="bg1"/>
              </a:solidFill>
              <a:latin typeface="Liberation Sans" panose="020B0604020202020204" pitchFamily="34" charset="0"/>
            </a:endParaRPr>
          </a:p>
        </p:txBody>
      </p:sp>
      <p:sp>
        <p:nvSpPr>
          <p:cNvPr id="19"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2</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59"/>
                                        </p:tgtEl>
                                        <p:attrNameLst>
                                          <p:attrName>style.visibility</p:attrName>
                                        </p:attrNameLst>
                                      </p:cBhvr>
                                      <p:to>
                                        <p:strVal val="visible"/>
                                      </p:to>
                                    </p:set>
                                    <p:animEffect transition="in" filter="wipe(left)">
                                      <p:cBhvr>
                                        <p:cTn id="7" dur="500"/>
                                        <p:tgtEl>
                                          <p:spTgt spid="10035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0362"/>
                                        </p:tgtEl>
                                        <p:attrNameLst>
                                          <p:attrName>style.visibility</p:attrName>
                                        </p:attrNameLst>
                                      </p:cBhvr>
                                      <p:to>
                                        <p:strVal val="visible"/>
                                      </p:to>
                                    </p:set>
                                    <p:animEffect transition="in" filter="wipe(left)">
                                      <p:cBhvr>
                                        <p:cTn id="11" dur="500"/>
                                        <p:tgtEl>
                                          <p:spTgt spid="10036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0360"/>
                                        </p:tgtEl>
                                        <p:attrNameLst>
                                          <p:attrName>style.visibility</p:attrName>
                                        </p:attrNameLst>
                                      </p:cBhvr>
                                      <p:to>
                                        <p:strVal val="visible"/>
                                      </p:to>
                                    </p:set>
                                    <p:animEffect transition="in" filter="wipe(left)">
                                      <p:cBhvr>
                                        <p:cTn id="16" dur="500"/>
                                        <p:tgtEl>
                                          <p:spTgt spid="100360"/>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00363"/>
                                        </p:tgtEl>
                                        <p:attrNameLst>
                                          <p:attrName>style.visibility</p:attrName>
                                        </p:attrNameLst>
                                      </p:cBhvr>
                                      <p:to>
                                        <p:strVal val="visible"/>
                                      </p:to>
                                    </p:set>
                                    <p:animEffect transition="in" filter="wipe(left)">
                                      <p:cBhvr>
                                        <p:cTn id="20" dur="500"/>
                                        <p:tgtEl>
                                          <p:spTgt spid="10036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0369"/>
                                        </p:tgtEl>
                                        <p:attrNameLst>
                                          <p:attrName>style.visibility</p:attrName>
                                        </p:attrNameLst>
                                      </p:cBhvr>
                                      <p:to>
                                        <p:strVal val="visible"/>
                                      </p:to>
                                    </p:set>
                                    <p:animEffect transition="in" filter="wipe(left)">
                                      <p:cBhvr>
                                        <p:cTn id="25" dur="500"/>
                                        <p:tgtEl>
                                          <p:spTgt spid="100369"/>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00368"/>
                                        </p:tgtEl>
                                        <p:attrNameLst>
                                          <p:attrName>style.visibility</p:attrName>
                                        </p:attrNameLst>
                                      </p:cBhvr>
                                      <p:to>
                                        <p:strVal val="visible"/>
                                      </p:to>
                                    </p:set>
                                    <p:animEffect transition="in" filter="wipe(left)">
                                      <p:cBhvr>
                                        <p:cTn id="29" dur="500"/>
                                        <p:tgtEl>
                                          <p:spTgt spid="100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9" grpId="0"/>
      <p:bldP spid="100360" grpId="0"/>
      <p:bldP spid="100362" grpId="0"/>
      <p:bldP spid="100363" grpId="0"/>
      <p:bldP spid="100368" grpId="0"/>
      <p:bldP spid="1003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737307"/>
            <a:ext cx="8686800" cy="47490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2</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86" y="357188"/>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smtClean="0">
                <a:solidFill>
                  <a:srgbClr val="FF9900"/>
                </a:solidFill>
                <a:effectLst>
                  <a:outerShdw blurRad="38100" dist="38100" dir="2700000" algn="tl">
                    <a:srgbClr val="000000">
                      <a:alpha val="43137"/>
                    </a:srgbClr>
                  </a:outerShdw>
                </a:effectLst>
                <a:latin typeface="Liberation Sans" panose="020B0604020202020204" pitchFamily="34" charset="0"/>
              </a:rPr>
              <a:t>DO IT!</a:t>
            </a:r>
            <a:endPar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endParaRPr>
          </a:p>
        </p:txBody>
      </p:sp>
      <p:sp>
        <p:nvSpPr>
          <p:cNvPr id="40962" name="Rectangle 2"/>
          <p:cNvSpPr>
            <a:spLocks noChangeArrowheads="1"/>
          </p:cNvSpPr>
          <p:nvPr/>
        </p:nvSpPr>
        <p:spPr bwMode="auto">
          <a:xfrm>
            <a:off x="628649" y="1371600"/>
            <a:ext cx="8058151" cy="4475008"/>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2057400" algn="l"/>
              </a:tabLst>
              <a:defRPr sz="2400">
                <a:solidFill>
                  <a:schemeClr val="tx1"/>
                </a:solidFill>
                <a:latin typeface="Comic Sans MS" pitchFamily="66" charset="0"/>
              </a:defRPr>
            </a:lvl1pPr>
            <a:lvl2pPr marL="742950" indent="-285750">
              <a:tabLst>
                <a:tab pos="2057400" algn="l"/>
              </a:tabLst>
              <a:defRPr sz="2400">
                <a:solidFill>
                  <a:schemeClr val="tx1"/>
                </a:solidFill>
                <a:latin typeface="Comic Sans MS" pitchFamily="66" charset="0"/>
              </a:defRPr>
            </a:lvl2pPr>
            <a:lvl3pPr marL="1143000" indent="-228600">
              <a:tabLst>
                <a:tab pos="2057400" algn="l"/>
              </a:tabLst>
              <a:defRPr sz="2400">
                <a:solidFill>
                  <a:schemeClr val="tx1"/>
                </a:solidFill>
                <a:latin typeface="Comic Sans MS" pitchFamily="66" charset="0"/>
              </a:defRPr>
            </a:lvl3pPr>
            <a:lvl4pPr marL="1600200" indent="-228600">
              <a:tabLst>
                <a:tab pos="2057400" algn="l"/>
              </a:tabLst>
              <a:defRPr sz="2400">
                <a:solidFill>
                  <a:schemeClr val="tx1"/>
                </a:solidFill>
                <a:latin typeface="Comic Sans MS" pitchFamily="66" charset="0"/>
              </a:defRPr>
            </a:lvl4pPr>
            <a:lvl5pPr marL="2057400" indent="-228600">
              <a:tabLst>
                <a:tab pos="2057400" algn="l"/>
              </a:tabLst>
              <a:defRPr sz="2400">
                <a:solidFill>
                  <a:schemeClr val="tx1"/>
                </a:solidFill>
                <a:latin typeface="Comic Sans MS" pitchFamily="66" charset="0"/>
              </a:defRPr>
            </a:lvl5pPr>
            <a:lvl6pPr marL="2514600" indent="-228600" algn="ctr" eaLnBrk="0" fontAlgn="base" hangingPunct="0">
              <a:spcBef>
                <a:spcPct val="0"/>
              </a:spcBef>
              <a:spcAft>
                <a:spcPct val="0"/>
              </a:spcAft>
              <a:tabLst>
                <a:tab pos="2057400" algn="l"/>
              </a:tabLst>
              <a:defRPr sz="2400">
                <a:solidFill>
                  <a:schemeClr val="tx1"/>
                </a:solidFill>
                <a:latin typeface="Comic Sans MS" pitchFamily="66" charset="0"/>
              </a:defRPr>
            </a:lvl6pPr>
            <a:lvl7pPr marL="2971800" indent="-228600" algn="ctr" eaLnBrk="0" fontAlgn="base" hangingPunct="0">
              <a:spcBef>
                <a:spcPct val="0"/>
              </a:spcBef>
              <a:spcAft>
                <a:spcPct val="0"/>
              </a:spcAft>
              <a:tabLst>
                <a:tab pos="2057400" algn="l"/>
              </a:tabLst>
              <a:defRPr sz="2400">
                <a:solidFill>
                  <a:schemeClr val="tx1"/>
                </a:solidFill>
                <a:latin typeface="Comic Sans MS" pitchFamily="66" charset="0"/>
              </a:defRPr>
            </a:lvl7pPr>
            <a:lvl8pPr marL="3429000" indent="-228600" algn="ctr" eaLnBrk="0" fontAlgn="base" hangingPunct="0">
              <a:spcBef>
                <a:spcPct val="0"/>
              </a:spcBef>
              <a:spcAft>
                <a:spcPct val="0"/>
              </a:spcAft>
              <a:tabLst>
                <a:tab pos="2057400" algn="l"/>
              </a:tabLst>
              <a:defRPr sz="2400">
                <a:solidFill>
                  <a:schemeClr val="tx1"/>
                </a:solidFill>
                <a:latin typeface="Comic Sans MS" pitchFamily="66" charset="0"/>
              </a:defRPr>
            </a:lvl8pPr>
            <a:lvl9pPr marL="3886200" indent="-228600" algn="ctr" eaLnBrk="0" fontAlgn="base" hangingPunct="0">
              <a:spcBef>
                <a:spcPct val="0"/>
              </a:spcBef>
              <a:spcAft>
                <a:spcPct val="0"/>
              </a:spcAft>
              <a:tabLst>
                <a:tab pos="2057400" algn="l"/>
              </a:tabLst>
              <a:defRPr sz="2400">
                <a:solidFill>
                  <a:schemeClr val="tx1"/>
                </a:solidFill>
                <a:latin typeface="Comic Sans MS" pitchFamily="66" charset="0"/>
              </a:defRPr>
            </a:lvl9pPr>
          </a:lstStyle>
          <a:p>
            <a:pPr algn="l">
              <a:lnSpc>
                <a:spcPct val="125000"/>
              </a:lnSpc>
              <a:spcBef>
                <a:spcPts val="1200"/>
              </a:spcBef>
            </a:pPr>
            <a:r>
              <a:rPr lang="en-US" sz="2200" dirty="0" smtClean="0">
                <a:latin typeface="Liberation Sans" panose="020B0604020202020204" pitchFamily="34" charset="0"/>
              </a:rPr>
              <a:t>Kate </a:t>
            </a:r>
            <a:r>
              <a:rPr lang="en-US" sz="2200" dirty="0">
                <a:latin typeface="Liberation Sans" panose="020B0604020202020204" pitchFamily="34" charset="0"/>
              </a:rPr>
              <a:t>Browne engaged in the following activities in establishing her salon, Hair It </a:t>
            </a:r>
            <a:r>
              <a:rPr lang="en-US" sz="2200" dirty="0" smtClean="0">
                <a:latin typeface="Liberation Sans" panose="020B0604020202020204" pitchFamily="34" charset="0"/>
              </a:rPr>
              <a:t>Is:</a:t>
            </a:r>
          </a:p>
          <a:p>
            <a:pPr marL="457200" indent="-457200" algn="l">
              <a:lnSpc>
                <a:spcPct val="125000"/>
              </a:lnSpc>
              <a:spcBef>
                <a:spcPts val="1200"/>
              </a:spcBef>
              <a:buFont typeface="+mj-lt"/>
              <a:buAutoNum type="arabicPeriod"/>
            </a:pPr>
            <a:r>
              <a:rPr lang="en-US" sz="2200" dirty="0" smtClean="0">
                <a:latin typeface="Liberation Sans" panose="020B0604020202020204" pitchFamily="34" charset="0"/>
              </a:rPr>
              <a:t>Opened </a:t>
            </a:r>
            <a:r>
              <a:rPr lang="en-US" sz="2200" dirty="0">
                <a:latin typeface="Liberation Sans" panose="020B0604020202020204" pitchFamily="34" charset="0"/>
              </a:rPr>
              <a:t>a bank account in the name of Hair It Is and deposited $20,000 of her </a:t>
            </a:r>
            <a:r>
              <a:rPr lang="en-US" sz="2200" dirty="0" smtClean="0">
                <a:latin typeface="Liberation Sans" panose="020B0604020202020204" pitchFamily="34" charset="0"/>
              </a:rPr>
              <a:t>own money </a:t>
            </a:r>
            <a:r>
              <a:rPr lang="en-US" sz="2200" dirty="0">
                <a:latin typeface="Liberation Sans" panose="020B0604020202020204" pitchFamily="34" charset="0"/>
              </a:rPr>
              <a:t>in this account as her initial </a:t>
            </a:r>
            <a:r>
              <a:rPr lang="en-US" sz="2200" dirty="0" smtClean="0">
                <a:latin typeface="Liberation Sans" panose="020B0604020202020204" pitchFamily="34" charset="0"/>
              </a:rPr>
              <a:t>investment.</a:t>
            </a:r>
          </a:p>
          <a:p>
            <a:pPr marL="457200" indent="-457200" algn="l">
              <a:lnSpc>
                <a:spcPct val="125000"/>
              </a:lnSpc>
              <a:spcBef>
                <a:spcPts val="1200"/>
              </a:spcBef>
              <a:buFont typeface="+mj-lt"/>
              <a:buAutoNum type="arabicPeriod"/>
            </a:pPr>
            <a:r>
              <a:rPr lang="en-US" sz="2200" dirty="0" smtClean="0">
                <a:latin typeface="Liberation Sans" panose="020B0604020202020204" pitchFamily="34" charset="0"/>
              </a:rPr>
              <a:t>Purchased </a:t>
            </a:r>
            <a:r>
              <a:rPr lang="en-US" sz="2200" dirty="0">
                <a:latin typeface="Liberation Sans" panose="020B0604020202020204" pitchFamily="34" charset="0"/>
              </a:rPr>
              <a:t>equipment on account (to be paid in 30 days) for a total cost of $</a:t>
            </a:r>
            <a:r>
              <a:rPr lang="en-US" sz="2200" dirty="0" smtClean="0">
                <a:latin typeface="Liberation Sans" panose="020B0604020202020204" pitchFamily="34" charset="0"/>
              </a:rPr>
              <a:t>4,800.</a:t>
            </a:r>
          </a:p>
          <a:p>
            <a:pPr marL="457200" indent="-457200" algn="l">
              <a:lnSpc>
                <a:spcPct val="125000"/>
              </a:lnSpc>
              <a:spcBef>
                <a:spcPts val="1200"/>
              </a:spcBef>
              <a:buFont typeface="+mj-lt"/>
              <a:buAutoNum type="arabicPeriod"/>
            </a:pPr>
            <a:r>
              <a:rPr lang="en-US" sz="2200" dirty="0" smtClean="0">
                <a:latin typeface="Liberation Sans" panose="020B0604020202020204" pitchFamily="34" charset="0"/>
              </a:rPr>
              <a:t>Interviewed </a:t>
            </a:r>
            <a:r>
              <a:rPr lang="en-US" sz="2200" dirty="0">
                <a:latin typeface="Liberation Sans" panose="020B0604020202020204" pitchFamily="34" charset="0"/>
              </a:rPr>
              <a:t>three persons for the position of hair </a:t>
            </a:r>
            <a:r>
              <a:rPr lang="en-US" sz="2200" dirty="0" smtClean="0">
                <a:latin typeface="Liberation Sans" panose="020B0604020202020204" pitchFamily="34" charset="0"/>
              </a:rPr>
              <a:t>stylist.</a:t>
            </a:r>
          </a:p>
          <a:p>
            <a:pPr algn="l">
              <a:lnSpc>
                <a:spcPct val="125000"/>
              </a:lnSpc>
              <a:spcBef>
                <a:spcPts val="1200"/>
              </a:spcBef>
            </a:pPr>
            <a:r>
              <a:rPr lang="en-US" sz="2200" b="1" dirty="0" smtClean="0">
                <a:latin typeface="Liberation Sans" panose="020B0604020202020204" pitchFamily="34" charset="0"/>
              </a:rPr>
              <a:t>Prepare the </a:t>
            </a:r>
            <a:r>
              <a:rPr lang="en-US" sz="2200" b="1" dirty="0">
                <a:latin typeface="Liberation Sans" panose="020B0604020202020204" pitchFamily="34" charset="0"/>
              </a:rPr>
              <a:t>entries to record the transactions.</a:t>
            </a:r>
            <a:endParaRPr lang="en-US" altLang="en-US" sz="2200" b="1" dirty="0">
              <a:latin typeface="Liberation Sans" panose="020B0604020202020204" pitchFamily="34" charset="0"/>
            </a:endParaRPr>
          </a:p>
        </p:txBody>
      </p:sp>
      <p:pic>
        <p:nvPicPr>
          <p:cNvPr id="21"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2</a:t>
            </a:r>
          </a:p>
        </p:txBody>
      </p:sp>
      <p:sp>
        <p:nvSpPr>
          <p:cNvPr id="24" name="TextBox 23"/>
          <p:cNvSpPr txBox="1"/>
          <p:nvPr/>
        </p:nvSpPr>
        <p:spPr>
          <a:xfrm>
            <a:off x="3338286" y="508909"/>
            <a:ext cx="5515429" cy="518226"/>
          </a:xfrm>
          <a:prstGeom prst="rect">
            <a:avLst/>
          </a:prstGeom>
          <a:noFill/>
        </p:spPr>
        <p:txBody>
          <a:bodyPr wrap="square" lIns="86493" tIns="43247" rIns="86493" bIns="43247" rtlCol="0">
            <a:spAutoFit/>
          </a:bodyPr>
          <a:lstStyle/>
          <a:p>
            <a:pPr marL="111120" algn="l"/>
            <a:r>
              <a:rPr lang="en-US" sz="2800" b="1" dirty="0" smtClean="0">
                <a:solidFill>
                  <a:schemeClr val="bg1"/>
                </a:solidFill>
                <a:latin typeface="Liberation Sans" panose="020B0604020202020204" pitchFamily="34" charset="0"/>
              </a:rPr>
              <a:t>Recording Business Activities</a:t>
            </a:r>
            <a:endParaRPr lang="en-US" sz="2800" b="1" dirty="0">
              <a:solidFill>
                <a:schemeClr val="bg1"/>
              </a:solidFill>
              <a:latin typeface="Liberation Sans" panose="020B0604020202020204" pitchFamily="34" charset="0"/>
            </a:endParaRPr>
          </a:p>
        </p:txBody>
      </p:sp>
      <p:sp>
        <p:nvSpPr>
          <p:cNvPr id="16"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2</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534419982"/>
      </p:ext>
    </p:extLst>
  </p:cSld>
  <p:clrMapOvr>
    <a:masterClrMapping/>
  </p:clrMapOvr>
  <p:transition>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86" y="357188"/>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smtClean="0">
                <a:solidFill>
                  <a:srgbClr val="FF9900"/>
                </a:solidFill>
                <a:effectLst>
                  <a:outerShdw blurRad="38100" dist="38100" dir="2700000" algn="tl">
                    <a:srgbClr val="000000">
                      <a:alpha val="43137"/>
                    </a:srgbClr>
                  </a:outerShdw>
                </a:effectLst>
                <a:latin typeface="Liberation Sans" panose="020B0604020202020204" pitchFamily="34" charset="0"/>
              </a:rPr>
              <a:t>DO IT!</a:t>
            </a:r>
            <a:endPar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endParaRPr>
          </a:p>
        </p:txBody>
      </p:sp>
      <p:pic>
        <p:nvPicPr>
          <p:cNvPr id="21"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2</a:t>
            </a:r>
          </a:p>
        </p:txBody>
      </p:sp>
      <p:sp>
        <p:nvSpPr>
          <p:cNvPr id="24" name="TextBox 23"/>
          <p:cNvSpPr txBox="1"/>
          <p:nvPr/>
        </p:nvSpPr>
        <p:spPr>
          <a:xfrm>
            <a:off x="3338286" y="508909"/>
            <a:ext cx="5515429" cy="518226"/>
          </a:xfrm>
          <a:prstGeom prst="rect">
            <a:avLst/>
          </a:prstGeom>
          <a:noFill/>
        </p:spPr>
        <p:txBody>
          <a:bodyPr wrap="square" lIns="86493" tIns="43247" rIns="86493" bIns="43247" rtlCol="0">
            <a:spAutoFit/>
          </a:bodyPr>
          <a:lstStyle/>
          <a:p>
            <a:pPr marL="111120" algn="l"/>
            <a:r>
              <a:rPr lang="en-US" sz="2800" b="1" dirty="0" smtClean="0">
                <a:solidFill>
                  <a:schemeClr val="bg1"/>
                </a:solidFill>
                <a:latin typeface="Liberation Sans" panose="020B0604020202020204" pitchFamily="34" charset="0"/>
              </a:rPr>
              <a:t>Recording Business Activities</a:t>
            </a:r>
            <a:endParaRPr lang="en-US" sz="2800" b="1" dirty="0">
              <a:solidFill>
                <a:schemeClr val="bg1"/>
              </a:solidFill>
              <a:latin typeface="Liberation Sans" panose="020B0604020202020204" pitchFamily="34" charset="0"/>
            </a:endParaRPr>
          </a:p>
        </p:txBody>
      </p:sp>
      <p:sp>
        <p:nvSpPr>
          <p:cNvPr id="11" name="Rectangle 2"/>
          <p:cNvSpPr>
            <a:spLocks noChangeArrowheads="1"/>
          </p:cNvSpPr>
          <p:nvPr/>
        </p:nvSpPr>
        <p:spPr bwMode="auto">
          <a:xfrm>
            <a:off x="628649" y="1371600"/>
            <a:ext cx="8058151" cy="4439677"/>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2057400" algn="l"/>
              </a:tabLst>
              <a:defRPr sz="2400">
                <a:solidFill>
                  <a:schemeClr val="tx1"/>
                </a:solidFill>
                <a:latin typeface="Comic Sans MS" pitchFamily="66" charset="0"/>
              </a:defRPr>
            </a:lvl1pPr>
            <a:lvl2pPr marL="742950" indent="-285750">
              <a:tabLst>
                <a:tab pos="2057400" algn="l"/>
              </a:tabLst>
              <a:defRPr sz="2400">
                <a:solidFill>
                  <a:schemeClr val="tx1"/>
                </a:solidFill>
                <a:latin typeface="Comic Sans MS" pitchFamily="66" charset="0"/>
              </a:defRPr>
            </a:lvl2pPr>
            <a:lvl3pPr marL="1143000" indent="-228600">
              <a:tabLst>
                <a:tab pos="2057400" algn="l"/>
              </a:tabLst>
              <a:defRPr sz="2400">
                <a:solidFill>
                  <a:schemeClr val="tx1"/>
                </a:solidFill>
                <a:latin typeface="Comic Sans MS" pitchFamily="66" charset="0"/>
              </a:defRPr>
            </a:lvl3pPr>
            <a:lvl4pPr marL="1600200" indent="-228600">
              <a:tabLst>
                <a:tab pos="2057400" algn="l"/>
              </a:tabLst>
              <a:defRPr sz="2400">
                <a:solidFill>
                  <a:schemeClr val="tx1"/>
                </a:solidFill>
                <a:latin typeface="Comic Sans MS" pitchFamily="66" charset="0"/>
              </a:defRPr>
            </a:lvl4pPr>
            <a:lvl5pPr marL="2057400" indent="-228600">
              <a:tabLst>
                <a:tab pos="2057400" algn="l"/>
              </a:tabLst>
              <a:defRPr sz="2400">
                <a:solidFill>
                  <a:schemeClr val="tx1"/>
                </a:solidFill>
                <a:latin typeface="Comic Sans MS" pitchFamily="66" charset="0"/>
              </a:defRPr>
            </a:lvl5pPr>
            <a:lvl6pPr marL="2514600" indent="-228600" algn="ctr" eaLnBrk="0" fontAlgn="base" hangingPunct="0">
              <a:spcBef>
                <a:spcPct val="0"/>
              </a:spcBef>
              <a:spcAft>
                <a:spcPct val="0"/>
              </a:spcAft>
              <a:tabLst>
                <a:tab pos="2057400" algn="l"/>
              </a:tabLst>
              <a:defRPr sz="2400">
                <a:solidFill>
                  <a:schemeClr val="tx1"/>
                </a:solidFill>
                <a:latin typeface="Comic Sans MS" pitchFamily="66" charset="0"/>
              </a:defRPr>
            </a:lvl6pPr>
            <a:lvl7pPr marL="2971800" indent="-228600" algn="ctr" eaLnBrk="0" fontAlgn="base" hangingPunct="0">
              <a:spcBef>
                <a:spcPct val="0"/>
              </a:spcBef>
              <a:spcAft>
                <a:spcPct val="0"/>
              </a:spcAft>
              <a:tabLst>
                <a:tab pos="2057400" algn="l"/>
              </a:tabLst>
              <a:defRPr sz="2400">
                <a:solidFill>
                  <a:schemeClr val="tx1"/>
                </a:solidFill>
                <a:latin typeface="Comic Sans MS" pitchFamily="66" charset="0"/>
              </a:defRPr>
            </a:lvl7pPr>
            <a:lvl8pPr marL="3429000" indent="-228600" algn="ctr" eaLnBrk="0" fontAlgn="base" hangingPunct="0">
              <a:spcBef>
                <a:spcPct val="0"/>
              </a:spcBef>
              <a:spcAft>
                <a:spcPct val="0"/>
              </a:spcAft>
              <a:tabLst>
                <a:tab pos="2057400" algn="l"/>
              </a:tabLst>
              <a:defRPr sz="2400">
                <a:solidFill>
                  <a:schemeClr val="tx1"/>
                </a:solidFill>
                <a:latin typeface="Comic Sans MS" pitchFamily="66" charset="0"/>
              </a:defRPr>
            </a:lvl8pPr>
            <a:lvl9pPr marL="3886200" indent="-228600" algn="ctr" eaLnBrk="0" fontAlgn="base" hangingPunct="0">
              <a:spcBef>
                <a:spcPct val="0"/>
              </a:spcBef>
              <a:spcAft>
                <a:spcPct val="0"/>
              </a:spcAft>
              <a:tabLst>
                <a:tab pos="2057400" algn="l"/>
              </a:tabLst>
              <a:defRPr sz="2400">
                <a:solidFill>
                  <a:schemeClr val="tx1"/>
                </a:solidFill>
                <a:latin typeface="Comic Sans MS" pitchFamily="66" charset="0"/>
              </a:defRPr>
            </a:lvl9pPr>
          </a:lstStyle>
          <a:p>
            <a:pPr algn="l">
              <a:lnSpc>
                <a:spcPct val="125000"/>
              </a:lnSpc>
              <a:spcBef>
                <a:spcPts val="1200"/>
              </a:spcBef>
            </a:pPr>
            <a:r>
              <a:rPr lang="en-US" sz="2200" b="1" dirty="0">
                <a:latin typeface="Liberation Sans" panose="020B0604020202020204" pitchFamily="34" charset="0"/>
              </a:rPr>
              <a:t>Prepare the entries to record the transactions.</a:t>
            </a:r>
            <a:endParaRPr lang="en-US" altLang="en-US" sz="2200" b="1" dirty="0">
              <a:latin typeface="Liberation Sans" panose="020B0604020202020204" pitchFamily="34" charset="0"/>
            </a:endParaRPr>
          </a:p>
          <a:p>
            <a:pPr marL="457200" indent="-457200" algn="l">
              <a:lnSpc>
                <a:spcPct val="125000"/>
              </a:lnSpc>
              <a:spcBef>
                <a:spcPts val="1200"/>
              </a:spcBef>
              <a:buFont typeface="+mj-lt"/>
              <a:buAutoNum type="arabicPeriod"/>
            </a:pPr>
            <a:r>
              <a:rPr lang="en-US" sz="2200" dirty="0" smtClean="0">
                <a:latin typeface="Liberation Sans" panose="020B0604020202020204" pitchFamily="34" charset="0"/>
              </a:rPr>
              <a:t>Opened </a:t>
            </a:r>
            <a:r>
              <a:rPr lang="en-US" sz="2200" dirty="0">
                <a:latin typeface="Liberation Sans" panose="020B0604020202020204" pitchFamily="34" charset="0"/>
              </a:rPr>
              <a:t>a bank account </a:t>
            </a:r>
            <a:r>
              <a:rPr lang="en-US" sz="2200" dirty="0" smtClean="0">
                <a:latin typeface="Liberation Sans" panose="020B0604020202020204" pitchFamily="34" charset="0"/>
              </a:rPr>
              <a:t>and </a:t>
            </a:r>
            <a:r>
              <a:rPr lang="en-US" sz="2200" dirty="0">
                <a:latin typeface="Liberation Sans" panose="020B0604020202020204" pitchFamily="34" charset="0"/>
              </a:rPr>
              <a:t>deposited $</a:t>
            </a:r>
            <a:r>
              <a:rPr lang="en-US" sz="2200" dirty="0" smtClean="0">
                <a:latin typeface="Liberation Sans" panose="020B0604020202020204" pitchFamily="34" charset="0"/>
              </a:rPr>
              <a:t>20,000.</a:t>
            </a:r>
          </a:p>
          <a:p>
            <a:pPr marL="457200" indent="-457200" algn="l">
              <a:lnSpc>
                <a:spcPct val="125000"/>
              </a:lnSpc>
              <a:spcBef>
                <a:spcPts val="1200"/>
              </a:spcBef>
              <a:buFont typeface="+mj-lt"/>
              <a:buAutoNum type="arabicPeriod"/>
            </a:pPr>
            <a:endParaRPr lang="en-US" sz="2200" dirty="0" smtClean="0">
              <a:latin typeface="Liberation Sans" panose="020B0604020202020204" pitchFamily="34" charset="0"/>
            </a:endParaRPr>
          </a:p>
          <a:p>
            <a:pPr marL="457200" indent="-457200" algn="l">
              <a:lnSpc>
                <a:spcPct val="125000"/>
              </a:lnSpc>
              <a:spcBef>
                <a:spcPts val="3600"/>
              </a:spcBef>
              <a:buFont typeface="+mj-lt"/>
              <a:buAutoNum type="arabicPeriod"/>
            </a:pPr>
            <a:r>
              <a:rPr lang="en-US" sz="2200" dirty="0" smtClean="0">
                <a:latin typeface="Liberation Sans" panose="020B0604020202020204" pitchFamily="34" charset="0"/>
              </a:rPr>
              <a:t>Purchased </a:t>
            </a:r>
            <a:r>
              <a:rPr lang="en-US" sz="2200" dirty="0">
                <a:latin typeface="Liberation Sans" panose="020B0604020202020204" pitchFamily="34" charset="0"/>
              </a:rPr>
              <a:t>equipment on account (to be paid in 30 days) for a total cost of $</a:t>
            </a:r>
            <a:r>
              <a:rPr lang="en-US" sz="2200" dirty="0" smtClean="0">
                <a:latin typeface="Liberation Sans" panose="020B0604020202020204" pitchFamily="34" charset="0"/>
              </a:rPr>
              <a:t>4,800.</a:t>
            </a:r>
          </a:p>
          <a:p>
            <a:pPr marL="457200" indent="-457200" algn="l">
              <a:lnSpc>
                <a:spcPct val="125000"/>
              </a:lnSpc>
              <a:spcBef>
                <a:spcPts val="1200"/>
              </a:spcBef>
              <a:buFont typeface="+mj-lt"/>
              <a:buAutoNum type="arabicPeriod"/>
            </a:pPr>
            <a:endParaRPr lang="en-US" sz="2200" dirty="0">
              <a:latin typeface="Liberation Sans" panose="020B0604020202020204" pitchFamily="34" charset="0"/>
            </a:endParaRPr>
          </a:p>
          <a:p>
            <a:pPr marL="457200" indent="-457200" algn="l">
              <a:lnSpc>
                <a:spcPct val="125000"/>
              </a:lnSpc>
              <a:spcBef>
                <a:spcPts val="3600"/>
              </a:spcBef>
              <a:buFont typeface="+mj-lt"/>
              <a:buAutoNum type="arabicPeriod"/>
            </a:pPr>
            <a:r>
              <a:rPr lang="en-US" sz="2200" dirty="0" smtClean="0">
                <a:latin typeface="Liberation Sans" panose="020B0604020202020204" pitchFamily="34" charset="0"/>
              </a:rPr>
              <a:t>Interviewed </a:t>
            </a:r>
            <a:r>
              <a:rPr lang="en-US" sz="2200" dirty="0">
                <a:latin typeface="Liberation Sans" panose="020B0604020202020204" pitchFamily="34" charset="0"/>
              </a:rPr>
              <a:t>three persons for the position of hair </a:t>
            </a:r>
            <a:r>
              <a:rPr lang="en-US" sz="2200" dirty="0" smtClean="0">
                <a:latin typeface="Liberation Sans" panose="020B0604020202020204" pitchFamily="34" charset="0"/>
              </a:rPr>
              <a:t>stylist.</a:t>
            </a:r>
          </a:p>
        </p:txBody>
      </p:sp>
      <p:sp>
        <p:nvSpPr>
          <p:cNvPr id="40963" name="Rectangle 5"/>
          <p:cNvSpPr>
            <a:spLocks noChangeArrowheads="1"/>
          </p:cNvSpPr>
          <p:nvPr/>
        </p:nvSpPr>
        <p:spPr bwMode="auto">
          <a:xfrm>
            <a:off x="1524000" y="2438400"/>
            <a:ext cx="6324600" cy="830997"/>
          </a:xfrm>
          <a:prstGeom prst="rect">
            <a:avLst/>
          </a:prstGeom>
          <a:solidFill>
            <a:schemeClr val="bg1"/>
          </a:solidFill>
          <a:ln>
            <a:noFill/>
          </a:ln>
          <a:effectLst/>
          <a:extLst>
            <a:ext uri="{91240B29-F687-4F45-9708-019B960494DF}">
              <a14:hiddenLine xmlns:a14="http://schemas.microsoft.com/office/drawing/2010/main" w="12700" cap="sq"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1428750" algn="l"/>
                <a:tab pos="2057400" algn="l"/>
                <a:tab pos="5715000" algn="r"/>
                <a:tab pos="6972300" algn="r"/>
              </a:tabLst>
              <a:defRPr sz="2400">
                <a:solidFill>
                  <a:schemeClr val="tx1"/>
                </a:solidFill>
                <a:latin typeface="Comic Sans MS" pitchFamily="66" charset="0"/>
              </a:defRPr>
            </a:lvl1pPr>
            <a:lvl2pPr marL="742950" indent="-285750">
              <a:tabLst>
                <a:tab pos="1428750" algn="l"/>
                <a:tab pos="2057400" algn="l"/>
                <a:tab pos="5715000" algn="r"/>
                <a:tab pos="6972300" algn="r"/>
              </a:tabLst>
              <a:defRPr sz="2400">
                <a:solidFill>
                  <a:schemeClr val="tx1"/>
                </a:solidFill>
                <a:latin typeface="Comic Sans MS" pitchFamily="66" charset="0"/>
              </a:defRPr>
            </a:lvl2pPr>
            <a:lvl3pPr marL="1143000" indent="-228600">
              <a:tabLst>
                <a:tab pos="1428750" algn="l"/>
                <a:tab pos="2057400" algn="l"/>
                <a:tab pos="5715000" algn="r"/>
                <a:tab pos="6972300" algn="r"/>
              </a:tabLst>
              <a:defRPr sz="2400">
                <a:solidFill>
                  <a:schemeClr val="tx1"/>
                </a:solidFill>
                <a:latin typeface="Comic Sans MS" pitchFamily="66" charset="0"/>
              </a:defRPr>
            </a:lvl3pPr>
            <a:lvl4pPr marL="1600200" indent="-228600">
              <a:tabLst>
                <a:tab pos="1428750" algn="l"/>
                <a:tab pos="2057400" algn="l"/>
                <a:tab pos="5715000" algn="r"/>
                <a:tab pos="6972300" algn="r"/>
              </a:tabLst>
              <a:defRPr sz="2400">
                <a:solidFill>
                  <a:schemeClr val="tx1"/>
                </a:solidFill>
                <a:latin typeface="Comic Sans MS" pitchFamily="66" charset="0"/>
              </a:defRPr>
            </a:lvl4pPr>
            <a:lvl5pPr marL="2057400" indent="-228600">
              <a:tabLst>
                <a:tab pos="1428750" algn="l"/>
                <a:tab pos="2057400" algn="l"/>
                <a:tab pos="5715000" algn="r"/>
                <a:tab pos="6972300" algn="r"/>
              </a:tabLst>
              <a:defRPr sz="2400">
                <a:solidFill>
                  <a:schemeClr val="tx1"/>
                </a:solidFill>
                <a:latin typeface="Comic Sans MS" pitchFamily="66" charset="0"/>
              </a:defRPr>
            </a:lvl5pPr>
            <a:lvl6pPr marL="25146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6pPr>
            <a:lvl7pPr marL="29718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7pPr>
            <a:lvl8pPr marL="34290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8pPr>
            <a:lvl9pPr marL="38862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9pPr>
          </a:lstStyle>
          <a:p>
            <a:pPr marL="457200" indent="-457200" algn="l">
              <a:lnSpc>
                <a:spcPct val="120000"/>
              </a:lnSpc>
              <a:tabLst>
                <a:tab pos="4454525" algn="r"/>
                <a:tab pos="5943600" algn="r"/>
              </a:tabLst>
            </a:pPr>
            <a:r>
              <a:rPr lang="en-US" altLang="en-US" sz="2100" dirty="0" smtClean="0">
                <a:latin typeface="Liberation Sans" panose="020B0604020202020204" pitchFamily="34" charset="0"/>
              </a:rPr>
              <a:t>Cash 	20,000</a:t>
            </a:r>
            <a:endParaRPr lang="en-US" altLang="en-US" sz="2100" dirty="0">
              <a:latin typeface="Liberation Sans" panose="020B0604020202020204" pitchFamily="34" charset="0"/>
            </a:endParaRPr>
          </a:p>
          <a:p>
            <a:pPr marL="457200" indent="-457200" algn="l">
              <a:lnSpc>
                <a:spcPct val="120000"/>
              </a:lnSpc>
              <a:tabLst>
                <a:tab pos="4454525" algn="r"/>
                <a:tab pos="5943600" algn="r"/>
              </a:tabLst>
            </a:pPr>
            <a:r>
              <a:rPr lang="en-US" altLang="en-US" sz="2100" dirty="0" smtClean="0">
                <a:latin typeface="Liberation Sans" panose="020B0604020202020204" pitchFamily="34" charset="0"/>
              </a:rPr>
              <a:t>	Owner’s Capital </a:t>
            </a:r>
            <a:r>
              <a:rPr lang="en-US" altLang="en-US" sz="2100" dirty="0">
                <a:latin typeface="Liberation Sans" panose="020B0604020202020204" pitchFamily="34" charset="0"/>
              </a:rPr>
              <a:t>		</a:t>
            </a:r>
            <a:r>
              <a:rPr lang="en-US" altLang="en-US" sz="2100" dirty="0" smtClean="0">
                <a:latin typeface="Liberation Sans" panose="020B0604020202020204" pitchFamily="34" charset="0"/>
              </a:rPr>
              <a:t>20,000</a:t>
            </a:r>
            <a:endParaRPr lang="en-US" altLang="en-US" sz="2100" dirty="0">
              <a:latin typeface="Liberation Sans" panose="020B0604020202020204" pitchFamily="34" charset="0"/>
            </a:endParaRPr>
          </a:p>
        </p:txBody>
      </p:sp>
      <p:sp>
        <p:nvSpPr>
          <p:cNvPr id="12" name="Rectangle 5"/>
          <p:cNvSpPr>
            <a:spLocks noChangeArrowheads="1"/>
          </p:cNvSpPr>
          <p:nvPr/>
        </p:nvSpPr>
        <p:spPr bwMode="auto">
          <a:xfrm>
            <a:off x="1524000" y="4343400"/>
            <a:ext cx="6324600" cy="830997"/>
          </a:xfrm>
          <a:prstGeom prst="rect">
            <a:avLst/>
          </a:prstGeom>
          <a:solidFill>
            <a:schemeClr val="bg1"/>
          </a:solidFill>
          <a:ln>
            <a:noFill/>
          </a:ln>
          <a:effectLst/>
          <a:extLst>
            <a:ext uri="{91240B29-F687-4F45-9708-019B960494DF}">
              <a14:hiddenLine xmlns:a14="http://schemas.microsoft.com/office/drawing/2010/main" w="12700" cap="sq"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1428750" algn="l"/>
                <a:tab pos="2057400" algn="l"/>
                <a:tab pos="5715000" algn="r"/>
                <a:tab pos="6972300" algn="r"/>
              </a:tabLst>
              <a:defRPr sz="2400">
                <a:solidFill>
                  <a:schemeClr val="tx1"/>
                </a:solidFill>
                <a:latin typeface="Comic Sans MS" pitchFamily="66" charset="0"/>
              </a:defRPr>
            </a:lvl1pPr>
            <a:lvl2pPr marL="742950" indent="-285750">
              <a:tabLst>
                <a:tab pos="1428750" algn="l"/>
                <a:tab pos="2057400" algn="l"/>
                <a:tab pos="5715000" algn="r"/>
                <a:tab pos="6972300" algn="r"/>
              </a:tabLst>
              <a:defRPr sz="2400">
                <a:solidFill>
                  <a:schemeClr val="tx1"/>
                </a:solidFill>
                <a:latin typeface="Comic Sans MS" pitchFamily="66" charset="0"/>
              </a:defRPr>
            </a:lvl2pPr>
            <a:lvl3pPr marL="1143000" indent="-228600">
              <a:tabLst>
                <a:tab pos="1428750" algn="l"/>
                <a:tab pos="2057400" algn="l"/>
                <a:tab pos="5715000" algn="r"/>
                <a:tab pos="6972300" algn="r"/>
              </a:tabLst>
              <a:defRPr sz="2400">
                <a:solidFill>
                  <a:schemeClr val="tx1"/>
                </a:solidFill>
                <a:latin typeface="Comic Sans MS" pitchFamily="66" charset="0"/>
              </a:defRPr>
            </a:lvl3pPr>
            <a:lvl4pPr marL="1600200" indent="-228600">
              <a:tabLst>
                <a:tab pos="1428750" algn="l"/>
                <a:tab pos="2057400" algn="l"/>
                <a:tab pos="5715000" algn="r"/>
                <a:tab pos="6972300" algn="r"/>
              </a:tabLst>
              <a:defRPr sz="2400">
                <a:solidFill>
                  <a:schemeClr val="tx1"/>
                </a:solidFill>
                <a:latin typeface="Comic Sans MS" pitchFamily="66" charset="0"/>
              </a:defRPr>
            </a:lvl4pPr>
            <a:lvl5pPr marL="2057400" indent="-228600">
              <a:tabLst>
                <a:tab pos="1428750" algn="l"/>
                <a:tab pos="2057400" algn="l"/>
                <a:tab pos="5715000" algn="r"/>
                <a:tab pos="6972300" algn="r"/>
              </a:tabLst>
              <a:defRPr sz="2400">
                <a:solidFill>
                  <a:schemeClr val="tx1"/>
                </a:solidFill>
                <a:latin typeface="Comic Sans MS" pitchFamily="66" charset="0"/>
              </a:defRPr>
            </a:lvl5pPr>
            <a:lvl6pPr marL="25146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6pPr>
            <a:lvl7pPr marL="29718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7pPr>
            <a:lvl8pPr marL="34290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8pPr>
            <a:lvl9pPr marL="38862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9pPr>
          </a:lstStyle>
          <a:p>
            <a:pPr marL="457200" indent="-457200" algn="l">
              <a:lnSpc>
                <a:spcPct val="120000"/>
              </a:lnSpc>
              <a:tabLst>
                <a:tab pos="4454525" algn="r"/>
                <a:tab pos="5943600" algn="r"/>
              </a:tabLst>
            </a:pPr>
            <a:r>
              <a:rPr lang="en-US" altLang="en-US" sz="2100" dirty="0" smtClean="0">
                <a:latin typeface="Liberation Sans" panose="020B0604020202020204" pitchFamily="34" charset="0"/>
              </a:rPr>
              <a:t>Equipment 	4,800</a:t>
            </a:r>
            <a:endParaRPr lang="en-US" altLang="en-US" sz="2100" dirty="0">
              <a:latin typeface="Liberation Sans" panose="020B0604020202020204" pitchFamily="34" charset="0"/>
            </a:endParaRPr>
          </a:p>
          <a:p>
            <a:pPr marL="457200" indent="-457200" algn="l">
              <a:lnSpc>
                <a:spcPct val="120000"/>
              </a:lnSpc>
              <a:tabLst>
                <a:tab pos="4454525" algn="r"/>
                <a:tab pos="5943600" algn="r"/>
              </a:tabLst>
            </a:pPr>
            <a:r>
              <a:rPr lang="en-US" altLang="en-US" sz="2100" dirty="0" smtClean="0">
                <a:latin typeface="Liberation Sans" panose="020B0604020202020204" pitchFamily="34" charset="0"/>
              </a:rPr>
              <a:t>	Accounts Payable </a:t>
            </a:r>
            <a:r>
              <a:rPr lang="en-US" altLang="en-US" sz="2100" dirty="0">
                <a:latin typeface="Liberation Sans" panose="020B0604020202020204" pitchFamily="34" charset="0"/>
              </a:rPr>
              <a:t>		</a:t>
            </a:r>
            <a:r>
              <a:rPr lang="en-US" altLang="en-US" sz="2100" dirty="0" smtClean="0">
                <a:latin typeface="Liberation Sans" panose="020B0604020202020204" pitchFamily="34" charset="0"/>
              </a:rPr>
              <a:t>4,800</a:t>
            </a:r>
            <a:endParaRPr lang="en-US" altLang="en-US" sz="2100" dirty="0">
              <a:latin typeface="Liberation Sans" panose="020B0604020202020204" pitchFamily="34" charset="0"/>
            </a:endParaRPr>
          </a:p>
        </p:txBody>
      </p:sp>
      <p:sp>
        <p:nvSpPr>
          <p:cNvPr id="13" name="Rectangle 5"/>
          <p:cNvSpPr>
            <a:spLocks noChangeArrowheads="1"/>
          </p:cNvSpPr>
          <p:nvPr/>
        </p:nvSpPr>
        <p:spPr bwMode="auto">
          <a:xfrm>
            <a:off x="1524000" y="5791200"/>
            <a:ext cx="1378857" cy="461665"/>
          </a:xfrm>
          <a:prstGeom prst="rect">
            <a:avLst/>
          </a:prstGeom>
          <a:solidFill>
            <a:schemeClr val="bg1"/>
          </a:solidFill>
          <a:ln>
            <a:noFill/>
          </a:ln>
          <a:effectLst/>
          <a:extLst>
            <a:ext uri="{91240B29-F687-4F45-9708-019B960494DF}">
              <a14:hiddenLine xmlns:a14="http://schemas.microsoft.com/office/drawing/2010/main" w="12700" cap="sq"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1428750" algn="l"/>
                <a:tab pos="2057400" algn="l"/>
                <a:tab pos="5715000" algn="r"/>
                <a:tab pos="6972300" algn="r"/>
              </a:tabLst>
              <a:defRPr sz="2400">
                <a:solidFill>
                  <a:schemeClr val="tx1"/>
                </a:solidFill>
                <a:latin typeface="Comic Sans MS" pitchFamily="66" charset="0"/>
              </a:defRPr>
            </a:lvl1pPr>
            <a:lvl2pPr marL="742950" indent="-285750">
              <a:tabLst>
                <a:tab pos="1428750" algn="l"/>
                <a:tab pos="2057400" algn="l"/>
                <a:tab pos="5715000" algn="r"/>
                <a:tab pos="6972300" algn="r"/>
              </a:tabLst>
              <a:defRPr sz="2400">
                <a:solidFill>
                  <a:schemeClr val="tx1"/>
                </a:solidFill>
                <a:latin typeface="Comic Sans MS" pitchFamily="66" charset="0"/>
              </a:defRPr>
            </a:lvl2pPr>
            <a:lvl3pPr marL="1143000" indent="-228600">
              <a:tabLst>
                <a:tab pos="1428750" algn="l"/>
                <a:tab pos="2057400" algn="l"/>
                <a:tab pos="5715000" algn="r"/>
                <a:tab pos="6972300" algn="r"/>
              </a:tabLst>
              <a:defRPr sz="2400">
                <a:solidFill>
                  <a:schemeClr val="tx1"/>
                </a:solidFill>
                <a:latin typeface="Comic Sans MS" pitchFamily="66" charset="0"/>
              </a:defRPr>
            </a:lvl3pPr>
            <a:lvl4pPr marL="1600200" indent="-228600">
              <a:tabLst>
                <a:tab pos="1428750" algn="l"/>
                <a:tab pos="2057400" algn="l"/>
                <a:tab pos="5715000" algn="r"/>
                <a:tab pos="6972300" algn="r"/>
              </a:tabLst>
              <a:defRPr sz="2400">
                <a:solidFill>
                  <a:schemeClr val="tx1"/>
                </a:solidFill>
                <a:latin typeface="Comic Sans MS" pitchFamily="66" charset="0"/>
              </a:defRPr>
            </a:lvl4pPr>
            <a:lvl5pPr marL="2057400" indent="-228600">
              <a:tabLst>
                <a:tab pos="1428750" algn="l"/>
                <a:tab pos="2057400" algn="l"/>
                <a:tab pos="5715000" algn="r"/>
                <a:tab pos="6972300" algn="r"/>
              </a:tabLst>
              <a:defRPr sz="2400">
                <a:solidFill>
                  <a:schemeClr val="tx1"/>
                </a:solidFill>
                <a:latin typeface="Comic Sans MS" pitchFamily="66" charset="0"/>
              </a:defRPr>
            </a:lvl5pPr>
            <a:lvl6pPr marL="25146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6pPr>
            <a:lvl7pPr marL="29718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7pPr>
            <a:lvl8pPr marL="34290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8pPr>
            <a:lvl9pPr marL="38862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9pPr>
          </a:lstStyle>
          <a:p>
            <a:pPr marL="457200" indent="-457200" algn="l">
              <a:lnSpc>
                <a:spcPct val="120000"/>
              </a:lnSpc>
              <a:tabLst>
                <a:tab pos="4454525" algn="r"/>
                <a:tab pos="5943600" algn="r"/>
              </a:tabLst>
            </a:pPr>
            <a:r>
              <a:rPr lang="en-US" altLang="en-US" sz="2100" dirty="0" smtClean="0">
                <a:latin typeface="Liberation Sans" panose="020B0604020202020204" pitchFamily="34" charset="0"/>
              </a:rPr>
              <a:t>No entry</a:t>
            </a:r>
            <a:endParaRPr lang="en-US" altLang="en-US" sz="2100" dirty="0">
              <a:latin typeface="Liberation Sans" panose="020B0604020202020204" pitchFamily="34" charset="0"/>
            </a:endParaRPr>
          </a:p>
        </p:txBody>
      </p:sp>
      <p:sp>
        <p:nvSpPr>
          <p:cNvPr id="14"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2</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223502116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wipe(left)">
                                      <p:cBhvr>
                                        <p:cTn id="7" dur="500"/>
                                        <p:tgtEl>
                                          <p:spTgt spid="40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animEffect transition="in" filter="wipe(left)">
                                      <p:cBhvr>
                                        <p:cTn id="12" dur="500"/>
                                        <p:tgtEl>
                                          <p:spTgt spid="409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wipe(left)">
                                      <p:cBhvr>
                                        <p:cTn id="17" dur="500"/>
                                        <p:tgtEl>
                                          <p:spTgt spid="1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1" end="1"/>
                                            </p:txEl>
                                          </p:spTgt>
                                        </p:tgtEl>
                                        <p:attrNameLst>
                                          <p:attrName>style.visibility</p:attrName>
                                        </p:attrNameLst>
                                      </p:cBhvr>
                                      <p:to>
                                        <p:strVal val="visible"/>
                                      </p:to>
                                    </p:set>
                                    <p:animEffect transition="in" filter="wipe(left)">
                                      <p:cBhvr>
                                        <p:cTn id="22" dur="500"/>
                                        <p:tgtEl>
                                          <p:spTgt spid="1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bldLvl="2" autoUpdateAnimBg="0"/>
      <p:bldP spid="12" grpId="0" build="p" bldLvl="2" autoUpdateAnimBg="0"/>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6"/>
          <p:cNvSpPr txBox="1">
            <a:spLocks noChangeArrowheads="1"/>
          </p:cNvSpPr>
          <p:nvPr/>
        </p:nvSpPr>
        <p:spPr bwMode="auto">
          <a:xfrm>
            <a:off x="762000" y="2059987"/>
            <a:ext cx="8001000" cy="83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marL="457200" indent="-457200">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15000"/>
              </a:lnSpc>
              <a:spcAft>
                <a:spcPct val="50000"/>
              </a:spcAft>
              <a:buClr>
                <a:srgbClr val="800000"/>
              </a:buClr>
              <a:buSzPct val="80000"/>
              <a:buFont typeface="Wingdings" pitchFamily="2" charset="2"/>
              <a:buChar char="u"/>
            </a:pPr>
            <a:r>
              <a:rPr lang="en-US" altLang="en-US" sz="2100" b="1" dirty="0">
                <a:solidFill>
                  <a:schemeClr val="hlink"/>
                </a:solidFill>
                <a:latin typeface="Liberation Sans" panose="020B0604020202020204" pitchFamily="34" charset="0"/>
              </a:rPr>
              <a:t>General Ledger</a:t>
            </a:r>
            <a:r>
              <a:rPr lang="en-US" altLang="en-US" sz="2100" dirty="0">
                <a:latin typeface="Liberation Sans" panose="020B0604020202020204" pitchFamily="34" charset="0"/>
              </a:rPr>
              <a:t> </a:t>
            </a:r>
            <a:r>
              <a:rPr lang="en-US" altLang="en-US" sz="2100" dirty="0" smtClean="0">
                <a:latin typeface="Liberation Sans" panose="020B0604020202020204" pitchFamily="34" charset="0"/>
              </a:rPr>
              <a:t>contains </a:t>
            </a:r>
            <a:r>
              <a:rPr lang="en-US" sz="2100" dirty="0" smtClean="0">
                <a:latin typeface="Liberation Sans" panose="020B0604020202020204" pitchFamily="34" charset="0"/>
              </a:rPr>
              <a:t>all </a:t>
            </a:r>
            <a:r>
              <a:rPr lang="en-US" sz="2100" dirty="0">
                <a:latin typeface="Liberation Sans" panose="020B0604020202020204" pitchFamily="34" charset="0"/>
              </a:rPr>
              <a:t>the asset, liability, and owner’s </a:t>
            </a:r>
            <a:r>
              <a:rPr lang="en-US" sz="2100" dirty="0" smtClean="0">
                <a:latin typeface="Liberation Sans" panose="020B0604020202020204" pitchFamily="34" charset="0"/>
              </a:rPr>
              <a:t>equity accounts.</a:t>
            </a:r>
            <a:endParaRPr lang="en-US" altLang="en-US" sz="2100" dirty="0">
              <a:latin typeface="Liberation Sans" panose="020B0604020202020204" pitchFamily="34" charset="0"/>
            </a:endParaRPr>
          </a:p>
        </p:txBody>
      </p:sp>
      <p:sp>
        <p:nvSpPr>
          <p:cNvPr id="24580" name="Rectangle 5"/>
          <p:cNvSpPr>
            <a:spLocks noChangeArrowheads="1"/>
          </p:cNvSpPr>
          <p:nvPr/>
        </p:nvSpPr>
        <p:spPr bwMode="auto">
          <a:xfrm>
            <a:off x="7086600" y="2878137"/>
            <a:ext cx="152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r"/>
            <a:r>
              <a:rPr lang="en-US" altLang="en-US" sz="1200" b="1" dirty="0">
                <a:latin typeface="Liberation Sans" panose="020B0604020202020204" pitchFamily="34" charset="0"/>
              </a:rPr>
              <a:t>Illustration 2-15</a:t>
            </a:r>
          </a:p>
        </p:txBody>
      </p:sp>
      <p:sp>
        <p:nvSpPr>
          <p:cNvPr id="24581" name="Rectangle 6"/>
          <p:cNvSpPr>
            <a:spLocks noChangeArrowheads="1"/>
          </p:cNvSpPr>
          <p:nvPr/>
        </p:nvSpPr>
        <p:spPr bwMode="auto">
          <a:xfrm>
            <a:off x="533400" y="1423399"/>
            <a:ext cx="8001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buSzPct val="80000"/>
            </a:pPr>
            <a:r>
              <a:rPr lang="en-US" altLang="en-US" sz="2800" b="1" dirty="0">
                <a:solidFill>
                  <a:schemeClr val="tx2">
                    <a:lumMod val="75000"/>
                  </a:schemeClr>
                </a:solidFill>
                <a:latin typeface="Liberation Sans" panose="020B0604020202020204" pitchFamily="34" charset="0"/>
              </a:rPr>
              <a:t>The Ledger</a:t>
            </a:r>
          </a:p>
        </p:txBody>
      </p:sp>
      <p:pic>
        <p:nvPicPr>
          <p:cNvPr id="2458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3182937"/>
            <a:ext cx="7999412" cy="283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6"/>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latin typeface="Liberation Sans" panose="020B0604020202020204" pitchFamily="34" charset="0"/>
              </a:rPr>
              <a:t>LEARNING</a:t>
            </a:r>
          </a:p>
          <a:p>
            <a:pPr algn="l"/>
            <a:r>
              <a:rPr lang="en-US" altLang="en-US" sz="1700" b="1" dirty="0">
                <a:latin typeface="Liberation Sans" panose="020B0604020202020204" pitchFamily="34" charset="0"/>
              </a:rPr>
              <a:t>OBJECTIVE</a:t>
            </a:r>
          </a:p>
        </p:txBody>
      </p:sp>
      <p:sp>
        <p:nvSpPr>
          <p:cNvPr id="10"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tIns="27432" anchor="ctr"/>
          <a:lstStyle/>
          <a:p>
            <a:pPr marL="117475" algn="l"/>
            <a:r>
              <a:rPr lang="en-US" sz="2100" b="1" dirty="0" smtClean="0">
                <a:solidFill>
                  <a:schemeClr val="bg1"/>
                </a:solidFill>
                <a:latin typeface="Liberation Sans" panose="020B0604020202020204" pitchFamily="34" charset="0"/>
              </a:rPr>
              <a:t>Explain </a:t>
            </a:r>
            <a:r>
              <a:rPr lang="en-US" sz="2100" b="1" dirty="0">
                <a:solidFill>
                  <a:schemeClr val="bg1"/>
                </a:solidFill>
                <a:latin typeface="Liberation Sans" panose="020B0604020202020204" pitchFamily="34" charset="0"/>
              </a:rPr>
              <a:t>how a ledger and posting help in the recording process</a:t>
            </a:r>
            <a:r>
              <a:rPr lang="en-US" sz="2100" b="1" dirty="0" smtClean="0">
                <a:solidFill>
                  <a:schemeClr val="bg1"/>
                </a:solidFill>
                <a:latin typeface="Liberation Sans" panose="020B0604020202020204" pitchFamily="34" charset="0"/>
              </a:rPr>
              <a:t>.</a:t>
            </a:r>
            <a:endParaRPr lang="en-US" sz="2100" b="1" dirty="0">
              <a:solidFill>
                <a:schemeClr val="bg1"/>
              </a:solidFill>
              <a:latin typeface="Liberation Sans" panose="020B0604020202020204" pitchFamily="34" charset="0"/>
            </a:endParaRPr>
          </a:p>
        </p:txBody>
      </p:sp>
      <p:sp>
        <p:nvSpPr>
          <p:cNvPr id="11" name="Oval 10"/>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prstTxWarp prst="textNoShape">
              <a:avLst/>
            </a:prstTxWarp>
            <a:noAutofit/>
          </a:bodyPr>
          <a:lstStyle/>
          <a:p>
            <a:pPr algn="ctr"/>
            <a:r>
              <a:rPr lang="en-US" b="1" dirty="0" smtClean="0">
                <a:solidFill>
                  <a:schemeClr val="bg1"/>
                </a:solidFill>
                <a:latin typeface="Liberation Sans" panose="020B0604020202020204" pitchFamily="34" charset="0"/>
              </a:rPr>
              <a:t>3</a:t>
            </a:r>
            <a:endParaRPr lang="en-US" b="1" dirty="0">
              <a:solidFill>
                <a:schemeClr val="bg1"/>
              </a:solidFill>
              <a:latin typeface="Liberation Sans" panose="020B0604020202020204" pitchFamily="34" charset="0"/>
            </a:endParaRPr>
          </a:p>
        </p:txBody>
      </p:sp>
      <p:sp>
        <p:nvSpPr>
          <p:cNvPr id="12"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2"/>
          <p:cNvSpPr>
            <a:spLocks noChangeArrowheads="1"/>
          </p:cNvSpPr>
          <p:nvPr/>
        </p:nvSpPr>
        <p:spPr bwMode="auto">
          <a:xfrm>
            <a:off x="4267200" y="3886200"/>
            <a:ext cx="1295400" cy="304800"/>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endParaRPr lang="en-US" altLang="en-US" dirty="0"/>
          </a:p>
        </p:txBody>
      </p:sp>
      <p:pic>
        <p:nvPicPr>
          <p:cNvPr id="1177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499" y="609600"/>
            <a:ext cx="8453540" cy="4624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smtClean="0">
                <a:solidFill>
                  <a:schemeClr val="tx2">
                    <a:lumMod val="75000"/>
                  </a:schemeClr>
                </a:solidFill>
                <a:latin typeface="Liberation Sans" panose="020B0604020202020204" pitchFamily="34" charset="0"/>
              </a:rPr>
              <a:t>The Ledger</a:t>
            </a:r>
            <a:endParaRPr lang="en-US" altLang="en-US" sz="3200" b="1" dirty="0">
              <a:solidFill>
                <a:schemeClr val="tx2">
                  <a:lumMod val="75000"/>
                </a:schemeClr>
              </a:solidFill>
              <a:latin typeface="Liberation Sans" panose="020B0604020202020204" pitchFamily="34" charset="0"/>
            </a:endParaRPr>
          </a:p>
        </p:txBody>
      </p:sp>
      <p:sp>
        <p:nvSpPr>
          <p:cNvPr id="26629" name="Line 9"/>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26630" name="Text Box 2"/>
          <p:cNvSpPr txBox="1">
            <a:spLocks noChangeArrowheads="1"/>
          </p:cNvSpPr>
          <p:nvPr/>
        </p:nvSpPr>
        <p:spPr bwMode="auto">
          <a:xfrm>
            <a:off x="533400" y="1295400"/>
            <a:ext cx="82296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buSzPct val="80000"/>
            </a:pPr>
            <a:r>
              <a:rPr lang="en-US" altLang="en-US" sz="2700" b="1" dirty="0" smtClean="0">
                <a:solidFill>
                  <a:schemeClr val="tx2">
                    <a:lumMod val="75000"/>
                  </a:schemeClr>
                </a:solidFill>
                <a:latin typeface="Liberation Sans" panose="020B0604020202020204" pitchFamily="34" charset="0"/>
              </a:rPr>
              <a:t>STANDARD FORM OF ACCOUNT</a:t>
            </a:r>
            <a:endParaRPr lang="en-US" altLang="en-US" sz="2700" b="1" dirty="0">
              <a:solidFill>
                <a:schemeClr val="tx2">
                  <a:lumMod val="75000"/>
                </a:schemeClr>
              </a:solidFill>
              <a:latin typeface="Liberation Sans" panose="020B0604020202020204" pitchFamily="34" charset="0"/>
            </a:endParaRPr>
          </a:p>
        </p:txBody>
      </p:sp>
      <p:pic>
        <p:nvPicPr>
          <p:cNvPr id="1187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1" y="2103437"/>
            <a:ext cx="8401050" cy="2908321"/>
          </a:xfrm>
          <a:prstGeom prst="rect">
            <a:avLst/>
          </a:prstGeom>
          <a:noFill/>
          <a:ln w="190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Lst>
        </p:spPr>
      </p:pic>
      <p:sp>
        <p:nvSpPr>
          <p:cNvPr id="2" name="Rectangle 1"/>
          <p:cNvSpPr/>
          <p:nvPr/>
        </p:nvSpPr>
        <p:spPr>
          <a:xfrm>
            <a:off x="7239000" y="1411069"/>
            <a:ext cx="1524000" cy="646331"/>
          </a:xfrm>
          <a:prstGeom prst="rect">
            <a:avLst/>
          </a:prstGeom>
        </p:spPr>
        <p:txBody>
          <a:bodyPr wrap="square">
            <a:spAutoFit/>
          </a:bodyPr>
          <a:lstStyle/>
          <a:p>
            <a:pPr algn="l"/>
            <a:r>
              <a:rPr lang="en-US" sz="1200" b="1" dirty="0">
                <a:latin typeface="Liberation Sans" panose="020B0604020202020204" pitchFamily="34" charset="0"/>
              </a:rPr>
              <a:t>Illustration 2-16</a:t>
            </a:r>
          </a:p>
          <a:p>
            <a:pPr algn="l"/>
            <a:r>
              <a:rPr lang="en-US" sz="1200" dirty="0">
                <a:latin typeface="Liberation Sans" panose="020B0604020202020204" pitchFamily="34" charset="0"/>
              </a:rPr>
              <a:t>Three-column form of account</a:t>
            </a:r>
          </a:p>
        </p:txBody>
      </p:sp>
      <p:sp>
        <p:nvSpPr>
          <p:cNvPr id="11"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20" name="Text Box 4"/>
          <p:cNvSpPr txBox="1">
            <a:spLocks noChangeArrowheads="1"/>
          </p:cNvSpPr>
          <p:nvPr/>
        </p:nvSpPr>
        <p:spPr bwMode="auto">
          <a:xfrm>
            <a:off x="304800" y="1295400"/>
            <a:ext cx="1905000" cy="2142125"/>
          </a:xfrm>
          <a:prstGeom prst="rect">
            <a:avLst/>
          </a:prstGeom>
          <a:noFill/>
          <a:ln w="12700">
            <a:noFill/>
            <a:miter lim="800000"/>
            <a:headEnd/>
            <a:tailEnd/>
          </a:ln>
          <a:effec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0000"/>
              </a:lnSpc>
              <a:spcBef>
                <a:spcPct val="50000"/>
              </a:spcBef>
              <a:defRPr/>
            </a:pPr>
            <a:r>
              <a:rPr lang="en-US" sz="2700" b="1" dirty="0" smtClean="0">
                <a:solidFill>
                  <a:schemeClr val="tx2">
                    <a:lumMod val="75000"/>
                  </a:schemeClr>
                </a:solidFill>
                <a:latin typeface="Liberation Sans" panose="020B0604020202020204" pitchFamily="34" charset="0"/>
              </a:rPr>
              <a:t>POSTING</a:t>
            </a:r>
            <a:r>
              <a:rPr lang="en-US" sz="2100" b="1" dirty="0" smtClean="0">
                <a:solidFill>
                  <a:srgbClr val="800000"/>
                </a:solidFill>
                <a:effectLst>
                  <a:outerShdw blurRad="38100" dist="38100" dir="2700000" algn="tl">
                    <a:srgbClr val="C0C0C0"/>
                  </a:outerShdw>
                </a:effectLst>
                <a:latin typeface="Liberation Sans" panose="020B0604020202020204" pitchFamily="34" charset="0"/>
                <a:cs typeface="Arial" charset="0"/>
              </a:rPr>
              <a:t> </a:t>
            </a:r>
            <a:r>
              <a:rPr lang="en-US" sz="2100" dirty="0">
                <a:latin typeface="Liberation Sans" panose="020B0604020202020204" pitchFamily="34" charset="0"/>
                <a:cs typeface="Arial" charset="0"/>
              </a:rPr>
              <a:t>Tra</a:t>
            </a:r>
            <a:r>
              <a:rPr lang="en-US" sz="2100" dirty="0" smtClean="0">
                <a:latin typeface="Liberation Sans" panose="020B0604020202020204" pitchFamily="34" charset="0"/>
                <a:cs typeface="Arial" charset="0"/>
              </a:rPr>
              <a:t>nsferring journal entries to the ledger accounts. </a:t>
            </a:r>
          </a:p>
        </p:txBody>
      </p:sp>
      <p:sp>
        <p:nvSpPr>
          <p:cNvPr id="27651" name="Rectangle 21"/>
          <p:cNvSpPr>
            <a:spLocks noChangeArrowheads="1"/>
          </p:cNvSpPr>
          <p:nvPr/>
        </p:nvSpPr>
        <p:spPr bwMode="auto">
          <a:xfrm>
            <a:off x="914400" y="5562600"/>
            <a:ext cx="1524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r>
              <a:rPr lang="en-US" altLang="en-US" sz="1200" b="1" dirty="0">
                <a:latin typeface="Liberation Sans" panose="020B0604020202020204" pitchFamily="34" charset="0"/>
              </a:rPr>
              <a:t>Illustration </a:t>
            </a:r>
            <a:r>
              <a:rPr lang="en-US" altLang="en-US" sz="1200" b="1" dirty="0" smtClean="0">
                <a:latin typeface="Liberation Sans" panose="020B0604020202020204" pitchFamily="34" charset="0"/>
              </a:rPr>
              <a:t>2-17</a:t>
            </a:r>
          </a:p>
          <a:p>
            <a:pPr algn="l"/>
            <a:r>
              <a:rPr lang="en-US" altLang="en-US" sz="1200" dirty="0" smtClean="0">
                <a:latin typeface="Liberation Sans" panose="020B0604020202020204" pitchFamily="34" charset="0"/>
              </a:rPr>
              <a:t>Posting a journal entry</a:t>
            </a:r>
            <a:endParaRPr lang="en-US" altLang="en-US" sz="1200" dirty="0">
              <a:latin typeface="Liberation Sans" panose="020B0604020202020204" pitchFamily="34" charset="0"/>
            </a:endParaRPr>
          </a:p>
        </p:txBody>
      </p:sp>
      <p:sp>
        <p:nvSpPr>
          <p:cNvPr id="27653"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smtClean="0">
                <a:solidFill>
                  <a:schemeClr val="tx2">
                    <a:lumMod val="75000"/>
                  </a:schemeClr>
                </a:solidFill>
                <a:latin typeface="Liberation Sans" panose="020B0604020202020204" pitchFamily="34" charset="0"/>
              </a:rPr>
              <a:t>Ledger</a:t>
            </a:r>
            <a:endParaRPr lang="en-US" altLang="en-US" sz="3200" b="1" dirty="0">
              <a:solidFill>
                <a:schemeClr val="tx2">
                  <a:lumMod val="75000"/>
                </a:schemeClr>
              </a:solidFill>
              <a:latin typeface="Liberation Sans" panose="020B0604020202020204" pitchFamily="34" charset="0"/>
            </a:endParaRPr>
          </a:p>
        </p:txBody>
      </p:sp>
      <p:sp>
        <p:nvSpPr>
          <p:cNvPr id="27654" name="Line 24"/>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198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7708" y="580025"/>
            <a:ext cx="6760092" cy="5744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ransition>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474663" y="1981200"/>
            <a:ext cx="8001000" cy="3276600"/>
          </a:xfrm>
          <a:prstGeom prst="rect">
            <a:avLst/>
          </a:prstGeom>
          <a:solidFill>
            <a:schemeClr val="bg1"/>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562" tIns="46038" rIns="182562" bIns="46038"/>
          <a:lstStyle>
            <a:lvl1pPr>
              <a:defRPr sz="2400">
                <a:solidFill>
                  <a:schemeClr val="tx1"/>
                </a:solidFill>
                <a:latin typeface="Comic Sans MS" pitchFamily="66" charset="0"/>
              </a:defRPr>
            </a:lvl1pPr>
            <a:lvl2pPr marL="685800" indent="-455613">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0000"/>
              </a:lnSpc>
              <a:spcBef>
                <a:spcPct val="50000"/>
              </a:spcBef>
              <a:buClr>
                <a:schemeClr val="tx1"/>
              </a:buClr>
              <a:buFont typeface="Wingdings" pitchFamily="2" charset="2"/>
              <a:buNone/>
            </a:pPr>
            <a:r>
              <a:rPr lang="en-US" altLang="en-US" sz="2300" dirty="0">
                <a:latin typeface="Liberation Sans" panose="020B0604020202020204" pitchFamily="34" charset="0"/>
              </a:rPr>
              <a:t>Posting:</a:t>
            </a:r>
          </a:p>
          <a:p>
            <a:pPr lvl="1" algn="l">
              <a:lnSpc>
                <a:spcPct val="120000"/>
              </a:lnSpc>
              <a:spcBef>
                <a:spcPct val="50000"/>
              </a:spcBef>
              <a:buClr>
                <a:schemeClr val="tx1"/>
              </a:buClr>
              <a:buFont typeface="Wingdings" pitchFamily="2" charset="2"/>
              <a:buAutoNum type="alphaLcPeriod"/>
            </a:pPr>
            <a:r>
              <a:rPr lang="en-US" altLang="en-US" sz="2300" dirty="0">
                <a:latin typeface="Liberation Sans" panose="020B0604020202020204" pitchFamily="34" charset="0"/>
              </a:rPr>
              <a:t>normally occurs before journalizing.</a:t>
            </a:r>
          </a:p>
          <a:p>
            <a:pPr lvl="1" algn="l">
              <a:lnSpc>
                <a:spcPct val="120000"/>
              </a:lnSpc>
              <a:spcBef>
                <a:spcPct val="50000"/>
              </a:spcBef>
              <a:buClr>
                <a:schemeClr val="tx1"/>
              </a:buClr>
              <a:buFont typeface="Wingdings" pitchFamily="2" charset="2"/>
              <a:buAutoNum type="alphaLcPeriod"/>
            </a:pPr>
            <a:r>
              <a:rPr lang="en-US" altLang="en-US" sz="2300" dirty="0">
                <a:latin typeface="Liberation Sans" panose="020B0604020202020204" pitchFamily="34" charset="0"/>
              </a:rPr>
              <a:t>transfers ledger transaction data to the journal.</a:t>
            </a:r>
          </a:p>
          <a:p>
            <a:pPr lvl="1" algn="l">
              <a:lnSpc>
                <a:spcPct val="120000"/>
              </a:lnSpc>
              <a:spcBef>
                <a:spcPct val="50000"/>
              </a:spcBef>
              <a:buClr>
                <a:schemeClr val="tx1"/>
              </a:buClr>
              <a:buFont typeface="Wingdings" pitchFamily="2" charset="2"/>
              <a:buAutoNum type="alphaLcPeriod"/>
            </a:pPr>
            <a:r>
              <a:rPr lang="en-US" altLang="en-US" sz="2300" dirty="0">
                <a:latin typeface="Liberation Sans" panose="020B0604020202020204" pitchFamily="34" charset="0"/>
              </a:rPr>
              <a:t>is an optional step in the recording process.</a:t>
            </a:r>
          </a:p>
          <a:p>
            <a:pPr lvl="1" algn="l">
              <a:lnSpc>
                <a:spcPct val="120000"/>
              </a:lnSpc>
              <a:spcBef>
                <a:spcPct val="50000"/>
              </a:spcBef>
              <a:buClr>
                <a:schemeClr val="tx1"/>
              </a:buClr>
              <a:buFont typeface="Wingdings" pitchFamily="2" charset="2"/>
              <a:buAutoNum type="alphaLcPeriod"/>
            </a:pPr>
            <a:r>
              <a:rPr lang="en-US" altLang="en-US" sz="2300" dirty="0">
                <a:latin typeface="Liberation Sans" panose="020B0604020202020204" pitchFamily="34" charset="0"/>
              </a:rPr>
              <a:t>transfers journal entries to ledger accounts.</a:t>
            </a:r>
          </a:p>
        </p:txBody>
      </p:sp>
      <p:sp>
        <p:nvSpPr>
          <p:cNvPr id="28676"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Posting</a:t>
            </a:r>
          </a:p>
        </p:txBody>
      </p:sp>
      <p:sp>
        <p:nvSpPr>
          <p:cNvPr id="28677"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28678" name="Rectangle 4"/>
          <p:cNvSpPr>
            <a:spLocks noChangeArrowheads="1"/>
          </p:cNvSpPr>
          <p:nvPr/>
        </p:nvSpPr>
        <p:spPr bwMode="auto">
          <a:xfrm>
            <a:off x="533400" y="1295400"/>
            <a:ext cx="53340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buSzPct val="80000"/>
            </a:pPr>
            <a:r>
              <a:rPr lang="en-US" altLang="en-US" sz="3000" b="1" dirty="0">
                <a:solidFill>
                  <a:srgbClr val="800000"/>
                </a:solidFill>
                <a:latin typeface="Liberation Sans" panose="020B0604020202020204" pitchFamily="34" charset="0"/>
              </a:rPr>
              <a:t>Question</a:t>
            </a:r>
          </a:p>
        </p:txBody>
      </p:sp>
      <p:sp>
        <p:nvSpPr>
          <p:cNvPr id="9"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
        <p:nvSpPr>
          <p:cNvPr id="10" name="Notched Right Arrow 9"/>
          <p:cNvSpPr/>
          <p:nvPr/>
        </p:nvSpPr>
        <p:spPr bwMode="auto">
          <a:xfrm>
            <a:off x="152400" y="4389120"/>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defPPr>
              <a:defRPr lang="en-US"/>
            </a:defPPr>
            <a:lvl1pPr algn="l" rtl="0" eaLnBrk="0" fontAlgn="base" hangingPunct="0">
              <a:spcBef>
                <a:spcPct val="0"/>
              </a:spcBef>
              <a:spcAft>
                <a:spcPct val="0"/>
              </a:spcAft>
              <a:defRPr sz="2800" b="1" kern="1200">
                <a:solidFill>
                  <a:schemeClr val="bg1"/>
                </a:solidFill>
                <a:latin typeface="Arial" charset="0"/>
                <a:ea typeface="+mn-ea"/>
                <a:cs typeface="+mn-cs"/>
              </a:defRPr>
            </a:lvl1pPr>
            <a:lvl2pPr marL="457200" algn="l" rtl="0" eaLnBrk="0" fontAlgn="base" hangingPunct="0">
              <a:spcBef>
                <a:spcPct val="0"/>
              </a:spcBef>
              <a:spcAft>
                <a:spcPct val="0"/>
              </a:spcAft>
              <a:defRPr sz="2800" b="1" kern="1200">
                <a:solidFill>
                  <a:schemeClr val="bg1"/>
                </a:solidFill>
                <a:latin typeface="Arial" charset="0"/>
                <a:ea typeface="+mn-ea"/>
                <a:cs typeface="+mn-cs"/>
              </a:defRPr>
            </a:lvl2pPr>
            <a:lvl3pPr marL="914400" algn="l" rtl="0" eaLnBrk="0" fontAlgn="base" hangingPunct="0">
              <a:spcBef>
                <a:spcPct val="0"/>
              </a:spcBef>
              <a:spcAft>
                <a:spcPct val="0"/>
              </a:spcAft>
              <a:defRPr sz="2800" b="1" kern="1200">
                <a:solidFill>
                  <a:schemeClr val="bg1"/>
                </a:solidFill>
                <a:latin typeface="Arial" charset="0"/>
                <a:ea typeface="+mn-ea"/>
                <a:cs typeface="+mn-cs"/>
              </a:defRPr>
            </a:lvl3pPr>
            <a:lvl4pPr marL="1371600" algn="l" rtl="0" eaLnBrk="0" fontAlgn="base" hangingPunct="0">
              <a:spcBef>
                <a:spcPct val="0"/>
              </a:spcBef>
              <a:spcAft>
                <a:spcPct val="0"/>
              </a:spcAft>
              <a:defRPr sz="2800" b="1" kern="1200">
                <a:solidFill>
                  <a:schemeClr val="bg1"/>
                </a:solidFill>
                <a:latin typeface="Arial" charset="0"/>
                <a:ea typeface="+mn-ea"/>
                <a:cs typeface="+mn-cs"/>
              </a:defRPr>
            </a:lvl4pPr>
            <a:lvl5pPr marL="1828800" algn="l" rtl="0" eaLnBrk="0" fontAlgn="base" hangingPunct="0">
              <a:spcBef>
                <a:spcPct val="0"/>
              </a:spcBef>
              <a:spcAft>
                <a:spcPct val="0"/>
              </a:spcAft>
              <a:defRPr sz="2800" b="1" kern="1200">
                <a:solidFill>
                  <a:schemeClr val="bg1"/>
                </a:solidFill>
                <a:latin typeface="Arial" charset="0"/>
                <a:ea typeface="+mn-ea"/>
                <a:cs typeface="+mn-cs"/>
              </a:defRPr>
            </a:lvl5pPr>
            <a:lvl6pPr marL="2286000" algn="l" defTabSz="914400" rtl="0" eaLnBrk="1" latinLnBrk="0" hangingPunct="1">
              <a:defRPr sz="2800" b="1" kern="1200">
                <a:solidFill>
                  <a:schemeClr val="bg1"/>
                </a:solidFill>
                <a:latin typeface="Arial" charset="0"/>
                <a:ea typeface="+mn-ea"/>
                <a:cs typeface="+mn-cs"/>
              </a:defRPr>
            </a:lvl6pPr>
            <a:lvl7pPr marL="2743200" algn="l" defTabSz="914400" rtl="0" eaLnBrk="1" latinLnBrk="0" hangingPunct="1">
              <a:defRPr sz="2800" b="1" kern="1200">
                <a:solidFill>
                  <a:schemeClr val="bg1"/>
                </a:solidFill>
                <a:latin typeface="Arial" charset="0"/>
                <a:ea typeface="+mn-ea"/>
                <a:cs typeface="+mn-cs"/>
              </a:defRPr>
            </a:lvl7pPr>
            <a:lvl8pPr marL="3200400" algn="l" defTabSz="914400" rtl="0" eaLnBrk="1" latinLnBrk="0" hangingPunct="1">
              <a:defRPr sz="2800" b="1" kern="1200">
                <a:solidFill>
                  <a:schemeClr val="bg1"/>
                </a:solidFill>
                <a:latin typeface="Arial" charset="0"/>
                <a:ea typeface="+mn-ea"/>
                <a:cs typeface="+mn-cs"/>
              </a:defRPr>
            </a:lvl8pPr>
            <a:lvl9pPr marL="3657600" algn="l" defTabSz="914400" rtl="0" eaLnBrk="1" latinLnBrk="0" hangingPunct="1">
              <a:defRPr sz="2800" b="1" kern="1200">
                <a:solidFill>
                  <a:schemeClr val="bg1"/>
                </a:solidFill>
                <a:latin typeface="Arial" charset="0"/>
                <a:ea typeface="+mn-ea"/>
                <a:cs typeface="+mn-cs"/>
              </a:defRPr>
            </a:lvl9pPr>
          </a:lstStyle>
          <a:p>
            <a:endParaRPr lang="en-US" altLang="en-US">
              <a:solidFill>
                <a:schemeClr val="accent6">
                  <a:lumMod val="50000"/>
                </a:schemeClr>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016" y="1219200"/>
            <a:ext cx="7806184" cy="5105400"/>
          </a:xfrm>
          <a:prstGeom prst="rect">
            <a:avLst/>
          </a:prstGeom>
          <a:noFill/>
          <a:ln w="190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Lst>
        </p:spPr>
      </p:pic>
      <p:sp>
        <p:nvSpPr>
          <p:cNvPr id="29701"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Chart of Accounts</a:t>
            </a:r>
          </a:p>
        </p:txBody>
      </p:sp>
      <p:sp>
        <p:nvSpPr>
          <p:cNvPr id="29702" name="Line 10"/>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29700" name="Rectangle 7"/>
          <p:cNvSpPr>
            <a:spLocks noChangeArrowheads="1"/>
          </p:cNvSpPr>
          <p:nvPr/>
        </p:nvSpPr>
        <p:spPr bwMode="auto">
          <a:xfrm>
            <a:off x="7162800" y="838200"/>
            <a:ext cx="1371600" cy="274637"/>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1200" b="1" dirty="0">
                <a:latin typeface="Liberation Sans" panose="020B0604020202020204" pitchFamily="34" charset="0"/>
              </a:rPr>
              <a:t>Illustration 2-18</a:t>
            </a:r>
          </a:p>
        </p:txBody>
      </p:sp>
      <p:sp>
        <p:nvSpPr>
          <p:cNvPr id="9"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20"/>
          <p:cNvSpPr>
            <a:spLocks noChangeArrowheads="1"/>
          </p:cNvSpPr>
          <p:nvPr/>
        </p:nvSpPr>
        <p:spPr bwMode="auto">
          <a:xfrm>
            <a:off x="228600" y="1279525"/>
            <a:ext cx="2590800" cy="4407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marL="344488" indent="-344488">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10000"/>
              </a:lnSpc>
              <a:spcBef>
                <a:spcPct val="50000"/>
              </a:spcBef>
            </a:pPr>
            <a:r>
              <a:rPr lang="en-US" altLang="en-US" sz="2000" b="1" dirty="0">
                <a:latin typeface="Liberation Sans" panose="020B0604020202020204" pitchFamily="34" charset="0"/>
              </a:rPr>
              <a:t>Follow these steps:</a:t>
            </a:r>
          </a:p>
          <a:p>
            <a:pPr algn="l">
              <a:lnSpc>
                <a:spcPct val="110000"/>
              </a:lnSpc>
              <a:spcBef>
                <a:spcPct val="50000"/>
              </a:spcBef>
            </a:pPr>
            <a:r>
              <a:rPr lang="en-US" altLang="en-US" sz="1900" dirty="0">
                <a:latin typeface="Liberation Sans" panose="020B0604020202020204" pitchFamily="34" charset="0"/>
              </a:rPr>
              <a:t>1. 	Determine what type of account is involved.</a:t>
            </a:r>
          </a:p>
          <a:p>
            <a:pPr algn="l">
              <a:lnSpc>
                <a:spcPct val="110000"/>
              </a:lnSpc>
              <a:spcBef>
                <a:spcPct val="50000"/>
              </a:spcBef>
            </a:pPr>
            <a:r>
              <a:rPr lang="en-US" altLang="en-US" sz="1900" dirty="0">
                <a:latin typeface="Liberation Sans" panose="020B0604020202020204" pitchFamily="34" charset="0"/>
              </a:rPr>
              <a:t>2. 	Determine what items increased or decreased and by how much.</a:t>
            </a:r>
          </a:p>
          <a:p>
            <a:pPr algn="l">
              <a:lnSpc>
                <a:spcPct val="110000"/>
              </a:lnSpc>
              <a:spcBef>
                <a:spcPct val="50000"/>
              </a:spcBef>
            </a:pPr>
            <a:r>
              <a:rPr lang="en-US" altLang="en-US" sz="1900" dirty="0">
                <a:latin typeface="Liberation Sans" panose="020B0604020202020204" pitchFamily="34" charset="0"/>
              </a:rPr>
              <a:t>3. 	Translate the increases and decreases into debits and credits.</a:t>
            </a:r>
          </a:p>
        </p:txBody>
      </p:sp>
      <p:sp>
        <p:nvSpPr>
          <p:cNvPr id="30727" name="Rectangle 9"/>
          <p:cNvSpPr>
            <a:spLocks noChangeArrowheads="1"/>
          </p:cNvSpPr>
          <p:nvPr/>
        </p:nvSpPr>
        <p:spPr bwMode="auto">
          <a:xfrm>
            <a:off x="1447800" y="6019800"/>
            <a:ext cx="1371600" cy="274638"/>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1200" b="1" dirty="0">
                <a:latin typeface="Liberation Sans" panose="020B0604020202020204" pitchFamily="34" charset="0"/>
              </a:rPr>
              <a:t>Illustration 2-19</a:t>
            </a:r>
          </a:p>
        </p:txBody>
      </p:sp>
      <p:sp>
        <p:nvSpPr>
          <p:cNvPr id="30728"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The Recording Process Illustrated</a:t>
            </a:r>
          </a:p>
        </p:txBody>
      </p:sp>
      <p:sp>
        <p:nvSpPr>
          <p:cNvPr id="30729" name="Line 1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218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4175" y="1295400"/>
            <a:ext cx="5991226" cy="50118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5"/>
          <p:cNvSpPr txBox="1">
            <a:spLocks noChangeArrowheads="1"/>
          </p:cNvSpPr>
          <p:nvPr/>
        </p:nvSpPr>
        <p:spPr bwMode="auto">
          <a:xfrm>
            <a:off x="8077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
        <p:nvSpPr>
          <p:cNvPr id="31749" name="Line 1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buFont typeface="Arial" panose="020B0604020202020204" pitchFamily="34" charset="0"/>
              <a:buChar char="•"/>
            </a:pPr>
            <a:endParaRPr lang="en-US" dirty="0">
              <a:latin typeface="Liberation Sans" panose="020B0604020202020204" pitchFamily="34" charset="0"/>
            </a:endParaRPr>
          </a:p>
        </p:txBody>
      </p:sp>
      <p:pic>
        <p:nvPicPr>
          <p:cNvPr id="1249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472" y="310895"/>
            <a:ext cx="8431445" cy="6075363"/>
          </a:xfrm>
          <a:prstGeom prst="rect">
            <a:avLst/>
          </a:prstGeom>
          <a:noFill/>
          <a:ln w="28575">
            <a:solidFill>
              <a:schemeClr val="bg1">
                <a:lumMod val="6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2" name="Rectangle 1"/>
          <p:cNvSpPr/>
          <p:nvPr/>
        </p:nvSpPr>
        <p:spPr>
          <a:xfrm>
            <a:off x="990600" y="6248400"/>
            <a:ext cx="2743200" cy="461665"/>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200" b="1" dirty="0">
                <a:latin typeface="Liberation Sans" panose="020B0604020202020204" pitchFamily="34" charset="0"/>
              </a:rPr>
              <a:t>Illustration 2-20</a:t>
            </a:r>
          </a:p>
          <a:p>
            <a:pPr algn="l"/>
            <a:r>
              <a:rPr lang="en-US" sz="1200" dirty="0">
                <a:latin typeface="Liberation Sans" panose="020B0604020202020204" pitchFamily="34" charset="0"/>
              </a:rPr>
              <a:t>Purchase of </a:t>
            </a:r>
            <a:r>
              <a:rPr lang="en-US" sz="1200" dirty="0" smtClean="0">
                <a:latin typeface="Liberation Sans" panose="020B0604020202020204" pitchFamily="34" charset="0"/>
              </a:rPr>
              <a:t>office </a:t>
            </a:r>
            <a:r>
              <a:rPr lang="en-US" sz="1200" dirty="0">
                <a:latin typeface="Liberation Sans" panose="020B0604020202020204" pitchFamily="34" charset="0"/>
              </a:rPr>
              <a:t>equipment</a:t>
            </a:r>
          </a:p>
        </p:txBody>
      </p:sp>
    </p:spTree>
    <p:extLst>
      <p:ext uri="{BB962C8B-B14F-4D97-AF65-F5344CB8AC3E}">
        <p14:creationId xmlns:p14="http://schemas.microsoft.com/office/powerpoint/2010/main" val="2243348265"/>
      </p:ext>
    </p:extLst>
  </p:cSld>
  <p:clrMapOvr>
    <a:masterClrMapping/>
  </p:clrMapOvr>
  <p:transition>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Line 5"/>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32775" name="Rectangle 8"/>
          <p:cNvSpPr>
            <a:spLocks noChangeArrowheads="1"/>
          </p:cNvSpPr>
          <p:nvPr/>
        </p:nvSpPr>
        <p:spPr bwMode="auto">
          <a:xfrm>
            <a:off x="7620000" y="1106269"/>
            <a:ext cx="1371600" cy="646331"/>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r>
              <a:rPr lang="en-US" altLang="en-US" sz="1200" b="1" dirty="0">
                <a:latin typeface="Liberation Sans" panose="020B0604020202020204" pitchFamily="34" charset="0"/>
              </a:rPr>
              <a:t>Illustration </a:t>
            </a:r>
            <a:r>
              <a:rPr lang="en-US" altLang="en-US" sz="1200" b="1" dirty="0" smtClean="0">
                <a:latin typeface="Liberation Sans" panose="020B0604020202020204" pitchFamily="34" charset="0"/>
              </a:rPr>
              <a:t>2-21</a:t>
            </a:r>
          </a:p>
          <a:p>
            <a:pPr algn="l"/>
            <a:r>
              <a:rPr lang="en-US" altLang="en-US" sz="1200" dirty="0" smtClean="0">
                <a:latin typeface="Liberation Sans" panose="020B0604020202020204" pitchFamily="34" charset="0"/>
              </a:rPr>
              <a:t>Receipt of cash for future service</a:t>
            </a:r>
            <a:endParaRPr lang="en-US" altLang="en-US" sz="1200" dirty="0">
              <a:latin typeface="Liberation Sans" panose="020B0604020202020204" pitchFamily="34" charset="0"/>
            </a:endParaRPr>
          </a:p>
        </p:txBody>
      </p:sp>
      <p:pic>
        <p:nvPicPr>
          <p:cNvPr id="1239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10895"/>
            <a:ext cx="6652824" cy="6075363"/>
          </a:xfrm>
          <a:prstGeom prst="rect">
            <a:avLst/>
          </a:prstGeom>
          <a:noFill/>
          <a:ln w="28575">
            <a:solidFill>
              <a:schemeClr val="bg1">
                <a:lumMod val="6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12"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Line 1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259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10896"/>
            <a:ext cx="8122431" cy="6075363"/>
          </a:xfrm>
          <a:prstGeom prst="rect">
            <a:avLst/>
          </a:prstGeom>
          <a:noFill/>
          <a:ln w="28575">
            <a:solidFill>
              <a:schemeClr val="bg1">
                <a:lumMod val="6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2" name="Rectangle 1"/>
          <p:cNvSpPr/>
          <p:nvPr/>
        </p:nvSpPr>
        <p:spPr>
          <a:xfrm>
            <a:off x="990600" y="6248400"/>
            <a:ext cx="2743200" cy="461665"/>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200" b="1" dirty="0">
                <a:latin typeface="Liberation Sans" panose="020B0604020202020204" pitchFamily="34" charset="0"/>
              </a:rPr>
              <a:t>Illustration </a:t>
            </a:r>
            <a:r>
              <a:rPr lang="en-US" sz="1200" b="1" dirty="0" smtClean="0">
                <a:latin typeface="Liberation Sans" panose="020B0604020202020204" pitchFamily="34" charset="0"/>
              </a:rPr>
              <a:t>2-22</a:t>
            </a:r>
            <a:endParaRPr lang="en-US" sz="1200" b="1" dirty="0">
              <a:latin typeface="Liberation Sans" panose="020B0604020202020204" pitchFamily="34" charset="0"/>
            </a:endParaRPr>
          </a:p>
          <a:p>
            <a:pPr algn="l"/>
            <a:r>
              <a:rPr lang="en-US" sz="1200" dirty="0" smtClean="0">
                <a:latin typeface="Liberation Sans" panose="020B0604020202020204" pitchFamily="34" charset="0"/>
              </a:rPr>
              <a:t>Payment of monthly rent</a:t>
            </a:r>
            <a:endParaRPr lang="en-US" sz="1200" dirty="0">
              <a:latin typeface="Liberation Sans" panose="020B0604020202020204" pitchFamily="34" charset="0"/>
            </a:endParaRPr>
          </a:p>
        </p:txBody>
      </p:sp>
      <p:sp>
        <p:nvSpPr>
          <p:cNvPr id="7" name="Text Box 5"/>
          <p:cNvSpPr txBox="1">
            <a:spLocks noChangeArrowheads="1"/>
          </p:cNvSpPr>
          <p:nvPr/>
        </p:nvSpPr>
        <p:spPr bwMode="auto">
          <a:xfrm>
            <a:off x="8077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1483137429"/>
      </p:ext>
    </p:extLst>
  </p:cSld>
  <p:clrMapOvr>
    <a:masterClrMapping/>
  </p:clrMapOvr>
  <p:transition>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Line 5"/>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269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04800"/>
            <a:ext cx="7093159" cy="6324600"/>
          </a:xfrm>
          <a:prstGeom prst="rect">
            <a:avLst/>
          </a:prstGeom>
          <a:noFill/>
          <a:ln w="28575">
            <a:solidFill>
              <a:schemeClr val="bg1">
                <a:lumMod val="6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32775" name="Rectangle 8"/>
          <p:cNvSpPr>
            <a:spLocks noChangeArrowheads="1"/>
          </p:cNvSpPr>
          <p:nvPr/>
        </p:nvSpPr>
        <p:spPr bwMode="auto">
          <a:xfrm>
            <a:off x="7543800" y="1143000"/>
            <a:ext cx="1371600" cy="646331"/>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r>
              <a:rPr lang="en-US" altLang="en-US" sz="1200" b="1" dirty="0">
                <a:latin typeface="Liberation Sans" panose="020B0604020202020204" pitchFamily="34" charset="0"/>
              </a:rPr>
              <a:t>Illustration </a:t>
            </a:r>
            <a:r>
              <a:rPr lang="en-US" altLang="en-US" sz="1200" b="1" dirty="0" smtClean="0">
                <a:latin typeface="Liberation Sans" panose="020B0604020202020204" pitchFamily="34" charset="0"/>
              </a:rPr>
              <a:t>2-23</a:t>
            </a:r>
          </a:p>
          <a:p>
            <a:pPr algn="l"/>
            <a:r>
              <a:rPr lang="en-US" altLang="en-US" sz="1200" dirty="0" smtClean="0">
                <a:latin typeface="Liberation Sans" panose="020B0604020202020204" pitchFamily="34" charset="0"/>
              </a:rPr>
              <a:t>Payment for insurance</a:t>
            </a:r>
            <a:endParaRPr lang="en-US" altLang="en-US" sz="1200" dirty="0">
              <a:latin typeface="Liberation Sans" panose="020B0604020202020204" pitchFamily="34" charset="0"/>
            </a:endParaRPr>
          </a:p>
        </p:txBody>
      </p:sp>
      <p:sp>
        <p:nvSpPr>
          <p:cNvPr id="7"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3502629640"/>
      </p:ext>
    </p:extLst>
  </p:cSld>
  <p:clrMapOvr>
    <a:masterClrMapping/>
  </p:clrMapOvr>
  <p:transition>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Line 1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280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10896"/>
            <a:ext cx="7803245" cy="6073766"/>
          </a:xfrm>
          <a:prstGeom prst="rect">
            <a:avLst/>
          </a:prstGeom>
          <a:noFill/>
          <a:ln w="28575">
            <a:solidFill>
              <a:schemeClr val="bg1">
                <a:lumMod val="6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2" name="Rectangle 1"/>
          <p:cNvSpPr/>
          <p:nvPr/>
        </p:nvSpPr>
        <p:spPr>
          <a:xfrm>
            <a:off x="990600" y="6248400"/>
            <a:ext cx="2743200" cy="461665"/>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200" b="1" dirty="0">
                <a:latin typeface="Liberation Sans" panose="020B0604020202020204" pitchFamily="34" charset="0"/>
              </a:rPr>
              <a:t>Illustration </a:t>
            </a:r>
            <a:r>
              <a:rPr lang="en-US" sz="1200" b="1" dirty="0" smtClean="0">
                <a:latin typeface="Liberation Sans" panose="020B0604020202020204" pitchFamily="34" charset="0"/>
              </a:rPr>
              <a:t>2-24</a:t>
            </a:r>
            <a:endParaRPr lang="en-US" sz="1200" b="1" dirty="0">
              <a:latin typeface="Liberation Sans" panose="020B0604020202020204" pitchFamily="34" charset="0"/>
            </a:endParaRPr>
          </a:p>
          <a:p>
            <a:pPr algn="l"/>
            <a:r>
              <a:rPr lang="en-US" sz="1200" dirty="0" smtClean="0">
                <a:latin typeface="Liberation Sans" panose="020B0604020202020204" pitchFamily="34" charset="0"/>
              </a:rPr>
              <a:t>Purchase of supplies on credit</a:t>
            </a:r>
            <a:endParaRPr lang="en-US" sz="1200" dirty="0">
              <a:latin typeface="Liberation Sans" panose="020B0604020202020204" pitchFamily="34" charset="0"/>
            </a:endParaRPr>
          </a:p>
        </p:txBody>
      </p:sp>
      <p:sp>
        <p:nvSpPr>
          <p:cNvPr id="6" name="Text Box 5"/>
          <p:cNvSpPr txBox="1">
            <a:spLocks noChangeArrowheads="1"/>
          </p:cNvSpPr>
          <p:nvPr/>
        </p:nvSpPr>
        <p:spPr bwMode="auto">
          <a:xfrm>
            <a:off x="8077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3847779559"/>
      </p:ext>
    </p:extLst>
  </p:cSld>
  <p:clrMapOvr>
    <a:masterClrMapping/>
  </p:clrMapOvr>
  <p:transition>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1" y="1371600"/>
            <a:ext cx="8534400" cy="3182447"/>
          </a:xfrm>
          <a:prstGeom prst="rect">
            <a:avLst/>
          </a:prstGeom>
          <a:noFill/>
          <a:ln w="28575">
            <a:solidFill>
              <a:schemeClr val="bg1">
                <a:lumMod val="6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36868"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The Recording Process Illustrated</a:t>
            </a:r>
          </a:p>
        </p:txBody>
      </p:sp>
      <p:sp>
        <p:nvSpPr>
          <p:cNvPr id="36869" name="Line 6"/>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36870" name="Rectangle 8"/>
          <p:cNvSpPr>
            <a:spLocks noChangeArrowheads="1"/>
          </p:cNvSpPr>
          <p:nvPr/>
        </p:nvSpPr>
        <p:spPr bwMode="auto">
          <a:xfrm>
            <a:off x="228600" y="4648200"/>
            <a:ext cx="2209800" cy="461665"/>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r>
              <a:rPr lang="en-US" altLang="en-US" sz="1200" b="1" dirty="0">
                <a:latin typeface="Liberation Sans" panose="020B0604020202020204" pitchFamily="34" charset="0"/>
              </a:rPr>
              <a:t>Illustration </a:t>
            </a:r>
            <a:r>
              <a:rPr lang="en-US" altLang="en-US" sz="1200" b="1" dirty="0" smtClean="0">
                <a:latin typeface="Liberation Sans" panose="020B0604020202020204" pitchFamily="34" charset="0"/>
              </a:rPr>
              <a:t>2-25</a:t>
            </a:r>
          </a:p>
          <a:p>
            <a:pPr algn="l"/>
            <a:r>
              <a:rPr lang="en-US" altLang="en-US" sz="1200" dirty="0" smtClean="0">
                <a:latin typeface="Liberation Sans" panose="020B0604020202020204" pitchFamily="34" charset="0"/>
              </a:rPr>
              <a:t>Hiring of employees</a:t>
            </a:r>
            <a:endParaRPr lang="en-US" altLang="en-US" sz="1200" dirty="0">
              <a:latin typeface="Liberation Sans" panose="020B0604020202020204" pitchFamily="34" charset="0"/>
            </a:endParaRPr>
          </a:p>
        </p:txBody>
      </p:sp>
      <p:sp>
        <p:nvSpPr>
          <p:cNvPr id="10"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Line 1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30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445" y="306802"/>
            <a:ext cx="7969955" cy="6079457"/>
          </a:xfrm>
          <a:prstGeom prst="rect">
            <a:avLst/>
          </a:prstGeom>
          <a:noFill/>
          <a:ln w="28575">
            <a:solidFill>
              <a:schemeClr val="bg1">
                <a:lumMod val="6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2" name="Rectangle 1"/>
          <p:cNvSpPr/>
          <p:nvPr/>
        </p:nvSpPr>
        <p:spPr>
          <a:xfrm>
            <a:off x="990600" y="6248400"/>
            <a:ext cx="2743200" cy="461665"/>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200" b="1" dirty="0">
                <a:latin typeface="Liberation Sans" panose="020B0604020202020204" pitchFamily="34" charset="0"/>
              </a:rPr>
              <a:t>Illustration </a:t>
            </a:r>
            <a:r>
              <a:rPr lang="en-US" sz="1200" b="1" dirty="0" smtClean="0">
                <a:latin typeface="Liberation Sans" panose="020B0604020202020204" pitchFamily="34" charset="0"/>
              </a:rPr>
              <a:t>2-26</a:t>
            </a:r>
            <a:endParaRPr lang="en-US" sz="1200" b="1" dirty="0">
              <a:latin typeface="Liberation Sans" panose="020B0604020202020204" pitchFamily="34" charset="0"/>
            </a:endParaRPr>
          </a:p>
          <a:p>
            <a:pPr algn="l"/>
            <a:r>
              <a:rPr lang="en-US" sz="1200" dirty="0" smtClean="0">
                <a:latin typeface="Liberation Sans" panose="020B0604020202020204" pitchFamily="34" charset="0"/>
              </a:rPr>
              <a:t>Withdrawal of cash by owner</a:t>
            </a:r>
            <a:endParaRPr lang="en-US" sz="1200" dirty="0">
              <a:latin typeface="Liberation Sans" panose="020B0604020202020204" pitchFamily="34" charset="0"/>
            </a:endParaRPr>
          </a:p>
        </p:txBody>
      </p:sp>
      <p:sp>
        <p:nvSpPr>
          <p:cNvPr id="6" name="Text Box 5"/>
          <p:cNvSpPr txBox="1">
            <a:spLocks noChangeArrowheads="1"/>
          </p:cNvSpPr>
          <p:nvPr/>
        </p:nvSpPr>
        <p:spPr bwMode="auto">
          <a:xfrm>
            <a:off x="8077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2769244968"/>
      </p:ext>
    </p:extLst>
  </p:cSld>
  <p:clrMapOvr>
    <a:masterClrMapping/>
  </p:clrMapOvr>
  <p:transition>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Line 1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31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931" y="309260"/>
            <a:ext cx="7496869" cy="6076999"/>
          </a:xfrm>
          <a:prstGeom prst="rect">
            <a:avLst/>
          </a:prstGeom>
          <a:noFill/>
          <a:ln w="28575">
            <a:solidFill>
              <a:schemeClr val="bg1">
                <a:lumMod val="6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2" name="Rectangle 1"/>
          <p:cNvSpPr/>
          <p:nvPr/>
        </p:nvSpPr>
        <p:spPr>
          <a:xfrm>
            <a:off x="990600" y="6248400"/>
            <a:ext cx="2743200" cy="461665"/>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200" b="1" dirty="0">
                <a:latin typeface="Liberation Sans" panose="020B0604020202020204" pitchFamily="34" charset="0"/>
              </a:rPr>
              <a:t>Illustration </a:t>
            </a:r>
            <a:r>
              <a:rPr lang="en-US" sz="1200" b="1" dirty="0" smtClean="0">
                <a:latin typeface="Liberation Sans" panose="020B0604020202020204" pitchFamily="34" charset="0"/>
              </a:rPr>
              <a:t>2-27</a:t>
            </a:r>
            <a:endParaRPr lang="en-US" sz="1200" b="1" dirty="0">
              <a:latin typeface="Liberation Sans" panose="020B0604020202020204" pitchFamily="34" charset="0"/>
            </a:endParaRPr>
          </a:p>
          <a:p>
            <a:pPr algn="l"/>
            <a:r>
              <a:rPr lang="en-US" sz="1200" dirty="0" smtClean="0">
                <a:latin typeface="Liberation Sans" panose="020B0604020202020204" pitchFamily="34" charset="0"/>
              </a:rPr>
              <a:t>Payment of salaries</a:t>
            </a:r>
            <a:endParaRPr lang="en-US" sz="1200" dirty="0">
              <a:latin typeface="Liberation Sans" panose="020B0604020202020204" pitchFamily="34" charset="0"/>
            </a:endParaRPr>
          </a:p>
        </p:txBody>
      </p:sp>
      <p:sp>
        <p:nvSpPr>
          <p:cNvPr id="6" name="Text Box 5"/>
          <p:cNvSpPr txBox="1">
            <a:spLocks noChangeArrowheads="1"/>
          </p:cNvSpPr>
          <p:nvPr/>
        </p:nvSpPr>
        <p:spPr bwMode="auto">
          <a:xfrm>
            <a:off x="8077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2449032305"/>
      </p:ext>
    </p:extLst>
  </p:cSld>
  <p:clrMapOvr>
    <a:masterClrMapping/>
  </p:clrMapOvr>
  <p:transition>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Line 1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32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04800"/>
            <a:ext cx="7291181" cy="6081459"/>
          </a:xfrm>
          <a:prstGeom prst="rect">
            <a:avLst/>
          </a:prstGeom>
          <a:noFill/>
          <a:ln w="28575">
            <a:solidFill>
              <a:schemeClr val="bg1">
                <a:lumMod val="6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2" name="Rectangle 1"/>
          <p:cNvSpPr/>
          <p:nvPr/>
        </p:nvSpPr>
        <p:spPr>
          <a:xfrm>
            <a:off x="990600" y="6248400"/>
            <a:ext cx="2895600" cy="461665"/>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200" b="1" dirty="0">
                <a:latin typeface="Liberation Sans" panose="020B0604020202020204" pitchFamily="34" charset="0"/>
              </a:rPr>
              <a:t>Illustration </a:t>
            </a:r>
            <a:r>
              <a:rPr lang="en-US" sz="1200" b="1" dirty="0" smtClean="0">
                <a:latin typeface="Liberation Sans" panose="020B0604020202020204" pitchFamily="34" charset="0"/>
              </a:rPr>
              <a:t>2-28</a:t>
            </a:r>
            <a:endParaRPr lang="en-US" sz="1200" b="1" dirty="0">
              <a:latin typeface="Liberation Sans" panose="020B0604020202020204" pitchFamily="34" charset="0"/>
            </a:endParaRPr>
          </a:p>
          <a:p>
            <a:pPr algn="l"/>
            <a:r>
              <a:rPr lang="en-US" sz="1200" dirty="0" smtClean="0">
                <a:latin typeface="Liberation Sans" panose="020B0604020202020204" pitchFamily="34" charset="0"/>
              </a:rPr>
              <a:t>Receipt of cash for services performed</a:t>
            </a:r>
            <a:endParaRPr lang="en-US" sz="1200" dirty="0">
              <a:latin typeface="Liberation Sans" panose="020B0604020202020204" pitchFamily="34" charset="0"/>
            </a:endParaRPr>
          </a:p>
        </p:txBody>
      </p:sp>
      <p:sp>
        <p:nvSpPr>
          <p:cNvPr id="6" name="Text Box 5"/>
          <p:cNvSpPr txBox="1">
            <a:spLocks noChangeArrowheads="1"/>
          </p:cNvSpPr>
          <p:nvPr/>
        </p:nvSpPr>
        <p:spPr bwMode="auto">
          <a:xfrm>
            <a:off x="8077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4030289537"/>
      </p:ext>
    </p:extLst>
  </p:cSld>
  <p:clrMapOvr>
    <a:masterClrMapping/>
  </p:clrMapOvr>
  <p:transition>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ChangeArrowheads="1"/>
          </p:cNvSpPr>
          <p:nvPr/>
        </p:nvSpPr>
        <p:spPr bwMode="auto">
          <a:xfrm>
            <a:off x="2286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smtClean="0">
                <a:solidFill>
                  <a:schemeClr val="tx2">
                    <a:lumMod val="75000"/>
                  </a:schemeClr>
                </a:solidFill>
                <a:latin typeface="Liberation Sans" panose="020B0604020202020204" pitchFamily="34" charset="0"/>
              </a:rPr>
              <a:t>Summary Journalizing and Posting</a:t>
            </a:r>
            <a:endParaRPr lang="en-US" altLang="en-US" sz="3200" b="1" dirty="0">
              <a:solidFill>
                <a:schemeClr val="tx2">
                  <a:lumMod val="75000"/>
                </a:schemeClr>
              </a:solidFill>
              <a:latin typeface="Liberation Sans" panose="020B0604020202020204" pitchFamily="34" charset="0"/>
            </a:endParaRPr>
          </a:p>
        </p:txBody>
      </p:sp>
      <p:sp>
        <p:nvSpPr>
          <p:cNvPr id="9" name="Line 6"/>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33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75" y="1159281"/>
            <a:ext cx="8552125" cy="51653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990" name="Rectangle 10"/>
          <p:cNvSpPr>
            <a:spLocks noChangeArrowheads="1"/>
          </p:cNvSpPr>
          <p:nvPr/>
        </p:nvSpPr>
        <p:spPr bwMode="auto">
          <a:xfrm>
            <a:off x="7543800" y="838200"/>
            <a:ext cx="1371600" cy="274637"/>
          </a:xfrm>
          <a:prstGeom prst="rect">
            <a:avLst/>
          </a:prstGeom>
          <a:solidFill>
            <a:schemeClr val="bg1"/>
          </a:solidFill>
          <a:ln>
            <a:noFill/>
          </a:ln>
          <a:effectLst/>
          <a:extLst/>
        </p:spPr>
        <p:txBody>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1200" b="1" dirty="0">
                <a:latin typeface="Liberation Sans" panose="020B0604020202020204" pitchFamily="34" charset="0"/>
              </a:rPr>
              <a:t>Illustration 2-29</a:t>
            </a:r>
          </a:p>
        </p:txBody>
      </p:sp>
      <p:sp>
        <p:nvSpPr>
          <p:cNvPr id="12"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75" y="457200"/>
            <a:ext cx="8552125" cy="51653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990" name="Rectangle 10"/>
          <p:cNvSpPr>
            <a:spLocks noChangeArrowheads="1"/>
          </p:cNvSpPr>
          <p:nvPr/>
        </p:nvSpPr>
        <p:spPr bwMode="auto">
          <a:xfrm>
            <a:off x="762000" y="6400800"/>
            <a:ext cx="1371600" cy="274637"/>
          </a:xfrm>
          <a:prstGeom prst="rect">
            <a:avLst/>
          </a:prstGeom>
          <a:solidFill>
            <a:schemeClr val="bg1"/>
          </a:solidFill>
          <a:ln>
            <a:noFill/>
          </a:ln>
          <a:effectLst/>
          <a:extLst/>
        </p:spPr>
        <p:txBody>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1200" b="1" dirty="0">
                <a:latin typeface="Liberation Sans" panose="020B0604020202020204" pitchFamily="34" charset="0"/>
              </a:rPr>
              <a:t>Illustration 2-29</a:t>
            </a:r>
          </a:p>
        </p:txBody>
      </p:sp>
      <p:pic>
        <p:nvPicPr>
          <p:cNvPr id="134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752" y="1289304"/>
            <a:ext cx="8524226" cy="4989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942940458"/>
      </p:ext>
    </p:extLst>
  </p:cSld>
  <p:clrMapOvr>
    <a:masterClrMapping/>
  </p:clrMapOvr>
  <p:transition>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5"/>
          <p:cNvSpPr txBox="1">
            <a:spLocks noChangeArrowheads="1"/>
          </p:cNvSpPr>
          <p:nvPr/>
        </p:nvSpPr>
        <p:spPr bwMode="auto">
          <a:xfrm>
            <a:off x="81534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pic>
        <p:nvPicPr>
          <p:cNvPr id="135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3850"/>
            <a:ext cx="7723260" cy="6218238"/>
          </a:xfrm>
          <a:prstGeom prst="rect">
            <a:avLst/>
          </a:prstGeom>
          <a:noFill/>
          <a:ln w="19050" cap="sq"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Lst>
        </p:spPr>
      </p:pic>
      <p:sp>
        <p:nvSpPr>
          <p:cNvPr id="43012" name="Rectangle 10"/>
          <p:cNvSpPr>
            <a:spLocks noChangeArrowheads="1"/>
          </p:cNvSpPr>
          <p:nvPr/>
        </p:nvSpPr>
        <p:spPr bwMode="auto">
          <a:xfrm>
            <a:off x="685800" y="6202362"/>
            <a:ext cx="137160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cap="sq"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r>
              <a:rPr lang="en-US" altLang="en-US" sz="1200" b="1" dirty="0">
                <a:latin typeface="Liberation Sans" panose="020B0604020202020204" pitchFamily="34" charset="0"/>
              </a:rPr>
              <a:t>Illustration 2-30</a:t>
            </a:r>
          </a:p>
        </p:txBody>
      </p:sp>
    </p:spTree>
  </p:cSld>
  <p:clrMapOvr>
    <a:masterClrMapping/>
  </p:clrMapOvr>
  <p:transition>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86" y="357188"/>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smtClean="0">
                <a:solidFill>
                  <a:srgbClr val="FF9900"/>
                </a:solidFill>
                <a:effectLst>
                  <a:outerShdw blurRad="38100" dist="38100" dir="2700000" algn="tl">
                    <a:srgbClr val="000000">
                      <a:alpha val="43137"/>
                    </a:srgbClr>
                  </a:outerShdw>
                </a:effectLst>
                <a:latin typeface="Liberation Sans" panose="020B0604020202020204" pitchFamily="34" charset="0"/>
              </a:rPr>
              <a:t>DO IT!</a:t>
            </a:r>
            <a:endPar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endParaRPr>
          </a:p>
        </p:txBody>
      </p:sp>
      <p:sp>
        <p:nvSpPr>
          <p:cNvPr id="40962" name="Rectangle 2"/>
          <p:cNvSpPr>
            <a:spLocks noChangeArrowheads="1"/>
          </p:cNvSpPr>
          <p:nvPr/>
        </p:nvSpPr>
        <p:spPr bwMode="auto">
          <a:xfrm>
            <a:off x="628650" y="1371600"/>
            <a:ext cx="8058150" cy="830997"/>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057400" algn="l"/>
              </a:tabLst>
              <a:defRPr sz="2400">
                <a:solidFill>
                  <a:schemeClr val="tx1"/>
                </a:solidFill>
                <a:latin typeface="Comic Sans MS" pitchFamily="66" charset="0"/>
              </a:defRPr>
            </a:lvl1pPr>
            <a:lvl2pPr marL="742950" indent="-285750">
              <a:tabLst>
                <a:tab pos="2057400" algn="l"/>
              </a:tabLst>
              <a:defRPr sz="2400">
                <a:solidFill>
                  <a:schemeClr val="tx1"/>
                </a:solidFill>
                <a:latin typeface="Comic Sans MS" pitchFamily="66" charset="0"/>
              </a:defRPr>
            </a:lvl2pPr>
            <a:lvl3pPr marL="1143000" indent="-228600">
              <a:tabLst>
                <a:tab pos="2057400" algn="l"/>
              </a:tabLst>
              <a:defRPr sz="2400">
                <a:solidFill>
                  <a:schemeClr val="tx1"/>
                </a:solidFill>
                <a:latin typeface="Comic Sans MS" pitchFamily="66" charset="0"/>
              </a:defRPr>
            </a:lvl3pPr>
            <a:lvl4pPr marL="1600200" indent="-228600">
              <a:tabLst>
                <a:tab pos="2057400" algn="l"/>
              </a:tabLst>
              <a:defRPr sz="2400">
                <a:solidFill>
                  <a:schemeClr val="tx1"/>
                </a:solidFill>
                <a:latin typeface="Comic Sans MS" pitchFamily="66" charset="0"/>
              </a:defRPr>
            </a:lvl4pPr>
            <a:lvl5pPr marL="2057400" indent="-228600">
              <a:tabLst>
                <a:tab pos="2057400" algn="l"/>
              </a:tabLst>
              <a:defRPr sz="2400">
                <a:solidFill>
                  <a:schemeClr val="tx1"/>
                </a:solidFill>
                <a:latin typeface="Comic Sans MS" pitchFamily="66" charset="0"/>
              </a:defRPr>
            </a:lvl5pPr>
            <a:lvl6pPr marL="2514600" indent="-228600" algn="ctr" eaLnBrk="0" fontAlgn="base" hangingPunct="0">
              <a:spcBef>
                <a:spcPct val="0"/>
              </a:spcBef>
              <a:spcAft>
                <a:spcPct val="0"/>
              </a:spcAft>
              <a:tabLst>
                <a:tab pos="2057400" algn="l"/>
              </a:tabLst>
              <a:defRPr sz="2400">
                <a:solidFill>
                  <a:schemeClr val="tx1"/>
                </a:solidFill>
                <a:latin typeface="Comic Sans MS" pitchFamily="66" charset="0"/>
              </a:defRPr>
            </a:lvl6pPr>
            <a:lvl7pPr marL="2971800" indent="-228600" algn="ctr" eaLnBrk="0" fontAlgn="base" hangingPunct="0">
              <a:spcBef>
                <a:spcPct val="0"/>
              </a:spcBef>
              <a:spcAft>
                <a:spcPct val="0"/>
              </a:spcAft>
              <a:tabLst>
                <a:tab pos="2057400" algn="l"/>
              </a:tabLst>
              <a:defRPr sz="2400">
                <a:solidFill>
                  <a:schemeClr val="tx1"/>
                </a:solidFill>
                <a:latin typeface="Comic Sans MS" pitchFamily="66" charset="0"/>
              </a:defRPr>
            </a:lvl7pPr>
            <a:lvl8pPr marL="3429000" indent="-228600" algn="ctr" eaLnBrk="0" fontAlgn="base" hangingPunct="0">
              <a:spcBef>
                <a:spcPct val="0"/>
              </a:spcBef>
              <a:spcAft>
                <a:spcPct val="0"/>
              </a:spcAft>
              <a:tabLst>
                <a:tab pos="2057400" algn="l"/>
              </a:tabLst>
              <a:defRPr sz="2400">
                <a:solidFill>
                  <a:schemeClr val="tx1"/>
                </a:solidFill>
                <a:latin typeface="Comic Sans MS" pitchFamily="66" charset="0"/>
              </a:defRPr>
            </a:lvl8pPr>
            <a:lvl9pPr marL="3886200" indent="-228600" algn="ctr" eaLnBrk="0" fontAlgn="base" hangingPunct="0">
              <a:spcBef>
                <a:spcPct val="0"/>
              </a:spcBef>
              <a:spcAft>
                <a:spcPct val="0"/>
              </a:spcAft>
              <a:tabLst>
                <a:tab pos="2057400" algn="l"/>
              </a:tabLst>
              <a:defRPr sz="2400">
                <a:solidFill>
                  <a:schemeClr val="tx1"/>
                </a:solidFill>
                <a:latin typeface="Comic Sans MS" pitchFamily="66" charset="0"/>
              </a:defRPr>
            </a:lvl9pPr>
          </a:lstStyle>
          <a:p>
            <a:pPr algn="l">
              <a:lnSpc>
                <a:spcPct val="120000"/>
              </a:lnSpc>
            </a:pPr>
            <a:r>
              <a:rPr lang="en-US" altLang="en-US" sz="2000" dirty="0">
                <a:latin typeface="Liberation Sans" panose="020B0604020202020204" pitchFamily="34" charset="0"/>
              </a:rPr>
              <a:t>Kate Brown recorded the following transactions in a general journal during the month of March. Post these entries to the Cash account.</a:t>
            </a:r>
          </a:p>
        </p:txBody>
      </p:sp>
      <p:sp>
        <p:nvSpPr>
          <p:cNvPr id="40963" name="Rectangle 5"/>
          <p:cNvSpPr>
            <a:spLocks noChangeArrowheads="1"/>
          </p:cNvSpPr>
          <p:nvPr/>
        </p:nvSpPr>
        <p:spPr bwMode="auto">
          <a:xfrm>
            <a:off x="914400" y="2362200"/>
            <a:ext cx="7696200" cy="2400657"/>
          </a:xfrm>
          <a:prstGeom prst="rect">
            <a:avLst/>
          </a:prstGeom>
          <a:solidFill>
            <a:schemeClr val="bg1"/>
          </a:solidFill>
          <a:ln>
            <a:noFill/>
          </a:ln>
          <a:effectLst/>
          <a:extLst>
            <a:ext uri="{91240B29-F687-4F45-9708-019B960494DF}">
              <a14:hiddenLine xmlns:a14="http://schemas.microsoft.com/office/drawing/2010/main" w="12700" cap="sq" algn="ctr">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428750" algn="l"/>
                <a:tab pos="2057400" algn="l"/>
                <a:tab pos="5715000" algn="r"/>
                <a:tab pos="6972300" algn="r"/>
              </a:tabLst>
              <a:defRPr sz="2400">
                <a:solidFill>
                  <a:schemeClr val="tx1"/>
                </a:solidFill>
                <a:latin typeface="Comic Sans MS" pitchFamily="66" charset="0"/>
              </a:defRPr>
            </a:lvl1pPr>
            <a:lvl2pPr marL="742950" indent="-285750">
              <a:tabLst>
                <a:tab pos="1428750" algn="l"/>
                <a:tab pos="2057400" algn="l"/>
                <a:tab pos="5715000" algn="r"/>
                <a:tab pos="6972300" algn="r"/>
              </a:tabLst>
              <a:defRPr sz="2400">
                <a:solidFill>
                  <a:schemeClr val="tx1"/>
                </a:solidFill>
                <a:latin typeface="Comic Sans MS" pitchFamily="66" charset="0"/>
              </a:defRPr>
            </a:lvl2pPr>
            <a:lvl3pPr marL="1143000" indent="-228600">
              <a:tabLst>
                <a:tab pos="1428750" algn="l"/>
                <a:tab pos="2057400" algn="l"/>
                <a:tab pos="5715000" algn="r"/>
                <a:tab pos="6972300" algn="r"/>
              </a:tabLst>
              <a:defRPr sz="2400">
                <a:solidFill>
                  <a:schemeClr val="tx1"/>
                </a:solidFill>
                <a:latin typeface="Comic Sans MS" pitchFamily="66" charset="0"/>
              </a:defRPr>
            </a:lvl3pPr>
            <a:lvl4pPr marL="1600200" indent="-228600">
              <a:tabLst>
                <a:tab pos="1428750" algn="l"/>
                <a:tab pos="2057400" algn="l"/>
                <a:tab pos="5715000" algn="r"/>
                <a:tab pos="6972300" algn="r"/>
              </a:tabLst>
              <a:defRPr sz="2400">
                <a:solidFill>
                  <a:schemeClr val="tx1"/>
                </a:solidFill>
                <a:latin typeface="Comic Sans MS" pitchFamily="66" charset="0"/>
              </a:defRPr>
            </a:lvl4pPr>
            <a:lvl5pPr marL="2057400" indent="-228600">
              <a:tabLst>
                <a:tab pos="1428750" algn="l"/>
                <a:tab pos="2057400" algn="l"/>
                <a:tab pos="5715000" algn="r"/>
                <a:tab pos="6972300" algn="r"/>
              </a:tabLst>
              <a:defRPr sz="2400">
                <a:solidFill>
                  <a:schemeClr val="tx1"/>
                </a:solidFill>
                <a:latin typeface="Comic Sans MS" pitchFamily="66" charset="0"/>
              </a:defRPr>
            </a:lvl5pPr>
            <a:lvl6pPr marL="25146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6pPr>
            <a:lvl7pPr marL="29718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7pPr>
            <a:lvl8pPr marL="34290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8pPr>
            <a:lvl9pPr marL="3886200" indent="-228600" algn="ctr" eaLnBrk="0" fontAlgn="base" hangingPunct="0">
              <a:spcBef>
                <a:spcPct val="0"/>
              </a:spcBef>
              <a:spcAft>
                <a:spcPct val="0"/>
              </a:spcAft>
              <a:tabLst>
                <a:tab pos="1428750" algn="l"/>
                <a:tab pos="2057400" algn="l"/>
                <a:tab pos="5715000" algn="r"/>
                <a:tab pos="6972300" algn="r"/>
              </a:tabLst>
              <a:defRPr sz="2400">
                <a:solidFill>
                  <a:schemeClr val="tx1"/>
                </a:solidFill>
                <a:latin typeface="Comic Sans MS" pitchFamily="66" charset="0"/>
              </a:defRPr>
            </a:lvl9pPr>
          </a:lstStyle>
          <a:p>
            <a:pPr algn="l">
              <a:lnSpc>
                <a:spcPct val="120000"/>
              </a:lnSpc>
              <a:tabLst>
                <a:tab pos="1254125" algn="l"/>
                <a:tab pos="1652588" algn="l"/>
                <a:tab pos="5715000" algn="r"/>
                <a:tab pos="6972300" algn="r"/>
              </a:tabLst>
            </a:pPr>
            <a:r>
              <a:rPr lang="en-US" altLang="en-US" sz="2000" dirty="0">
                <a:latin typeface="Liberation Sans" panose="020B0604020202020204" pitchFamily="34" charset="0"/>
              </a:rPr>
              <a:t>Mar. 4 	Cash 	2,280</a:t>
            </a:r>
          </a:p>
          <a:p>
            <a:pPr algn="l">
              <a:lnSpc>
                <a:spcPct val="120000"/>
              </a:lnSpc>
              <a:tabLst>
                <a:tab pos="1254125" algn="l"/>
                <a:tab pos="1652588" algn="l"/>
                <a:tab pos="5715000" algn="r"/>
                <a:tab pos="6972300" algn="r"/>
              </a:tabLst>
            </a:pPr>
            <a:r>
              <a:rPr lang="en-US" altLang="en-US" sz="2000" dirty="0">
                <a:latin typeface="Liberation Sans" panose="020B0604020202020204" pitchFamily="34" charset="0"/>
              </a:rPr>
              <a:t>		Service Revenue 		2,280</a:t>
            </a:r>
          </a:p>
          <a:p>
            <a:pPr algn="l">
              <a:lnSpc>
                <a:spcPct val="120000"/>
              </a:lnSpc>
              <a:spcBef>
                <a:spcPct val="15000"/>
              </a:spcBef>
              <a:tabLst>
                <a:tab pos="1254125" algn="l"/>
                <a:tab pos="1652588" algn="l"/>
                <a:tab pos="5715000" algn="r"/>
                <a:tab pos="6972300" algn="r"/>
              </a:tabLst>
            </a:pPr>
            <a:r>
              <a:rPr lang="en-US" altLang="en-US" sz="2000" dirty="0">
                <a:latin typeface="Liberation Sans" panose="020B0604020202020204" pitchFamily="34" charset="0"/>
              </a:rPr>
              <a:t>Mar. 15 	Salaries and Wages Expense 	400</a:t>
            </a:r>
          </a:p>
          <a:p>
            <a:pPr algn="l">
              <a:lnSpc>
                <a:spcPct val="120000"/>
              </a:lnSpc>
              <a:tabLst>
                <a:tab pos="1254125" algn="l"/>
                <a:tab pos="1652588" algn="l"/>
                <a:tab pos="5715000" algn="r"/>
                <a:tab pos="6972300" algn="r"/>
              </a:tabLst>
            </a:pPr>
            <a:r>
              <a:rPr lang="en-US" altLang="en-US" sz="2000" dirty="0">
                <a:latin typeface="Liberation Sans" panose="020B0604020202020204" pitchFamily="34" charset="0"/>
              </a:rPr>
              <a:t>		Cash 		400</a:t>
            </a:r>
          </a:p>
          <a:p>
            <a:pPr algn="l">
              <a:lnSpc>
                <a:spcPct val="120000"/>
              </a:lnSpc>
              <a:spcBef>
                <a:spcPct val="15000"/>
              </a:spcBef>
              <a:tabLst>
                <a:tab pos="1254125" algn="l"/>
                <a:tab pos="1652588" algn="l"/>
                <a:tab pos="5715000" algn="r"/>
                <a:tab pos="6972300" algn="r"/>
              </a:tabLst>
            </a:pPr>
            <a:r>
              <a:rPr lang="en-US" altLang="en-US" sz="2000" dirty="0">
                <a:latin typeface="Liberation Sans" panose="020B0604020202020204" pitchFamily="34" charset="0"/>
              </a:rPr>
              <a:t>Mar. 19 	Utilities Expense 	92</a:t>
            </a:r>
          </a:p>
          <a:p>
            <a:pPr algn="l">
              <a:lnSpc>
                <a:spcPct val="120000"/>
              </a:lnSpc>
              <a:tabLst>
                <a:tab pos="1254125" algn="l"/>
                <a:tab pos="1652588" algn="l"/>
                <a:tab pos="5715000" algn="r"/>
                <a:tab pos="6972300" algn="r"/>
              </a:tabLst>
            </a:pPr>
            <a:r>
              <a:rPr lang="en-US" altLang="en-US" sz="2000" dirty="0">
                <a:latin typeface="Liberation Sans" panose="020B0604020202020204" pitchFamily="34" charset="0"/>
              </a:rPr>
              <a:t>		Cash 		92</a:t>
            </a:r>
          </a:p>
        </p:txBody>
      </p:sp>
      <p:pic>
        <p:nvPicPr>
          <p:cNvPr id="40964"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714" y="4778276"/>
            <a:ext cx="8162925" cy="172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8672" name="Rectangle 16"/>
          <p:cNvSpPr>
            <a:spLocks noChangeArrowheads="1"/>
          </p:cNvSpPr>
          <p:nvPr/>
        </p:nvSpPr>
        <p:spPr bwMode="auto">
          <a:xfrm>
            <a:off x="1624239" y="5692676"/>
            <a:ext cx="2895600" cy="304800"/>
          </a:xfrm>
          <a:prstGeom prst="rect">
            <a:avLst/>
          </a:prstGeom>
          <a:solidFill>
            <a:schemeClr val="bg1"/>
          </a:solidFill>
          <a:ln w="1905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endParaRPr lang="en-US" altLang="en-US" dirty="0">
              <a:latin typeface="Liberation Sans" panose="020B0604020202020204" pitchFamily="34" charset="0"/>
            </a:endParaRPr>
          </a:p>
        </p:txBody>
      </p:sp>
      <p:sp>
        <p:nvSpPr>
          <p:cNvPr id="198673" name="Rectangle 17"/>
          <p:cNvSpPr>
            <a:spLocks noChangeArrowheads="1"/>
          </p:cNvSpPr>
          <p:nvPr/>
        </p:nvSpPr>
        <p:spPr bwMode="auto">
          <a:xfrm>
            <a:off x="4632552" y="5311676"/>
            <a:ext cx="2895600" cy="304800"/>
          </a:xfrm>
          <a:prstGeom prst="rect">
            <a:avLst/>
          </a:prstGeom>
          <a:solidFill>
            <a:schemeClr val="bg1"/>
          </a:solidFill>
          <a:ln w="1905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endParaRPr lang="en-US" altLang="en-US" dirty="0">
              <a:latin typeface="Liberation Sans" panose="020B0604020202020204" pitchFamily="34" charset="0"/>
            </a:endParaRPr>
          </a:p>
        </p:txBody>
      </p:sp>
      <p:sp>
        <p:nvSpPr>
          <p:cNvPr id="198674" name="Rectangle 18"/>
          <p:cNvSpPr>
            <a:spLocks noChangeArrowheads="1"/>
          </p:cNvSpPr>
          <p:nvPr/>
        </p:nvSpPr>
        <p:spPr bwMode="auto">
          <a:xfrm>
            <a:off x="4632552" y="5692676"/>
            <a:ext cx="2895600" cy="304800"/>
          </a:xfrm>
          <a:prstGeom prst="rect">
            <a:avLst/>
          </a:prstGeom>
          <a:solidFill>
            <a:schemeClr val="bg1"/>
          </a:solidFill>
          <a:ln w="1905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endParaRPr lang="en-US" altLang="en-US" dirty="0">
              <a:latin typeface="Liberation Sans" panose="020B0604020202020204" pitchFamily="34" charset="0"/>
            </a:endParaRPr>
          </a:p>
        </p:txBody>
      </p:sp>
      <p:sp>
        <p:nvSpPr>
          <p:cNvPr id="198675" name="Rectangle 19"/>
          <p:cNvSpPr>
            <a:spLocks noChangeArrowheads="1"/>
          </p:cNvSpPr>
          <p:nvPr/>
        </p:nvSpPr>
        <p:spPr bwMode="auto">
          <a:xfrm>
            <a:off x="1624239" y="6073676"/>
            <a:ext cx="2895600" cy="304800"/>
          </a:xfrm>
          <a:prstGeom prst="rect">
            <a:avLst/>
          </a:prstGeom>
          <a:solidFill>
            <a:schemeClr val="bg1"/>
          </a:solidFill>
          <a:ln w="1905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endParaRPr lang="en-US" altLang="en-US" dirty="0">
              <a:latin typeface="Liberation Sans" panose="020B0604020202020204" pitchFamily="34" charset="0"/>
            </a:endParaRPr>
          </a:p>
        </p:txBody>
      </p:sp>
      <p:pic>
        <p:nvPicPr>
          <p:cNvPr id="21" name="Picture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smtClean="0">
                <a:solidFill>
                  <a:srgbClr val="FF9900"/>
                </a:solidFill>
                <a:latin typeface="Liberation Sans" panose="020B0604020202020204" pitchFamily="34" charset="0"/>
              </a:rPr>
              <a:t>3</a:t>
            </a:r>
            <a:endParaRPr lang="en-US" sz="3600" b="1" dirty="0">
              <a:solidFill>
                <a:srgbClr val="FF9900"/>
              </a:solidFill>
              <a:latin typeface="Liberation Sans" panose="020B0604020202020204" pitchFamily="34" charset="0"/>
            </a:endParaRPr>
          </a:p>
        </p:txBody>
      </p:sp>
      <p:sp>
        <p:nvSpPr>
          <p:cNvPr id="24" name="TextBox 23"/>
          <p:cNvSpPr txBox="1"/>
          <p:nvPr/>
        </p:nvSpPr>
        <p:spPr>
          <a:xfrm>
            <a:off x="3338286" y="508909"/>
            <a:ext cx="5515429" cy="519373"/>
          </a:xfrm>
          <a:prstGeom prst="rect">
            <a:avLst/>
          </a:prstGeom>
          <a:noFill/>
        </p:spPr>
        <p:txBody>
          <a:bodyPr wrap="square" lIns="86493" tIns="43247" rIns="86493" bIns="43247" rtlCol="0">
            <a:spAutoFit/>
          </a:bodyPr>
          <a:lstStyle/>
          <a:p>
            <a:pPr marL="111120" algn="l"/>
            <a:r>
              <a:rPr lang="en-US" sz="2800" b="1" dirty="0" smtClean="0">
                <a:solidFill>
                  <a:schemeClr val="bg1"/>
                </a:solidFill>
                <a:latin typeface="Liberation Sans" panose="020B0604020202020204" pitchFamily="34" charset="0"/>
              </a:rPr>
              <a:t>Posting</a:t>
            </a:r>
            <a:endParaRPr lang="en-US" sz="2800" b="1" dirty="0">
              <a:solidFill>
                <a:schemeClr val="bg1"/>
              </a:solidFill>
              <a:latin typeface="Liberation Sans" panose="020B0604020202020204" pitchFamily="34" charset="0"/>
            </a:endParaRPr>
          </a:p>
        </p:txBody>
      </p:sp>
      <p:sp>
        <p:nvSpPr>
          <p:cNvPr id="27"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3</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xit" presetSubtype="8" fill="hold" grpId="0" nodeType="clickEffect">
                                  <p:stCondLst>
                                    <p:cond delay="0"/>
                                  </p:stCondLst>
                                  <p:childTnLst>
                                    <p:animEffect transition="out" filter="wipe(left)">
                                      <p:cBhvr>
                                        <p:cTn id="6" dur="500"/>
                                        <p:tgtEl>
                                          <p:spTgt spid="198672"/>
                                        </p:tgtEl>
                                      </p:cBhvr>
                                    </p:animEffect>
                                    <p:set>
                                      <p:cBhvr>
                                        <p:cTn id="7" dur="1" fill="hold">
                                          <p:stCondLst>
                                            <p:cond delay="499"/>
                                          </p:stCondLst>
                                        </p:cTn>
                                        <p:tgtEl>
                                          <p:spTgt spid="198672"/>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xit" presetSubtype="8" fill="hold" grpId="0" nodeType="clickEffect">
                                  <p:stCondLst>
                                    <p:cond delay="0"/>
                                  </p:stCondLst>
                                  <p:childTnLst>
                                    <p:animEffect transition="out" filter="wipe(left)">
                                      <p:cBhvr>
                                        <p:cTn id="11" dur="500"/>
                                        <p:tgtEl>
                                          <p:spTgt spid="198673"/>
                                        </p:tgtEl>
                                      </p:cBhvr>
                                    </p:animEffect>
                                    <p:set>
                                      <p:cBhvr>
                                        <p:cTn id="12" dur="1" fill="hold">
                                          <p:stCondLst>
                                            <p:cond delay="499"/>
                                          </p:stCondLst>
                                        </p:cTn>
                                        <p:tgtEl>
                                          <p:spTgt spid="19867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8" fill="hold" grpId="0" nodeType="clickEffect">
                                  <p:stCondLst>
                                    <p:cond delay="0"/>
                                  </p:stCondLst>
                                  <p:childTnLst>
                                    <p:animEffect transition="out" filter="wipe(left)">
                                      <p:cBhvr>
                                        <p:cTn id="16" dur="500"/>
                                        <p:tgtEl>
                                          <p:spTgt spid="198674"/>
                                        </p:tgtEl>
                                      </p:cBhvr>
                                    </p:animEffect>
                                    <p:set>
                                      <p:cBhvr>
                                        <p:cTn id="17" dur="1" fill="hold">
                                          <p:stCondLst>
                                            <p:cond delay="499"/>
                                          </p:stCondLst>
                                        </p:cTn>
                                        <p:tgtEl>
                                          <p:spTgt spid="198674"/>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xit" presetSubtype="8" fill="hold" grpId="0" nodeType="clickEffect">
                                  <p:stCondLst>
                                    <p:cond delay="0"/>
                                  </p:stCondLst>
                                  <p:childTnLst>
                                    <p:animEffect transition="out" filter="wipe(left)">
                                      <p:cBhvr>
                                        <p:cTn id="21" dur="500"/>
                                        <p:tgtEl>
                                          <p:spTgt spid="198675"/>
                                        </p:tgtEl>
                                      </p:cBhvr>
                                    </p:animEffect>
                                    <p:set>
                                      <p:cBhvr>
                                        <p:cTn id="22" dur="1" fill="hold">
                                          <p:stCondLst>
                                            <p:cond delay="499"/>
                                          </p:stCondLst>
                                        </p:cTn>
                                        <p:tgtEl>
                                          <p:spTgt spid="1986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72" grpId="0" animBg="1"/>
      <p:bldP spid="198673" grpId="0" animBg="1"/>
      <p:bldP spid="198674" grpId="0" animBg="1"/>
      <p:bldP spid="19867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9" name="Rectangle 5"/>
          <p:cNvSpPr>
            <a:spLocks noChangeArrowheads="1"/>
          </p:cNvSpPr>
          <p:nvPr/>
        </p:nvSpPr>
        <p:spPr bwMode="auto">
          <a:xfrm>
            <a:off x="5030251" y="6315075"/>
            <a:ext cx="242374" cy="338554"/>
          </a:xfrm>
          <a:prstGeom prst="rect">
            <a:avLst/>
          </a:prstGeom>
          <a:noFill/>
          <a:ln w="12700" cap="sq">
            <a:noFill/>
            <a:miter lim="800000"/>
            <a:headEnd type="none" w="sm" len="sm"/>
            <a:tailEnd type="none" w="sm" len="sm"/>
          </a:ln>
          <a:effectLst/>
        </p:spPr>
        <p:txBody>
          <a:bodyPr wrap="none">
            <a:spAutoFit/>
          </a:bodyPr>
          <a:lstStyle/>
          <a:p>
            <a:pPr>
              <a:defRPr/>
            </a:pPr>
            <a:r>
              <a:rPr lang="en-US" sz="1600" b="1" i="1" dirty="0">
                <a:solidFill>
                  <a:schemeClr val="bg2"/>
                </a:solidFill>
                <a:effectLst>
                  <a:outerShdw blurRad="38100" dist="38100" dir="2700000" algn="tl">
                    <a:srgbClr val="C0C0C0"/>
                  </a:outerShdw>
                </a:effectLst>
                <a:latin typeface="Liberation Sans" panose="020B0604020202020204" pitchFamily="34" charset="0"/>
              </a:rPr>
              <a:t> </a:t>
            </a:r>
          </a:p>
        </p:txBody>
      </p:sp>
      <p:sp>
        <p:nvSpPr>
          <p:cNvPr id="8" name="Rectangle 6"/>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latin typeface="Liberation Sans" panose="020B0604020202020204" pitchFamily="34" charset="0"/>
              </a:rPr>
              <a:t>LEARNING</a:t>
            </a:r>
          </a:p>
          <a:p>
            <a:pPr algn="l"/>
            <a:r>
              <a:rPr lang="en-US" altLang="en-US" sz="1700" b="1" dirty="0">
                <a:latin typeface="Liberation Sans" panose="020B0604020202020204" pitchFamily="34" charset="0"/>
              </a:rPr>
              <a:t>OBJECTIVE</a:t>
            </a:r>
          </a:p>
        </p:txBody>
      </p:sp>
      <p:sp>
        <p:nvSpPr>
          <p:cNvPr id="9"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tIns="27432" anchor="ctr"/>
          <a:lstStyle/>
          <a:p>
            <a:pPr marL="117475" algn="l"/>
            <a:r>
              <a:rPr lang="en-US" sz="2800" b="1" dirty="0" smtClean="0">
                <a:solidFill>
                  <a:schemeClr val="bg1"/>
                </a:solidFill>
                <a:latin typeface="Liberation Sans" panose="020B0604020202020204" pitchFamily="34" charset="0"/>
              </a:rPr>
              <a:t>Prepare a trial balance.</a:t>
            </a:r>
            <a:endParaRPr lang="en-US" sz="2800" b="1" dirty="0">
              <a:solidFill>
                <a:schemeClr val="bg1"/>
              </a:solidFill>
              <a:latin typeface="Liberation Sans" panose="020B0604020202020204" pitchFamily="34" charset="0"/>
            </a:endParaRPr>
          </a:p>
        </p:txBody>
      </p:sp>
      <p:sp>
        <p:nvSpPr>
          <p:cNvPr id="10" name="Oval 9"/>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prstTxWarp prst="textNoShape">
              <a:avLst/>
            </a:prstTxWarp>
            <a:noAutofit/>
          </a:bodyPr>
          <a:lstStyle/>
          <a:p>
            <a:pPr algn="ctr"/>
            <a:r>
              <a:rPr lang="en-US" b="1" dirty="0">
                <a:solidFill>
                  <a:schemeClr val="bg1"/>
                </a:solidFill>
                <a:latin typeface="Liberation Sans" panose="020B0604020202020204" pitchFamily="34" charset="0"/>
              </a:rPr>
              <a:t>4</a:t>
            </a:r>
          </a:p>
        </p:txBody>
      </p:sp>
      <p:pic>
        <p:nvPicPr>
          <p:cNvPr id="136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7924800" cy="4830940"/>
          </a:xfrm>
          <a:prstGeom prst="rect">
            <a:avLst/>
          </a:prstGeom>
          <a:noFill/>
          <a:ln w="28575">
            <a:solidFill>
              <a:schemeClr val="bg1">
                <a:lumMod val="50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44037" name="Rectangle 5"/>
          <p:cNvSpPr>
            <a:spLocks noChangeArrowheads="1"/>
          </p:cNvSpPr>
          <p:nvPr/>
        </p:nvSpPr>
        <p:spPr bwMode="auto">
          <a:xfrm>
            <a:off x="1023257" y="6428601"/>
            <a:ext cx="1371600" cy="276999"/>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r>
              <a:rPr lang="en-US" altLang="en-US" sz="1200" b="1" dirty="0">
                <a:latin typeface="Liberation Sans" panose="020B0604020202020204" pitchFamily="34" charset="0"/>
              </a:rPr>
              <a:t>Illustration </a:t>
            </a:r>
            <a:r>
              <a:rPr lang="en-US" altLang="en-US" sz="1200" b="1" dirty="0" smtClean="0">
                <a:latin typeface="Liberation Sans" panose="020B0604020202020204" pitchFamily="34" charset="0"/>
              </a:rPr>
              <a:t>2-31</a:t>
            </a:r>
          </a:p>
        </p:txBody>
      </p:sp>
      <p:sp>
        <p:nvSpPr>
          <p:cNvPr id="12" name="Text Box 5"/>
          <p:cNvSpPr txBox="1">
            <a:spLocks noChangeArrowheads="1"/>
          </p:cNvSpPr>
          <p:nvPr/>
        </p:nvSpPr>
        <p:spPr bwMode="auto">
          <a:xfrm>
            <a:off x="8077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Tree>
  </p:cSld>
  <p:clrMapOvr>
    <a:masterClrMapping/>
  </p:clrMapOvr>
  <p:transition>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533400" y="1905000"/>
            <a:ext cx="8229600" cy="380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marL="457200" indent="-457200">
              <a:defRPr sz="2400">
                <a:solidFill>
                  <a:schemeClr val="tx1"/>
                </a:solidFill>
                <a:latin typeface="Comic Sans MS" pitchFamily="66" charset="0"/>
              </a:defRPr>
            </a:lvl1pPr>
            <a:lvl2pPr marL="687388" indent="-45720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0000"/>
              </a:lnSpc>
              <a:spcBef>
                <a:spcPct val="50000"/>
              </a:spcBef>
              <a:buSzPct val="80000"/>
            </a:pPr>
            <a:r>
              <a:rPr lang="en-US" altLang="en-US" sz="2300" dirty="0" smtClean="0">
                <a:latin typeface="Liberation Sans" panose="020B0604020202020204" pitchFamily="34" charset="0"/>
              </a:rPr>
              <a:t>Trial </a:t>
            </a:r>
            <a:r>
              <a:rPr lang="en-US" altLang="en-US" sz="2300" dirty="0">
                <a:latin typeface="Liberation Sans" panose="020B0604020202020204" pitchFamily="34" charset="0"/>
              </a:rPr>
              <a:t>balance may balance even </a:t>
            </a:r>
            <a:r>
              <a:rPr lang="en-US" altLang="en-US" sz="2300" dirty="0" smtClean="0">
                <a:latin typeface="Liberation Sans" panose="020B0604020202020204" pitchFamily="34" charset="0"/>
              </a:rPr>
              <a:t>when: </a:t>
            </a:r>
            <a:endParaRPr lang="en-US" altLang="en-US" sz="2300" dirty="0">
              <a:latin typeface="Liberation Sans" panose="020B0604020202020204" pitchFamily="34" charset="0"/>
            </a:endParaRPr>
          </a:p>
          <a:p>
            <a:pPr lvl="1" algn="l">
              <a:lnSpc>
                <a:spcPct val="120000"/>
              </a:lnSpc>
              <a:spcBef>
                <a:spcPct val="50000"/>
              </a:spcBef>
              <a:buFontTx/>
              <a:buAutoNum type="arabicPeriod"/>
            </a:pPr>
            <a:r>
              <a:rPr lang="en-US" altLang="en-US" sz="2200" dirty="0" smtClean="0">
                <a:latin typeface="Liberation Sans" panose="020B0604020202020204" pitchFamily="34" charset="0"/>
              </a:rPr>
              <a:t>A transaction is not journalized. </a:t>
            </a:r>
          </a:p>
          <a:p>
            <a:pPr lvl="1" algn="l">
              <a:lnSpc>
                <a:spcPct val="120000"/>
              </a:lnSpc>
              <a:spcBef>
                <a:spcPct val="50000"/>
              </a:spcBef>
              <a:buFontTx/>
              <a:buAutoNum type="arabicPeriod"/>
            </a:pPr>
            <a:r>
              <a:rPr lang="en-US" altLang="en-US" sz="2200" dirty="0" smtClean="0">
                <a:latin typeface="Liberation Sans" panose="020B0604020202020204" pitchFamily="34" charset="0"/>
              </a:rPr>
              <a:t>A correct journal entry is not posted.</a:t>
            </a:r>
          </a:p>
          <a:p>
            <a:pPr lvl="1" algn="l">
              <a:lnSpc>
                <a:spcPct val="120000"/>
              </a:lnSpc>
              <a:spcBef>
                <a:spcPct val="50000"/>
              </a:spcBef>
              <a:buFontTx/>
              <a:buAutoNum type="arabicPeriod"/>
            </a:pPr>
            <a:r>
              <a:rPr lang="en-US" altLang="en-US" sz="2200" dirty="0" smtClean="0">
                <a:latin typeface="Liberation Sans" panose="020B0604020202020204" pitchFamily="34" charset="0"/>
              </a:rPr>
              <a:t>A journal entry is posted twice.</a:t>
            </a:r>
          </a:p>
          <a:p>
            <a:pPr lvl="1" algn="l">
              <a:lnSpc>
                <a:spcPct val="120000"/>
              </a:lnSpc>
              <a:spcBef>
                <a:spcPct val="50000"/>
              </a:spcBef>
              <a:buFontTx/>
              <a:buAutoNum type="arabicPeriod"/>
            </a:pPr>
            <a:r>
              <a:rPr lang="en-US" altLang="en-US" sz="2200" dirty="0" smtClean="0">
                <a:latin typeface="Liberation Sans" panose="020B0604020202020204" pitchFamily="34" charset="0"/>
              </a:rPr>
              <a:t>Incorrect accounts are used in journalizing or posting. </a:t>
            </a:r>
          </a:p>
          <a:p>
            <a:pPr lvl="1" algn="l">
              <a:lnSpc>
                <a:spcPct val="120000"/>
              </a:lnSpc>
              <a:spcBef>
                <a:spcPct val="50000"/>
              </a:spcBef>
              <a:buFontTx/>
              <a:buAutoNum type="arabicPeriod"/>
            </a:pPr>
            <a:r>
              <a:rPr lang="en-US" altLang="en-US" sz="2200" dirty="0" smtClean="0">
                <a:latin typeface="Liberation Sans" panose="020B0604020202020204" pitchFamily="34" charset="0"/>
              </a:rPr>
              <a:t>Offsetting errors are made in recording the amount of a transaction.</a:t>
            </a:r>
            <a:endParaRPr lang="en-US" altLang="en-US" sz="2200" dirty="0">
              <a:latin typeface="Liberation Sans" panose="020B0604020202020204" pitchFamily="34" charset="0"/>
            </a:endParaRPr>
          </a:p>
        </p:txBody>
      </p:sp>
      <p:sp>
        <p:nvSpPr>
          <p:cNvPr id="45060"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Trial Balance</a:t>
            </a:r>
          </a:p>
        </p:txBody>
      </p:sp>
      <p:sp>
        <p:nvSpPr>
          <p:cNvPr id="45061"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5062" name="Rectangle 8"/>
          <p:cNvSpPr>
            <a:spLocks noChangeArrowheads="1"/>
          </p:cNvSpPr>
          <p:nvPr/>
        </p:nvSpPr>
        <p:spPr bwMode="auto">
          <a:xfrm>
            <a:off x="533400" y="1295400"/>
            <a:ext cx="8001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buSzPct val="80000"/>
            </a:pPr>
            <a:r>
              <a:rPr lang="en-US" altLang="en-US" sz="2800" b="1" dirty="0">
                <a:solidFill>
                  <a:schemeClr val="tx2">
                    <a:lumMod val="75000"/>
                  </a:schemeClr>
                </a:solidFill>
                <a:latin typeface="Liberation Sans" panose="020B0604020202020204" pitchFamily="34" charset="0"/>
              </a:rPr>
              <a:t>Limitations of a Trial Balance</a:t>
            </a:r>
          </a:p>
        </p:txBody>
      </p:sp>
      <p:pic>
        <p:nvPicPr>
          <p:cNvPr id="137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600200"/>
            <a:ext cx="2725667" cy="2334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4</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533400" y="1295400"/>
            <a:ext cx="8153400" cy="5115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Comic Sans MS" pitchFamily="66" charset="0"/>
              </a:defRPr>
            </a:lvl1pPr>
            <a:lvl2pPr marL="973138" indent="-45720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marL="0" indent="0" algn="l">
              <a:lnSpc>
                <a:spcPct val="120000"/>
              </a:lnSpc>
              <a:spcBef>
                <a:spcPts val="1200"/>
              </a:spcBef>
              <a:buClr>
                <a:srgbClr val="800000"/>
              </a:buClr>
              <a:buSzPct val="80000"/>
            </a:pPr>
            <a:r>
              <a:rPr lang="en-US" sz="2300" b="1" dirty="0" smtClean="0">
                <a:latin typeface="Liberation Sans" panose="020B0604020202020204" pitchFamily="34" charset="0"/>
              </a:rPr>
              <a:t>Dollar Signs</a:t>
            </a:r>
          </a:p>
          <a:p>
            <a:pPr marL="693738" algn="l">
              <a:lnSpc>
                <a:spcPct val="120000"/>
              </a:lnSpc>
              <a:spcBef>
                <a:spcPts val="1200"/>
              </a:spcBef>
              <a:buClr>
                <a:srgbClr val="800000"/>
              </a:buClr>
              <a:buSzPct val="80000"/>
              <a:buFont typeface="Wingdings" pitchFamily="2" charset="2"/>
              <a:buChar char="u"/>
            </a:pPr>
            <a:r>
              <a:rPr lang="en-US" sz="2200" dirty="0" smtClean="0">
                <a:latin typeface="Liberation Sans" panose="020B0604020202020204" pitchFamily="34" charset="0"/>
              </a:rPr>
              <a:t>Do </a:t>
            </a:r>
            <a:r>
              <a:rPr lang="en-US" sz="2200" dirty="0">
                <a:latin typeface="Liberation Sans" panose="020B0604020202020204" pitchFamily="34" charset="0"/>
              </a:rPr>
              <a:t>not appear in journals or ledgers. </a:t>
            </a:r>
            <a:endParaRPr lang="en-US" sz="2200" dirty="0" smtClean="0">
              <a:latin typeface="Liberation Sans" panose="020B0604020202020204" pitchFamily="34" charset="0"/>
            </a:endParaRPr>
          </a:p>
          <a:p>
            <a:pPr marL="693738" algn="l">
              <a:lnSpc>
                <a:spcPct val="120000"/>
              </a:lnSpc>
              <a:spcBef>
                <a:spcPts val="1200"/>
              </a:spcBef>
              <a:buClr>
                <a:srgbClr val="800000"/>
              </a:buClr>
              <a:buSzPct val="80000"/>
              <a:buFont typeface="Wingdings" pitchFamily="2" charset="2"/>
              <a:buChar char="u"/>
            </a:pPr>
            <a:r>
              <a:rPr lang="en-US" sz="2200" dirty="0" smtClean="0">
                <a:latin typeface="Liberation Sans" panose="020B0604020202020204" pitchFamily="34" charset="0"/>
              </a:rPr>
              <a:t>Typically used </a:t>
            </a:r>
            <a:r>
              <a:rPr lang="en-US" sz="2200" dirty="0">
                <a:latin typeface="Liberation Sans" panose="020B0604020202020204" pitchFamily="34" charset="0"/>
              </a:rPr>
              <a:t>only in the trial balance and the </a:t>
            </a:r>
            <a:r>
              <a:rPr lang="en-US" sz="2200" dirty="0" smtClean="0">
                <a:latin typeface="Liberation Sans" panose="020B0604020202020204" pitchFamily="34" charset="0"/>
              </a:rPr>
              <a:t>financial </a:t>
            </a:r>
            <a:r>
              <a:rPr lang="en-US" sz="2200" dirty="0">
                <a:latin typeface="Liberation Sans" panose="020B0604020202020204" pitchFamily="34" charset="0"/>
              </a:rPr>
              <a:t>statements. </a:t>
            </a:r>
            <a:endParaRPr lang="en-US" sz="2200" dirty="0" smtClean="0">
              <a:latin typeface="Liberation Sans" panose="020B0604020202020204" pitchFamily="34" charset="0"/>
            </a:endParaRPr>
          </a:p>
          <a:p>
            <a:pPr marL="693738" algn="l">
              <a:lnSpc>
                <a:spcPct val="120000"/>
              </a:lnSpc>
              <a:spcBef>
                <a:spcPts val="1200"/>
              </a:spcBef>
              <a:buClr>
                <a:srgbClr val="800000"/>
              </a:buClr>
              <a:buSzPct val="80000"/>
              <a:buFont typeface="Wingdings" pitchFamily="2" charset="2"/>
              <a:buChar char="u"/>
            </a:pPr>
            <a:r>
              <a:rPr lang="en-US" sz="2200" dirty="0" smtClean="0">
                <a:latin typeface="Liberation Sans" panose="020B0604020202020204" pitchFamily="34" charset="0"/>
              </a:rPr>
              <a:t>Shown </a:t>
            </a:r>
            <a:r>
              <a:rPr lang="en-US" sz="2200" dirty="0">
                <a:latin typeface="Liberation Sans" panose="020B0604020202020204" pitchFamily="34" charset="0"/>
              </a:rPr>
              <a:t>only for the </a:t>
            </a:r>
            <a:r>
              <a:rPr lang="en-US" sz="2200" dirty="0" smtClean="0">
                <a:latin typeface="Liberation Sans" panose="020B0604020202020204" pitchFamily="34" charset="0"/>
              </a:rPr>
              <a:t>first </a:t>
            </a:r>
            <a:r>
              <a:rPr lang="en-US" sz="2200" dirty="0">
                <a:latin typeface="Liberation Sans" panose="020B0604020202020204" pitchFamily="34" charset="0"/>
              </a:rPr>
              <a:t>item in the column and for the total of that </a:t>
            </a:r>
            <a:r>
              <a:rPr lang="en-US" sz="2200" dirty="0" smtClean="0">
                <a:latin typeface="Liberation Sans" panose="020B0604020202020204" pitchFamily="34" charset="0"/>
              </a:rPr>
              <a:t>column.</a:t>
            </a:r>
          </a:p>
          <a:p>
            <a:pPr marL="0" indent="0" algn="l">
              <a:lnSpc>
                <a:spcPct val="120000"/>
              </a:lnSpc>
              <a:spcBef>
                <a:spcPts val="1200"/>
              </a:spcBef>
              <a:buClr>
                <a:srgbClr val="800000"/>
              </a:buClr>
              <a:buSzPct val="80000"/>
            </a:pPr>
            <a:r>
              <a:rPr lang="en-US" sz="2300" b="1" dirty="0">
                <a:latin typeface="Liberation Sans" panose="020B0604020202020204" pitchFamily="34" charset="0"/>
              </a:rPr>
              <a:t>Underlining</a:t>
            </a:r>
          </a:p>
          <a:p>
            <a:pPr marL="693738" algn="l">
              <a:lnSpc>
                <a:spcPct val="120000"/>
              </a:lnSpc>
              <a:spcBef>
                <a:spcPts val="1200"/>
              </a:spcBef>
              <a:buClr>
                <a:srgbClr val="800000"/>
              </a:buClr>
              <a:buSzPct val="80000"/>
              <a:buFont typeface="Wingdings" pitchFamily="2" charset="2"/>
              <a:buChar char="u"/>
            </a:pPr>
            <a:r>
              <a:rPr lang="en-US" sz="2200" dirty="0" smtClean="0">
                <a:latin typeface="Liberation Sans" panose="020B0604020202020204" pitchFamily="34" charset="0"/>
              </a:rPr>
              <a:t>A </a:t>
            </a:r>
            <a:r>
              <a:rPr lang="en-US" sz="2200" dirty="0">
                <a:latin typeface="Liberation Sans" panose="020B0604020202020204" pitchFamily="34" charset="0"/>
              </a:rPr>
              <a:t>single </a:t>
            </a:r>
            <a:r>
              <a:rPr lang="en-US" sz="2200" dirty="0" smtClean="0">
                <a:latin typeface="Liberation Sans" panose="020B0604020202020204" pitchFamily="34" charset="0"/>
              </a:rPr>
              <a:t>line </a:t>
            </a:r>
            <a:r>
              <a:rPr lang="en-US" sz="2200" dirty="0">
                <a:latin typeface="Liberation Sans" panose="020B0604020202020204" pitchFamily="34" charset="0"/>
              </a:rPr>
              <a:t>is placed under the column of </a:t>
            </a:r>
            <a:r>
              <a:rPr lang="en-US" sz="2200" dirty="0" smtClean="0">
                <a:latin typeface="Liberation Sans" panose="020B0604020202020204" pitchFamily="34" charset="0"/>
              </a:rPr>
              <a:t>figures </a:t>
            </a:r>
            <a:r>
              <a:rPr lang="en-US" sz="2200" dirty="0">
                <a:latin typeface="Liberation Sans" panose="020B0604020202020204" pitchFamily="34" charset="0"/>
              </a:rPr>
              <a:t>to be </a:t>
            </a:r>
            <a:r>
              <a:rPr lang="en-US" sz="2200" dirty="0" smtClean="0">
                <a:latin typeface="Liberation Sans" panose="020B0604020202020204" pitchFamily="34" charset="0"/>
              </a:rPr>
              <a:t>added or </a:t>
            </a:r>
            <a:r>
              <a:rPr lang="en-US" sz="2200" dirty="0">
                <a:latin typeface="Liberation Sans" panose="020B0604020202020204" pitchFamily="34" charset="0"/>
              </a:rPr>
              <a:t>subtracted. </a:t>
            </a:r>
            <a:endParaRPr lang="en-US" sz="2200" dirty="0" smtClean="0">
              <a:latin typeface="Liberation Sans" panose="020B0604020202020204" pitchFamily="34" charset="0"/>
            </a:endParaRPr>
          </a:p>
          <a:p>
            <a:pPr marL="693738" algn="l">
              <a:lnSpc>
                <a:spcPct val="120000"/>
              </a:lnSpc>
              <a:spcBef>
                <a:spcPts val="1200"/>
              </a:spcBef>
              <a:buClr>
                <a:srgbClr val="800000"/>
              </a:buClr>
              <a:buSzPct val="80000"/>
              <a:buFont typeface="Wingdings" pitchFamily="2" charset="2"/>
              <a:buChar char="u"/>
            </a:pPr>
            <a:r>
              <a:rPr lang="en-US" sz="2200" dirty="0" smtClean="0">
                <a:latin typeface="Liberation Sans" panose="020B0604020202020204" pitchFamily="34" charset="0"/>
              </a:rPr>
              <a:t>Totals </a:t>
            </a:r>
            <a:r>
              <a:rPr lang="en-US" sz="2200" dirty="0">
                <a:latin typeface="Liberation Sans" panose="020B0604020202020204" pitchFamily="34" charset="0"/>
              </a:rPr>
              <a:t>are </a:t>
            </a:r>
            <a:r>
              <a:rPr lang="en-US" sz="2200" dirty="0" smtClean="0">
                <a:latin typeface="Liberation Sans" panose="020B0604020202020204" pitchFamily="34" charset="0"/>
              </a:rPr>
              <a:t>double-underlined.</a:t>
            </a:r>
            <a:endParaRPr lang="en-US" altLang="en-US" sz="2200" dirty="0">
              <a:latin typeface="Liberation Sans" panose="020B0604020202020204" pitchFamily="34" charset="0"/>
            </a:endParaRPr>
          </a:p>
        </p:txBody>
      </p:sp>
      <p:sp>
        <p:nvSpPr>
          <p:cNvPr id="20485"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smtClean="0">
                <a:solidFill>
                  <a:schemeClr val="tx2">
                    <a:lumMod val="75000"/>
                  </a:schemeClr>
                </a:solidFill>
                <a:latin typeface="Liberation Sans" panose="020B0604020202020204" pitchFamily="34" charset="0"/>
              </a:rPr>
              <a:t>Dollar Signs and Underlining</a:t>
            </a:r>
            <a:endParaRPr lang="en-US" altLang="en-US" sz="3200" b="1" dirty="0">
              <a:solidFill>
                <a:schemeClr val="tx2">
                  <a:lumMod val="75000"/>
                </a:schemeClr>
              </a:solidFill>
              <a:latin typeface="Liberation Sans" panose="020B0604020202020204" pitchFamily="34" charset="0"/>
            </a:endParaRPr>
          </a:p>
        </p:txBody>
      </p:sp>
      <p:sp>
        <p:nvSpPr>
          <p:cNvPr id="20486"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6"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4</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3055733656"/>
      </p:ext>
    </p:extLst>
  </p:cSld>
  <p:clrMapOvr>
    <a:masterClrMapping/>
  </p:clrMapOvr>
  <p:transition>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474663" y="1905000"/>
            <a:ext cx="8001000" cy="3962400"/>
          </a:xfrm>
          <a:prstGeom prst="rect">
            <a:avLst/>
          </a:prstGeom>
          <a:solidFill>
            <a:schemeClr val="bg1"/>
          </a:solidFill>
          <a:ln>
            <a:noFill/>
          </a:ln>
          <a:effectLst/>
          <a:extLs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562" tIns="46038" rIns="182562" bIns="46038"/>
          <a:lstStyle>
            <a:lvl1pPr>
              <a:defRPr sz="2400">
                <a:solidFill>
                  <a:schemeClr val="tx1"/>
                </a:solidFill>
                <a:latin typeface="Comic Sans MS" pitchFamily="66" charset="0"/>
              </a:defRPr>
            </a:lvl1pPr>
            <a:lvl2pPr marL="685800" indent="-455613">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lnSpc>
                <a:spcPct val="120000"/>
              </a:lnSpc>
              <a:spcBef>
                <a:spcPct val="50000"/>
              </a:spcBef>
              <a:buClr>
                <a:schemeClr val="tx1"/>
              </a:buClr>
              <a:buFont typeface="Wingdings" pitchFamily="2" charset="2"/>
              <a:buNone/>
            </a:pPr>
            <a:r>
              <a:rPr lang="en-US" altLang="en-US" sz="2100" dirty="0">
                <a:latin typeface="Liberation Sans" panose="020B0604020202020204" pitchFamily="34" charset="0"/>
              </a:rPr>
              <a:t>A trial balance will not balance if:</a:t>
            </a:r>
          </a:p>
          <a:p>
            <a:pPr lvl="1" algn="l">
              <a:lnSpc>
                <a:spcPct val="120000"/>
              </a:lnSpc>
              <a:spcBef>
                <a:spcPct val="50000"/>
              </a:spcBef>
              <a:buClr>
                <a:schemeClr val="tx1"/>
              </a:buClr>
              <a:buFont typeface="Wingdings" pitchFamily="2" charset="2"/>
              <a:buAutoNum type="alphaLcPeriod"/>
            </a:pPr>
            <a:r>
              <a:rPr lang="en-US" altLang="en-US" sz="2100" dirty="0">
                <a:latin typeface="Liberation Sans" panose="020B0604020202020204" pitchFamily="34" charset="0"/>
              </a:rPr>
              <a:t>a correct journal entry is posted twice.</a:t>
            </a:r>
          </a:p>
          <a:p>
            <a:pPr lvl="1" algn="l">
              <a:lnSpc>
                <a:spcPct val="120000"/>
              </a:lnSpc>
              <a:spcBef>
                <a:spcPct val="50000"/>
              </a:spcBef>
              <a:buClr>
                <a:schemeClr val="tx1"/>
              </a:buClr>
              <a:buFont typeface="Wingdings" pitchFamily="2" charset="2"/>
              <a:buAutoNum type="alphaLcPeriod"/>
            </a:pPr>
            <a:r>
              <a:rPr lang="en-US" altLang="en-US" sz="2100" dirty="0">
                <a:latin typeface="Liberation Sans" panose="020B0604020202020204" pitchFamily="34" charset="0"/>
              </a:rPr>
              <a:t>the purchase of supplies on account is debited to Supplies and credited to Cash.</a:t>
            </a:r>
          </a:p>
          <a:p>
            <a:pPr lvl="1" algn="l">
              <a:lnSpc>
                <a:spcPct val="120000"/>
              </a:lnSpc>
              <a:spcBef>
                <a:spcPct val="50000"/>
              </a:spcBef>
              <a:buClr>
                <a:schemeClr val="tx1"/>
              </a:buClr>
              <a:buFont typeface="Wingdings" pitchFamily="2" charset="2"/>
              <a:buAutoNum type="alphaLcPeriod"/>
            </a:pPr>
            <a:r>
              <a:rPr lang="en-US" altLang="en-US" sz="2100" dirty="0">
                <a:latin typeface="Liberation Sans" panose="020B0604020202020204" pitchFamily="34" charset="0"/>
              </a:rPr>
              <a:t>a $100 cash drawing by the owner is debited to Owner’s Drawing for $1,000 and credited to Cash for $100. </a:t>
            </a:r>
          </a:p>
          <a:p>
            <a:pPr lvl="1" algn="l">
              <a:lnSpc>
                <a:spcPct val="120000"/>
              </a:lnSpc>
              <a:spcBef>
                <a:spcPct val="50000"/>
              </a:spcBef>
              <a:buClr>
                <a:schemeClr val="tx1"/>
              </a:buClr>
              <a:buFont typeface="Wingdings" pitchFamily="2" charset="2"/>
              <a:buAutoNum type="alphaLcPeriod"/>
            </a:pPr>
            <a:r>
              <a:rPr lang="en-US" altLang="en-US" sz="2100" dirty="0">
                <a:latin typeface="Liberation Sans" panose="020B0604020202020204" pitchFamily="34" charset="0"/>
              </a:rPr>
              <a:t>a $450 payment on account is debited to Accounts Payable for $45 and credited to Cash for $45.</a:t>
            </a:r>
          </a:p>
        </p:txBody>
      </p:sp>
      <p:sp>
        <p:nvSpPr>
          <p:cNvPr id="46084" name="Rectangle 7"/>
          <p:cNvSpPr>
            <a:spLocks noChangeArrowheads="1"/>
          </p:cNvSpPr>
          <p:nvPr/>
        </p:nvSpPr>
        <p:spPr bwMode="auto">
          <a:xfrm>
            <a:off x="533400" y="304800"/>
            <a:ext cx="7620000" cy="560388"/>
          </a:xfrm>
          <a:prstGeom prst="rect">
            <a:avLst/>
          </a:prstGeom>
          <a:noFill/>
          <a:ln w="63500">
            <a:noFill/>
            <a:miter lim="800000"/>
            <a:headEnd/>
            <a:tailEnd/>
          </a:ln>
          <a:effectLst/>
        </p:spPr>
        <p:txBody>
          <a:bodyPr vert="horz" wrap="square" lIns="90488" tIns="44450" rIns="90488" bIns="44450" numCol="1" anchor="ctr" anchorCtr="0" compatLnSpc="1">
            <a:prstTxWarp prst="textNoShape">
              <a:avLst/>
            </a:prstTxWarp>
          </a:bodyPr>
          <a:lstStyle/>
          <a:p>
            <a:pPr algn="l"/>
            <a:r>
              <a:rPr lang="en-US" altLang="en-US" sz="3200" b="1" dirty="0">
                <a:solidFill>
                  <a:schemeClr val="tx2">
                    <a:lumMod val="75000"/>
                  </a:schemeClr>
                </a:solidFill>
                <a:latin typeface="Liberation Sans" panose="020B0604020202020204" pitchFamily="34" charset="0"/>
              </a:rPr>
              <a:t>Trial Balance</a:t>
            </a:r>
          </a:p>
        </p:txBody>
      </p:sp>
      <p:sp>
        <p:nvSpPr>
          <p:cNvPr id="46085" name="Line 8"/>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6086" name="Rectangle 4"/>
          <p:cNvSpPr>
            <a:spLocks noChangeArrowheads="1"/>
          </p:cNvSpPr>
          <p:nvPr/>
        </p:nvSpPr>
        <p:spPr bwMode="auto">
          <a:xfrm>
            <a:off x="533400" y="1295400"/>
            <a:ext cx="5334000" cy="609600"/>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400">
                <a:solidFill>
                  <a:schemeClr val="tx1"/>
                </a:solidFill>
                <a:latin typeface="Comic Sans MS" pitchFamily="66" charset="0"/>
              </a:defRPr>
            </a:lvl1pPr>
            <a:lvl2pPr marL="742950" indent="-285750">
              <a:defRPr sz="2400">
                <a:solidFill>
                  <a:schemeClr val="tx1"/>
                </a:solidFill>
                <a:latin typeface="Comic Sans MS" pitchFamily="66" charset="0"/>
              </a:defRPr>
            </a:lvl2pPr>
            <a:lvl3pPr marL="1143000" indent="-228600">
              <a:defRPr sz="2400">
                <a:solidFill>
                  <a:schemeClr val="tx1"/>
                </a:solidFill>
                <a:latin typeface="Comic Sans MS" pitchFamily="66" charset="0"/>
              </a:defRPr>
            </a:lvl3pPr>
            <a:lvl4pPr marL="1600200" indent="-228600">
              <a:defRPr sz="2400">
                <a:solidFill>
                  <a:schemeClr val="tx1"/>
                </a:solidFill>
                <a:latin typeface="Comic Sans MS" pitchFamily="66" charset="0"/>
              </a:defRPr>
            </a:lvl4pPr>
            <a:lvl5pPr marL="2057400" indent="-228600">
              <a:defRPr sz="2400">
                <a:solidFill>
                  <a:schemeClr val="tx1"/>
                </a:solidFill>
                <a:latin typeface="Comic Sans MS" pitchFamily="66" charset="0"/>
              </a:defRPr>
            </a:lvl5pPr>
            <a:lvl6pPr marL="2514600" indent="-228600" algn="ctr" eaLnBrk="0" fontAlgn="base" hangingPunct="0">
              <a:spcBef>
                <a:spcPct val="0"/>
              </a:spcBef>
              <a:spcAft>
                <a:spcPct val="0"/>
              </a:spcAft>
              <a:defRPr sz="2400">
                <a:solidFill>
                  <a:schemeClr val="tx1"/>
                </a:solidFill>
                <a:latin typeface="Comic Sans MS" pitchFamily="66" charset="0"/>
              </a:defRPr>
            </a:lvl6pPr>
            <a:lvl7pPr marL="2971800" indent="-228600" algn="ctr" eaLnBrk="0" fontAlgn="base" hangingPunct="0">
              <a:spcBef>
                <a:spcPct val="0"/>
              </a:spcBef>
              <a:spcAft>
                <a:spcPct val="0"/>
              </a:spcAft>
              <a:defRPr sz="2400">
                <a:solidFill>
                  <a:schemeClr val="tx1"/>
                </a:solidFill>
                <a:latin typeface="Comic Sans MS" pitchFamily="66" charset="0"/>
              </a:defRPr>
            </a:lvl7pPr>
            <a:lvl8pPr marL="3429000" indent="-228600" algn="ctr" eaLnBrk="0" fontAlgn="base" hangingPunct="0">
              <a:spcBef>
                <a:spcPct val="0"/>
              </a:spcBef>
              <a:spcAft>
                <a:spcPct val="0"/>
              </a:spcAft>
              <a:defRPr sz="2400">
                <a:solidFill>
                  <a:schemeClr val="tx1"/>
                </a:solidFill>
                <a:latin typeface="Comic Sans MS" pitchFamily="66" charset="0"/>
              </a:defRPr>
            </a:lvl8pPr>
            <a:lvl9pPr marL="3886200" indent="-228600" algn="ctr" eaLnBrk="0" fontAlgn="base" hangingPunct="0">
              <a:spcBef>
                <a:spcPct val="0"/>
              </a:spcBef>
              <a:spcAft>
                <a:spcPct val="0"/>
              </a:spcAft>
              <a:defRPr sz="2400">
                <a:solidFill>
                  <a:schemeClr val="tx1"/>
                </a:solidFill>
                <a:latin typeface="Comic Sans MS" pitchFamily="66" charset="0"/>
              </a:defRPr>
            </a:lvl9pPr>
          </a:lstStyle>
          <a:p>
            <a:pPr algn="l"/>
            <a:r>
              <a:rPr lang="en-US" altLang="en-US" sz="3000" b="1" dirty="0">
                <a:solidFill>
                  <a:srgbClr val="800000"/>
                </a:solidFill>
                <a:latin typeface="Liberation Sans" panose="020B0604020202020204" pitchFamily="34" charset="0"/>
              </a:rPr>
              <a:t>Question</a:t>
            </a:r>
          </a:p>
        </p:txBody>
      </p:sp>
      <p:sp>
        <p:nvSpPr>
          <p:cNvPr id="9"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4</a:t>
            </a:r>
            <a:endParaRPr lang="en-US" altLang="en-US" sz="1600" i="1" dirty="0">
              <a:solidFill>
                <a:schemeClr val="bg2"/>
              </a:solidFill>
              <a:latin typeface="Liberation Sans" panose="020B0604020202020204" pitchFamily="34" charset="0"/>
            </a:endParaRPr>
          </a:p>
        </p:txBody>
      </p:sp>
      <p:sp>
        <p:nvSpPr>
          <p:cNvPr id="10" name="Notched Right Arrow 9"/>
          <p:cNvSpPr/>
          <p:nvPr/>
        </p:nvSpPr>
        <p:spPr bwMode="auto">
          <a:xfrm>
            <a:off x="152400" y="3962400"/>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defPPr>
              <a:defRPr lang="en-US"/>
            </a:defPPr>
            <a:lvl1pPr algn="l" rtl="0" eaLnBrk="0" fontAlgn="base" hangingPunct="0">
              <a:spcBef>
                <a:spcPct val="0"/>
              </a:spcBef>
              <a:spcAft>
                <a:spcPct val="0"/>
              </a:spcAft>
              <a:defRPr sz="2800" b="1" kern="1200">
                <a:solidFill>
                  <a:schemeClr val="bg1"/>
                </a:solidFill>
                <a:latin typeface="Arial" charset="0"/>
                <a:ea typeface="+mn-ea"/>
                <a:cs typeface="+mn-cs"/>
              </a:defRPr>
            </a:lvl1pPr>
            <a:lvl2pPr marL="457200" algn="l" rtl="0" eaLnBrk="0" fontAlgn="base" hangingPunct="0">
              <a:spcBef>
                <a:spcPct val="0"/>
              </a:spcBef>
              <a:spcAft>
                <a:spcPct val="0"/>
              </a:spcAft>
              <a:defRPr sz="2800" b="1" kern="1200">
                <a:solidFill>
                  <a:schemeClr val="bg1"/>
                </a:solidFill>
                <a:latin typeface="Arial" charset="0"/>
                <a:ea typeface="+mn-ea"/>
                <a:cs typeface="+mn-cs"/>
              </a:defRPr>
            </a:lvl2pPr>
            <a:lvl3pPr marL="914400" algn="l" rtl="0" eaLnBrk="0" fontAlgn="base" hangingPunct="0">
              <a:spcBef>
                <a:spcPct val="0"/>
              </a:spcBef>
              <a:spcAft>
                <a:spcPct val="0"/>
              </a:spcAft>
              <a:defRPr sz="2800" b="1" kern="1200">
                <a:solidFill>
                  <a:schemeClr val="bg1"/>
                </a:solidFill>
                <a:latin typeface="Arial" charset="0"/>
                <a:ea typeface="+mn-ea"/>
                <a:cs typeface="+mn-cs"/>
              </a:defRPr>
            </a:lvl3pPr>
            <a:lvl4pPr marL="1371600" algn="l" rtl="0" eaLnBrk="0" fontAlgn="base" hangingPunct="0">
              <a:spcBef>
                <a:spcPct val="0"/>
              </a:spcBef>
              <a:spcAft>
                <a:spcPct val="0"/>
              </a:spcAft>
              <a:defRPr sz="2800" b="1" kern="1200">
                <a:solidFill>
                  <a:schemeClr val="bg1"/>
                </a:solidFill>
                <a:latin typeface="Arial" charset="0"/>
                <a:ea typeface="+mn-ea"/>
                <a:cs typeface="+mn-cs"/>
              </a:defRPr>
            </a:lvl4pPr>
            <a:lvl5pPr marL="1828800" algn="l" rtl="0" eaLnBrk="0" fontAlgn="base" hangingPunct="0">
              <a:spcBef>
                <a:spcPct val="0"/>
              </a:spcBef>
              <a:spcAft>
                <a:spcPct val="0"/>
              </a:spcAft>
              <a:defRPr sz="2800" b="1" kern="1200">
                <a:solidFill>
                  <a:schemeClr val="bg1"/>
                </a:solidFill>
                <a:latin typeface="Arial" charset="0"/>
                <a:ea typeface="+mn-ea"/>
                <a:cs typeface="+mn-cs"/>
              </a:defRPr>
            </a:lvl5pPr>
            <a:lvl6pPr marL="2286000" algn="l" defTabSz="914400" rtl="0" eaLnBrk="1" latinLnBrk="0" hangingPunct="1">
              <a:defRPr sz="2800" b="1" kern="1200">
                <a:solidFill>
                  <a:schemeClr val="bg1"/>
                </a:solidFill>
                <a:latin typeface="Arial" charset="0"/>
                <a:ea typeface="+mn-ea"/>
                <a:cs typeface="+mn-cs"/>
              </a:defRPr>
            </a:lvl6pPr>
            <a:lvl7pPr marL="2743200" algn="l" defTabSz="914400" rtl="0" eaLnBrk="1" latinLnBrk="0" hangingPunct="1">
              <a:defRPr sz="2800" b="1" kern="1200">
                <a:solidFill>
                  <a:schemeClr val="bg1"/>
                </a:solidFill>
                <a:latin typeface="Arial" charset="0"/>
                <a:ea typeface="+mn-ea"/>
                <a:cs typeface="+mn-cs"/>
              </a:defRPr>
            </a:lvl7pPr>
            <a:lvl8pPr marL="3200400" algn="l" defTabSz="914400" rtl="0" eaLnBrk="1" latinLnBrk="0" hangingPunct="1">
              <a:defRPr sz="2800" b="1" kern="1200">
                <a:solidFill>
                  <a:schemeClr val="bg1"/>
                </a:solidFill>
                <a:latin typeface="Arial" charset="0"/>
                <a:ea typeface="+mn-ea"/>
                <a:cs typeface="+mn-cs"/>
              </a:defRPr>
            </a:lvl8pPr>
            <a:lvl9pPr marL="3657600" algn="l" defTabSz="914400" rtl="0" eaLnBrk="1" latinLnBrk="0" hangingPunct="1">
              <a:defRPr sz="2800" b="1" kern="1200">
                <a:solidFill>
                  <a:schemeClr val="bg1"/>
                </a:solidFill>
                <a:latin typeface="Arial" charset="0"/>
                <a:ea typeface="+mn-ea"/>
                <a:cs typeface="+mn-cs"/>
              </a:defRPr>
            </a:lvl9pPr>
          </a:lstStyle>
          <a:p>
            <a:endParaRPr lang="en-US" altLang="en-US">
              <a:solidFill>
                <a:schemeClr val="accent6">
                  <a:lumMod val="50000"/>
                </a:schemeClr>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85788"/>
            <a:ext cx="8658049" cy="4367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4</a:t>
            </a:r>
            <a:endParaRPr lang="en-US" altLang="en-US" sz="1600" i="1" dirty="0">
              <a:solidFill>
                <a:schemeClr val="bg2"/>
              </a:solidFill>
              <a:latin typeface="Liberation Sans" panose="020B0604020202020204" pitchFamily="34" charset="0"/>
            </a:endParaRPr>
          </a:p>
        </p:txBody>
      </p:sp>
    </p:spTree>
  </p:cSld>
  <p:clrMapOvr>
    <a:masterClrMapping/>
  </p:clrMapOvr>
  <p:transition>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86" y="357188"/>
            <a:ext cx="8548914"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smtClean="0">
                <a:solidFill>
                  <a:srgbClr val="FF9900"/>
                </a:solidFill>
                <a:effectLst>
                  <a:outerShdw blurRad="38100" dist="38100" dir="2700000" algn="tl">
                    <a:srgbClr val="000000">
                      <a:alpha val="43137"/>
                    </a:srgbClr>
                  </a:outerShdw>
                </a:effectLst>
                <a:latin typeface="Liberation Sans" panose="020B0604020202020204" pitchFamily="34" charset="0"/>
              </a:rPr>
              <a:t>DO IT!</a:t>
            </a:r>
            <a:endPar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endParaRPr>
          </a:p>
        </p:txBody>
      </p:sp>
      <p:pic>
        <p:nvPicPr>
          <p:cNvPr id="21"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smtClean="0">
                <a:solidFill>
                  <a:srgbClr val="FF9900"/>
                </a:solidFill>
                <a:latin typeface="Liberation Sans" panose="020B0604020202020204" pitchFamily="34" charset="0"/>
              </a:rPr>
              <a:t>4</a:t>
            </a:r>
            <a:endParaRPr lang="en-US" sz="3600" b="1" dirty="0">
              <a:solidFill>
                <a:srgbClr val="FF9900"/>
              </a:solidFill>
              <a:latin typeface="Liberation Sans" panose="020B0604020202020204" pitchFamily="34" charset="0"/>
            </a:endParaRPr>
          </a:p>
        </p:txBody>
      </p:sp>
      <p:sp>
        <p:nvSpPr>
          <p:cNvPr id="24" name="TextBox 23"/>
          <p:cNvSpPr txBox="1"/>
          <p:nvPr/>
        </p:nvSpPr>
        <p:spPr>
          <a:xfrm>
            <a:off x="3338287" y="508909"/>
            <a:ext cx="5348514" cy="519373"/>
          </a:xfrm>
          <a:prstGeom prst="rect">
            <a:avLst/>
          </a:prstGeom>
          <a:noFill/>
        </p:spPr>
        <p:txBody>
          <a:bodyPr wrap="square" lIns="86493" tIns="43247" rIns="86493" bIns="43247" rtlCol="0">
            <a:spAutoFit/>
          </a:bodyPr>
          <a:lstStyle/>
          <a:p>
            <a:pPr marL="111120" algn="l"/>
            <a:r>
              <a:rPr lang="en-US" sz="2800" b="1" dirty="0" smtClean="0">
                <a:solidFill>
                  <a:schemeClr val="bg1"/>
                </a:solidFill>
                <a:latin typeface="Liberation Sans" panose="020B0604020202020204" pitchFamily="34" charset="0"/>
              </a:rPr>
              <a:t>Trial Balance</a:t>
            </a:r>
            <a:endParaRPr lang="en-US" sz="2800" b="1" dirty="0">
              <a:solidFill>
                <a:schemeClr val="bg1"/>
              </a:solidFill>
              <a:latin typeface="Liberation Sans" panose="020B0604020202020204" pitchFamily="34" charset="0"/>
            </a:endParaRPr>
          </a:p>
        </p:txBody>
      </p:sp>
      <p:pic>
        <p:nvPicPr>
          <p:cNvPr id="13926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286" y="1295400"/>
            <a:ext cx="8548914" cy="279796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7" name="Text Box 5"/>
          <p:cNvSpPr txBox="1">
            <a:spLocks noChangeArrowheads="1"/>
          </p:cNvSpPr>
          <p:nvPr/>
        </p:nvSpPr>
        <p:spPr bwMode="auto">
          <a:xfrm>
            <a:off x="8077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4</a:t>
            </a:r>
            <a:endParaRPr lang="en-US" altLang="en-US" sz="1600" i="1" dirty="0">
              <a:solidFill>
                <a:schemeClr val="bg2"/>
              </a:solidFill>
              <a:latin typeface="Liberation Sans" panose="020B0604020202020204" pitchFamily="34" charset="0"/>
            </a:endParaRPr>
          </a:p>
        </p:txBody>
      </p:sp>
    </p:spTree>
    <p:extLst>
      <p:ext uri="{BB962C8B-B14F-4D97-AF65-F5344CB8AC3E}">
        <p14:creationId xmlns:p14="http://schemas.microsoft.com/office/powerpoint/2010/main" val="1027731872"/>
      </p:ext>
    </p:extLst>
  </p:cSld>
  <p:clrMapOvr>
    <a:masterClrMapping/>
  </p:clrMapOvr>
  <p:transition>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Box 5"/>
          <p:cNvSpPr txBox="1">
            <a:spLocks noChangeArrowheads="1"/>
          </p:cNvSpPr>
          <p:nvPr/>
        </p:nvSpPr>
        <p:spPr bwMode="auto">
          <a:xfrm>
            <a:off x="8077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itchFamily="66" charset="0"/>
              </a:defRPr>
            </a:lvl1pPr>
            <a:lvl2pPr marL="742950" indent="-285750">
              <a:defRPr b="1">
                <a:solidFill>
                  <a:schemeClr val="folHlink"/>
                </a:solidFill>
                <a:latin typeface="Comic Sans MS" pitchFamily="66" charset="0"/>
              </a:defRPr>
            </a:lvl2pPr>
            <a:lvl3pPr marL="1143000" indent="-228600">
              <a:defRPr b="1">
                <a:solidFill>
                  <a:schemeClr val="folHlink"/>
                </a:solidFill>
                <a:latin typeface="Comic Sans MS" pitchFamily="66" charset="0"/>
              </a:defRPr>
            </a:lvl3pPr>
            <a:lvl4pPr marL="1600200" indent="-228600">
              <a:defRPr b="1">
                <a:solidFill>
                  <a:schemeClr val="folHlink"/>
                </a:solidFill>
                <a:latin typeface="Comic Sans MS" pitchFamily="66" charset="0"/>
              </a:defRPr>
            </a:lvl4pPr>
            <a:lvl5pPr marL="2057400" indent="-228600">
              <a:defRPr b="1">
                <a:solidFill>
                  <a:schemeClr val="folHlink"/>
                </a:solidFill>
                <a:latin typeface="Comic Sans MS" pitchFamily="66" charset="0"/>
              </a:defRPr>
            </a:lvl5pPr>
            <a:lvl6pPr marL="2514600" indent="-228600" algn="ctr" eaLnBrk="0" fontAlgn="base" hangingPunct="0">
              <a:spcBef>
                <a:spcPct val="0"/>
              </a:spcBef>
              <a:spcAft>
                <a:spcPct val="0"/>
              </a:spcAft>
              <a:defRPr b="1">
                <a:solidFill>
                  <a:schemeClr val="folHlink"/>
                </a:solidFill>
                <a:latin typeface="Comic Sans MS" pitchFamily="66" charset="0"/>
              </a:defRPr>
            </a:lvl6pPr>
            <a:lvl7pPr marL="2971800" indent="-228600" algn="ctr" eaLnBrk="0" fontAlgn="base" hangingPunct="0">
              <a:spcBef>
                <a:spcPct val="0"/>
              </a:spcBef>
              <a:spcAft>
                <a:spcPct val="0"/>
              </a:spcAft>
              <a:defRPr b="1">
                <a:solidFill>
                  <a:schemeClr val="folHlink"/>
                </a:solidFill>
                <a:latin typeface="Comic Sans MS" pitchFamily="66" charset="0"/>
              </a:defRPr>
            </a:lvl7pPr>
            <a:lvl8pPr marL="3429000" indent="-228600" algn="ctr" eaLnBrk="0" fontAlgn="base" hangingPunct="0">
              <a:spcBef>
                <a:spcPct val="0"/>
              </a:spcBef>
              <a:spcAft>
                <a:spcPct val="0"/>
              </a:spcAft>
              <a:defRPr b="1">
                <a:solidFill>
                  <a:schemeClr val="folHlink"/>
                </a:solidFill>
                <a:latin typeface="Comic Sans MS" pitchFamily="66" charset="0"/>
              </a:defRPr>
            </a:lvl8pPr>
            <a:lvl9pPr marL="3886200" indent="-228600" algn="ctr" eaLnBrk="0" fontAlgn="base" hangingPunct="0">
              <a:spcBef>
                <a:spcPct val="0"/>
              </a:spcBef>
              <a:spcAft>
                <a:spcPct val="0"/>
              </a:spcAft>
              <a:defRPr b="1">
                <a:solidFill>
                  <a:schemeClr val="folHlink"/>
                </a:solidFill>
                <a:latin typeface="Comic Sans MS"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a:t>
            </a:r>
            <a:r>
              <a:rPr lang="en-US" altLang="en-US" sz="1600" i="1" dirty="0" smtClean="0">
                <a:solidFill>
                  <a:schemeClr val="bg2"/>
                </a:solidFill>
                <a:latin typeface="Liberation Sans" panose="020B0604020202020204" pitchFamily="34" charset="0"/>
              </a:rPr>
              <a:t>4</a:t>
            </a:r>
            <a:endParaRPr lang="en-US" altLang="en-US" sz="1600" i="1" dirty="0">
              <a:solidFill>
                <a:schemeClr val="bg2"/>
              </a:solidFill>
              <a:latin typeface="Liberation Sans" panose="020B0604020202020204" pitchFamily="34" charset="0"/>
            </a:endParaRPr>
          </a:p>
        </p:txBody>
      </p:sp>
      <p:pic>
        <p:nvPicPr>
          <p:cNvPr id="20"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86" y="357188"/>
            <a:ext cx="8548914"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smtClean="0">
                <a:solidFill>
                  <a:srgbClr val="FF9900"/>
                </a:solidFill>
                <a:effectLst>
                  <a:outerShdw blurRad="38100" dist="38100" dir="2700000" algn="tl">
                    <a:srgbClr val="000000">
                      <a:alpha val="43137"/>
                    </a:srgbClr>
                  </a:outerShdw>
                </a:effectLst>
                <a:latin typeface="Liberation Sans" panose="020B0604020202020204" pitchFamily="34" charset="0"/>
              </a:rPr>
              <a:t>DO IT!</a:t>
            </a:r>
            <a:endPar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endParaRPr>
          </a:p>
        </p:txBody>
      </p:sp>
      <p:pic>
        <p:nvPicPr>
          <p:cNvPr id="21"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smtClean="0">
                <a:solidFill>
                  <a:srgbClr val="FF9900"/>
                </a:solidFill>
                <a:latin typeface="Liberation Sans" panose="020B0604020202020204" pitchFamily="34" charset="0"/>
              </a:rPr>
              <a:t>4</a:t>
            </a:r>
            <a:endParaRPr lang="en-US" sz="3600" b="1" dirty="0">
              <a:solidFill>
                <a:srgbClr val="FF9900"/>
              </a:solidFill>
              <a:latin typeface="Liberation Sans" panose="020B0604020202020204" pitchFamily="34" charset="0"/>
            </a:endParaRPr>
          </a:p>
        </p:txBody>
      </p:sp>
      <p:sp>
        <p:nvSpPr>
          <p:cNvPr id="24" name="TextBox 23"/>
          <p:cNvSpPr txBox="1"/>
          <p:nvPr/>
        </p:nvSpPr>
        <p:spPr>
          <a:xfrm>
            <a:off x="3338287" y="508909"/>
            <a:ext cx="5348514" cy="519373"/>
          </a:xfrm>
          <a:prstGeom prst="rect">
            <a:avLst/>
          </a:prstGeom>
          <a:noFill/>
        </p:spPr>
        <p:txBody>
          <a:bodyPr wrap="square" lIns="86493" tIns="43247" rIns="86493" bIns="43247" rtlCol="0">
            <a:spAutoFit/>
          </a:bodyPr>
          <a:lstStyle/>
          <a:p>
            <a:pPr marL="111120" algn="l"/>
            <a:r>
              <a:rPr lang="en-US" sz="2800" b="1" dirty="0" smtClean="0">
                <a:solidFill>
                  <a:schemeClr val="bg1"/>
                </a:solidFill>
                <a:latin typeface="Liberation Sans" panose="020B0604020202020204" pitchFamily="34" charset="0"/>
              </a:rPr>
              <a:t>Trial Balance</a:t>
            </a:r>
            <a:endParaRPr lang="en-US" sz="2800" b="1" dirty="0">
              <a:solidFill>
                <a:schemeClr val="bg1"/>
              </a:solidFill>
              <a:latin typeface="Liberation Sans" panose="020B0604020202020204" pitchFamily="34" charset="0"/>
            </a:endParaRPr>
          </a:p>
        </p:txBody>
      </p:sp>
      <p:pic>
        <p:nvPicPr>
          <p:cNvPr id="14029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888" y="1295400"/>
            <a:ext cx="8167912" cy="5141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0291"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2772304"/>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1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3048000"/>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14"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3276600"/>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15"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3562879"/>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16"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3810000"/>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1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020079"/>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18"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267200"/>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19"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507992"/>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2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782079"/>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28"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5010679"/>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29"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5257800"/>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3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5495544"/>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31"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5791200"/>
            <a:ext cx="7092935" cy="247121"/>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66538387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nodeType="clickEffect">
                                  <p:stCondLst>
                                    <p:cond delay="0"/>
                                  </p:stCondLst>
                                  <p:childTnLst>
                                    <p:animEffect transition="out" filter="wipe(left)">
                                      <p:cBhvr>
                                        <p:cTn id="6" dur="500"/>
                                        <p:tgtEl>
                                          <p:spTgt spid="140291"/>
                                        </p:tgtEl>
                                      </p:cBhvr>
                                    </p:animEffect>
                                    <p:set>
                                      <p:cBhvr>
                                        <p:cTn id="7" dur="1" fill="hold">
                                          <p:stCondLst>
                                            <p:cond delay="499"/>
                                          </p:stCondLst>
                                        </p:cTn>
                                        <p:tgtEl>
                                          <p:spTgt spid="14029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nodeType="clickEffect">
                                  <p:stCondLst>
                                    <p:cond delay="0"/>
                                  </p:stCondLst>
                                  <p:childTnLst>
                                    <p:animEffect transition="out" filter="wipe(left)">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nodeType="clickEffect">
                                  <p:stCondLst>
                                    <p:cond delay="0"/>
                                  </p:stCondLst>
                                  <p:childTnLst>
                                    <p:animEffect transition="out" filter="wipe(left)">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nodeType="clickEffect">
                                  <p:stCondLst>
                                    <p:cond delay="0"/>
                                  </p:stCondLst>
                                  <p:childTnLst>
                                    <p:animEffect transition="out" filter="wipe(left)">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nodeType="clickEffect">
                                  <p:stCondLst>
                                    <p:cond delay="0"/>
                                  </p:stCondLst>
                                  <p:childTnLst>
                                    <p:animEffect transition="out" filter="wipe(left)">
                                      <p:cBhvr>
                                        <p:cTn id="26" dur="500"/>
                                        <p:tgtEl>
                                          <p:spTgt spid="16"/>
                                        </p:tgtEl>
                                      </p:cBhvr>
                                    </p:animEffect>
                                    <p:set>
                                      <p:cBhvr>
                                        <p:cTn id="27" dur="1" fill="hold">
                                          <p:stCondLst>
                                            <p:cond delay="499"/>
                                          </p:stCondLst>
                                        </p:cTn>
                                        <p:tgtEl>
                                          <p:spTgt spid="1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nodeType="clickEffect">
                                  <p:stCondLst>
                                    <p:cond delay="0"/>
                                  </p:stCondLst>
                                  <p:childTnLst>
                                    <p:animEffect transition="out" filter="wipe(left)">
                                      <p:cBhvr>
                                        <p:cTn id="31" dur="500"/>
                                        <p:tgtEl>
                                          <p:spTgt spid="17"/>
                                        </p:tgtEl>
                                      </p:cBhvr>
                                    </p:animEffect>
                                    <p:set>
                                      <p:cBhvr>
                                        <p:cTn id="32" dur="1" fill="hold">
                                          <p:stCondLst>
                                            <p:cond delay="499"/>
                                          </p:stCondLst>
                                        </p:cTn>
                                        <p:tgtEl>
                                          <p:spTgt spid="1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nodeType="clickEffect">
                                  <p:stCondLst>
                                    <p:cond delay="0"/>
                                  </p:stCondLst>
                                  <p:childTnLst>
                                    <p:animEffect transition="out" filter="wipe(left)">
                                      <p:cBhvr>
                                        <p:cTn id="36" dur="500"/>
                                        <p:tgtEl>
                                          <p:spTgt spid="18"/>
                                        </p:tgtEl>
                                      </p:cBhvr>
                                    </p:animEffect>
                                    <p:set>
                                      <p:cBhvr>
                                        <p:cTn id="37" dur="1" fill="hold">
                                          <p:stCondLst>
                                            <p:cond delay="499"/>
                                          </p:stCondLst>
                                        </p:cTn>
                                        <p:tgtEl>
                                          <p:spTgt spid="1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nodeType="clickEffect">
                                  <p:stCondLst>
                                    <p:cond delay="0"/>
                                  </p:stCondLst>
                                  <p:childTnLst>
                                    <p:animEffect transition="out" filter="wipe(left)">
                                      <p:cBhvr>
                                        <p:cTn id="41" dur="500"/>
                                        <p:tgtEl>
                                          <p:spTgt spid="19"/>
                                        </p:tgtEl>
                                      </p:cBhvr>
                                    </p:animEffect>
                                    <p:set>
                                      <p:cBhvr>
                                        <p:cTn id="42" dur="1" fill="hold">
                                          <p:stCondLst>
                                            <p:cond delay="499"/>
                                          </p:stCondLst>
                                        </p:cTn>
                                        <p:tgtEl>
                                          <p:spTgt spid="1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8" fill="hold" nodeType="clickEffect">
                                  <p:stCondLst>
                                    <p:cond delay="0"/>
                                  </p:stCondLst>
                                  <p:childTnLst>
                                    <p:animEffect transition="out" filter="wipe(left)">
                                      <p:cBhvr>
                                        <p:cTn id="46" dur="500"/>
                                        <p:tgtEl>
                                          <p:spTgt spid="27"/>
                                        </p:tgtEl>
                                      </p:cBhvr>
                                    </p:animEffect>
                                    <p:set>
                                      <p:cBhvr>
                                        <p:cTn id="47" dur="1" fill="hold">
                                          <p:stCondLst>
                                            <p:cond delay="499"/>
                                          </p:stCondLst>
                                        </p:cTn>
                                        <p:tgtEl>
                                          <p:spTgt spid="2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8" fill="hold" nodeType="clickEffect">
                                  <p:stCondLst>
                                    <p:cond delay="0"/>
                                  </p:stCondLst>
                                  <p:childTnLst>
                                    <p:animEffect transition="out" filter="wipe(left)">
                                      <p:cBhvr>
                                        <p:cTn id="51" dur="500"/>
                                        <p:tgtEl>
                                          <p:spTgt spid="28"/>
                                        </p:tgtEl>
                                      </p:cBhvr>
                                    </p:animEffect>
                                    <p:set>
                                      <p:cBhvr>
                                        <p:cTn id="52" dur="1" fill="hold">
                                          <p:stCondLst>
                                            <p:cond delay="499"/>
                                          </p:stCondLst>
                                        </p:cTn>
                                        <p:tgtEl>
                                          <p:spTgt spid="2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8" fill="hold" nodeType="clickEffect">
                                  <p:stCondLst>
                                    <p:cond delay="0"/>
                                  </p:stCondLst>
                                  <p:childTnLst>
                                    <p:animEffect transition="out" filter="wipe(left)">
                                      <p:cBhvr>
                                        <p:cTn id="56" dur="500"/>
                                        <p:tgtEl>
                                          <p:spTgt spid="29"/>
                                        </p:tgtEl>
                                      </p:cBhvr>
                                    </p:animEffect>
                                    <p:set>
                                      <p:cBhvr>
                                        <p:cTn id="57" dur="1" fill="hold">
                                          <p:stCondLst>
                                            <p:cond delay="499"/>
                                          </p:stCondLst>
                                        </p:cTn>
                                        <p:tgtEl>
                                          <p:spTgt spid="29"/>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xit" presetSubtype="8" fill="hold" nodeType="clickEffect">
                                  <p:stCondLst>
                                    <p:cond delay="0"/>
                                  </p:stCondLst>
                                  <p:childTnLst>
                                    <p:animEffect transition="out" filter="wipe(left)">
                                      <p:cBhvr>
                                        <p:cTn id="61" dur="500"/>
                                        <p:tgtEl>
                                          <p:spTgt spid="30"/>
                                        </p:tgtEl>
                                      </p:cBhvr>
                                    </p:animEffect>
                                    <p:set>
                                      <p:cBhvr>
                                        <p:cTn id="62" dur="1" fill="hold">
                                          <p:stCondLst>
                                            <p:cond delay="499"/>
                                          </p:stCondLst>
                                        </p:cTn>
                                        <p:tgtEl>
                                          <p:spTgt spid="3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xit" presetSubtype="8" fill="hold" nodeType="clickEffect">
                                  <p:stCondLst>
                                    <p:cond delay="0"/>
                                  </p:stCondLst>
                                  <p:childTnLst>
                                    <p:animEffect transition="out" filter="wipe(left)">
                                      <p:cBhvr>
                                        <p:cTn id="66" dur="500"/>
                                        <p:tgtEl>
                                          <p:spTgt spid="31"/>
                                        </p:tgtEl>
                                      </p:cBhvr>
                                    </p:animEffect>
                                    <p:set>
                                      <p:cBhvr>
                                        <p:cTn id="67"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ovnglnc">
  <a:themeElements>
    <a:clrScheme name="">
      <a:dk1>
        <a:srgbClr val="000000"/>
      </a:dk1>
      <a:lt1>
        <a:srgbClr val="FFFFFF"/>
      </a:lt1>
      <a:dk2>
        <a:srgbClr val="0000FF"/>
      </a:dk2>
      <a:lt2>
        <a:srgbClr val="000000"/>
      </a:lt2>
      <a:accent1>
        <a:srgbClr val="00FFFF"/>
      </a:accent1>
      <a:accent2>
        <a:srgbClr val="FF0000"/>
      </a:accent2>
      <a:accent3>
        <a:srgbClr val="FFFFFF"/>
      </a:accent3>
      <a:accent4>
        <a:srgbClr val="000000"/>
      </a:accent4>
      <a:accent5>
        <a:srgbClr val="AAFFFF"/>
      </a:accent5>
      <a:accent6>
        <a:srgbClr val="E70000"/>
      </a:accent6>
      <a:hlink>
        <a:srgbClr val="000099"/>
      </a:hlink>
      <a:folHlink>
        <a:srgbClr val="000000"/>
      </a:folHlink>
    </a:clrScheme>
    <a:fontScheme name="movnglnc">
      <a:majorFont>
        <a:latin typeface="Comic Sans M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Comic Sans MS" pitchFamily="66" charset="0"/>
          </a:defRPr>
        </a:defPPr>
      </a:lstStyle>
    </a:lnDef>
  </a:objectDefaults>
  <a:extraClrSchemeLst>
    <a:extraClrScheme>
      <a:clrScheme name="movngln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vngln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vngln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vngln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vngln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vngln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vngln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FF"/>
    </a:dk2>
    <a:lt2>
      <a:srgbClr val="000000"/>
    </a:lt2>
    <a:accent1>
      <a:srgbClr val="000000"/>
    </a:accent1>
    <a:accent2>
      <a:srgbClr val="FF0000"/>
    </a:accent2>
    <a:accent3>
      <a:srgbClr val="FFFFFF"/>
    </a:accent3>
    <a:accent4>
      <a:srgbClr val="000000"/>
    </a:accent4>
    <a:accent5>
      <a:srgbClr val="AAAAAA"/>
    </a:accent5>
    <a:accent6>
      <a:srgbClr val="E70000"/>
    </a:accent6>
    <a:hlink>
      <a:srgbClr val="00FF00"/>
    </a:hlink>
    <a:folHlink>
      <a:srgbClr val="000000"/>
    </a:folHlink>
  </a:clrScheme>
</a:themeOverride>
</file>

<file path=docProps/app.xml><?xml version="1.0" encoding="utf-8"?>
<Properties xmlns="http://schemas.openxmlformats.org/officeDocument/2006/extended-properties" xmlns:vt="http://schemas.openxmlformats.org/officeDocument/2006/docPropsVTypes">
  <Template>C:\Program Files\Microsoft Office\Templates\1033\Company Handbook.pot</Template>
  <TotalTime>9351</TotalTime>
  <Pages>43</Pages>
  <Words>1535</Words>
  <Application>Microsoft Office PowerPoint</Application>
  <PresentationFormat>On-screen Show (4:3)</PresentationFormat>
  <Paragraphs>329</Paragraphs>
  <Slides>48</Slides>
  <Notes>48</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48</vt:i4>
      </vt:variant>
    </vt:vector>
  </HeadingPairs>
  <TitlesOfParts>
    <vt:vector size="51" baseType="lpstr">
      <vt:lpstr>movnglnc</vt:lpstr>
      <vt:lpstr>Slide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and Accounting Standards</dc:title>
  <dc:creator>Coby Harmon</dc:creator>
  <cp:lastModifiedBy>Hp</cp:lastModifiedBy>
  <cp:revision>1553</cp:revision>
  <cp:lastPrinted>1999-09-16T17:08:20Z</cp:lastPrinted>
  <dcterms:created xsi:type="dcterms:W3CDTF">1997-03-28T18:03:02Z</dcterms:created>
  <dcterms:modified xsi:type="dcterms:W3CDTF">2016-01-19T01:25:10Z</dcterms:modified>
</cp:coreProperties>
</file>