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58" r:id="rId3"/>
    <p:sldId id="259" r:id="rId4"/>
    <p:sldId id="296" r:id="rId5"/>
    <p:sldId id="257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</p:sldIdLst>
  <p:sldSz cx="9144000" cy="5143500" type="screen16x9"/>
  <p:notesSz cx="6858000" cy="9144000"/>
  <p:embeddedFontLst>
    <p:embeddedFont>
      <p:font typeface="Roboto Slab" panose="020B0604020202020204" charset="0"/>
      <p:regular r:id="rId16"/>
      <p:bold r:id="rId17"/>
    </p:embeddedFont>
    <p:embeddedFont>
      <p:font typeface="ＭＳ Ｐゴシック" panose="020B0600070205080204" pitchFamily="34" charset="-128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Source Sans Pr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28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60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78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05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79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79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22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48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0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9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eg"/><Relationship Id="rId5" Type="http://schemas.openxmlformats.org/officeDocument/2006/relationships/hyperlink" Target="mailto:n.amin@just.edu.bd" TargetMode="External"/><Relationship Id="rId4" Type="http://schemas.openxmlformats.org/officeDocument/2006/relationships/hyperlink" Target="mailto:nowsin.just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20966" y="1832522"/>
            <a:ext cx="656405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/>
            </a:r>
            <a:br>
              <a:rPr lang="en" sz="2800" dirty="0" smtClean="0"/>
            </a:br>
            <a:endParaRPr sz="1800" dirty="0"/>
          </a:p>
        </p:txBody>
      </p:sp>
      <p:sp>
        <p:nvSpPr>
          <p:cNvPr id="3" name="Google Shape;70;p12"/>
          <p:cNvSpPr txBox="1">
            <a:spLocks/>
          </p:cNvSpPr>
          <p:nvPr/>
        </p:nvSpPr>
        <p:spPr>
          <a:xfrm>
            <a:off x="1720966" y="2177283"/>
            <a:ext cx="6564052" cy="4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dirty="0" smtClean="0"/>
              <a:t>Computer Networking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5880381" y="2562025"/>
            <a:ext cx="1381800" cy="1365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ctrTitle" idx="4294967295"/>
          </p:nvPr>
        </p:nvSpPr>
        <p:spPr>
          <a:xfrm>
            <a:off x="1637500" y="592744"/>
            <a:ext cx="564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/>
              <a:t>Hello!</a:t>
            </a:r>
            <a:endParaRPr sz="6000" b="1"/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4294967295"/>
          </p:nvPr>
        </p:nvSpPr>
        <p:spPr>
          <a:xfrm>
            <a:off x="1637500" y="1563713"/>
            <a:ext cx="6766884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800" dirty="0" smtClean="0"/>
              <a:t>I am </a:t>
            </a:r>
            <a:r>
              <a:rPr lang="en-US" sz="2800" b="1" dirty="0" smtClean="0"/>
              <a:t>Dr</a:t>
            </a:r>
            <a:r>
              <a:rPr lang="en-US" sz="2800" b="1" dirty="0"/>
              <a:t>. Mohammad </a:t>
            </a:r>
            <a:r>
              <a:rPr lang="en-US" sz="2800" b="1" dirty="0" err="1"/>
              <a:t>Nowsin</a:t>
            </a:r>
            <a:r>
              <a:rPr lang="en-US" sz="2800" b="1" dirty="0"/>
              <a:t> Amin Sheikh</a:t>
            </a:r>
            <a:endParaRPr sz="2800" b="1" dirty="0"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4294967295"/>
          </p:nvPr>
        </p:nvSpPr>
        <p:spPr>
          <a:xfrm>
            <a:off x="1709553" y="2348513"/>
            <a:ext cx="41094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 dirty="0" smtClean="0"/>
              <a:t>You </a:t>
            </a:r>
            <a:r>
              <a:rPr lang="en" sz="2600" dirty="0"/>
              <a:t>can find me at:</a:t>
            </a:r>
            <a:endParaRPr sz="2600" dirty="0"/>
          </a:p>
          <a:p>
            <a:pPr marL="0" lv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Office:</a:t>
            </a:r>
            <a:r>
              <a:rPr lang="en-US" sz="2600" dirty="0"/>
              <a:t> Room #227.</a:t>
            </a:r>
            <a:br>
              <a:rPr lang="en-US" sz="2600" dirty="0"/>
            </a:br>
            <a:r>
              <a:rPr lang="en-US" sz="2600" dirty="0">
                <a:solidFill>
                  <a:schemeClr val="accent1"/>
                </a:solidFill>
              </a:rPr>
              <a:t>Contact:</a:t>
            </a:r>
            <a:r>
              <a:rPr lang="en-US" sz="2600" dirty="0"/>
              <a:t> </a:t>
            </a:r>
            <a:r>
              <a:rPr lang="en-US" sz="2600" dirty="0">
                <a:hlinkClick r:id="rId4"/>
              </a:rPr>
              <a:t>nowsin.just@gmail.com</a:t>
            </a:r>
            <a:r>
              <a:rPr lang="en-US" sz="2600" dirty="0"/>
              <a:t>, </a:t>
            </a:r>
            <a:r>
              <a:rPr lang="en-US" sz="2600" dirty="0">
                <a:hlinkClick r:id="rId5"/>
              </a:rPr>
              <a:t>n.amin@just.edu.bd</a:t>
            </a:r>
            <a:r>
              <a:rPr lang="en-US" sz="2600" dirty="0"/>
              <a:t>. </a:t>
            </a:r>
            <a:endParaRPr sz="2600" dirty="0"/>
          </a:p>
        </p:txBody>
      </p:sp>
      <p:cxnSp>
        <p:nvCxnSpPr>
          <p:cNvPr id="89" name="Google Shape;89;p14"/>
          <p:cNvCxnSpPr/>
          <p:nvPr/>
        </p:nvCxnSpPr>
        <p:spPr>
          <a:xfrm>
            <a:off x="6694986" y="3933625"/>
            <a:ext cx="214500" cy="856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4"/>
          <p:cNvCxnSpPr/>
          <p:nvPr/>
        </p:nvCxnSpPr>
        <p:spPr>
          <a:xfrm>
            <a:off x="7059842" y="3727574"/>
            <a:ext cx="394200" cy="525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4"/>
          <p:cNvCxnSpPr/>
          <p:nvPr/>
        </p:nvCxnSpPr>
        <p:spPr>
          <a:xfrm>
            <a:off x="7224089" y="3501963"/>
            <a:ext cx="752400" cy="464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1" name="圖片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381" y="2733191"/>
            <a:ext cx="1282280" cy="140794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338732" y="450056"/>
            <a:ext cx="5832600" cy="7500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Course Evaluation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301591" y="1496377"/>
            <a:ext cx="6012180" cy="195405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457200" marR="0" indent="-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– 10 (average of best 2)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Assignment – 10 (average of best 2)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 – 8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Semester Final – 72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4" indent="-228600" algn="just">
              <a:lnSpc>
                <a:spcPct val="107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100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593056" y="2878932"/>
            <a:ext cx="4171950" cy="1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338731" y="450056"/>
            <a:ext cx="7440595" cy="7500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0" dirty="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Recommended Text Books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78873" y="1896428"/>
            <a:ext cx="7613072" cy="194412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Networking: A Top-Down Approach (8th Edition – Global Edition) - Jim Kurose, Keith Ross, Pearson Education Limited 2022. 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Communication and Networking (4</a:t>
            </a:r>
            <a:r>
              <a:rPr lang="en-US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Edition) – Behrouz A. Forouzan (2006), Mc Graw-Hill, India.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4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85" y="40481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 smtClean="0">
                <a:solidFill>
                  <a:schemeClr val="accent1"/>
                </a:solidFill>
                <a:latin typeface="+mj-lt"/>
              </a:rPr>
              <a:t>Computer Networking</a:t>
            </a:r>
            <a:endParaRPr lang="en-US" altLang="en-US" sz="5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8FF33017-B1D4-1D43-9BC0-3EC96B262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991" y="0"/>
            <a:ext cx="3040743" cy="38009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486BED-0E6D-424B-9246-93E87D8EC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487" y="3800929"/>
            <a:ext cx="7487513" cy="10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chemeClr val="accent1"/>
                </a:solidFill>
                <a:latin typeface="+mn-lt"/>
              </a:rPr>
              <a:t>Computer Networking: A Top-Down Approach </a:t>
            </a:r>
            <a:r>
              <a:rPr lang="en-US" altLang="en-US" sz="2800" dirty="0">
                <a:solidFill>
                  <a:srgbClr val="008000"/>
                </a:solidFill>
                <a:latin typeface="+mn-lt"/>
              </a:rPr>
              <a:t/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12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2: Application Layer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WEB and HTTP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Electronic Mail in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DNS-The Internet’s Directory Service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Peer-to-Peer Applications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Video Streaming and Content Distribution Networks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Socket Programming: Creating Network Applications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86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3: Transport Layer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and Transport-Layer Services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Multiplexing and De-multiplexing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Connectionless Transport: UDP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Reliable Data Transfer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Connection-Oriented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Transport: UDP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</a:t>
            </a:r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Congestion Control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TCP Congestion Control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4: The Network Layer: Data Plane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Overview of Network Layer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What’s inside a Router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Internet Protocol (IP): IPv4, Addressing, IPv6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39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5: The Network Layer: Control Plane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Routing Algorithms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Intra-AS Routing in the Internet: OSP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 among the ISPs: BGP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SDN Control Plane</a:t>
            </a:r>
          </a:p>
          <a:p>
            <a:pPr marL="302419" indent="-214313" algn="just"/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ICMP: The Internet Control Message Protocol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80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6: The Link Layer and LANs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to the Link Layer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Error Detection and –Correction Techniques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Access Links and Protocols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Switched Local Area Networks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7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7: Wireless and Mobile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Wireless Links and Network Characteristics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Wi-Fi: 802.11 Wireless LANs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Cellular Internet Access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Mobility Management: Principles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17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8: Security in Computer Networks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Network Security? 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Principles of Cryptography</a:t>
            </a:r>
            <a:endParaRPr lang="en-US" altLang="ja-JP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Message Integrity and Digital Signatures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End-Point Authentication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Securing E-Mail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Securing TCP Connections: SSL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1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420</Words>
  <Application>Microsoft Office PowerPoint</Application>
  <PresentationFormat>On-screen Show (16:9)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Times New Roman</vt:lpstr>
      <vt:lpstr>Roboto Slab</vt:lpstr>
      <vt:lpstr>ＭＳ Ｐゴシック</vt:lpstr>
      <vt:lpstr>Wingdings</vt:lpstr>
      <vt:lpstr>Calibri</vt:lpstr>
      <vt:lpstr>Source Sans Pro</vt:lpstr>
      <vt:lpstr>Cordelia template</vt:lpstr>
      <vt:lpstr> </vt:lpstr>
      <vt:lpstr>Hello!</vt:lpstr>
      <vt:lpstr> Course Evaluation</vt:lpstr>
      <vt:lpstr> Recommended Text Books</vt:lpstr>
      <vt:lpstr>PowerPoint Presentation</vt:lpstr>
      <vt:lpstr>Chapter 1: Computer Networks and the Internet</vt:lpstr>
      <vt:lpstr>Chapter 2: Application Layer</vt:lpstr>
      <vt:lpstr>Chapter 3: Transport Layer</vt:lpstr>
      <vt:lpstr>Chapter 4: The Network Layer: Data Plane</vt:lpstr>
      <vt:lpstr>Chapter 5: The Network Layer: Control Plane</vt:lpstr>
      <vt:lpstr>Chapter 6: The Link Layer and LANs</vt:lpstr>
      <vt:lpstr>Chapter 7: Wireless and Mobile Networks</vt:lpstr>
      <vt:lpstr>Chapter 8: Security in Computer Networks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user</cp:lastModifiedBy>
  <cp:revision>13</cp:revision>
  <dcterms:modified xsi:type="dcterms:W3CDTF">2025-04-13T07:09:02Z</dcterms:modified>
</cp:coreProperties>
</file>