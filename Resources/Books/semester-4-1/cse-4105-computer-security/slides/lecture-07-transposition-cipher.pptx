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0" d="100"/>
          <a:sy n="150" d="100"/>
        </p:scale>
        <p:origin x="2094" y="1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1406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1406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1406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1406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916" y="14843"/>
            <a:ext cx="9136083" cy="684315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69644" y="436829"/>
            <a:ext cx="7204075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1406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03350" y="2432050"/>
            <a:ext cx="6184900" cy="18472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86740" y="6297267"/>
            <a:ext cx="276859" cy="252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25" y="0"/>
            <a:ext cx="9096375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12393" y="1380820"/>
            <a:ext cx="7525384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78100" marR="5080" indent="-2566035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0000"/>
                </a:solidFill>
              </a:rPr>
              <a:t>Cyber</a:t>
            </a:r>
            <a:r>
              <a:rPr sz="3600" spc="-10" dirty="0">
                <a:solidFill>
                  <a:srgbClr val="000000"/>
                </a:solidFill>
              </a:rPr>
              <a:t> </a:t>
            </a:r>
            <a:r>
              <a:rPr sz="3600" dirty="0">
                <a:solidFill>
                  <a:srgbClr val="000000"/>
                </a:solidFill>
              </a:rPr>
              <a:t>Security &amp; Digital </a:t>
            </a:r>
            <a:r>
              <a:rPr sz="3600" spc="-10" dirty="0">
                <a:solidFill>
                  <a:srgbClr val="000000"/>
                </a:solidFill>
              </a:rPr>
              <a:t>Forensics </a:t>
            </a:r>
            <a:r>
              <a:rPr sz="3600" dirty="0">
                <a:solidFill>
                  <a:srgbClr val="000000"/>
                </a:solidFill>
              </a:rPr>
              <a:t>CSE</a:t>
            </a:r>
            <a:r>
              <a:rPr sz="3600" spc="-15" dirty="0">
                <a:solidFill>
                  <a:srgbClr val="000000"/>
                </a:solidFill>
              </a:rPr>
              <a:t> </a:t>
            </a:r>
            <a:r>
              <a:rPr sz="3600" dirty="0">
                <a:solidFill>
                  <a:srgbClr val="000000"/>
                </a:solidFill>
              </a:rPr>
              <a:t>-</a:t>
            </a:r>
            <a:r>
              <a:rPr sz="3600" spc="-10" dirty="0">
                <a:solidFill>
                  <a:srgbClr val="000000"/>
                </a:solidFill>
              </a:rPr>
              <a:t> </a:t>
            </a:r>
            <a:r>
              <a:rPr sz="3600" spc="-20" dirty="0">
                <a:solidFill>
                  <a:srgbClr val="000000"/>
                </a:solidFill>
              </a:rPr>
              <a:t>4207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1577721" y="3152393"/>
            <a:ext cx="5987415" cy="256672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Arial"/>
                <a:cs typeface="Arial"/>
              </a:rPr>
              <a:t>Lecture</a:t>
            </a:r>
            <a:r>
              <a:rPr sz="2800" b="1" spc="-4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-</a:t>
            </a:r>
            <a:r>
              <a:rPr sz="2800" b="1" spc="-45" dirty="0">
                <a:latin typeface="Arial"/>
                <a:cs typeface="Arial"/>
              </a:rPr>
              <a:t> </a:t>
            </a:r>
            <a:r>
              <a:rPr sz="2800" b="1" spc="-25" dirty="0">
                <a:latin typeface="Arial"/>
                <a:cs typeface="Arial"/>
              </a:rPr>
              <a:t>07</a:t>
            </a:r>
            <a:endParaRPr sz="2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375"/>
              </a:spcBef>
            </a:pPr>
            <a:endParaRPr sz="2800" dirty="0">
              <a:latin typeface="Arial"/>
              <a:cs typeface="Arial"/>
            </a:endParaRPr>
          </a:p>
          <a:p>
            <a:pPr marL="1270" algn="ctr">
              <a:lnSpc>
                <a:spcPct val="100000"/>
              </a:lnSpc>
            </a:pPr>
            <a:r>
              <a:rPr lang="en-US" sz="3200" dirty="0">
                <a:latin typeface="Arial MT"/>
                <a:cs typeface="Arial MT"/>
              </a:rPr>
              <a:t>Dr. Md. Alam Hossain</a:t>
            </a:r>
            <a:endParaRPr sz="3200" dirty="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610"/>
              </a:spcBef>
            </a:pPr>
            <a:r>
              <a:rPr lang="en-US" sz="2400" spc="-10" dirty="0">
                <a:latin typeface="Arial MT"/>
                <a:cs typeface="Arial MT"/>
              </a:rPr>
              <a:t>Professor</a:t>
            </a:r>
            <a:endParaRPr sz="2400" dirty="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latin typeface="Arial MT"/>
                <a:cs typeface="Arial MT"/>
              </a:rPr>
              <a:t>Jashore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University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Science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&amp;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Technology</a:t>
            </a:r>
            <a:endParaRPr sz="2400" dirty="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28600" y="1143000"/>
            <a:ext cx="447675" cy="659130"/>
            <a:chOff x="228600" y="1143000"/>
            <a:chExt cx="447675" cy="659130"/>
          </a:xfrm>
        </p:grpSpPr>
        <p:sp>
          <p:nvSpPr>
            <p:cNvPr id="6" name="object 6"/>
            <p:cNvSpPr/>
            <p:nvPr/>
          </p:nvSpPr>
          <p:spPr>
            <a:xfrm>
              <a:off x="307784" y="1371600"/>
              <a:ext cx="193040" cy="107950"/>
            </a:xfrm>
            <a:custGeom>
              <a:avLst/>
              <a:gdLst/>
              <a:ahLst/>
              <a:cxnLst/>
              <a:rect l="l" t="t" r="r" b="b"/>
              <a:pathLst>
                <a:path w="193040" h="107950">
                  <a:moveTo>
                    <a:pt x="140538" y="0"/>
                  </a:moveTo>
                  <a:lnTo>
                    <a:pt x="116179" y="0"/>
                  </a:lnTo>
                  <a:lnTo>
                    <a:pt x="89941" y="3810"/>
                  </a:lnTo>
                  <a:lnTo>
                    <a:pt x="65582" y="11302"/>
                  </a:lnTo>
                  <a:lnTo>
                    <a:pt x="43103" y="20700"/>
                  </a:lnTo>
                  <a:lnTo>
                    <a:pt x="20612" y="33909"/>
                  </a:lnTo>
                  <a:lnTo>
                    <a:pt x="0" y="47116"/>
                  </a:lnTo>
                  <a:lnTo>
                    <a:pt x="54343" y="107569"/>
                  </a:lnTo>
                  <a:lnTo>
                    <a:pt x="80581" y="92455"/>
                  </a:lnTo>
                  <a:lnTo>
                    <a:pt x="93687" y="86740"/>
                  </a:lnTo>
                  <a:lnTo>
                    <a:pt x="108686" y="83058"/>
                  </a:lnTo>
                  <a:lnTo>
                    <a:pt x="121805" y="81152"/>
                  </a:lnTo>
                  <a:lnTo>
                    <a:pt x="136791" y="79248"/>
                  </a:lnTo>
                  <a:lnTo>
                    <a:pt x="169884" y="79248"/>
                  </a:lnTo>
                  <a:lnTo>
                    <a:pt x="193014" y="7492"/>
                  </a:lnTo>
                  <a:lnTo>
                    <a:pt x="166776" y="1904"/>
                  </a:lnTo>
                  <a:lnTo>
                    <a:pt x="140538" y="0"/>
                  </a:lnTo>
                  <a:close/>
                </a:path>
                <a:path w="193040" h="107950">
                  <a:moveTo>
                    <a:pt x="169884" y="79248"/>
                  </a:moveTo>
                  <a:lnTo>
                    <a:pt x="136791" y="79248"/>
                  </a:lnTo>
                  <a:lnTo>
                    <a:pt x="153657" y="81152"/>
                  </a:lnTo>
                  <a:lnTo>
                    <a:pt x="168656" y="83058"/>
                  </a:lnTo>
                  <a:lnTo>
                    <a:pt x="169884" y="792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8600" y="1433448"/>
              <a:ext cx="431800" cy="354965"/>
            </a:xfrm>
            <a:custGeom>
              <a:avLst/>
              <a:gdLst/>
              <a:ahLst/>
              <a:cxnLst/>
              <a:rect l="l" t="t" r="r" b="b"/>
              <a:pathLst>
                <a:path w="431800" h="354964">
                  <a:moveTo>
                    <a:pt x="118770" y="60071"/>
                  </a:moveTo>
                  <a:lnTo>
                    <a:pt x="64096" y="0"/>
                  </a:lnTo>
                  <a:lnTo>
                    <a:pt x="47129" y="18796"/>
                  </a:lnTo>
                  <a:lnTo>
                    <a:pt x="32054" y="39370"/>
                  </a:lnTo>
                  <a:lnTo>
                    <a:pt x="20739" y="61976"/>
                  </a:lnTo>
                  <a:lnTo>
                    <a:pt x="11315" y="86360"/>
                  </a:lnTo>
                  <a:lnTo>
                    <a:pt x="3771" y="110871"/>
                  </a:lnTo>
                  <a:lnTo>
                    <a:pt x="0" y="137160"/>
                  </a:lnTo>
                  <a:lnTo>
                    <a:pt x="0" y="163449"/>
                  </a:lnTo>
                  <a:lnTo>
                    <a:pt x="3771" y="187833"/>
                  </a:lnTo>
                  <a:lnTo>
                    <a:pt x="82956" y="170942"/>
                  </a:lnTo>
                  <a:lnTo>
                    <a:pt x="81064" y="155956"/>
                  </a:lnTo>
                  <a:lnTo>
                    <a:pt x="81064" y="140843"/>
                  </a:lnTo>
                  <a:lnTo>
                    <a:pt x="82956" y="125857"/>
                  </a:lnTo>
                  <a:lnTo>
                    <a:pt x="86728" y="110871"/>
                  </a:lnTo>
                  <a:lnTo>
                    <a:pt x="92379" y="97663"/>
                  </a:lnTo>
                  <a:lnTo>
                    <a:pt x="99923" y="82677"/>
                  </a:lnTo>
                  <a:lnTo>
                    <a:pt x="118770" y="60071"/>
                  </a:lnTo>
                  <a:close/>
                </a:path>
                <a:path w="431800" h="354964">
                  <a:moveTo>
                    <a:pt x="163322" y="277876"/>
                  </a:moveTo>
                  <a:lnTo>
                    <a:pt x="125755" y="253492"/>
                  </a:lnTo>
                  <a:lnTo>
                    <a:pt x="97574" y="217805"/>
                  </a:lnTo>
                  <a:lnTo>
                    <a:pt x="86309" y="191643"/>
                  </a:lnTo>
                  <a:lnTo>
                    <a:pt x="7416" y="208407"/>
                  </a:lnTo>
                  <a:lnTo>
                    <a:pt x="26200" y="255397"/>
                  </a:lnTo>
                  <a:lnTo>
                    <a:pt x="54381" y="296672"/>
                  </a:lnTo>
                  <a:lnTo>
                    <a:pt x="91948" y="330327"/>
                  </a:lnTo>
                  <a:lnTo>
                    <a:pt x="138899" y="354711"/>
                  </a:lnTo>
                  <a:lnTo>
                    <a:pt x="163322" y="277876"/>
                  </a:lnTo>
                  <a:close/>
                </a:path>
                <a:path w="431800" h="354964">
                  <a:moveTo>
                    <a:pt x="431800" y="143129"/>
                  </a:moveTo>
                  <a:lnTo>
                    <a:pt x="428066" y="118618"/>
                  </a:lnTo>
                  <a:lnTo>
                    <a:pt x="349707" y="135509"/>
                  </a:lnTo>
                  <a:lnTo>
                    <a:pt x="351574" y="150622"/>
                  </a:lnTo>
                  <a:lnTo>
                    <a:pt x="351574" y="165608"/>
                  </a:lnTo>
                  <a:lnTo>
                    <a:pt x="349707" y="180594"/>
                  </a:lnTo>
                  <a:lnTo>
                    <a:pt x="344106" y="195707"/>
                  </a:lnTo>
                  <a:lnTo>
                    <a:pt x="338518" y="208788"/>
                  </a:lnTo>
                  <a:lnTo>
                    <a:pt x="332917" y="221996"/>
                  </a:lnTo>
                  <a:lnTo>
                    <a:pt x="323583" y="235204"/>
                  </a:lnTo>
                  <a:lnTo>
                    <a:pt x="314261" y="246380"/>
                  </a:lnTo>
                  <a:lnTo>
                    <a:pt x="368363" y="306578"/>
                  </a:lnTo>
                  <a:lnTo>
                    <a:pt x="400088" y="267081"/>
                  </a:lnTo>
                  <a:lnTo>
                    <a:pt x="420611" y="220091"/>
                  </a:lnTo>
                  <a:lnTo>
                    <a:pt x="431800" y="169418"/>
                  </a:lnTo>
                  <a:lnTo>
                    <a:pt x="431800" y="143129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5846" y="1385188"/>
              <a:ext cx="157480" cy="163195"/>
            </a:xfrm>
            <a:custGeom>
              <a:avLst/>
              <a:gdLst/>
              <a:ahLst/>
              <a:cxnLst/>
              <a:rect l="l" t="t" r="r" b="b"/>
              <a:pathLst>
                <a:path w="157479" h="163194">
                  <a:moveTo>
                    <a:pt x="26187" y="0"/>
                  </a:moveTo>
                  <a:lnTo>
                    <a:pt x="0" y="76962"/>
                  </a:lnTo>
                  <a:lnTo>
                    <a:pt x="14960" y="84455"/>
                  </a:lnTo>
                  <a:lnTo>
                    <a:pt x="28054" y="91948"/>
                  </a:lnTo>
                  <a:lnTo>
                    <a:pt x="59855" y="123825"/>
                  </a:lnTo>
                  <a:lnTo>
                    <a:pt x="72948" y="150113"/>
                  </a:lnTo>
                  <a:lnTo>
                    <a:pt x="78562" y="163195"/>
                  </a:lnTo>
                  <a:lnTo>
                    <a:pt x="157137" y="146303"/>
                  </a:lnTo>
                  <a:lnTo>
                    <a:pt x="149644" y="121920"/>
                  </a:lnTo>
                  <a:lnTo>
                    <a:pt x="138429" y="99440"/>
                  </a:lnTo>
                  <a:lnTo>
                    <a:pt x="110362" y="58165"/>
                  </a:lnTo>
                  <a:lnTo>
                    <a:pt x="71081" y="24384"/>
                  </a:lnTo>
                  <a:lnTo>
                    <a:pt x="50507" y="11302"/>
                  </a:lnTo>
                  <a:lnTo>
                    <a:pt x="261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8200" y="1142999"/>
              <a:ext cx="193040" cy="659130"/>
            </a:xfrm>
            <a:custGeom>
              <a:avLst/>
              <a:gdLst/>
              <a:ahLst/>
              <a:cxnLst/>
              <a:rect l="l" t="t" r="r" b="b"/>
              <a:pathLst>
                <a:path w="193040" h="659130">
                  <a:moveTo>
                    <a:pt x="128663" y="89789"/>
                  </a:moveTo>
                  <a:lnTo>
                    <a:pt x="81203" y="61468"/>
                  </a:lnTo>
                  <a:lnTo>
                    <a:pt x="75780" y="72263"/>
                  </a:lnTo>
                  <a:lnTo>
                    <a:pt x="71716" y="84328"/>
                  </a:lnTo>
                  <a:lnTo>
                    <a:pt x="70358" y="97790"/>
                  </a:lnTo>
                  <a:lnTo>
                    <a:pt x="68999" y="109982"/>
                  </a:lnTo>
                  <a:lnTo>
                    <a:pt x="70358" y="123444"/>
                  </a:lnTo>
                  <a:lnTo>
                    <a:pt x="71716" y="135636"/>
                  </a:lnTo>
                  <a:lnTo>
                    <a:pt x="75780" y="147701"/>
                  </a:lnTo>
                  <a:lnTo>
                    <a:pt x="81203" y="158496"/>
                  </a:lnTo>
                  <a:lnTo>
                    <a:pt x="128663" y="131572"/>
                  </a:lnTo>
                  <a:lnTo>
                    <a:pt x="125958" y="120777"/>
                  </a:lnTo>
                  <a:lnTo>
                    <a:pt x="124599" y="109982"/>
                  </a:lnTo>
                  <a:lnTo>
                    <a:pt x="125958" y="99187"/>
                  </a:lnTo>
                  <a:lnTo>
                    <a:pt x="128663" y="89789"/>
                  </a:lnTo>
                  <a:close/>
                </a:path>
                <a:path w="193040" h="659130">
                  <a:moveTo>
                    <a:pt x="171411" y="163957"/>
                  </a:moveTo>
                  <a:lnTo>
                    <a:pt x="160616" y="161290"/>
                  </a:lnTo>
                  <a:lnTo>
                    <a:pt x="151155" y="157226"/>
                  </a:lnTo>
                  <a:lnTo>
                    <a:pt x="143052" y="150495"/>
                  </a:lnTo>
                  <a:lnTo>
                    <a:pt x="134962" y="142494"/>
                  </a:lnTo>
                  <a:lnTo>
                    <a:pt x="87706" y="170688"/>
                  </a:lnTo>
                  <a:lnTo>
                    <a:pt x="122809" y="204343"/>
                  </a:lnTo>
                  <a:lnTo>
                    <a:pt x="171411" y="219075"/>
                  </a:lnTo>
                  <a:lnTo>
                    <a:pt x="171411" y="163957"/>
                  </a:lnTo>
                  <a:close/>
                </a:path>
                <a:path w="193040" h="659130">
                  <a:moveTo>
                    <a:pt x="171411" y="0"/>
                  </a:moveTo>
                  <a:lnTo>
                    <a:pt x="133604" y="9525"/>
                  </a:lnTo>
                  <a:lnTo>
                    <a:pt x="94449" y="39370"/>
                  </a:lnTo>
                  <a:lnTo>
                    <a:pt x="87706" y="48895"/>
                  </a:lnTo>
                  <a:lnTo>
                    <a:pt x="134962" y="77470"/>
                  </a:lnTo>
                  <a:lnTo>
                    <a:pt x="143052" y="69342"/>
                  </a:lnTo>
                  <a:lnTo>
                    <a:pt x="151155" y="62484"/>
                  </a:lnTo>
                  <a:lnTo>
                    <a:pt x="160616" y="58420"/>
                  </a:lnTo>
                  <a:lnTo>
                    <a:pt x="171411" y="55753"/>
                  </a:lnTo>
                  <a:lnTo>
                    <a:pt x="171411" y="0"/>
                  </a:lnTo>
                  <a:close/>
                </a:path>
                <a:path w="193040" h="659130">
                  <a:moveTo>
                    <a:pt x="193014" y="610108"/>
                  </a:moveTo>
                  <a:lnTo>
                    <a:pt x="164058" y="578104"/>
                  </a:lnTo>
                  <a:lnTo>
                    <a:pt x="138671" y="550037"/>
                  </a:lnTo>
                  <a:lnTo>
                    <a:pt x="125552" y="559435"/>
                  </a:lnTo>
                  <a:lnTo>
                    <a:pt x="112433" y="566928"/>
                  </a:lnTo>
                  <a:lnTo>
                    <a:pt x="99326" y="572516"/>
                  </a:lnTo>
                  <a:lnTo>
                    <a:pt x="84328" y="576326"/>
                  </a:lnTo>
                  <a:lnTo>
                    <a:pt x="69342" y="578104"/>
                  </a:lnTo>
                  <a:lnTo>
                    <a:pt x="39357" y="578104"/>
                  </a:lnTo>
                  <a:lnTo>
                    <a:pt x="24358" y="574421"/>
                  </a:lnTo>
                  <a:lnTo>
                    <a:pt x="0" y="651256"/>
                  </a:lnTo>
                  <a:lnTo>
                    <a:pt x="26238" y="656971"/>
                  </a:lnTo>
                  <a:lnTo>
                    <a:pt x="52476" y="658749"/>
                  </a:lnTo>
                  <a:lnTo>
                    <a:pt x="76835" y="658749"/>
                  </a:lnTo>
                  <a:lnTo>
                    <a:pt x="103073" y="655066"/>
                  </a:lnTo>
                  <a:lnTo>
                    <a:pt x="127431" y="647573"/>
                  </a:lnTo>
                  <a:lnTo>
                    <a:pt x="149910" y="638175"/>
                  </a:lnTo>
                  <a:lnTo>
                    <a:pt x="172402" y="625094"/>
                  </a:lnTo>
                  <a:lnTo>
                    <a:pt x="193014" y="610108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3862" y="1204467"/>
              <a:ext cx="102870" cy="158115"/>
            </a:xfrm>
            <a:custGeom>
              <a:avLst/>
              <a:gdLst/>
              <a:ahLst/>
              <a:cxnLst/>
              <a:rect l="l" t="t" r="r" b="b"/>
              <a:pathLst>
                <a:path w="102870" h="158115">
                  <a:moveTo>
                    <a:pt x="84607" y="109220"/>
                  </a:moveTo>
                  <a:lnTo>
                    <a:pt x="36258" y="81026"/>
                  </a:lnTo>
                  <a:lnTo>
                    <a:pt x="29540" y="89027"/>
                  </a:lnTo>
                  <a:lnTo>
                    <a:pt x="20142" y="95758"/>
                  </a:lnTo>
                  <a:lnTo>
                    <a:pt x="10744" y="99822"/>
                  </a:lnTo>
                  <a:lnTo>
                    <a:pt x="0" y="102489"/>
                  </a:lnTo>
                  <a:lnTo>
                    <a:pt x="0" y="157607"/>
                  </a:lnTo>
                  <a:lnTo>
                    <a:pt x="37604" y="148209"/>
                  </a:lnTo>
                  <a:lnTo>
                    <a:pt x="68491" y="128016"/>
                  </a:lnTo>
                  <a:lnTo>
                    <a:pt x="84607" y="109220"/>
                  </a:lnTo>
                  <a:close/>
                </a:path>
                <a:path w="102870" h="158115">
                  <a:moveTo>
                    <a:pt x="102412" y="36322"/>
                  </a:moveTo>
                  <a:lnTo>
                    <a:pt x="99695" y="22860"/>
                  </a:lnTo>
                  <a:lnTo>
                    <a:pt x="95631" y="10795"/>
                  </a:lnTo>
                  <a:lnTo>
                    <a:pt x="91567" y="0"/>
                  </a:lnTo>
                  <a:lnTo>
                    <a:pt x="42748" y="28321"/>
                  </a:lnTo>
                  <a:lnTo>
                    <a:pt x="46812" y="37719"/>
                  </a:lnTo>
                  <a:lnTo>
                    <a:pt x="46812" y="59309"/>
                  </a:lnTo>
                  <a:lnTo>
                    <a:pt x="42748" y="70104"/>
                  </a:lnTo>
                  <a:lnTo>
                    <a:pt x="91567" y="97028"/>
                  </a:lnTo>
                  <a:lnTo>
                    <a:pt x="95631" y="86233"/>
                  </a:lnTo>
                  <a:lnTo>
                    <a:pt x="99695" y="74168"/>
                  </a:lnTo>
                  <a:lnTo>
                    <a:pt x="102412" y="61976"/>
                  </a:lnTo>
                  <a:lnTo>
                    <a:pt x="102412" y="363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3862" y="1143000"/>
              <a:ext cx="85090" cy="77470"/>
            </a:xfrm>
            <a:custGeom>
              <a:avLst/>
              <a:gdLst/>
              <a:ahLst/>
              <a:cxnLst/>
              <a:rect l="l" t="t" r="r" b="b"/>
              <a:pathLst>
                <a:path w="85090" h="77469">
                  <a:moveTo>
                    <a:pt x="0" y="0"/>
                  </a:moveTo>
                  <a:lnTo>
                    <a:pt x="0" y="55752"/>
                  </a:lnTo>
                  <a:lnTo>
                    <a:pt x="10744" y="58420"/>
                  </a:lnTo>
                  <a:lnTo>
                    <a:pt x="20142" y="62484"/>
                  </a:lnTo>
                  <a:lnTo>
                    <a:pt x="29540" y="69341"/>
                  </a:lnTo>
                  <a:lnTo>
                    <a:pt x="36258" y="77470"/>
                  </a:lnTo>
                  <a:lnTo>
                    <a:pt x="84607" y="48895"/>
                  </a:lnTo>
                  <a:lnTo>
                    <a:pt x="48348" y="14986"/>
                  </a:lnTo>
                  <a:lnTo>
                    <a:pt x="13423" y="13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10" dirty="0">
                <a:solidFill>
                  <a:srgbClr val="01395E"/>
                </a:solidFill>
                <a:latin typeface="Arial MT"/>
                <a:cs typeface="Arial MT"/>
              </a:rPr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7593" y="1233024"/>
            <a:ext cx="4285615" cy="259080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90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Transposition</a:t>
            </a:r>
            <a:r>
              <a:rPr sz="2800" spc="-1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Ciphers</a:t>
            </a:r>
            <a:endParaRPr sz="28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50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Arial MT"/>
                <a:cs typeface="Arial MT"/>
              </a:rPr>
              <a:t>Rail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Fence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Cipher</a:t>
            </a:r>
            <a:endParaRPr sz="20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Arial MT"/>
                <a:cs typeface="Arial MT"/>
              </a:rPr>
              <a:t>Columnar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Transposition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Cipher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Product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Ciphers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Rotor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Machines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</a:tabLst>
            </a:pPr>
            <a:r>
              <a:rPr sz="2400" spc="-10" dirty="0">
                <a:latin typeface="Arial MT"/>
                <a:cs typeface="Arial MT"/>
              </a:rPr>
              <a:t>Steganography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8089900" y="5792787"/>
            <a:ext cx="958850" cy="981075"/>
            <a:chOff x="8089900" y="5792787"/>
            <a:chExt cx="958850" cy="981075"/>
          </a:xfrm>
        </p:grpSpPr>
        <p:sp>
          <p:nvSpPr>
            <p:cNvPr id="6" name="object 6"/>
            <p:cNvSpPr/>
            <p:nvPr/>
          </p:nvSpPr>
          <p:spPr>
            <a:xfrm>
              <a:off x="8537575" y="5792787"/>
              <a:ext cx="511175" cy="403225"/>
            </a:xfrm>
            <a:custGeom>
              <a:avLst/>
              <a:gdLst/>
              <a:ahLst/>
              <a:cxnLst/>
              <a:rect l="l" t="t" r="r" b="b"/>
              <a:pathLst>
                <a:path w="511175" h="403225">
                  <a:moveTo>
                    <a:pt x="219075" y="0"/>
                  </a:moveTo>
                  <a:lnTo>
                    <a:pt x="122809" y="21628"/>
                  </a:lnTo>
                  <a:lnTo>
                    <a:pt x="67437" y="55257"/>
                  </a:lnTo>
                  <a:lnTo>
                    <a:pt x="19304" y="98513"/>
                  </a:lnTo>
                  <a:lnTo>
                    <a:pt x="0" y="124942"/>
                  </a:lnTo>
                  <a:lnTo>
                    <a:pt x="91440" y="177800"/>
                  </a:lnTo>
                  <a:lnTo>
                    <a:pt x="115570" y="148971"/>
                  </a:lnTo>
                  <a:lnTo>
                    <a:pt x="130048" y="136956"/>
                  </a:lnTo>
                  <a:lnTo>
                    <a:pt x="146812" y="124942"/>
                  </a:lnTo>
                  <a:lnTo>
                    <a:pt x="180594" y="110528"/>
                  </a:lnTo>
                  <a:lnTo>
                    <a:pt x="199771" y="105714"/>
                  </a:lnTo>
                  <a:lnTo>
                    <a:pt x="219075" y="103314"/>
                  </a:lnTo>
                  <a:lnTo>
                    <a:pt x="219075" y="0"/>
                  </a:lnTo>
                  <a:close/>
                </a:path>
                <a:path w="511175" h="403225">
                  <a:moveTo>
                    <a:pt x="511175" y="277431"/>
                  </a:moveTo>
                  <a:lnTo>
                    <a:pt x="508762" y="243573"/>
                  </a:lnTo>
                  <a:lnTo>
                    <a:pt x="503936" y="209702"/>
                  </a:lnTo>
                  <a:lnTo>
                    <a:pt x="494284" y="178257"/>
                  </a:lnTo>
                  <a:lnTo>
                    <a:pt x="479806" y="149225"/>
                  </a:lnTo>
                  <a:lnTo>
                    <a:pt x="390525" y="202450"/>
                  </a:lnTo>
                  <a:lnTo>
                    <a:pt x="397764" y="219379"/>
                  </a:lnTo>
                  <a:lnTo>
                    <a:pt x="402590" y="236308"/>
                  </a:lnTo>
                  <a:lnTo>
                    <a:pt x="407416" y="255663"/>
                  </a:lnTo>
                  <a:lnTo>
                    <a:pt x="407416" y="296786"/>
                  </a:lnTo>
                  <a:lnTo>
                    <a:pt x="402590" y="316141"/>
                  </a:lnTo>
                  <a:lnTo>
                    <a:pt x="397764" y="333070"/>
                  </a:lnTo>
                  <a:lnTo>
                    <a:pt x="390525" y="352425"/>
                  </a:lnTo>
                  <a:lnTo>
                    <a:pt x="479806" y="403225"/>
                  </a:lnTo>
                  <a:lnTo>
                    <a:pt x="494284" y="374192"/>
                  </a:lnTo>
                  <a:lnTo>
                    <a:pt x="503936" y="342747"/>
                  </a:lnTo>
                  <a:lnTo>
                    <a:pt x="508762" y="311302"/>
                  </a:lnTo>
                  <a:lnTo>
                    <a:pt x="511175" y="277431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94776" y="5942012"/>
              <a:ext cx="262255" cy="403225"/>
            </a:xfrm>
            <a:custGeom>
              <a:avLst/>
              <a:gdLst/>
              <a:ahLst/>
              <a:cxnLst/>
              <a:rect l="l" t="t" r="r" b="b"/>
              <a:pathLst>
                <a:path w="262254" h="403225">
                  <a:moveTo>
                    <a:pt x="120650" y="53225"/>
                  </a:moveTo>
                  <a:lnTo>
                    <a:pt x="31242" y="0"/>
                  </a:lnTo>
                  <a:lnTo>
                    <a:pt x="16891" y="29032"/>
                  </a:lnTo>
                  <a:lnTo>
                    <a:pt x="7239" y="60477"/>
                  </a:lnTo>
                  <a:lnTo>
                    <a:pt x="2413" y="94348"/>
                  </a:lnTo>
                  <a:lnTo>
                    <a:pt x="0" y="128206"/>
                  </a:lnTo>
                  <a:lnTo>
                    <a:pt x="2413" y="162077"/>
                  </a:lnTo>
                  <a:lnTo>
                    <a:pt x="7239" y="193522"/>
                  </a:lnTo>
                  <a:lnTo>
                    <a:pt x="16891" y="224967"/>
                  </a:lnTo>
                  <a:lnTo>
                    <a:pt x="31242" y="254000"/>
                  </a:lnTo>
                  <a:lnTo>
                    <a:pt x="120650" y="203200"/>
                  </a:lnTo>
                  <a:lnTo>
                    <a:pt x="113284" y="183845"/>
                  </a:lnTo>
                  <a:lnTo>
                    <a:pt x="108458" y="166916"/>
                  </a:lnTo>
                  <a:lnTo>
                    <a:pt x="103632" y="147561"/>
                  </a:lnTo>
                  <a:lnTo>
                    <a:pt x="103632" y="106438"/>
                  </a:lnTo>
                  <a:lnTo>
                    <a:pt x="108458" y="87083"/>
                  </a:lnTo>
                  <a:lnTo>
                    <a:pt x="113284" y="70154"/>
                  </a:lnTo>
                  <a:lnTo>
                    <a:pt x="120650" y="53225"/>
                  </a:lnTo>
                  <a:close/>
                </a:path>
                <a:path w="262254" h="403225">
                  <a:moveTo>
                    <a:pt x="261874" y="298983"/>
                  </a:moveTo>
                  <a:lnTo>
                    <a:pt x="223393" y="291719"/>
                  </a:lnTo>
                  <a:lnTo>
                    <a:pt x="172847" y="265049"/>
                  </a:lnTo>
                  <a:lnTo>
                    <a:pt x="134239" y="223837"/>
                  </a:lnTo>
                  <a:lnTo>
                    <a:pt x="42799" y="277164"/>
                  </a:lnTo>
                  <a:lnTo>
                    <a:pt x="110236" y="347472"/>
                  </a:lnTo>
                  <a:lnTo>
                    <a:pt x="165608" y="381406"/>
                  </a:lnTo>
                  <a:lnTo>
                    <a:pt x="228219" y="400799"/>
                  </a:lnTo>
                  <a:lnTo>
                    <a:pt x="261874" y="403225"/>
                  </a:lnTo>
                  <a:lnTo>
                    <a:pt x="261874" y="298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786876" y="5792787"/>
              <a:ext cx="219075" cy="552450"/>
            </a:xfrm>
            <a:custGeom>
              <a:avLst/>
              <a:gdLst/>
              <a:ahLst/>
              <a:cxnLst/>
              <a:rect l="l" t="t" r="r" b="b"/>
              <a:pathLst>
                <a:path w="219075" h="552450">
                  <a:moveTo>
                    <a:pt x="219075" y="426389"/>
                  </a:moveTo>
                  <a:lnTo>
                    <a:pt x="127508" y="373062"/>
                  </a:lnTo>
                  <a:lnTo>
                    <a:pt x="117856" y="390029"/>
                  </a:lnTo>
                  <a:lnTo>
                    <a:pt x="89027" y="414274"/>
                  </a:lnTo>
                  <a:lnTo>
                    <a:pt x="72136" y="426389"/>
                  </a:lnTo>
                  <a:lnTo>
                    <a:pt x="38481" y="440944"/>
                  </a:lnTo>
                  <a:lnTo>
                    <a:pt x="19177" y="445782"/>
                  </a:lnTo>
                  <a:lnTo>
                    <a:pt x="0" y="448208"/>
                  </a:lnTo>
                  <a:lnTo>
                    <a:pt x="0" y="552450"/>
                  </a:lnTo>
                  <a:lnTo>
                    <a:pt x="96266" y="530631"/>
                  </a:lnTo>
                  <a:lnTo>
                    <a:pt x="151638" y="496697"/>
                  </a:lnTo>
                  <a:lnTo>
                    <a:pt x="199771" y="453059"/>
                  </a:lnTo>
                  <a:lnTo>
                    <a:pt x="219075" y="426389"/>
                  </a:lnTo>
                  <a:close/>
                </a:path>
                <a:path w="219075" h="552450">
                  <a:moveTo>
                    <a:pt x="219075" y="124942"/>
                  </a:moveTo>
                  <a:lnTo>
                    <a:pt x="178054" y="76885"/>
                  </a:lnTo>
                  <a:lnTo>
                    <a:pt x="125095" y="36042"/>
                  </a:lnTo>
                  <a:lnTo>
                    <a:pt x="33655" y="2400"/>
                  </a:lnTo>
                  <a:lnTo>
                    <a:pt x="0" y="0"/>
                  </a:lnTo>
                  <a:lnTo>
                    <a:pt x="0" y="103314"/>
                  </a:lnTo>
                  <a:lnTo>
                    <a:pt x="19177" y="105714"/>
                  </a:lnTo>
                  <a:lnTo>
                    <a:pt x="38481" y="110528"/>
                  </a:lnTo>
                  <a:lnTo>
                    <a:pt x="89027" y="136956"/>
                  </a:lnTo>
                  <a:lnTo>
                    <a:pt x="117856" y="163385"/>
                  </a:lnTo>
                  <a:lnTo>
                    <a:pt x="127508" y="177800"/>
                  </a:lnTo>
                  <a:lnTo>
                    <a:pt x="219075" y="124942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15376" y="6221412"/>
              <a:ext cx="247650" cy="138430"/>
            </a:xfrm>
            <a:custGeom>
              <a:avLst/>
              <a:gdLst/>
              <a:ahLst/>
              <a:cxnLst/>
              <a:rect l="l" t="t" r="r" b="b"/>
              <a:pathLst>
                <a:path w="247650" h="138429">
                  <a:moveTo>
                    <a:pt x="180213" y="0"/>
                  </a:moveTo>
                  <a:lnTo>
                    <a:pt x="148971" y="0"/>
                  </a:lnTo>
                  <a:lnTo>
                    <a:pt x="115316" y="4851"/>
                  </a:lnTo>
                  <a:lnTo>
                    <a:pt x="84074" y="14541"/>
                  </a:lnTo>
                  <a:lnTo>
                    <a:pt x="55245" y="26657"/>
                  </a:lnTo>
                  <a:lnTo>
                    <a:pt x="26416" y="43611"/>
                  </a:lnTo>
                  <a:lnTo>
                    <a:pt x="0" y="60579"/>
                  </a:lnTo>
                  <a:lnTo>
                    <a:pt x="69723" y="138112"/>
                  </a:lnTo>
                  <a:lnTo>
                    <a:pt x="103377" y="118732"/>
                  </a:lnTo>
                  <a:lnTo>
                    <a:pt x="120142" y="111455"/>
                  </a:lnTo>
                  <a:lnTo>
                    <a:pt x="139446" y="106616"/>
                  </a:lnTo>
                  <a:lnTo>
                    <a:pt x="156209" y="104190"/>
                  </a:lnTo>
                  <a:lnTo>
                    <a:pt x="175514" y="101765"/>
                  </a:lnTo>
                  <a:lnTo>
                    <a:pt x="217851" y="101765"/>
                  </a:lnTo>
                  <a:lnTo>
                    <a:pt x="247650" y="9690"/>
                  </a:lnTo>
                  <a:lnTo>
                    <a:pt x="213868" y="2425"/>
                  </a:lnTo>
                  <a:lnTo>
                    <a:pt x="180213" y="0"/>
                  </a:lnTo>
                  <a:close/>
                </a:path>
                <a:path w="247650" h="138429">
                  <a:moveTo>
                    <a:pt x="217851" y="101765"/>
                  </a:moveTo>
                  <a:lnTo>
                    <a:pt x="175514" y="101765"/>
                  </a:lnTo>
                  <a:lnTo>
                    <a:pt x="197103" y="104190"/>
                  </a:lnTo>
                  <a:lnTo>
                    <a:pt x="216280" y="106616"/>
                  </a:lnTo>
                  <a:lnTo>
                    <a:pt x="217851" y="10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113776" y="6300787"/>
              <a:ext cx="554355" cy="455930"/>
            </a:xfrm>
            <a:custGeom>
              <a:avLst/>
              <a:gdLst/>
              <a:ahLst/>
              <a:cxnLst/>
              <a:rect l="l" t="t" r="r" b="b"/>
              <a:pathLst>
                <a:path w="554354" h="455929">
                  <a:moveTo>
                    <a:pt x="152400" y="77216"/>
                  </a:moveTo>
                  <a:lnTo>
                    <a:pt x="82169" y="0"/>
                  </a:lnTo>
                  <a:lnTo>
                    <a:pt x="60452" y="24130"/>
                  </a:lnTo>
                  <a:lnTo>
                    <a:pt x="41021" y="50673"/>
                  </a:lnTo>
                  <a:lnTo>
                    <a:pt x="26543" y="79629"/>
                  </a:lnTo>
                  <a:lnTo>
                    <a:pt x="14478" y="110998"/>
                  </a:lnTo>
                  <a:lnTo>
                    <a:pt x="4826" y="142367"/>
                  </a:lnTo>
                  <a:lnTo>
                    <a:pt x="0" y="176149"/>
                  </a:lnTo>
                  <a:lnTo>
                    <a:pt x="0" y="209931"/>
                  </a:lnTo>
                  <a:lnTo>
                    <a:pt x="4826" y="241300"/>
                  </a:lnTo>
                  <a:lnTo>
                    <a:pt x="106426" y="219583"/>
                  </a:lnTo>
                  <a:lnTo>
                    <a:pt x="104013" y="200279"/>
                  </a:lnTo>
                  <a:lnTo>
                    <a:pt x="104013" y="180975"/>
                  </a:lnTo>
                  <a:lnTo>
                    <a:pt x="111252" y="142367"/>
                  </a:lnTo>
                  <a:lnTo>
                    <a:pt x="128143" y="106172"/>
                  </a:lnTo>
                  <a:lnTo>
                    <a:pt x="140208" y="91694"/>
                  </a:lnTo>
                  <a:lnTo>
                    <a:pt x="152400" y="77216"/>
                  </a:lnTo>
                  <a:close/>
                </a:path>
                <a:path w="554354" h="455929">
                  <a:moveTo>
                    <a:pt x="209550" y="356857"/>
                  </a:moveTo>
                  <a:lnTo>
                    <a:pt x="175768" y="337591"/>
                  </a:lnTo>
                  <a:lnTo>
                    <a:pt x="146812" y="311099"/>
                  </a:lnTo>
                  <a:lnTo>
                    <a:pt x="125095" y="279781"/>
                  </a:lnTo>
                  <a:lnTo>
                    <a:pt x="110617" y="246062"/>
                  </a:lnTo>
                  <a:lnTo>
                    <a:pt x="9525" y="267741"/>
                  </a:lnTo>
                  <a:lnTo>
                    <a:pt x="33528" y="327952"/>
                  </a:lnTo>
                  <a:lnTo>
                    <a:pt x="69723" y="380949"/>
                  </a:lnTo>
                  <a:lnTo>
                    <a:pt x="117856" y="424307"/>
                  </a:lnTo>
                  <a:lnTo>
                    <a:pt x="178181" y="455625"/>
                  </a:lnTo>
                  <a:lnTo>
                    <a:pt x="209550" y="356857"/>
                  </a:lnTo>
                  <a:close/>
                </a:path>
                <a:path w="554354" h="455929">
                  <a:moveTo>
                    <a:pt x="553974" y="183769"/>
                  </a:moveTo>
                  <a:lnTo>
                    <a:pt x="549148" y="152400"/>
                  </a:lnTo>
                  <a:lnTo>
                    <a:pt x="448691" y="174117"/>
                  </a:lnTo>
                  <a:lnTo>
                    <a:pt x="450977" y="193421"/>
                  </a:lnTo>
                  <a:lnTo>
                    <a:pt x="450977" y="212725"/>
                  </a:lnTo>
                  <a:lnTo>
                    <a:pt x="441452" y="251333"/>
                  </a:lnTo>
                  <a:lnTo>
                    <a:pt x="415163" y="302006"/>
                  </a:lnTo>
                  <a:lnTo>
                    <a:pt x="403225" y="316484"/>
                  </a:lnTo>
                  <a:lnTo>
                    <a:pt x="472567" y="393700"/>
                  </a:lnTo>
                  <a:lnTo>
                    <a:pt x="513334" y="343027"/>
                  </a:lnTo>
                  <a:lnTo>
                    <a:pt x="539623" y="282702"/>
                  </a:lnTo>
                  <a:lnTo>
                    <a:pt x="553974" y="217551"/>
                  </a:lnTo>
                  <a:lnTo>
                    <a:pt x="553974" y="183769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456675" y="6238875"/>
              <a:ext cx="201930" cy="209550"/>
            </a:xfrm>
            <a:custGeom>
              <a:avLst/>
              <a:gdLst/>
              <a:ahLst/>
              <a:cxnLst/>
              <a:rect l="l" t="t" r="r" b="b"/>
              <a:pathLst>
                <a:path w="201929" h="209550">
                  <a:moveTo>
                    <a:pt x="33527" y="0"/>
                  </a:moveTo>
                  <a:lnTo>
                    <a:pt x="0" y="98755"/>
                  </a:lnTo>
                  <a:lnTo>
                    <a:pt x="19176" y="108394"/>
                  </a:lnTo>
                  <a:lnTo>
                    <a:pt x="35941" y="118021"/>
                  </a:lnTo>
                  <a:lnTo>
                    <a:pt x="64770" y="144513"/>
                  </a:lnTo>
                  <a:lnTo>
                    <a:pt x="93599" y="192684"/>
                  </a:lnTo>
                  <a:lnTo>
                    <a:pt x="100710" y="209550"/>
                  </a:lnTo>
                  <a:lnTo>
                    <a:pt x="201549" y="187871"/>
                  </a:lnTo>
                  <a:lnTo>
                    <a:pt x="191897" y="156565"/>
                  </a:lnTo>
                  <a:lnTo>
                    <a:pt x="177546" y="127660"/>
                  </a:lnTo>
                  <a:lnTo>
                    <a:pt x="141604" y="74663"/>
                  </a:lnTo>
                  <a:lnTo>
                    <a:pt x="91185" y="31318"/>
                  </a:lnTo>
                  <a:lnTo>
                    <a:pt x="64770" y="14452"/>
                  </a:lnTo>
                  <a:lnTo>
                    <a:pt x="335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089900" y="5821362"/>
              <a:ext cx="476250" cy="952500"/>
            </a:xfrm>
            <a:custGeom>
              <a:avLst/>
              <a:gdLst/>
              <a:ahLst/>
              <a:cxnLst/>
              <a:rect l="l" t="t" r="r" b="b"/>
              <a:pathLst>
                <a:path w="476250" h="952500">
                  <a:moveTo>
                    <a:pt x="106426" y="160007"/>
                  </a:moveTo>
                  <a:lnTo>
                    <a:pt x="21717" y="109537"/>
                  </a:lnTo>
                  <a:lnTo>
                    <a:pt x="12065" y="128765"/>
                  </a:lnTo>
                  <a:lnTo>
                    <a:pt x="4826" y="150393"/>
                  </a:lnTo>
                  <a:lnTo>
                    <a:pt x="2413" y="174421"/>
                  </a:lnTo>
                  <a:lnTo>
                    <a:pt x="0" y="196062"/>
                  </a:lnTo>
                  <a:lnTo>
                    <a:pt x="2413" y="220091"/>
                  </a:lnTo>
                  <a:lnTo>
                    <a:pt x="4826" y="241719"/>
                  </a:lnTo>
                  <a:lnTo>
                    <a:pt x="12065" y="263347"/>
                  </a:lnTo>
                  <a:lnTo>
                    <a:pt x="21717" y="282575"/>
                  </a:lnTo>
                  <a:lnTo>
                    <a:pt x="106426" y="234505"/>
                  </a:lnTo>
                  <a:lnTo>
                    <a:pt x="101473" y="215277"/>
                  </a:lnTo>
                  <a:lnTo>
                    <a:pt x="99060" y="196062"/>
                  </a:lnTo>
                  <a:lnTo>
                    <a:pt x="101473" y="176834"/>
                  </a:lnTo>
                  <a:lnTo>
                    <a:pt x="106426" y="160007"/>
                  </a:lnTo>
                  <a:close/>
                </a:path>
                <a:path w="476250" h="952500">
                  <a:moveTo>
                    <a:pt x="182626" y="292328"/>
                  </a:moveTo>
                  <a:lnTo>
                    <a:pt x="163322" y="287528"/>
                  </a:lnTo>
                  <a:lnTo>
                    <a:pt x="146431" y="280352"/>
                  </a:lnTo>
                  <a:lnTo>
                    <a:pt x="132080" y="268376"/>
                  </a:lnTo>
                  <a:lnTo>
                    <a:pt x="117602" y="254000"/>
                  </a:lnTo>
                  <a:lnTo>
                    <a:pt x="33401" y="304304"/>
                  </a:lnTo>
                  <a:lnTo>
                    <a:pt x="59817" y="337832"/>
                  </a:lnTo>
                  <a:lnTo>
                    <a:pt x="95885" y="364172"/>
                  </a:lnTo>
                  <a:lnTo>
                    <a:pt x="136779" y="383336"/>
                  </a:lnTo>
                  <a:lnTo>
                    <a:pt x="182626" y="390525"/>
                  </a:lnTo>
                  <a:lnTo>
                    <a:pt x="182626" y="292328"/>
                  </a:lnTo>
                  <a:close/>
                </a:path>
                <a:path w="476250" h="952500">
                  <a:moveTo>
                    <a:pt x="182626" y="0"/>
                  </a:moveTo>
                  <a:lnTo>
                    <a:pt x="115189" y="16967"/>
                  </a:lnTo>
                  <a:lnTo>
                    <a:pt x="76708" y="38773"/>
                  </a:lnTo>
                  <a:lnTo>
                    <a:pt x="45339" y="70269"/>
                  </a:lnTo>
                  <a:lnTo>
                    <a:pt x="33401" y="87223"/>
                  </a:lnTo>
                  <a:lnTo>
                    <a:pt x="117602" y="138112"/>
                  </a:lnTo>
                  <a:lnTo>
                    <a:pt x="132080" y="123571"/>
                  </a:lnTo>
                  <a:lnTo>
                    <a:pt x="146431" y="111455"/>
                  </a:lnTo>
                  <a:lnTo>
                    <a:pt x="163322" y="104190"/>
                  </a:lnTo>
                  <a:lnTo>
                    <a:pt x="182626" y="99339"/>
                  </a:lnTo>
                  <a:lnTo>
                    <a:pt x="182626" y="0"/>
                  </a:lnTo>
                  <a:close/>
                </a:path>
                <a:path w="476250" h="952500">
                  <a:moveTo>
                    <a:pt x="476250" y="889876"/>
                  </a:moveTo>
                  <a:lnTo>
                    <a:pt x="439204" y="848931"/>
                  </a:lnTo>
                  <a:lnTo>
                    <a:pt x="406527" y="812800"/>
                  </a:lnTo>
                  <a:lnTo>
                    <a:pt x="389636" y="824839"/>
                  </a:lnTo>
                  <a:lnTo>
                    <a:pt x="372872" y="834478"/>
                  </a:lnTo>
                  <a:lnTo>
                    <a:pt x="355981" y="841705"/>
                  </a:lnTo>
                  <a:lnTo>
                    <a:pt x="336804" y="846518"/>
                  </a:lnTo>
                  <a:lnTo>
                    <a:pt x="317500" y="848931"/>
                  </a:lnTo>
                  <a:lnTo>
                    <a:pt x="279146" y="848931"/>
                  </a:lnTo>
                  <a:lnTo>
                    <a:pt x="259842" y="844118"/>
                  </a:lnTo>
                  <a:lnTo>
                    <a:pt x="228600" y="942873"/>
                  </a:lnTo>
                  <a:lnTo>
                    <a:pt x="262255" y="950099"/>
                  </a:lnTo>
                  <a:lnTo>
                    <a:pt x="295910" y="952500"/>
                  </a:lnTo>
                  <a:lnTo>
                    <a:pt x="327152" y="952500"/>
                  </a:lnTo>
                  <a:lnTo>
                    <a:pt x="360807" y="947686"/>
                  </a:lnTo>
                  <a:lnTo>
                    <a:pt x="392049" y="938060"/>
                  </a:lnTo>
                  <a:lnTo>
                    <a:pt x="421005" y="926007"/>
                  </a:lnTo>
                  <a:lnTo>
                    <a:pt x="449834" y="909142"/>
                  </a:lnTo>
                  <a:lnTo>
                    <a:pt x="476250" y="889876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297926" y="5930899"/>
              <a:ext cx="182880" cy="281305"/>
            </a:xfrm>
            <a:custGeom>
              <a:avLst/>
              <a:gdLst/>
              <a:ahLst/>
              <a:cxnLst/>
              <a:rect l="l" t="t" r="r" b="b"/>
              <a:pathLst>
                <a:path w="182879" h="281304">
                  <a:moveTo>
                    <a:pt x="150749" y="194767"/>
                  </a:moveTo>
                  <a:lnTo>
                    <a:pt x="64516" y="144462"/>
                  </a:lnTo>
                  <a:lnTo>
                    <a:pt x="52578" y="158838"/>
                  </a:lnTo>
                  <a:lnTo>
                    <a:pt x="35814" y="170815"/>
                  </a:lnTo>
                  <a:lnTo>
                    <a:pt x="19050" y="177990"/>
                  </a:lnTo>
                  <a:lnTo>
                    <a:pt x="0" y="182791"/>
                  </a:lnTo>
                  <a:lnTo>
                    <a:pt x="0" y="280987"/>
                  </a:lnTo>
                  <a:lnTo>
                    <a:pt x="45466" y="273799"/>
                  </a:lnTo>
                  <a:lnTo>
                    <a:pt x="86106" y="254635"/>
                  </a:lnTo>
                  <a:lnTo>
                    <a:pt x="122047" y="228295"/>
                  </a:lnTo>
                  <a:lnTo>
                    <a:pt x="150749" y="194767"/>
                  </a:lnTo>
                  <a:close/>
                </a:path>
                <a:path w="182879" h="281304">
                  <a:moveTo>
                    <a:pt x="182499" y="64884"/>
                  </a:moveTo>
                  <a:lnTo>
                    <a:pt x="177673" y="40855"/>
                  </a:lnTo>
                  <a:lnTo>
                    <a:pt x="170434" y="19227"/>
                  </a:lnTo>
                  <a:lnTo>
                    <a:pt x="163195" y="0"/>
                  </a:lnTo>
                  <a:lnTo>
                    <a:pt x="76200" y="50469"/>
                  </a:lnTo>
                  <a:lnTo>
                    <a:pt x="83439" y="67297"/>
                  </a:lnTo>
                  <a:lnTo>
                    <a:pt x="83439" y="105740"/>
                  </a:lnTo>
                  <a:lnTo>
                    <a:pt x="76200" y="124968"/>
                  </a:lnTo>
                  <a:lnTo>
                    <a:pt x="163195" y="173037"/>
                  </a:lnTo>
                  <a:lnTo>
                    <a:pt x="170434" y="153809"/>
                  </a:lnTo>
                  <a:lnTo>
                    <a:pt x="177673" y="132181"/>
                  </a:lnTo>
                  <a:lnTo>
                    <a:pt x="182499" y="110553"/>
                  </a:lnTo>
                  <a:lnTo>
                    <a:pt x="182499" y="648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297925" y="5821362"/>
              <a:ext cx="151130" cy="138430"/>
            </a:xfrm>
            <a:custGeom>
              <a:avLst/>
              <a:gdLst/>
              <a:ahLst/>
              <a:cxnLst/>
              <a:rect l="l" t="t" r="r" b="b"/>
              <a:pathLst>
                <a:path w="151129" h="138429">
                  <a:moveTo>
                    <a:pt x="0" y="0"/>
                  </a:moveTo>
                  <a:lnTo>
                    <a:pt x="0" y="99339"/>
                  </a:lnTo>
                  <a:lnTo>
                    <a:pt x="19050" y="104190"/>
                  </a:lnTo>
                  <a:lnTo>
                    <a:pt x="35814" y="111455"/>
                  </a:lnTo>
                  <a:lnTo>
                    <a:pt x="52577" y="123571"/>
                  </a:lnTo>
                  <a:lnTo>
                    <a:pt x="64516" y="138112"/>
                  </a:lnTo>
                  <a:lnTo>
                    <a:pt x="150749" y="87223"/>
                  </a:lnTo>
                  <a:lnTo>
                    <a:pt x="122047" y="53301"/>
                  </a:lnTo>
                  <a:lnTo>
                    <a:pt x="86105" y="26657"/>
                  </a:lnTo>
                  <a:lnTo>
                    <a:pt x="23875" y="24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Transposition</a:t>
            </a:r>
            <a:r>
              <a:rPr spc="-35" dirty="0"/>
              <a:t> </a:t>
            </a:r>
            <a:r>
              <a:rPr spc="-10" dirty="0"/>
              <a:t>Ciphers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16482"/>
            <a:ext cx="8082280" cy="37331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47879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Arial MT"/>
                <a:cs typeface="Arial MT"/>
              </a:rPr>
              <a:t>now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consider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classical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b="1" dirty="0">
                <a:latin typeface="Arial"/>
                <a:cs typeface="Arial"/>
              </a:rPr>
              <a:t>transposition</a:t>
            </a:r>
            <a:r>
              <a:rPr sz="3200" b="1" spc="-75" dirty="0">
                <a:latin typeface="Arial"/>
                <a:cs typeface="Arial"/>
              </a:rPr>
              <a:t> </a:t>
            </a:r>
            <a:r>
              <a:rPr sz="3200" b="1" spc="-25" dirty="0">
                <a:latin typeface="Arial"/>
                <a:cs typeface="Arial"/>
              </a:rPr>
              <a:t>or </a:t>
            </a:r>
            <a:r>
              <a:rPr sz="3200" b="1" dirty="0">
                <a:latin typeface="Arial"/>
                <a:cs typeface="Arial"/>
              </a:rPr>
              <a:t>permutation</a:t>
            </a:r>
            <a:r>
              <a:rPr sz="3200" b="1" spc="-4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ciphers</a:t>
            </a:r>
            <a:endParaRPr sz="32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Arial MT"/>
                <a:cs typeface="Arial MT"/>
              </a:rPr>
              <a:t>these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hide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message</a:t>
            </a:r>
            <a:r>
              <a:rPr sz="3200" spc="-6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by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rearranging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the </a:t>
            </a:r>
            <a:r>
              <a:rPr sz="3200" dirty="0">
                <a:latin typeface="Arial MT"/>
                <a:cs typeface="Arial MT"/>
              </a:rPr>
              <a:t>letter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order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 MT"/>
                <a:cs typeface="Arial MT"/>
              </a:rPr>
              <a:t>without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altering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6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actual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letters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20" dirty="0">
                <a:latin typeface="Arial MT"/>
                <a:cs typeface="Arial MT"/>
              </a:rPr>
              <a:t>used</a:t>
            </a:r>
            <a:endParaRPr sz="3200">
              <a:latin typeface="Arial MT"/>
              <a:cs typeface="Arial MT"/>
            </a:endParaRPr>
          </a:p>
          <a:p>
            <a:pPr marL="355600" marR="250825" indent="-342900">
              <a:lnSpc>
                <a:spcPct val="100000"/>
              </a:lnSpc>
              <a:spcBef>
                <a:spcPts val="765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Arial MT"/>
                <a:cs typeface="Arial MT"/>
              </a:rPr>
              <a:t>can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recognize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these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since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have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20" dirty="0">
                <a:latin typeface="Arial MT"/>
                <a:cs typeface="Arial MT"/>
              </a:rPr>
              <a:t>same </a:t>
            </a:r>
            <a:r>
              <a:rPr sz="3200" dirty="0">
                <a:latin typeface="Arial MT"/>
                <a:cs typeface="Arial MT"/>
              </a:rPr>
              <a:t>frequency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distribution</a:t>
            </a:r>
            <a:r>
              <a:rPr sz="3200" spc="-6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as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original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spc="-20" dirty="0">
                <a:latin typeface="Arial MT"/>
                <a:cs typeface="Arial MT"/>
              </a:rPr>
              <a:t>text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Rail</a:t>
            </a:r>
            <a:r>
              <a:rPr spc="-20" dirty="0"/>
              <a:t> </a:t>
            </a:r>
            <a:r>
              <a:rPr dirty="0"/>
              <a:t>Fence</a:t>
            </a:r>
            <a:r>
              <a:rPr spc="-10" dirty="0"/>
              <a:t> cipher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31821"/>
            <a:ext cx="8194675" cy="449262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85"/>
              </a:spcBef>
              <a:buChar char="•"/>
              <a:tabLst>
                <a:tab pos="354965" algn="l"/>
              </a:tabLst>
            </a:pPr>
            <a:r>
              <a:rPr sz="2800" spc="-10" dirty="0">
                <a:solidFill>
                  <a:srgbClr val="014069"/>
                </a:solidFill>
                <a:latin typeface="Arial MT"/>
                <a:cs typeface="Arial MT"/>
              </a:rPr>
              <a:t>Encryption:</a:t>
            </a:r>
            <a:endParaRPr sz="2800">
              <a:latin typeface="Arial MT"/>
              <a:cs typeface="Arial MT"/>
            </a:endParaRPr>
          </a:p>
          <a:p>
            <a:pPr marL="355600" marR="186055" indent="-342900">
              <a:lnSpc>
                <a:spcPct val="100000"/>
              </a:lnSpc>
              <a:spcBef>
                <a:spcPts val="590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In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transposition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cipher,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order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alphabets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re- </a:t>
            </a:r>
            <a:r>
              <a:rPr sz="2400" dirty="0">
                <a:latin typeface="Arial MT"/>
                <a:cs typeface="Arial MT"/>
              </a:rPr>
              <a:t>arranged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obtain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cipher-</a:t>
            </a:r>
            <a:r>
              <a:rPr sz="2400" spc="-10" dirty="0">
                <a:latin typeface="Arial MT"/>
                <a:cs typeface="Arial MT"/>
              </a:rPr>
              <a:t>text.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In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rail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fence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cipher,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plain-</a:t>
            </a:r>
            <a:r>
              <a:rPr sz="2400" dirty="0">
                <a:latin typeface="Arial MT"/>
                <a:cs typeface="Arial MT"/>
              </a:rPr>
              <a:t>text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written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downwards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diagonally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successive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rails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imaginary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fence.</a:t>
            </a:r>
            <a:endParaRPr sz="2400">
              <a:latin typeface="Arial MT"/>
              <a:cs typeface="Arial MT"/>
            </a:endParaRPr>
          </a:p>
          <a:p>
            <a:pPr marL="355600" marR="18415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When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reach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bottom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rail,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traverse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upwards </a:t>
            </a:r>
            <a:r>
              <a:rPr sz="2400" dirty="0">
                <a:latin typeface="Arial MT"/>
                <a:cs typeface="Arial MT"/>
              </a:rPr>
              <a:t>moving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diagonally,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after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reaching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top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rail,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direction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changed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again.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Thus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alphabets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message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are </a:t>
            </a:r>
            <a:r>
              <a:rPr sz="2400" dirty="0">
                <a:latin typeface="Arial MT"/>
                <a:cs typeface="Arial MT"/>
              </a:rPr>
              <a:t>written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zig-</a:t>
            </a:r>
            <a:r>
              <a:rPr sz="2400" dirty="0">
                <a:latin typeface="Arial MT"/>
                <a:cs typeface="Arial MT"/>
              </a:rPr>
              <a:t>zag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manner.</a:t>
            </a:r>
            <a:endParaRPr sz="2400">
              <a:latin typeface="Arial MT"/>
              <a:cs typeface="Arial MT"/>
            </a:endParaRPr>
          </a:p>
          <a:p>
            <a:pPr marL="355600" marR="186055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After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alphabet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been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written,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individual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rows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combined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obtain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cipher-</a:t>
            </a:r>
            <a:r>
              <a:rPr sz="2400" spc="-10" dirty="0">
                <a:latin typeface="Arial MT"/>
                <a:cs typeface="Arial MT"/>
              </a:rPr>
              <a:t>text.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Rail</a:t>
            </a:r>
            <a:r>
              <a:rPr spc="-20" dirty="0"/>
              <a:t> </a:t>
            </a:r>
            <a:r>
              <a:rPr dirty="0"/>
              <a:t>Fence</a:t>
            </a:r>
            <a:r>
              <a:rPr spc="-5" dirty="0"/>
              <a:t> </a:t>
            </a:r>
            <a:r>
              <a:rPr dirty="0"/>
              <a:t>Cipher</a:t>
            </a:r>
            <a:r>
              <a:rPr spc="-25" dirty="0"/>
              <a:t> </a:t>
            </a: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21053"/>
            <a:ext cx="77374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example,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if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message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“DEMONSLAYER”</a:t>
            </a:r>
            <a:r>
              <a:rPr sz="2400" spc="-25" dirty="0">
                <a:latin typeface="Arial MT"/>
                <a:cs typeface="Arial MT"/>
              </a:rPr>
              <a:t> and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rails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3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cipher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prepared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as: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320920"/>
            <a:ext cx="410400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14069"/>
                </a:solidFill>
                <a:latin typeface="Arial MT"/>
                <a:cs typeface="Arial MT"/>
              </a:rPr>
              <a:t>Cipher</a:t>
            </a:r>
            <a:r>
              <a:rPr sz="2400" spc="-35" dirty="0">
                <a:solidFill>
                  <a:srgbClr val="01406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14069"/>
                </a:solidFill>
                <a:latin typeface="Arial MT"/>
                <a:cs typeface="Arial MT"/>
              </a:rPr>
              <a:t>Text:</a:t>
            </a:r>
            <a:r>
              <a:rPr sz="2400" spc="-60" dirty="0">
                <a:solidFill>
                  <a:srgbClr val="014069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14069"/>
                </a:solidFill>
                <a:latin typeface="Arial MT"/>
                <a:cs typeface="Arial MT"/>
              </a:rPr>
              <a:t>DNYEOSAEMLR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2154427" y="2584450"/>
            <a:ext cx="1663064" cy="1125220"/>
            <a:chOff x="2154427" y="2584450"/>
            <a:chExt cx="1663064" cy="1125220"/>
          </a:xfrm>
        </p:grpSpPr>
        <p:sp>
          <p:nvSpPr>
            <p:cNvPr id="7" name="object 7"/>
            <p:cNvSpPr/>
            <p:nvPr/>
          </p:nvSpPr>
          <p:spPr>
            <a:xfrm>
              <a:off x="2154428" y="2590799"/>
              <a:ext cx="1663064" cy="370840"/>
            </a:xfrm>
            <a:custGeom>
              <a:avLst/>
              <a:gdLst/>
              <a:ahLst/>
              <a:cxnLst/>
              <a:rect l="l" t="t" r="r" b="b"/>
              <a:pathLst>
                <a:path w="1663064" h="370839">
                  <a:moveTo>
                    <a:pt x="1108278" y="0"/>
                  </a:moveTo>
                  <a:lnTo>
                    <a:pt x="554164" y="0"/>
                  </a:lnTo>
                  <a:lnTo>
                    <a:pt x="0" y="0"/>
                  </a:lnTo>
                  <a:lnTo>
                    <a:pt x="0" y="370840"/>
                  </a:lnTo>
                  <a:lnTo>
                    <a:pt x="554101" y="370840"/>
                  </a:lnTo>
                  <a:lnTo>
                    <a:pt x="1108278" y="370840"/>
                  </a:lnTo>
                  <a:lnTo>
                    <a:pt x="1108278" y="0"/>
                  </a:lnTo>
                  <a:close/>
                </a:path>
                <a:path w="1663064" h="370839">
                  <a:moveTo>
                    <a:pt x="1662506" y="0"/>
                  </a:moveTo>
                  <a:lnTo>
                    <a:pt x="1108329" y="0"/>
                  </a:lnTo>
                  <a:lnTo>
                    <a:pt x="1108329" y="370840"/>
                  </a:lnTo>
                  <a:lnTo>
                    <a:pt x="1662506" y="370840"/>
                  </a:lnTo>
                  <a:lnTo>
                    <a:pt x="1662506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154428" y="2961639"/>
              <a:ext cx="1663064" cy="370840"/>
            </a:xfrm>
            <a:custGeom>
              <a:avLst/>
              <a:gdLst/>
              <a:ahLst/>
              <a:cxnLst/>
              <a:rect l="l" t="t" r="r" b="b"/>
              <a:pathLst>
                <a:path w="1663064" h="370839">
                  <a:moveTo>
                    <a:pt x="1108278" y="0"/>
                  </a:moveTo>
                  <a:lnTo>
                    <a:pt x="554164" y="0"/>
                  </a:lnTo>
                  <a:lnTo>
                    <a:pt x="0" y="0"/>
                  </a:lnTo>
                  <a:lnTo>
                    <a:pt x="0" y="370840"/>
                  </a:lnTo>
                  <a:lnTo>
                    <a:pt x="554101" y="370840"/>
                  </a:lnTo>
                  <a:lnTo>
                    <a:pt x="1108278" y="370840"/>
                  </a:lnTo>
                  <a:lnTo>
                    <a:pt x="1108278" y="0"/>
                  </a:lnTo>
                  <a:close/>
                </a:path>
                <a:path w="1663064" h="370839">
                  <a:moveTo>
                    <a:pt x="1662506" y="0"/>
                  </a:moveTo>
                  <a:lnTo>
                    <a:pt x="1108329" y="0"/>
                  </a:lnTo>
                  <a:lnTo>
                    <a:pt x="1108329" y="370840"/>
                  </a:lnTo>
                  <a:lnTo>
                    <a:pt x="1662506" y="370840"/>
                  </a:lnTo>
                  <a:lnTo>
                    <a:pt x="1662506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08529" y="2584450"/>
              <a:ext cx="554355" cy="1125220"/>
            </a:xfrm>
            <a:custGeom>
              <a:avLst/>
              <a:gdLst/>
              <a:ahLst/>
              <a:cxnLst/>
              <a:rect l="l" t="t" r="r" b="b"/>
              <a:pathLst>
                <a:path w="554354" h="1125220">
                  <a:moveTo>
                    <a:pt x="0" y="0"/>
                  </a:moveTo>
                  <a:lnTo>
                    <a:pt x="0" y="1125220"/>
                  </a:lnTo>
                </a:path>
                <a:path w="554354" h="1125220">
                  <a:moveTo>
                    <a:pt x="554228" y="0"/>
                  </a:moveTo>
                  <a:lnTo>
                    <a:pt x="554228" y="112522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4371085" y="2584450"/>
            <a:ext cx="1663064" cy="1125220"/>
            <a:chOff x="4371085" y="2584450"/>
            <a:chExt cx="1663064" cy="1125220"/>
          </a:xfrm>
        </p:grpSpPr>
        <p:sp>
          <p:nvSpPr>
            <p:cNvPr id="11" name="object 11"/>
            <p:cNvSpPr/>
            <p:nvPr/>
          </p:nvSpPr>
          <p:spPr>
            <a:xfrm>
              <a:off x="4371086" y="2590799"/>
              <a:ext cx="1663064" cy="370840"/>
            </a:xfrm>
            <a:custGeom>
              <a:avLst/>
              <a:gdLst/>
              <a:ahLst/>
              <a:cxnLst/>
              <a:rect l="l" t="t" r="r" b="b"/>
              <a:pathLst>
                <a:path w="1663064" h="370839">
                  <a:moveTo>
                    <a:pt x="554177" y="0"/>
                  </a:moveTo>
                  <a:lnTo>
                    <a:pt x="0" y="0"/>
                  </a:lnTo>
                  <a:lnTo>
                    <a:pt x="0" y="370840"/>
                  </a:lnTo>
                  <a:lnTo>
                    <a:pt x="554177" y="370840"/>
                  </a:lnTo>
                  <a:lnTo>
                    <a:pt x="554177" y="0"/>
                  </a:lnTo>
                  <a:close/>
                </a:path>
                <a:path w="1663064" h="370839">
                  <a:moveTo>
                    <a:pt x="1662506" y="0"/>
                  </a:moveTo>
                  <a:lnTo>
                    <a:pt x="1108405" y="0"/>
                  </a:lnTo>
                  <a:lnTo>
                    <a:pt x="554228" y="0"/>
                  </a:lnTo>
                  <a:lnTo>
                    <a:pt x="554228" y="370840"/>
                  </a:lnTo>
                  <a:lnTo>
                    <a:pt x="1108329" y="370840"/>
                  </a:lnTo>
                  <a:lnTo>
                    <a:pt x="1662506" y="370840"/>
                  </a:lnTo>
                  <a:lnTo>
                    <a:pt x="1662506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371086" y="2961639"/>
              <a:ext cx="1663064" cy="370840"/>
            </a:xfrm>
            <a:custGeom>
              <a:avLst/>
              <a:gdLst/>
              <a:ahLst/>
              <a:cxnLst/>
              <a:rect l="l" t="t" r="r" b="b"/>
              <a:pathLst>
                <a:path w="1663064" h="370839">
                  <a:moveTo>
                    <a:pt x="554177" y="0"/>
                  </a:moveTo>
                  <a:lnTo>
                    <a:pt x="0" y="0"/>
                  </a:lnTo>
                  <a:lnTo>
                    <a:pt x="0" y="370840"/>
                  </a:lnTo>
                  <a:lnTo>
                    <a:pt x="554177" y="370840"/>
                  </a:lnTo>
                  <a:lnTo>
                    <a:pt x="554177" y="0"/>
                  </a:lnTo>
                  <a:close/>
                </a:path>
                <a:path w="1663064" h="370839">
                  <a:moveTo>
                    <a:pt x="1662506" y="0"/>
                  </a:moveTo>
                  <a:lnTo>
                    <a:pt x="1108405" y="0"/>
                  </a:lnTo>
                  <a:lnTo>
                    <a:pt x="554228" y="0"/>
                  </a:lnTo>
                  <a:lnTo>
                    <a:pt x="554228" y="370840"/>
                  </a:lnTo>
                  <a:lnTo>
                    <a:pt x="1108329" y="370840"/>
                  </a:lnTo>
                  <a:lnTo>
                    <a:pt x="1662506" y="370840"/>
                  </a:lnTo>
                  <a:lnTo>
                    <a:pt x="1662506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25313" y="2584450"/>
              <a:ext cx="554355" cy="1125220"/>
            </a:xfrm>
            <a:custGeom>
              <a:avLst/>
              <a:gdLst/>
              <a:ahLst/>
              <a:cxnLst/>
              <a:rect l="l" t="t" r="r" b="b"/>
              <a:pathLst>
                <a:path w="554354" h="1125220">
                  <a:moveTo>
                    <a:pt x="0" y="0"/>
                  </a:moveTo>
                  <a:lnTo>
                    <a:pt x="0" y="1125220"/>
                  </a:lnTo>
                </a:path>
                <a:path w="554354" h="1125220">
                  <a:moveTo>
                    <a:pt x="554101" y="0"/>
                  </a:moveTo>
                  <a:lnTo>
                    <a:pt x="554101" y="112522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6587870" y="2584450"/>
            <a:ext cx="560705" cy="1125220"/>
            <a:chOff x="6587870" y="2584450"/>
            <a:chExt cx="560705" cy="1125220"/>
          </a:xfrm>
        </p:grpSpPr>
        <p:sp>
          <p:nvSpPr>
            <p:cNvPr id="15" name="object 15"/>
            <p:cNvSpPr/>
            <p:nvPr/>
          </p:nvSpPr>
          <p:spPr>
            <a:xfrm>
              <a:off x="6587870" y="2590800"/>
              <a:ext cx="554355" cy="370840"/>
            </a:xfrm>
            <a:custGeom>
              <a:avLst/>
              <a:gdLst/>
              <a:ahLst/>
              <a:cxnLst/>
              <a:rect l="l" t="t" r="r" b="b"/>
              <a:pathLst>
                <a:path w="554354" h="370839">
                  <a:moveTo>
                    <a:pt x="554177" y="0"/>
                  </a:moveTo>
                  <a:lnTo>
                    <a:pt x="0" y="0"/>
                  </a:lnTo>
                  <a:lnTo>
                    <a:pt x="0" y="370839"/>
                  </a:lnTo>
                  <a:lnTo>
                    <a:pt x="554177" y="370839"/>
                  </a:lnTo>
                  <a:lnTo>
                    <a:pt x="554177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587870" y="2961640"/>
              <a:ext cx="554355" cy="370840"/>
            </a:xfrm>
            <a:custGeom>
              <a:avLst/>
              <a:gdLst/>
              <a:ahLst/>
              <a:cxnLst/>
              <a:rect l="l" t="t" r="r" b="b"/>
              <a:pathLst>
                <a:path w="554354" h="370839">
                  <a:moveTo>
                    <a:pt x="554177" y="0"/>
                  </a:moveTo>
                  <a:lnTo>
                    <a:pt x="0" y="0"/>
                  </a:lnTo>
                  <a:lnTo>
                    <a:pt x="0" y="370839"/>
                  </a:lnTo>
                  <a:lnTo>
                    <a:pt x="554177" y="370839"/>
                  </a:lnTo>
                  <a:lnTo>
                    <a:pt x="554177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141971" y="2584450"/>
              <a:ext cx="0" cy="1125220"/>
            </a:xfrm>
            <a:custGeom>
              <a:avLst/>
              <a:gdLst/>
              <a:ahLst/>
              <a:cxnLst/>
              <a:rect l="l" t="t" r="r" b="b"/>
              <a:pathLst>
                <a:path h="1125220">
                  <a:moveTo>
                    <a:pt x="0" y="0"/>
                  </a:moveTo>
                  <a:lnTo>
                    <a:pt x="0" y="112522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1593850" y="2584450"/>
          <a:ext cx="6184900" cy="1111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4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3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43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43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43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43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43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43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435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43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D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Y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O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A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R="17208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M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R="23431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L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4643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R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9" name="object 19"/>
          <p:cNvGrpSpPr/>
          <p:nvPr/>
        </p:nvGrpSpPr>
        <p:grpSpPr>
          <a:xfrm>
            <a:off x="6574535" y="2633472"/>
            <a:ext cx="952500" cy="878205"/>
            <a:chOff x="6574535" y="2633472"/>
            <a:chExt cx="952500" cy="878205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74535" y="2633472"/>
              <a:ext cx="952500" cy="87782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616699" y="2652776"/>
              <a:ext cx="698500" cy="624205"/>
            </a:xfrm>
            <a:custGeom>
              <a:avLst/>
              <a:gdLst/>
              <a:ahLst/>
              <a:cxnLst/>
              <a:rect l="l" t="t" r="r" b="b"/>
              <a:pathLst>
                <a:path w="698500" h="624204">
                  <a:moveTo>
                    <a:pt x="544420" y="553993"/>
                  </a:moveTo>
                  <a:lnTo>
                    <a:pt x="536773" y="553993"/>
                  </a:lnTo>
                  <a:lnTo>
                    <a:pt x="530034" y="556799"/>
                  </a:lnTo>
                  <a:lnTo>
                    <a:pt x="524819" y="561939"/>
                  </a:lnTo>
                  <a:lnTo>
                    <a:pt x="521843" y="568960"/>
                  </a:lnTo>
                  <a:lnTo>
                    <a:pt x="521880" y="576506"/>
                  </a:lnTo>
                  <a:lnTo>
                    <a:pt x="524716" y="583231"/>
                  </a:lnTo>
                  <a:lnTo>
                    <a:pt x="529861" y="588408"/>
                  </a:lnTo>
                  <a:lnTo>
                    <a:pt x="536828" y="591312"/>
                  </a:lnTo>
                  <a:lnTo>
                    <a:pt x="698500" y="623824"/>
                  </a:lnTo>
                  <a:lnTo>
                    <a:pt x="694974" y="613028"/>
                  </a:lnTo>
                  <a:lnTo>
                    <a:pt x="657605" y="613028"/>
                  </a:lnTo>
                  <a:lnTo>
                    <a:pt x="604912" y="566186"/>
                  </a:lnTo>
                  <a:lnTo>
                    <a:pt x="544420" y="553993"/>
                  </a:lnTo>
                  <a:close/>
                </a:path>
                <a:path w="698500" h="624204">
                  <a:moveTo>
                    <a:pt x="604912" y="566186"/>
                  </a:moveTo>
                  <a:lnTo>
                    <a:pt x="657605" y="613028"/>
                  </a:lnTo>
                  <a:lnTo>
                    <a:pt x="665089" y="604647"/>
                  </a:lnTo>
                  <a:lnTo>
                    <a:pt x="652145" y="604647"/>
                  </a:lnTo>
                  <a:lnTo>
                    <a:pt x="642038" y="573670"/>
                  </a:lnTo>
                  <a:lnTo>
                    <a:pt x="604912" y="566186"/>
                  </a:lnTo>
                  <a:close/>
                </a:path>
                <a:path w="698500" h="624204">
                  <a:moveTo>
                    <a:pt x="630727" y="454015"/>
                  </a:moveTo>
                  <a:lnTo>
                    <a:pt x="623189" y="454913"/>
                  </a:lnTo>
                  <a:lnTo>
                    <a:pt x="616660" y="458646"/>
                  </a:lnTo>
                  <a:lnTo>
                    <a:pt x="612203" y="464391"/>
                  </a:lnTo>
                  <a:lnTo>
                    <a:pt x="610223" y="471398"/>
                  </a:lnTo>
                  <a:lnTo>
                    <a:pt x="611124" y="478916"/>
                  </a:lnTo>
                  <a:lnTo>
                    <a:pt x="630316" y="537742"/>
                  </a:lnTo>
                  <a:lnTo>
                    <a:pt x="683005" y="584581"/>
                  </a:lnTo>
                  <a:lnTo>
                    <a:pt x="657605" y="613028"/>
                  </a:lnTo>
                  <a:lnTo>
                    <a:pt x="694974" y="613028"/>
                  </a:lnTo>
                  <a:lnTo>
                    <a:pt x="647319" y="467106"/>
                  </a:lnTo>
                  <a:lnTo>
                    <a:pt x="643566" y="460503"/>
                  </a:lnTo>
                  <a:lnTo>
                    <a:pt x="637778" y="456009"/>
                  </a:lnTo>
                  <a:lnTo>
                    <a:pt x="630727" y="454015"/>
                  </a:lnTo>
                  <a:close/>
                </a:path>
                <a:path w="698500" h="624204">
                  <a:moveTo>
                    <a:pt x="642038" y="573670"/>
                  </a:moveTo>
                  <a:lnTo>
                    <a:pt x="652145" y="604647"/>
                  </a:lnTo>
                  <a:lnTo>
                    <a:pt x="674116" y="580136"/>
                  </a:lnTo>
                  <a:lnTo>
                    <a:pt x="642038" y="573670"/>
                  </a:lnTo>
                  <a:close/>
                </a:path>
                <a:path w="698500" h="624204">
                  <a:moveTo>
                    <a:pt x="630316" y="537742"/>
                  </a:moveTo>
                  <a:lnTo>
                    <a:pt x="642038" y="573670"/>
                  </a:lnTo>
                  <a:lnTo>
                    <a:pt x="674116" y="580136"/>
                  </a:lnTo>
                  <a:lnTo>
                    <a:pt x="652145" y="604647"/>
                  </a:lnTo>
                  <a:lnTo>
                    <a:pt x="665089" y="604647"/>
                  </a:lnTo>
                  <a:lnTo>
                    <a:pt x="683005" y="584581"/>
                  </a:lnTo>
                  <a:lnTo>
                    <a:pt x="630316" y="537742"/>
                  </a:lnTo>
                  <a:close/>
                </a:path>
                <a:path w="698500" h="624204">
                  <a:moveTo>
                    <a:pt x="25400" y="0"/>
                  </a:moveTo>
                  <a:lnTo>
                    <a:pt x="0" y="28448"/>
                  </a:lnTo>
                  <a:lnTo>
                    <a:pt x="604912" y="566186"/>
                  </a:lnTo>
                  <a:lnTo>
                    <a:pt x="642038" y="573670"/>
                  </a:lnTo>
                  <a:lnTo>
                    <a:pt x="630316" y="537742"/>
                  </a:lnTo>
                  <a:lnTo>
                    <a:pt x="25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2154935" y="2401823"/>
            <a:ext cx="1866900" cy="1109980"/>
            <a:chOff x="2154935" y="2401823"/>
            <a:chExt cx="1866900" cy="1109980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54935" y="2633471"/>
              <a:ext cx="952500" cy="87782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197099" y="2652775"/>
              <a:ext cx="699135" cy="624205"/>
            </a:xfrm>
            <a:custGeom>
              <a:avLst/>
              <a:gdLst/>
              <a:ahLst/>
              <a:cxnLst/>
              <a:rect l="l" t="t" r="r" b="b"/>
              <a:pathLst>
                <a:path w="699135" h="624204">
                  <a:moveTo>
                    <a:pt x="544420" y="553993"/>
                  </a:moveTo>
                  <a:lnTo>
                    <a:pt x="536773" y="553993"/>
                  </a:lnTo>
                  <a:lnTo>
                    <a:pt x="530034" y="556799"/>
                  </a:lnTo>
                  <a:lnTo>
                    <a:pt x="524819" y="561939"/>
                  </a:lnTo>
                  <a:lnTo>
                    <a:pt x="521843" y="568960"/>
                  </a:lnTo>
                  <a:lnTo>
                    <a:pt x="521880" y="576506"/>
                  </a:lnTo>
                  <a:lnTo>
                    <a:pt x="524716" y="583231"/>
                  </a:lnTo>
                  <a:lnTo>
                    <a:pt x="529861" y="588408"/>
                  </a:lnTo>
                  <a:lnTo>
                    <a:pt x="536829" y="591312"/>
                  </a:lnTo>
                  <a:lnTo>
                    <a:pt x="698626" y="623824"/>
                  </a:lnTo>
                  <a:lnTo>
                    <a:pt x="695092" y="613028"/>
                  </a:lnTo>
                  <a:lnTo>
                    <a:pt x="657606" y="613028"/>
                  </a:lnTo>
                  <a:lnTo>
                    <a:pt x="604912" y="566186"/>
                  </a:lnTo>
                  <a:lnTo>
                    <a:pt x="544420" y="553993"/>
                  </a:lnTo>
                  <a:close/>
                </a:path>
                <a:path w="699135" h="624204">
                  <a:moveTo>
                    <a:pt x="604912" y="566186"/>
                  </a:moveTo>
                  <a:lnTo>
                    <a:pt x="657606" y="613028"/>
                  </a:lnTo>
                  <a:lnTo>
                    <a:pt x="665089" y="604647"/>
                  </a:lnTo>
                  <a:lnTo>
                    <a:pt x="652144" y="604647"/>
                  </a:lnTo>
                  <a:lnTo>
                    <a:pt x="642038" y="573670"/>
                  </a:lnTo>
                  <a:lnTo>
                    <a:pt x="604912" y="566186"/>
                  </a:lnTo>
                  <a:close/>
                </a:path>
                <a:path w="699135" h="624204">
                  <a:moveTo>
                    <a:pt x="630781" y="454015"/>
                  </a:moveTo>
                  <a:lnTo>
                    <a:pt x="623316" y="454913"/>
                  </a:lnTo>
                  <a:lnTo>
                    <a:pt x="616713" y="458646"/>
                  </a:lnTo>
                  <a:lnTo>
                    <a:pt x="612219" y="464391"/>
                  </a:lnTo>
                  <a:lnTo>
                    <a:pt x="610225" y="471398"/>
                  </a:lnTo>
                  <a:lnTo>
                    <a:pt x="611124" y="478916"/>
                  </a:lnTo>
                  <a:lnTo>
                    <a:pt x="630316" y="537742"/>
                  </a:lnTo>
                  <a:lnTo>
                    <a:pt x="683006" y="584581"/>
                  </a:lnTo>
                  <a:lnTo>
                    <a:pt x="657606" y="613028"/>
                  </a:lnTo>
                  <a:lnTo>
                    <a:pt x="695092" y="613028"/>
                  </a:lnTo>
                  <a:lnTo>
                    <a:pt x="647319" y="467106"/>
                  </a:lnTo>
                  <a:lnTo>
                    <a:pt x="643568" y="460503"/>
                  </a:lnTo>
                  <a:lnTo>
                    <a:pt x="637794" y="456009"/>
                  </a:lnTo>
                  <a:lnTo>
                    <a:pt x="630781" y="454015"/>
                  </a:lnTo>
                  <a:close/>
                </a:path>
                <a:path w="699135" h="624204">
                  <a:moveTo>
                    <a:pt x="642038" y="573670"/>
                  </a:moveTo>
                  <a:lnTo>
                    <a:pt x="652144" y="604647"/>
                  </a:lnTo>
                  <a:lnTo>
                    <a:pt x="674116" y="580136"/>
                  </a:lnTo>
                  <a:lnTo>
                    <a:pt x="642038" y="573670"/>
                  </a:lnTo>
                  <a:close/>
                </a:path>
                <a:path w="699135" h="624204">
                  <a:moveTo>
                    <a:pt x="630316" y="537742"/>
                  </a:moveTo>
                  <a:lnTo>
                    <a:pt x="642038" y="573670"/>
                  </a:lnTo>
                  <a:lnTo>
                    <a:pt x="674116" y="580136"/>
                  </a:lnTo>
                  <a:lnTo>
                    <a:pt x="652144" y="604647"/>
                  </a:lnTo>
                  <a:lnTo>
                    <a:pt x="665089" y="604647"/>
                  </a:lnTo>
                  <a:lnTo>
                    <a:pt x="683006" y="584581"/>
                  </a:lnTo>
                  <a:lnTo>
                    <a:pt x="630316" y="537742"/>
                  </a:lnTo>
                  <a:close/>
                </a:path>
                <a:path w="699135" h="624204">
                  <a:moveTo>
                    <a:pt x="25400" y="0"/>
                  </a:moveTo>
                  <a:lnTo>
                    <a:pt x="0" y="28448"/>
                  </a:lnTo>
                  <a:lnTo>
                    <a:pt x="604912" y="566186"/>
                  </a:lnTo>
                  <a:lnTo>
                    <a:pt x="642038" y="573670"/>
                  </a:lnTo>
                  <a:lnTo>
                    <a:pt x="630316" y="537742"/>
                  </a:lnTo>
                  <a:lnTo>
                    <a:pt x="25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93135" y="2401823"/>
              <a:ext cx="1028700" cy="879348"/>
            </a:xfrm>
            <a:prstGeom prst="rect">
              <a:avLst/>
            </a:prstGeom>
          </p:spPr>
        </p:pic>
      </p:grpSp>
      <p:sp>
        <p:nvSpPr>
          <p:cNvPr id="26" name="object 26"/>
          <p:cNvSpPr/>
          <p:nvPr/>
        </p:nvSpPr>
        <p:spPr>
          <a:xfrm>
            <a:off x="3036061" y="2590800"/>
            <a:ext cx="774065" cy="624840"/>
          </a:xfrm>
          <a:custGeom>
            <a:avLst/>
            <a:gdLst/>
            <a:ahLst/>
            <a:cxnLst/>
            <a:rect l="l" t="t" r="r" b="b"/>
            <a:pathLst>
              <a:path w="774064" h="624839">
                <a:moveTo>
                  <a:pt x="714958" y="47181"/>
                </a:moveTo>
                <a:lnTo>
                  <a:pt x="676657" y="52828"/>
                </a:lnTo>
                <a:lnTo>
                  <a:pt x="677303" y="52828"/>
                </a:lnTo>
                <a:lnTo>
                  <a:pt x="0" y="594740"/>
                </a:lnTo>
                <a:lnTo>
                  <a:pt x="23875" y="624459"/>
                </a:lnTo>
                <a:lnTo>
                  <a:pt x="701310" y="82558"/>
                </a:lnTo>
                <a:lnTo>
                  <a:pt x="714958" y="47181"/>
                </a:lnTo>
                <a:close/>
              </a:path>
              <a:path w="774064" h="624839">
                <a:moveTo>
                  <a:pt x="770730" y="8636"/>
                </a:moveTo>
                <a:lnTo>
                  <a:pt x="732536" y="8636"/>
                </a:lnTo>
                <a:lnTo>
                  <a:pt x="756412" y="38480"/>
                </a:lnTo>
                <a:lnTo>
                  <a:pt x="701310" y="82558"/>
                </a:lnTo>
                <a:lnTo>
                  <a:pt x="679068" y="140208"/>
                </a:lnTo>
                <a:lnTo>
                  <a:pt x="677793" y="147647"/>
                </a:lnTo>
                <a:lnTo>
                  <a:pt x="679434" y="154765"/>
                </a:lnTo>
                <a:lnTo>
                  <a:pt x="683623" y="160764"/>
                </a:lnTo>
                <a:lnTo>
                  <a:pt x="689990" y="164846"/>
                </a:lnTo>
                <a:lnTo>
                  <a:pt x="697484" y="166068"/>
                </a:lnTo>
                <a:lnTo>
                  <a:pt x="704596" y="164433"/>
                </a:lnTo>
                <a:lnTo>
                  <a:pt x="710564" y="160274"/>
                </a:lnTo>
                <a:lnTo>
                  <a:pt x="714628" y="153924"/>
                </a:lnTo>
                <a:lnTo>
                  <a:pt x="770730" y="8636"/>
                </a:lnTo>
                <a:close/>
              </a:path>
              <a:path w="774064" h="624839">
                <a:moveTo>
                  <a:pt x="739038" y="16763"/>
                </a:moveTo>
                <a:lnTo>
                  <a:pt x="726693" y="16763"/>
                </a:lnTo>
                <a:lnTo>
                  <a:pt x="747267" y="42417"/>
                </a:lnTo>
                <a:lnTo>
                  <a:pt x="714958" y="47181"/>
                </a:lnTo>
                <a:lnTo>
                  <a:pt x="701310" y="82558"/>
                </a:lnTo>
                <a:lnTo>
                  <a:pt x="756412" y="38480"/>
                </a:lnTo>
                <a:lnTo>
                  <a:pt x="739038" y="16763"/>
                </a:lnTo>
                <a:close/>
              </a:path>
              <a:path w="774064" h="624839">
                <a:moveTo>
                  <a:pt x="774064" y="0"/>
                </a:moveTo>
                <a:lnTo>
                  <a:pt x="610742" y="24002"/>
                </a:lnTo>
                <a:lnTo>
                  <a:pt x="594740" y="45720"/>
                </a:lnTo>
                <a:lnTo>
                  <a:pt x="597292" y="52828"/>
                </a:lnTo>
                <a:lnTo>
                  <a:pt x="602202" y="58197"/>
                </a:lnTo>
                <a:lnTo>
                  <a:pt x="608778" y="61329"/>
                </a:lnTo>
                <a:lnTo>
                  <a:pt x="616330" y="61722"/>
                </a:lnTo>
                <a:lnTo>
                  <a:pt x="676657" y="52828"/>
                </a:lnTo>
                <a:lnTo>
                  <a:pt x="677303" y="52828"/>
                </a:lnTo>
                <a:lnTo>
                  <a:pt x="732536" y="8636"/>
                </a:lnTo>
                <a:lnTo>
                  <a:pt x="770730" y="8636"/>
                </a:lnTo>
                <a:lnTo>
                  <a:pt x="774064" y="0"/>
                </a:lnTo>
                <a:close/>
              </a:path>
              <a:path w="774064" h="624839">
                <a:moveTo>
                  <a:pt x="732536" y="8636"/>
                </a:moveTo>
                <a:lnTo>
                  <a:pt x="677303" y="52828"/>
                </a:lnTo>
                <a:lnTo>
                  <a:pt x="676657" y="52828"/>
                </a:lnTo>
                <a:lnTo>
                  <a:pt x="714958" y="47181"/>
                </a:lnTo>
                <a:lnTo>
                  <a:pt x="726693" y="16763"/>
                </a:lnTo>
                <a:lnTo>
                  <a:pt x="739038" y="16763"/>
                </a:lnTo>
                <a:lnTo>
                  <a:pt x="732536" y="8636"/>
                </a:lnTo>
                <a:close/>
              </a:path>
              <a:path w="774064" h="624839">
                <a:moveTo>
                  <a:pt x="726693" y="16763"/>
                </a:moveTo>
                <a:lnTo>
                  <a:pt x="714958" y="47181"/>
                </a:lnTo>
                <a:lnTo>
                  <a:pt x="747267" y="42417"/>
                </a:lnTo>
                <a:lnTo>
                  <a:pt x="726693" y="167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7" name="object 27"/>
          <p:cNvGrpSpPr/>
          <p:nvPr/>
        </p:nvGrpSpPr>
        <p:grpSpPr>
          <a:xfrm>
            <a:off x="4364735" y="2401823"/>
            <a:ext cx="1866900" cy="1109980"/>
            <a:chOff x="4364735" y="2401823"/>
            <a:chExt cx="1866900" cy="1109980"/>
          </a:xfrm>
        </p:grpSpPr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64735" y="2633471"/>
              <a:ext cx="952500" cy="87782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406899" y="2652775"/>
              <a:ext cx="699135" cy="624205"/>
            </a:xfrm>
            <a:custGeom>
              <a:avLst/>
              <a:gdLst/>
              <a:ahLst/>
              <a:cxnLst/>
              <a:rect l="l" t="t" r="r" b="b"/>
              <a:pathLst>
                <a:path w="699135" h="624204">
                  <a:moveTo>
                    <a:pt x="544420" y="553993"/>
                  </a:moveTo>
                  <a:lnTo>
                    <a:pt x="536773" y="553993"/>
                  </a:lnTo>
                  <a:lnTo>
                    <a:pt x="530034" y="556799"/>
                  </a:lnTo>
                  <a:lnTo>
                    <a:pt x="524819" y="561939"/>
                  </a:lnTo>
                  <a:lnTo>
                    <a:pt x="521842" y="568960"/>
                  </a:lnTo>
                  <a:lnTo>
                    <a:pt x="521880" y="576506"/>
                  </a:lnTo>
                  <a:lnTo>
                    <a:pt x="524716" y="583231"/>
                  </a:lnTo>
                  <a:lnTo>
                    <a:pt x="529861" y="588408"/>
                  </a:lnTo>
                  <a:lnTo>
                    <a:pt x="536828" y="591312"/>
                  </a:lnTo>
                  <a:lnTo>
                    <a:pt x="698626" y="623824"/>
                  </a:lnTo>
                  <a:lnTo>
                    <a:pt x="695092" y="613028"/>
                  </a:lnTo>
                  <a:lnTo>
                    <a:pt x="657605" y="613028"/>
                  </a:lnTo>
                  <a:lnTo>
                    <a:pt x="604912" y="566186"/>
                  </a:lnTo>
                  <a:lnTo>
                    <a:pt x="544420" y="553993"/>
                  </a:lnTo>
                  <a:close/>
                </a:path>
                <a:path w="699135" h="624204">
                  <a:moveTo>
                    <a:pt x="604912" y="566186"/>
                  </a:moveTo>
                  <a:lnTo>
                    <a:pt x="657605" y="613028"/>
                  </a:lnTo>
                  <a:lnTo>
                    <a:pt x="665089" y="604647"/>
                  </a:lnTo>
                  <a:lnTo>
                    <a:pt x="652145" y="604647"/>
                  </a:lnTo>
                  <a:lnTo>
                    <a:pt x="642038" y="573670"/>
                  </a:lnTo>
                  <a:lnTo>
                    <a:pt x="604912" y="566186"/>
                  </a:lnTo>
                  <a:close/>
                </a:path>
                <a:path w="699135" h="624204">
                  <a:moveTo>
                    <a:pt x="630727" y="454015"/>
                  </a:moveTo>
                  <a:lnTo>
                    <a:pt x="623188" y="454913"/>
                  </a:lnTo>
                  <a:lnTo>
                    <a:pt x="616660" y="458646"/>
                  </a:lnTo>
                  <a:lnTo>
                    <a:pt x="612203" y="464391"/>
                  </a:lnTo>
                  <a:lnTo>
                    <a:pt x="610223" y="471398"/>
                  </a:lnTo>
                  <a:lnTo>
                    <a:pt x="611124" y="478916"/>
                  </a:lnTo>
                  <a:lnTo>
                    <a:pt x="630316" y="537742"/>
                  </a:lnTo>
                  <a:lnTo>
                    <a:pt x="683005" y="584581"/>
                  </a:lnTo>
                  <a:lnTo>
                    <a:pt x="657605" y="613028"/>
                  </a:lnTo>
                  <a:lnTo>
                    <a:pt x="695092" y="613028"/>
                  </a:lnTo>
                  <a:lnTo>
                    <a:pt x="647319" y="467106"/>
                  </a:lnTo>
                  <a:lnTo>
                    <a:pt x="643566" y="460503"/>
                  </a:lnTo>
                  <a:lnTo>
                    <a:pt x="637778" y="456009"/>
                  </a:lnTo>
                  <a:lnTo>
                    <a:pt x="630727" y="454015"/>
                  </a:lnTo>
                  <a:close/>
                </a:path>
                <a:path w="699135" h="624204">
                  <a:moveTo>
                    <a:pt x="642038" y="573670"/>
                  </a:moveTo>
                  <a:lnTo>
                    <a:pt x="652145" y="604647"/>
                  </a:lnTo>
                  <a:lnTo>
                    <a:pt x="674115" y="580136"/>
                  </a:lnTo>
                  <a:lnTo>
                    <a:pt x="642038" y="573670"/>
                  </a:lnTo>
                  <a:close/>
                </a:path>
                <a:path w="699135" h="624204">
                  <a:moveTo>
                    <a:pt x="630316" y="537742"/>
                  </a:moveTo>
                  <a:lnTo>
                    <a:pt x="642038" y="573670"/>
                  </a:lnTo>
                  <a:lnTo>
                    <a:pt x="674115" y="580136"/>
                  </a:lnTo>
                  <a:lnTo>
                    <a:pt x="652145" y="604647"/>
                  </a:lnTo>
                  <a:lnTo>
                    <a:pt x="665089" y="604647"/>
                  </a:lnTo>
                  <a:lnTo>
                    <a:pt x="683005" y="584581"/>
                  </a:lnTo>
                  <a:lnTo>
                    <a:pt x="630316" y="537742"/>
                  </a:lnTo>
                  <a:close/>
                </a:path>
                <a:path w="699135" h="624204">
                  <a:moveTo>
                    <a:pt x="25400" y="0"/>
                  </a:moveTo>
                  <a:lnTo>
                    <a:pt x="0" y="28448"/>
                  </a:lnTo>
                  <a:lnTo>
                    <a:pt x="604912" y="566186"/>
                  </a:lnTo>
                  <a:lnTo>
                    <a:pt x="642038" y="573670"/>
                  </a:lnTo>
                  <a:lnTo>
                    <a:pt x="630316" y="537742"/>
                  </a:lnTo>
                  <a:lnTo>
                    <a:pt x="25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02935" y="2401823"/>
              <a:ext cx="1028700" cy="879348"/>
            </a:xfrm>
            <a:prstGeom prst="rect">
              <a:avLst/>
            </a:prstGeom>
          </p:spPr>
        </p:pic>
      </p:grpSp>
      <p:sp>
        <p:nvSpPr>
          <p:cNvPr id="31" name="object 31"/>
          <p:cNvSpPr/>
          <p:nvPr/>
        </p:nvSpPr>
        <p:spPr>
          <a:xfrm>
            <a:off x="5245861" y="2590800"/>
            <a:ext cx="774065" cy="624840"/>
          </a:xfrm>
          <a:custGeom>
            <a:avLst/>
            <a:gdLst/>
            <a:ahLst/>
            <a:cxnLst/>
            <a:rect l="l" t="t" r="r" b="b"/>
            <a:pathLst>
              <a:path w="774064" h="624839">
                <a:moveTo>
                  <a:pt x="714958" y="47181"/>
                </a:moveTo>
                <a:lnTo>
                  <a:pt x="676657" y="52828"/>
                </a:lnTo>
                <a:lnTo>
                  <a:pt x="677303" y="52828"/>
                </a:lnTo>
                <a:lnTo>
                  <a:pt x="0" y="594740"/>
                </a:lnTo>
                <a:lnTo>
                  <a:pt x="23875" y="624459"/>
                </a:lnTo>
                <a:lnTo>
                  <a:pt x="701310" y="82558"/>
                </a:lnTo>
                <a:lnTo>
                  <a:pt x="714958" y="47181"/>
                </a:lnTo>
                <a:close/>
              </a:path>
              <a:path w="774064" h="624839">
                <a:moveTo>
                  <a:pt x="770730" y="8636"/>
                </a:moveTo>
                <a:lnTo>
                  <a:pt x="732536" y="8636"/>
                </a:lnTo>
                <a:lnTo>
                  <a:pt x="756412" y="38480"/>
                </a:lnTo>
                <a:lnTo>
                  <a:pt x="701310" y="82558"/>
                </a:lnTo>
                <a:lnTo>
                  <a:pt x="679068" y="140208"/>
                </a:lnTo>
                <a:lnTo>
                  <a:pt x="677793" y="147647"/>
                </a:lnTo>
                <a:lnTo>
                  <a:pt x="679434" y="154765"/>
                </a:lnTo>
                <a:lnTo>
                  <a:pt x="683623" y="160764"/>
                </a:lnTo>
                <a:lnTo>
                  <a:pt x="689990" y="164846"/>
                </a:lnTo>
                <a:lnTo>
                  <a:pt x="697484" y="166068"/>
                </a:lnTo>
                <a:lnTo>
                  <a:pt x="704596" y="164433"/>
                </a:lnTo>
                <a:lnTo>
                  <a:pt x="710564" y="160274"/>
                </a:lnTo>
                <a:lnTo>
                  <a:pt x="714628" y="153924"/>
                </a:lnTo>
                <a:lnTo>
                  <a:pt x="770730" y="8636"/>
                </a:lnTo>
                <a:close/>
              </a:path>
              <a:path w="774064" h="624839">
                <a:moveTo>
                  <a:pt x="739038" y="16763"/>
                </a:moveTo>
                <a:lnTo>
                  <a:pt x="726693" y="16763"/>
                </a:lnTo>
                <a:lnTo>
                  <a:pt x="747267" y="42417"/>
                </a:lnTo>
                <a:lnTo>
                  <a:pt x="714958" y="47181"/>
                </a:lnTo>
                <a:lnTo>
                  <a:pt x="701310" y="82558"/>
                </a:lnTo>
                <a:lnTo>
                  <a:pt x="756412" y="38480"/>
                </a:lnTo>
                <a:lnTo>
                  <a:pt x="739038" y="16763"/>
                </a:lnTo>
                <a:close/>
              </a:path>
              <a:path w="774064" h="624839">
                <a:moveTo>
                  <a:pt x="774064" y="0"/>
                </a:moveTo>
                <a:lnTo>
                  <a:pt x="610742" y="24002"/>
                </a:lnTo>
                <a:lnTo>
                  <a:pt x="594740" y="45720"/>
                </a:lnTo>
                <a:lnTo>
                  <a:pt x="597292" y="52828"/>
                </a:lnTo>
                <a:lnTo>
                  <a:pt x="602202" y="58197"/>
                </a:lnTo>
                <a:lnTo>
                  <a:pt x="608778" y="61329"/>
                </a:lnTo>
                <a:lnTo>
                  <a:pt x="616330" y="61722"/>
                </a:lnTo>
                <a:lnTo>
                  <a:pt x="676657" y="52828"/>
                </a:lnTo>
                <a:lnTo>
                  <a:pt x="677303" y="52828"/>
                </a:lnTo>
                <a:lnTo>
                  <a:pt x="732536" y="8636"/>
                </a:lnTo>
                <a:lnTo>
                  <a:pt x="770730" y="8636"/>
                </a:lnTo>
                <a:lnTo>
                  <a:pt x="774064" y="0"/>
                </a:lnTo>
                <a:close/>
              </a:path>
              <a:path w="774064" h="624839">
                <a:moveTo>
                  <a:pt x="732536" y="8636"/>
                </a:moveTo>
                <a:lnTo>
                  <a:pt x="677303" y="52828"/>
                </a:lnTo>
                <a:lnTo>
                  <a:pt x="676657" y="52828"/>
                </a:lnTo>
                <a:lnTo>
                  <a:pt x="714958" y="47181"/>
                </a:lnTo>
                <a:lnTo>
                  <a:pt x="726693" y="16763"/>
                </a:lnTo>
                <a:lnTo>
                  <a:pt x="739038" y="16763"/>
                </a:lnTo>
                <a:lnTo>
                  <a:pt x="732536" y="8636"/>
                </a:lnTo>
                <a:close/>
              </a:path>
              <a:path w="774064" h="624839">
                <a:moveTo>
                  <a:pt x="726693" y="16763"/>
                </a:moveTo>
                <a:lnTo>
                  <a:pt x="714958" y="47181"/>
                </a:lnTo>
                <a:lnTo>
                  <a:pt x="747267" y="42417"/>
                </a:lnTo>
                <a:lnTo>
                  <a:pt x="726693" y="167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Rail</a:t>
            </a:r>
            <a:r>
              <a:rPr spc="-20" dirty="0"/>
              <a:t> </a:t>
            </a:r>
            <a:r>
              <a:rPr dirty="0"/>
              <a:t>Fence</a:t>
            </a:r>
            <a:r>
              <a:rPr spc="-5" dirty="0"/>
              <a:t> </a:t>
            </a:r>
            <a:r>
              <a:rPr dirty="0"/>
              <a:t>Cipher</a:t>
            </a:r>
            <a:r>
              <a:rPr spc="-25" dirty="0"/>
              <a:t> </a:t>
            </a: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31821"/>
            <a:ext cx="8181975" cy="441960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85"/>
              </a:spcBef>
              <a:buChar char="•"/>
              <a:tabLst>
                <a:tab pos="354965" algn="l"/>
              </a:tabLst>
            </a:pPr>
            <a:r>
              <a:rPr sz="2800" spc="-10" dirty="0">
                <a:solidFill>
                  <a:srgbClr val="001F5F"/>
                </a:solidFill>
                <a:latin typeface="Arial MT"/>
                <a:cs typeface="Arial MT"/>
              </a:rPr>
              <a:t>Decryption:</a:t>
            </a:r>
            <a:endParaRPr sz="28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590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As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we’ve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seen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earlier,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columns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rail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fence </a:t>
            </a:r>
            <a:r>
              <a:rPr sz="2400" dirty="0">
                <a:latin typeface="Arial MT"/>
                <a:cs typeface="Arial MT"/>
              </a:rPr>
              <a:t>cipher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remains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equal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length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plain-</a:t>
            </a:r>
            <a:r>
              <a:rPr sz="2400" dirty="0">
                <a:latin typeface="Arial MT"/>
                <a:cs typeface="Arial MT"/>
              </a:rPr>
              <a:t>text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message.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corresponds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rails.</a:t>
            </a:r>
            <a:endParaRPr sz="2400">
              <a:latin typeface="Arial MT"/>
              <a:cs typeface="Arial MT"/>
            </a:endParaRPr>
          </a:p>
          <a:p>
            <a:pPr marL="355600" marR="26035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Hence,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rail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matrix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constructed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accordingly.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Once </a:t>
            </a:r>
            <a:r>
              <a:rPr sz="2400" dirty="0">
                <a:latin typeface="Arial MT"/>
                <a:cs typeface="Arial MT"/>
              </a:rPr>
              <a:t>we’ve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got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matrix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figure-</a:t>
            </a:r>
            <a:r>
              <a:rPr sz="2400" dirty="0">
                <a:latin typeface="Arial MT"/>
                <a:cs typeface="Arial MT"/>
              </a:rPr>
              <a:t>out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spots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where </a:t>
            </a:r>
            <a:r>
              <a:rPr sz="2400" dirty="0">
                <a:latin typeface="Arial MT"/>
                <a:cs typeface="Arial MT"/>
              </a:rPr>
              <a:t>texts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should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placed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(using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same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way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moving </a:t>
            </a:r>
            <a:r>
              <a:rPr sz="2400" dirty="0">
                <a:latin typeface="Arial MT"/>
                <a:cs typeface="Arial MT"/>
              </a:rPr>
              <a:t>diagonally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up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down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alternatively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).</a:t>
            </a:r>
            <a:endParaRPr sz="2400">
              <a:latin typeface="Arial MT"/>
              <a:cs typeface="Arial MT"/>
            </a:endParaRPr>
          </a:p>
          <a:p>
            <a:pPr marL="355600" marR="517525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Then,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fill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cipher-</a:t>
            </a:r>
            <a:r>
              <a:rPr sz="2400" dirty="0">
                <a:latin typeface="Arial MT"/>
                <a:cs typeface="Arial MT"/>
              </a:rPr>
              <a:t>text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row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wise.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After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filling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it,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we </a:t>
            </a:r>
            <a:r>
              <a:rPr sz="2400" dirty="0">
                <a:latin typeface="Arial MT"/>
                <a:cs typeface="Arial MT"/>
              </a:rPr>
              <a:t>traverse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matrix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zig-</a:t>
            </a:r>
            <a:r>
              <a:rPr sz="2400" dirty="0">
                <a:latin typeface="Arial MT"/>
                <a:cs typeface="Arial MT"/>
              </a:rPr>
              <a:t>zag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manner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obtain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original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text.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Rail</a:t>
            </a:r>
            <a:r>
              <a:rPr spc="-20" dirty="0"/>
              <a:t> </a:t>
            </a:r>
            <a:r>
              <a:rPr dirty="0"/>
              <a:t>Fence</a:t>
            </a:r>
            <a:r>
              <a:rPr spc="-5" dirty="0"/>
              <a:t> </a:t>
            </a:r>
            <a:r>
              <a:rPr dirty="0"/>
              <a:t>Cipher</a:t>
            </a:r>
            <a:r>
              <a:rPr spc="-25" dirty="0"/>
              <a:t> </a:t>
            </a: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47901"/>
            <a:ext cx="6198235" cy="90360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dirty="0">
                <a:solidFill>
                  <a:srgbClr val="014069"/>
                </a:solidFill>
                <a:latin typeface="Arial MT"/>
                <a:cs typeface="Arial MT"/>
              </a:rPr>
              <a:t>Cipher</a:t>
            </a:r>
            <a:r>
              <a:rPr sz="2400" spc="-35" dirty="0">
                <a:solidFill>
                  <a:srgbClr val="01406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14069"/>
                </a:solidFill>
                <a:latin typeface="Arial MT"/>
                <a:cs typeface="Arial MT"/>
              </a:rPr>
              <a:t>Text:</a:t>
            </a:r>
            <a:r>
              <a:rPr sz="2400" spc="-60" dirty="0">
                <a:solidFill>
                  <a:srgbClr val="014069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14069"/>
                </a:solidFill>
                <a:latin typeface="Arial MT"/>
                <a:cs typeface="Arial MT"/>
              </a:rPr>
              <a:t>DNYEOSAEMLR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Arial MT"/>
                <a:cs typeface="Arial MT"/>
              </a:rPr>
              <a:t>Cipher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text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length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11,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Key=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3.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Matrix=33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394072"/>
            <a:ext cx="38836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14069"/>
                </a:solidFill>
                <a:latin typeface="Arial MT"/>
                <a:cs typeface="Arial MT"/>
              </a:rPr>
              <a:t>Plain</a:t>
            </a:r>
            <a:r>
              <a:rPr sz="2400" spc="-35" dirty="0">
                <a:solidFill>
                  <a:srgbClr val="01406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14069"/>
                </a:solidFill>
                <a:latin typeface="Arial MT"/>
                <a:cs typeface="Arial MT"/>
              </a:rPr>
              <a:t>Text:</a:t>
            </a:r>
            <a:r>
              <a:rPr sz="2400" spc="-45" dirty="0">
                <a:solidFill>
                  <a:srgbClr val="014069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14069"/>
                </a:solidFill>
                <a:latin typeface="Arial MT"/>
                <a:cs typeface="Arial MT"/>
              </a:rPr>
              <a:t>DEMONSLAYER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2154428" y="2590799"/>
            <a:ext cx="1663064" cy="370840"/>
          </a:xfrm>
          <a:custGeom>
            <a:avLst/>
            <a:gdLst/>
            <a:ahLst/>
            <a:cxnLst/>
            <a:rect l="l" t="t" r="r" b="b"/>
            <a:pathLst>
              <a:path w="1663064" h="370839">
                <a:moveTo>
                  <a:pt x="1108278" y="0"/>
                </a:moveTo>
                <a:lnTo>
                  <a:pt x="554164" y="0"/>
                </a:lnTo>
                <a:lnTo>
                  <a:pt x="0" y="0"/>
                </a:lnTo>
                <a:lnTo>
                  <a:pt x="0" y="370840"/>
                </a:lnTo>
                <a:lnTo>
                  <a:pt x="554101" y="370840"/>
                </a:lnTo>
                <a:lnTo>
                  <a:pt x="1108278" y="370840"/>
                </a:lnTo>
                <a:lnTo>
                  <a:pt x="1108278" y="0"/>
                </a:lnTo>
                <a:close/>
              </a:path>
              <a:path w="1663064" h="370839">
                <a:moveTo>
                  <a:pt x="1662506" y="0"/>
                </a:moveTo>
                <a:lnTo>
                  <a:pt x="1108329" y="0"/>
                </a:lnTo>
                <a:lnTo>
                  <a:pt x="1108329" y="370840"/>
                </a:lnTo>
                <a:lnTo>
                  <a:pt x="1662506" y="370840"/>
                </a:lnTo>
                <a:lnTo>
                  <a:pt x="1662506" y="0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593850" y="2584450"/>
          <a:ext cx="6184900" cy="1111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4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3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43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43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43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43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43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43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435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43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D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Y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O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A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M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L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R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43327" y="2554223"/>
            <a:ext cx="1549908" cy="423672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2286000" y="2657621"/>
            <a:ext cx="1296035" cy="171450"/>
          </a:xfrm>
          <a:custGeom>
            <a:avLst/>
            <a:gdLst/>
            <a:ahLst/>
            <a:cxnLst/>
            <a:rect l="l" t="t" r="r" b="b"/>
            <a:pathLst>
              <a:path w="1296035" h="171450">
                <a:moveTo>
                  <a:pt x="1219726" y="85578"/>
                </a:moveTo>
                <a:lnTo>
                  <a:pt x="1133728" y="135743"/>
                </a:lnTo>
                <a:lnTo>
                  <a:pt x="1128121" y="140795"/>
                </a:lnTo>
                <a:lnTo>
                  <a:pt x="1124965" y="147395"/>
                </a:lnTo>
                <a:lnTo>
                  <a:pt x="1124477" y="154709"/>
                </a:lnTo>
                <a:lnTo>
                  <a:pt x="1126871" y="161905"/>
                </a:lnTo>
                <a:lnTo>
                  <a:pt x="1131923" y="167512"/>
                </a:lnTo>
                <a:lnTo>
                  <a:pt x="1138523" y="170668"/>
                </a:lnTo>
                <a:lnTo>
                  <a:pt x="1145837" y="171156"/>
                </a:lnTo>
                <a:lnTo>
                  <a:pt x="1153033" y="168763"/>
                </a:lnTo>
                <a:lnTo>
                  <a:pt x="1262894" y="104628"/>
                </a:lnTo>
                <a:lnTo>
                  <a:pt x="1257680" y="104628"/>
                </a:lnTo>
                <a:lnTo>
                  <a:pt x="1257680" y="102088"/>
                </a:lnTo>
                <a:lnTo>
                  <a:pt x="1248028" y="102088"/>
                </a:lnTo>
                <a:lnTo>
                  <a:pt x="1219726" y="85578"/>
                </a:lnTo>
                <a:close/>
              </a:path>
              <a:path w="1296035" h="171450">
                <a:moveTo>
                  <a:pt x="1187068" y="66528"/>
                </a:moveTo>
                <a:lnTo>
                  <a:pt x="0" y="66528"/>
                </a:lnTo>
                <a:lnTo>
                  <a:pt x="0" y="104628"/>
                </a:lnTo>
                <a:lnTo>
                  <a:pt x="1187068" y="104628"/>
                </a:lnTo>
                <a:lnTo>
                  <a:pt x="1219726" y="85578"/>
                </a:lnTo>
                <a:lnTo>
                  <a:pt x="1187068" y="66528"/>
                </a:lnTo>
                <a:close/>
              </a:path>
              <a:path w="1296035" h="171450">
                <a:moveTo>
                  <a:pt x="1262894" y="66528"/>
                </a:moveTo>
                <a:lnTo>
                  <a:pt x="1257680" y="66528"/>
                </a:lnTo>
                <a:lnTo>
                  <a:pt x="1257680" y="104628"/>
                </a:lnTo>
                <a:lnTo>
                  <a:pt x="1262894" y="104628"/>
                </a:lnTo>
                <a:lnTo>
                  <a:pt x="1295527" y="85578"/>
                </a:lnTo>
                <a:lnTo>
                  <a:pt x="1262894" y="66528"/>
                </a:lnTo>
                <a:close/>
              </a:path>
              <a:path w="1296035" h="171450">
                <a:moveTo>
                  <a:pt x="1248028" y="69068"/>
                </a:moveTo>
                <a:lnTo>
                  <a:pt x="1219726" y="85578"/>
                </a:lnTo>
                <a:lnTo>
                  <a:pt x="1248028" y="102088"/>
                </a:lnTo>
                <a:lnTo>
                  <a:pt x="1248028" y="69068"/>
                </a:lnTo>
                <a:close/>
              </a:path>
              <a:path w="1296035" h="171450">
                <a:moveTo>
                  <a:pt x="1257680" y="69068"/>
                </a:moveTo>
                <a:lnTo>
                  <a:pt x="1248028" y="69068"/>
                </a:lnTo>
                <a:lnTo>
                  <a:pt x="1248028" y="102088"/>
                </a:lnTo>
                <a:lnTo>
                  <a:pt x="1257680" y="102088"/>
                </a:lnTo>
                <a:lnTo>
                  <a:pt x="1257680" y="69068"/>
                </a:lnTo>
                <a:close/>
              </a:path>
              <a:path w="1296035" h="171450">
                <a:moveTo>
                  <a:pt x="1145837" y="0"/>
                </a:moveTo>
                <a:lnTo>
                  <a:pt x="1138523" y="488"/>
                </a:lnTo>
                <a:lnTo>
                  <a:pt x="1131923" y="3643"/>
                </a:lnTo>
                <a:lnTo>
                  <a:pt x="1126871" y="9251"/>
                </a:lnTo>
                <a:lnTo>
                  <a:pt x="1124477" y="16446"/>
                </a:lnTo>
                <a:lnTo>
                  <a:pt x="1124966" y="23760"/>
                </a:lnTo>
                <a:lnTo>
                  <a:pt x="1128121" y="30360"/>
                </a:lnTo>
                <a:lnTo>
                  <a:pt x="1133728" y="35413"/>
                </a:lnTo>
                <a:lnTo>
                  <a:pt x="1219726" y="85578"/>
                </a:lnTo>
                <a:lnTo>
                  <a:pt x="1248028" y="69068"/>
                </a:lnTo>
                <a:lnTo>
                  <a:pt x="1257680" y="69068"/>
                </a:lnTo>
                <a:lnTo>
                  <a:pt x="1257680" y="66528"/>
                </a:lnTo>
                <a:lnTo>
                  <a:pt x="1262894" y="66528"/>
                </a:lnTo>
                <a:lnTo>
                  <a:pt x="1153033" y="2393"/>
                </a:lnTo>
                <a:lnTo>
                  <a:pt x="11458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70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Columnar</a:t>
            </a:r>
            <a:r>
              <a:rPr sz="3600" spc="-35" dirty="0"/>
              <a:t> </a:t>
            </a:r>
            <a:r>
              <a:rPr sz="3600" dirty="0"/>
              <a:t>Transposition</a:t>
            </a:r>
            <a:r>
              <a:rPr sz="3600" spc="-20" dirty="0"/>
              <a:t> </a:t>
            </a:r>
            <a:r>
              <a:rPr sz="3600" spc="-10" dirty="0"/>
              <a:t>Ciphers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231821"/>
            <a:ext cx="7985759" cy="332232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85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b="1" spc="-10" dirty="0">
                <a:solidFill>
                  <a:srgbClr val="014069"/>
                </a:solidFill>
                <a:latin typeface="Arial"/>
                <a:cs typeface="Arial"/>
              </a:rPr>
              <a:t>Encryption:</a:t>
            </a:r>
            <a:endParaRPr sz="2800">
              <a:latin typeface="Arial"/>
              <a:cs typeface="Arial"/>
            </a:endParaRPr>
          </a:p>
          <a:p>
            <a:pPr marL="755015" marR="36195" lvl="1" indent="-285750" algn="just">
              <a:lnSpc>
                <a:spcPct val="100000"/>
              </a:lnSpc>
              <a:spcBef>
                <a:spcPts val="590"/>
              </a:spcBef>
              <a:buChar char="–"/>
              <a:tabLst>
                <a:tab pos="756285" algn="l"/>
              </a:tabLst>
            </a:pPr>
            <a:r>
              <a:rPr sz="2400" dirty="0">
                <a:latin typeface="Arial MT"/>
                <a:cs typeface="Arial MT"/>
              </a:rPr>
              <a:t>In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transposition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cipher,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order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alphabets</a:t>
            </a:r>
            <a:r>
              <a:rPr sz="2400" spc="-25" dirty="0">
                <a:latin typeface="Arial MT"/>
                <a:cs typeface="Arial MT"/>
              </a:rPr>
              <a:t> is 	</a:t>
            </a:r>
            <a:r>
              <a:rPr sz="2400" spc="-10" dirty="0">
                <a:latin typeface="Arial MT"/>
                <a:cs typeface="Arial MT"/>
              </a:rPr>
              <a:t>re-</a:t>
            </a:r>
            <a:r>
              <a:rPr sz="2400" dirty="0">
                <a:latin typeface="Arial MT"/>
                <a:cs typeface="Arial MT"/>
              </a:rPr>
              <a:t>arranged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obtain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cipher-</a:t>
            </a:r>
            <a:r>
              <a:rPr sz="2400" spc="-10" dirty="0">
                <a:latin typeface="Arial MT"/>
                <a:cs typeface="Arial MT"/>
              </a:rPr>
              <a:t>text.</a:t>
            </a:r>
            <a:endParaRPr sz="2400">
              <a:latin typeface="Arial MT"/>
              <a:cs typeface="Arial MT"/>
            </a:endParaRPr>
          </a:p>
          <a:p>
            <a:pPr marL="755015" marR="208915" lvl="1" indent="-285750" algn="just">
              <a:lnSpc>
                <a:spcPct val="100000"/>
              </a:lnSpc>
              <a:spcBef>
                <a:spcPts val="580"/>
              </a:spcBef>
              <a:buChar char="–"/>
              <a:tabLst>
                <a:tab pos="756285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message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written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out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rows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fixed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length, 	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read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out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again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column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column,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	</a:t>
            </a:r>
            <a:r>
              <a:rPr sz="2400" dirty="0">
                <a:latin typeface="Arial MT"/>
                <a:cs typeface="Arial MT"/>
              </a:rPr>
              <a:t>columns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chosen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some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scrambled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order.</a:t>
            </a:r>
            <a:endParaRPr sz="2400">
              <a:latin typeface="Arial MT"/>
              <a:cs typeface="Arial MT"/>
            </a:endParaRPr>
          </a:p>
          <a:p>
            <a:pPr marL="755650" lvl="1" indent="-285750" algn="just">
              <a:lnSpc>
                <a:spcPct val="100000"/>
              </a:lnSpc>
              <a:spcBef>
                <a:spcPts val="580"/>
              </a:spcBef>
              <a:buChar char="–"/>
              <a:tabLst>
                <a:tab pos="755650" algn="l"/>
              </a:tabLst>
            </a:pPr>
            <a:r>
              <a:rPr sz="2400" dirty="0">
                <a:latin typeface="Arial MT"/>
                <a:cs typeface="Arial MT"/>
              </a:rPr>
              <a:t>Width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rows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permutation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columns</a:t>
            </a:r>
            <a:endParaRPr sz="2400">
              <a:latin typeface="Arial MT"/>
              <a:cs typeface="Arial MT"/>
            </a:endParaRPr>
          </a:p>
          <a:p>
            <a:pPr marL="756285" algn="just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usually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defined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keyword.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70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Columnar</a:t>
            </a:r>
            <a:r>
              <a:rPr sz="3600" spc="-35" dirty="0"/>
              <a:t> </a:t>
            </a:r>
            <a:r>
              <a:rPr sz="3600" dirty="0"/>
              <a:t>Transposition</a:t>
            </a:r>
            <a:r>
              <a:rPr sz="3600" spc="-20" dirty="0"/>
              <a:t> </a:t>
            </a:r>
            <a:r>
              <a:rPr sz="3600" spc="-10" dirty="0"/>
              <a:t>Ciphers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231821"/>
            <a:ext cx="8053705" cy="3688079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85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b="1" spc="-10" dirty="0">
                <a:solidFill>
                  <a:srgbClr val="014069"/>
                </a:solidFill>
                <a:latin typeface="Arial"/>
                <a:cs typeface="Arial"/>
              </a:rPr>
              <a:t>Encryption:</a:t>
            </a:r>
            <a:endParaRPr sz="2800">
              <a:latin typeface="Arial"/>
              <a:cs typeface="Arial"/>
            </a:endParaRPr>
          </a:p>
          <a:p>
            <a:pPr marL="755015" marR="5080" lvl="1" indent="-285750" algn="just">
              <a:lnSpc>
                <a:spcPct val="100000"/>
              </a:lnSpc>
              <a:spcBef>
                <a:spcPts val="590"/>
              </a:spcBef>
              <a:buChar char="–"/>
              <a:tabLst>
                <a:tab pos="756285" algn="l"/>
              </a:tabLst>
            </a:pP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example,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word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GUITAR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length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6,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	</a:t>
            </a:r>
            <a:r>
              <a:rPr sz="2400" dirty="0">
                <a:latin typeface="Arial MT"/>
                <a:cs typeface="Arial MT"/>
              </a:rPr>
              <a:t>permutation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defined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alphabetical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order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	</a:t>
            </a:r>
            <a:r>
              <a:rPr sz="2400" dirty="0">
                <a:latin typeface="Arial MT"/>
                <a:cs typeface="Arial MT"/>
              </a:rPr>
              <a:t>letters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keyword.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case,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order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would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be 	</a:t>
            </a:r>
            <a:r>
              <a:rPr sz="2400" dirty="0">
                <a:latin typeface="Arial MT"/>
                <a:cs typeface="Arial MT"/>
              </a:rPr>
              <a:t>“2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6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3</a:t>
            </a:r>
            <a:r>
              <a:rPr sz="2400" spc="-1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5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4”.</a:t>
            </a:r>
            <a:endParaRPr sz="2400">
              <a:latin typeface="Arial MT"/>
              <a:cs typeface="Arial MT"/>
            </a:endParaRPr>
          </a:p>
          <a:p>
            <a:pPr marL="755015" marR="273685" lvl="1" indent="-285750">
              <a:lnSpc>
                <a:spcPct val="100000"/>
              </a:lnSpc>
              <a:spcBef>
                <a:spcPts val="580"/>
              </a:spcBef>
              <a:buChar char="–"/>
              <a:tabLst>
                <a:tab pos="756285" algn="l"/>
              </a:tabLst>
            </a:pPr>
            <a:r>
              <a:rPr sz="2400" dirty="0">
                <a:latin typeface="Arial MT"/>
                <a:cs typeface="Arial MT"/>
              </a:rPr>
              <a:t>Any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spare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spaces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filled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nulls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left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blank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or 	</a:t>
            </a:r>
            <a:r>
              <a:rPr sz="2400" dirty="0">
                <a:latin typeface="Arial MT"/>
                <a:cs typeface="Arial MT"/>
              </a:rPr>
              <a:t>placed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character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(Example: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_).</a:t>
            </a:r>
            <a:endParaRPr sz="2400">
              <a:latin typeface="Arial MT"/>
              <a:cs typeface="Arial MT"/>
            </a:endParaRPr>
          </a:p>
          <a:p>
            <a:pPr marL="755015" marR="613410" lvl="1" indent="-285750">
              <a:lnSpc>
                <a:spcPct val="100000"/>
              </a:lnSpc>
              <a:spcBef>
                <a:spcPts val="580"/>
              </a:spcBef>
              <a:buChar char="–"/>
              <a:tabLst>
                <a:tab pos="756285" algn="l"/>
              </a:tabLst>
            </a:pPr>
            <a:r>
              <a:rPr sz="2400" dirty="0">
                <a:latin typeface="Arial MT"/>
                <a:cs typeface="Arial MT"/>
              </a:rPr>
              <a:t>Finally,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message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read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off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columns,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	</a:t>
            </a:r>
            <a:r>
              <a:rPr sz="2400" dirty="0">
                <a:latin typeface="Arial MT"/>
                <a:cs typeface="Arial MT"/>
              </a:rPr>
              <a:t>order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specified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keyword.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70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Columnar</a:t>
            </a:r>
            <a:r>
              <a:rPr sz="3600" spc="-35" dirty="0"/>
              <a:t> </a:t>
            </a:r>
            <a:r>
              <a:rPr sz="3600" dirty="0"/>
              <a:t>Transposition</a:t>
            </a:r>
            <a:r>
              <a:rPr sz="3600" spc="-20" dirty="0"/>
              <a:t> </a:t>
            </a:r>
            <a:r>
              <a:rPr sz="3600" spc="-10" dirty="0"/>
              <a:t>Ciphers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247901"/>
            <a:ext cx="4464685" cy="903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  <a:tabLst>
                <a:tab pos="2025650" algn="l"/>
              </a:tabLst>
            </a:pPr>
            <a:r>
              <a:rPr sz="2400" dirty="0">
                <a:latin typeface="Arial MT"/>
                <a:cs typeface="Arial MT"/>
              </a:rPr>
              <a:t>Plaint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Text: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Bohemian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Rhapsody </a:t>
            </a:r>
            <a:r>
              <a:rPr sz="2400" dirty="0">
                <a:latin typeface="Arial MT"/>
                <a:cs typeface="Arial MT"/>
              </a:rPr>
              <a:t>Key: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GUITAR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(length=6)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394072"/>
            <a:ext cx="2997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1083945" algn="l"/>
                <a:tab pos="2730500" algn="l"/>
              </a:tabLst>
            </a:pPr>
            <a:r>
              <a:rPr sz="2400" spc="-2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numbering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of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12590" y="4394072"/>
            <a:ext cx="50463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38810" algn="l"/>
                <a:tab pos="1316990" algn="l"/>
                <a:tab pos="1742439" algn="l"/>
                <a:tab pos="2623185" algn="l"/>
                <a:tab pos="4150360" algn="l"/>
                <a:tab pos="4609465" algn="l"/>
              </a:tabLst>
            </a:pPr>
            <a:r>
              <a:rPr sz="2400" spc="-2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key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0" dirty="0">
                <a:latin typeface="Arial MT"/>
                <a:cs typeface="Arial MT"/>
              </a:rPr>
              <a:t>done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according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to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the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4686677"/>
            <a:ext cx="6450965" cy="134302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675"/>
              </a:spcBef>
            </a:pPr>
            <a:r>
              <a:rPr sz="2400" dirty="0">
                <a:latin typeface="Arial MT"/>
                <a:cs typeface="Arial MT"/>
              </a:rPr>
              <a:t>alphabetic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order.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Now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print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columns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1,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2,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3,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4,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5,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6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order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Cipher</a:t>
            </a:r>
            <a:r>
              <a:rPr sz="2400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Text:</a:t>
            </a:r>
            <a:r>
              <a:rPr sz="2400" spc="-8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mhyBaph</a:t>
            </a:r>
            <a:r>
              <a:rPr sz="2400" spc="-6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Arial MT"/>
                <a:cs typeface="Arial MT"/>
              </a:rPr>
              <a:t>oia-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eRdons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441450" y="2432050"/>
          <a:ext cx="6184900" cy="18472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1395E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1395E"/>
                    </a:solidFill>
                  </a:tcPr>
                </a:tc>
                <a:tc>
                  <a:txBody>
                    <a:bodyPr/>
                    <a:lstStyle/>
                    <a:p>
                      <a:pPr marL="47625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1395E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1395E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1395E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139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E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ED2"/>
                    </a:solidFill>
                  </a:tcPr>
                </a:tc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ED2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ED2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ED2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E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B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o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marL="45085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h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i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E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E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ED2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E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h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E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E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p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marL="45085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o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-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70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Columnar</a:t>
            </a:r>
            <a:r>
              <a:rPr sz="3600" spc="-35" dirty="0"/>
              <a:t> </a:t>
            </a:r>
            <a:r>
              <a:rPr sz="3600" dirty="0"/>
              <a:t>Transposition</a:t>
            </a:r>
            <a:r>
              <a:rPr sz="3600" spc="-20" dirty="0"/>
              <a:t> </a:t>
            </a:r>
            <a:r>
              <a:rPr sz="3600" spc="-10" dirty="0"/>
              <a:t>Ciphers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231821"/>
            <a:ext cx="8227059" cy="259016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85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b="1" spc="-10" dirty="0">
                <a:solidFill>
                  <a:srgbClr val="014069"/>
                </a:solidFill>
                <a:latin typeface="Arial"/>
                <a:cs typeface="Arial"/>
              </a:rPr>
              <a:t>Decryption:</a:t>
            </a:r>
            <a:endParaRPr sz="2800">
              <a:latin typeface="Arial"/>
              <a:cs typeface="Arial"/>
            </a:endParaRPr>
          </a:p>
          <a:p>
            <a:pPr marL="355600" marR="7620" indent="-342900">
              <a:lnSpc>
                <a:spcPct val="100000"/>
              </a:lnSpc>
              <a:spcBef>
                <a:spcPts val="590"/>
              </a:spcBef>
              <a:buChar char="•"/>
              <a:tabLst>
                <a:tab pos="355600" algn="l"/>
                <a:tab pos="840105" algn="l"/>
                <a:tab pos="2141855" algn="l"/>
                <a:tab pos="2505710" algn="l"/>
                <a:tab pos="3059430" algn="l"/>
                <a:tab pos="4342765" algn="l"/>
                <a:tab pos="4964430" algn="l"/>
                <a:tab pos="5348605" algn="l"/>
                <a:tab pos="6121400" algn="l"/>
                <a:tab pos="6674484" algn="l"/>
                <a:tab pos="7228205" algn="l"/>
              </a:tabLst>
            </a:pPr>
            <a:r>
              <a:rPr sz="2400" spc="-25" dirty="0">
                <a:latin typeface="Arial MT"/>
                <a:cs typeface="Arial MT"/>
              </a:rPr>
              <a:t>To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decipher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it,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recipient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has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to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0" dirty="0">
                <a:latin typeface="Arial MT"/>
                <a:cs typeface="Arial MT"/>
              </a:rPr>
              <a:t>work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out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column </a:t>
            </a:r>
            <a:r>
              <a:rPr sz="2400" dirty="0">
                <a:latin typeface="Arial MT"/>
                <a:cs typeface="Arial MT"/>
              </a:rPr>
              <a:t>lengths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dividing 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message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length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length.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5"/>
              </a:spcBef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buChar char="•"/>
              <a:tabLst>
                <a:tab pos="355600" algn="l"/>
                <a:tab pos="1265555" algn="l"/>
                <a:tab pos="2040889" algn="l"/>
                <a:tab pos="2595880" algn="l"/>
                <a:tab pos="3961765" algn="l"/>
                <a:tab pos="4518025" algn="l"/>
                <a:tab pos="4886960" algn="l"/>
                <a:tab pos="6153150" algn="l"/>
                <a:tab pos="7115175" algn="l"/>
                <a:tab pos="7840980" algn="l"/>
              </a:tabLst>
            </a:pPr>
            <a:r>
              <a:rPr sz="2400" spc="-10" dirty="0">
                <a:latin typeface="Arial MT"/>
                <a:cs typeface="Arial MT"/>
              </a:rPr>
              <a:t>Then,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write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message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out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in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columns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again,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0" dirty="0">
                <a:latin typeface="Arial MT"/>
                <a:cs typeface="Arial MT"/>
              </a:rPr>
              <a:t>then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re- </a:t>
            </a:r>
            <a:r>
              <a:rPr sz="2400" dirty="0">
                <a:latin typeface="Arial MT"/>
                <a:cs typeface="Arial MT"/>
              </a:rPr>
              <a:t>order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columns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reforming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key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word.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Product</a:t>
            </a:r>
            <a:r>
              <a:rPr spc="-15" dirty="0"/>
              <a:t> </a:t>
            </a:r>
            <a:r>
              <a:rPr spc="-10" dirty="0"/>
              <a:t>Ciphers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19529"/>
            <a:ext cx="7988300" cy="4512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129539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</a:tabLst>
            </a:pPr>
            <a:r>
              <a:rPr sz="2800" dirty="0">
                <a:latin typeface="Arial MT"/>
                <a:cs typeface="Arial MT"/>
              </a:rPr>
              <a:t>ciphers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using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substitutions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or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transpositions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are </a:t>
            </a:r>
            <a:r>
              <a:rPr sz="2800" dirty="0">
                <a:latin typeface="Arial MT"/>
                <a:cs typeface="Arial MT"/>
              </a:rPr>
              <a:t>not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secure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because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language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characteristics</a:t>
            </a:r>
            <a:endParaRPr sz="2800">
              <a:latin typeface="Arial MT"/>
              <a:cs typeface="Arial MT"/>
            </a:endParaRPr>
          </a:p>
          <a:p>
            <a:pPr marL="355600" marR="1390015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5600" algn="l"/>
              </a:tabLst>
            </a:pPr>
            <a:r>
              <a:rPr sz="2800" dirty="0">
                <a:latin typeface="Arial MT"/>
                <a:cs typeface="Arial MT"/>
              </a:rPr>
              <a:t>hence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consider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using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several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ciphers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in </a:t>
            </a:r>
            <a:r>
              <a:rPr sz="2800" dirty="0">
                <a:latin typeface="Arial MT"/>
                <a:cs typeface="Arial MT"/>
              </a:rPr>
              <a:t>succession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make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harder,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but:</a:t>
            </a:r>
            <a:endParaRPr sz="28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590"/>
              </a:spcBef>
              <a:buChar char="–"/>
              <a:tabLst>
                <a:tab pos="755650" algn="l"/>
              </a:tabLst>
            </a:pPr>
            <a:r>
              <a:rPr sz="2400" dirty="0">
                <a:latin typeface="Arial MT"/>
                <a:cs typeface="Arial MT"/>
              </a:rPr>
              <a:t>two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substitutions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make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more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complex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substitution</a:t>
            </a:r>
            <a:endParaRPr sz="2400">
              <a:latin typeface="Arial MT"/>
              <a:cs typeface="Arial MT"/>
            </a:endParaRPr>
          </a:p>
          <a:p>
            <a:pPr marL="755015" marR="1071880" lvl="1" indent="-285750">
              <a:lnSpc>
                <a:spcPct val="100000"/>
              </a:lnSpc>
              <a:spcBef>
                <a:spcPts val="660"/>
              </a:spcBef>
              <a:buChar char="–"/>
              <a:tabLst>
                <a:tab pos="756285" algn="l"/>
              </a:tabLst>
            </a:pPr>
            <a:r>
              <a:rPr sz="2800" dirty="0">
                <a:latin typeface="Arial MT"/>
                <a:cs typeface="Arial MT"/>
              </a:rPr>
              <a:t>two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transpositions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make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more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complex 	transposition</a:t>
            </a:r>
            <a:endParaRPr sz="2800">
              <a:latin typeface="Arial MT"/>
              <a:cs typeface="Arial MT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590"/>
              </a:spcBef>
              <a:buChar char="–"/>
              <a:tabLst>
                <a:tab pos="756285" algn="l"/>
              </a:tabLst>
            </a:pPr>
            <a:r>
              <a:rPr sz="2400" dirty="0">
                <a:latin typeface="Arial MT"/>
                <a:cs typeface="Arial MT"/>
              </a:rPr>
              <a:t>but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substitution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followed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transposition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makes</a:t>
            </a:r>
            <a:r>
              <a:rPr sz="2400" spc="-50" dirty="0">
                <a:latin typeface="Arial MT"/>
                <a:cs typeface="Arial MT"/>
              </a:rPr>
              <a:t> a 	</a:t>
            </a:r>
            <a:r>
              <a:rPr sz="2400" dirty="0">
                <a:latin typeface="Arial MT"/>
                <a:cs typeface="Arial MT"/>
              </a:rPr>
              <a:t>new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much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harder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cipher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60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this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bridge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from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classical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modern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ciphers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Rotor</a:t>
            </a:r>
            <a:r>
              <a:rPr spc="-15" dirty="0"/>
              <a:t> </a:t>
            </a:r>
            <a:r>
              <a:rPr spc="-10" dirty="0"/>
              <a:t>Machines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21053"/>
            <a:ext cx="7942580" cy="3683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850265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before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modern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ciphers,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rotor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machines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were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most </a:t>
            </a:r>
            <a:r>
              <a:rPr sz="2400" dirty="0">
                <a:latin typeface="Arial MT"/>
                <a:cs typeface="Arial MT"/>
              </a:rPr>
              <a:t>common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complex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ciphers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use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widely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WW2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German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Enigma,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Allied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Hagelin,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Japanese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Purple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</a:tabLst>
            </a:pPr>
            <a:r>
              <a:rPr sz="2400" spc="-10" dirty="0">
                <a:latin typeface="Arial MT"/>
                <a:cs typeface="Arial MT"/>
              </a:rPr>
              <a:t>implemented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very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complex,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varying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substitution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cipher</a:t>
            </a:r>
            <a:endParaRPr sz="2400">
              <a:latin typeface="Arial MT"/>
              <a:cs typeface="Arial MT"/>
            </a:endParaRPr>
          </a:p>
          <a:p>
            <a:pPr marL="355600" marR="121285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used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series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cylinders,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giving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substitution, </a:t>
            </a:r>
            <a:r>
              <a:rPr sz="2400" dirty="0">
                <a:latin typeface="Arial MT"/>
                <a:cs typeface="Arial MT"/>
              </a:rPr>
              <a:t>which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rotated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changed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after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letter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was </a:t>
            </a:r>
            <a:r>
              <a:rPr sz="2400" spc="-10" dirty="0">
                <a:latin typeface="Arial MT"/>
                <a:cs typeface="Arial MT"/>
              </a:rPr>
              <a:t>encrypted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3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cylinders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have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263=17576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alphabets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Hagelin</a:t>
            </a:r>
            <a:r>
              <a:rPr spc="-35" dirty="0"/>
              <a:t> </a:t>
            </a:r>
            <a:r>
              <a:rPr dirty="0"/>
              <a:t>Rotor</a:t>
            </a:r>
            <a:r>
              <a:rPr spc="-5" dirty="0"/>
              <a:t> </a:t>
            </a:r>
            <a:r>
              <a:rPr spc="-10" dirty="0"/>
              <a:t>Machine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90800" y="1295361"/>
            <a:ext cx="3810000" cy="530682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Rotor</a:t>
            </a:r>
            <a:r>
              <a:rPr spc="-15" dirty="0"/>
              <a:t> </a:t>
            </a:r>
            <a:r>
              <a:rPr dirty="0"/>
              <a:t>Machine</a:t>
            </a:r>
            <a:r>
              <a:rPr spc="-15" dirty="0"/>
              <a:t> </a:t>
            </a:r>
            <a:r>
              <a:rPr spc="-10" dirty="0"/>
              <a:t>Principles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3400" y="1129282"/>
            <a:ext cx="8229600" cy="565251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Steganography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33576"/>
            <a:ext cx="7687945" cy="497649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an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alternative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encryption</a:t>
            </a:r>
            <a:endParaRPr sz="2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hides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existence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message</a:t>
            </a:r>
            <a:endParaRPr sz="28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5600" algn="l"/>
              </a:tabLst>
            </a:pPr>
            <a:r>
              <a:rPr sz="2800" dirty="0">
                <a:latin typeface="Arial MT"/>
                <a:cs typeface="Arial MT"/>
              </a:rPr>
              <a:t>using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only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subset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letters/words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longer </a:t>
            </a:r>
            <a:r>
              <a:rPr sz="2800" dirty="0">
                <a:latin typeface="Arial MT"/>
                <a:cs typeface="Arial MT"/>
              </a:rPr>
              <a:t>message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marked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some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way</a:t>
            </a:r>
            <a:endParaRPr sz="2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70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using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invisible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ink</a:t>
            </a:r>
            <a:endParaRPr sz="2800">
              <a:latin typeface="Arial MT"/>
              <a:cs typeface="Arial MT"/>
            </a:endParaRPr>
          </a:p>
          <a:p>
            <a:pPr marL="355600" marR="12065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5600" algn="l"/>
              </a:tabLst>
            </a:pPr>
            <a:r>
              <a:rPr sz="2800" dirty="0">
                <a:latin typeface="Arial MT"/>
                <a:cs typeface="Arial MT"/>
              </a:rPr>
              <a:t>hiding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LSB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(Least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Significant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Bit)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graphic </a:t>
            </a:r>
            <a:r>
              <a:rPr sz="2800" dirty="0">
                <a:latin typeface="Arial MT"/>
                <a:cs typeface="Arial MT"/>
              </a:rPr>
              <a:t>image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or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sound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file</a:t>
            </a:r>
            <a:endParaRPr sz="2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70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has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drawbacks</a:t>
            </a:r>
            <a:endParaRPr sz="2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high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overhead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hide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relatively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few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info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bits</a:t>
            </a:r>
            <a:endParaRPr sz="2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advantage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can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obscure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encryption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use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LSB</a:t>
            </a:r>
            <a:r>
              <a:rPr spc="-20" dirty="0"/>
              <a:t> </a:t>
            </a:r>
            <a:r>
              <a:rPr spc="-10" dirty="0"/>
              <a:t>Steganography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1219200"/>
            <a:ext cx="7486650" cy="54864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48229" y="2619883"/>
            <a:ext cx="444500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b="0" dirty="0">
                <a:latin typeface="Arial MT"/>
                <a:cs typeface="Arial MT"/>
              </a:rPr>
              <a:t>Thank</a:t>
            </a:r>
            <a:r>
              <a:rPr sz="7200" b="0" spc="-40" dirty="0">
                <a:latin typeface="Arial MT"/>
                <a:cs typeface="Arial MT"/>
              </a:rPr>
              <a:t> </a:t>
            </a:r>
            <a:r>
              <a:rPr sz="7200" b="0" spc="-25" dirty="0">
                <a:latin typeface="Arial MT"/>
                <a:cs typeface="Arial MT"/>
              </a:rPr>
              <a:t>You</a:t>
            </a:r>
            <a:endParaRPr sz="72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8089900" y="5792787"/>
            <a:ext cx="958850" cy="981075"/>
            <a:chOff x="8089900" y="5792787"/>
            <a:chExt cx="958850" cy="981075"/>
          </a:xfrm>
        </p:grpSpPr>
        <p:sp>
          <p:nvSpPr>
            <p:cNvPr id="5" name="object 5"/>
            <p:cNvSpPr/>
            <p:nvPr/>
          </p:nvSpPr>
          <p:spPr>
            <a:xfrm>
              <a:off x="8537575" y="5792787"/>
              <a:ext cx="511175" cy="403225"/>
            </a:xfrm>
            <a:custGeom>
              <a:avLst/>
              <a:gdLst/>
              <a:ahLst/>
              <a:cxnLst/>
              <a:rect l="l" t="t" r="r" b="b"/>
              <a:pathLst>
                <a:path w="511175" h="403225">
                  <a:moveTo>
                    <a:pt x="219075" y="0"/>
                  </a:moveTo>
                  <a:lnTo>
                    <a:pt x="122809" y="21628"/>
                  </a:lnTo>
                  <a:lnTo>
                    <a:pt x="67437" y="55257"/>
                  </a:lnTo>
                  <a:lnTo>
                    <a:pt x="19304" y="98513"/>
                  </a:lnTo>
                  <a:lnTo>
                    <a:pt x="0" y="124942"/>
                  </a:lnTo>
                  <a:lnTo>
                    <a:pt x="91440" y="177800"/>
                  </a:lnTo>
                  <a:lnTo>
                    <a:pt x="115570" y="148971"/>
                  </a:lnTo>
                  <a:lnTo>
                    <a:pt x="130048" y="136956"/>
                  </a:lnTo>
                  <a:lnTo>
                    <a:pt x="146812" y="124942"/>
                  </a:lnTo>
                  <a:lnTo>
                    <a:pt x="180594" y="110528"/>
                  </a:lnTo>
                  <a:lnTo>
                    <a:pt x="199771" y="105714"/>
                  </a:lnTo>
                  <a:lnTo>
                    <a:pt x="219075" y="103314"/>
                  </a:lnTo>
                  <a:lnTo>
                    <a:pt x="219075" y="0"/>
                  </a:lnTo>
                  <a:close/>
                </a:path>
                <a:path w="511175" h="403225">
                  <a:moveTo>
                    <a:pt x="511175" y="277431"/>
                  </a:moveTo>
                  <a:lnTo>
                    <a:pt x="508762" y="243573"/>
                  </a:lnTo>
                  <a:lnTo>
                    <a:pt x="503936" y="209702"/>
                  </a:lnTo>
                  <a:lnTo>
                    <a:pt x="494284" y="178257"/>
                  </a:lnTo>
                  <a:lnTo>
                    <a:pt x="479806" y="149225"/>
                  </a:lnTo>
                  <a:lnTo>
                    <a:pt x="390525" y="202450"/>
                  </a:lnTo>
                  <a:lnTo>
                    <a:pt x="397764" y="219379"/>
                  </a:lnTo>
                  <a:lnTo>
                    <a:pt x="402590" y="236308"/>
                  </a:lnTo>
                  <a:lnTo>
                    <a:pt x="407416" y="255663"/>
                  </a:lnTo>
                  <a:lnTo>
                    <a:pt x="407416" y="296786"/>
                  </a:lnTo>
                  <a:lnTo>
                    <a:pt x="402590" y="316141"/>
                  </a:lnTo>
                  <a:lnTo>
                    <a:pt x="397764" y="333070"/>
                  </a:lnTo>
                  <a:lnTo>
                    <a:pt x="390525" y="352425"/>
                  </a:lnTo>
                  <a:lnTo>
                    <a:pt x="479806" y="403225"/>
                  </a:lnTo>
                  <a:lnTo>
                    <a:pt x="494284" y="374192"/>
                  </a:lnTo>
                  <a:lnTo>
                    <a:pt x="503936" y="342747"/>
                  </a:lnTo>
                  <a:lnTo>
                    <a:pt x="508762" y="311302"/>
                  </a:lnTo>
                  <a:lnTo>
                    <a:pt x="511175" y="277431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494776" y="5942012"/>
              <a:ext cx="262255" cy="403225"/>
            </a:xfrm>
            <a:custGeom>
              <a:avLst/>
              <a:gdLst/>
              <a:ahLst/>
              <a:cxnLst/>
              <a:rect l="l" t="t" r="r" b="b"/>
              <a:pathLst>
                <a:path w="262254" h="403225">
                  <a:moveTo>
                    <a:pt x="120650" y="53225"/>
                  </a:moveTo>
                  <a:lnTo>
                    <a:pt x="31242" y="0"/>
                  </a:lnTo>
                  <a:lnTo>
                    <a:pt x="16891" y="29032"/>
                  </a:lnTo>
                  <a:lnTo>
                    <a:pt x="7239" y="60477"/>
                  </a:lnTo>
                  <a:lnTo>
                    <a:pt x="2413" y="94348"/>
                  </a:lnTo>
                  <a:lnTo>
                    <a:pt x="0" y="128206"/>
                  </a:lnTo>
                  <a:lnTo>
                    <a:pt x="2413" y="162077"/>
                  </a:lnTo>
                  <a:lnTo>
                    <a:pt x="7239" y="193522"/>
                  </a:lnTo>
                  <a:lnTo>
                    <a:pt x="16891" y="224967"/>
                  </a:lnTo>
                  <a:lnTo>
                    <a:pt x="31242" y="254000"/>
                  </a:lnTo>
                  <a:lnTo>
                    <a:pt x="120650" y="203200"/>
                  </a:lnTo>
                  <a:lnTo>
                    <a:pt x="113284" y="183845"/>
                  </a:lnTo>
                  <a:lnTo>
                    <a:pt x="108458" y="166916"/>
                  </a:lnTo>
                  <a:lnTo>
                    <a:pt x="103632" y="147561"/>
                  </a:lnTo>
                  <a:lnTo>
                    <a:pt x="103632" y="106438"/>
                  </a:lnTo>
                  <a:lnTo>
                    <a:pt x="108458" y="87083"/>
                  </a:lnTo>
                  <a:lnTo>
                    <a:pt x="113284" y="70154"/>
                  </a:lnTo>
                  <a:lnTo>
                    <a:pt x="120650" y="53225"/>
                  </a:lnTo>
                  <a:close/>
                </a:path>
                <a:path w="262254" h="403225">
                  <a:moveTo>
                    <a:pt x="261874" y="298983"/>
                  </a:moveTo>
                  <a:lnTo>
                    <a:pt x="223393" y="291719"/>
                  </a:lnTo>
                  <a:lnTo>
                    <a:pt x="172847" y="265049"/>
                  </a:lnTo>
                  <a:lnTo>
                    <a:pt x="134239" y="223837"/>
                  </a:lnTo>
                  <a:lnTo>
                    <a:pt x="42799" y="277164"/>
                  </a:lnTo>
                  <a:lnTo>
                    <a:pt x="110236" y="347472"/>
                  </a:lnTo>
                  <a:lnTo>
                    <a:pt x="165608" y="381406"/>
                  </a:lnTo>
                  <a:lnTo>
                    <a:pt x="228219" y="400799"/>
                  </a:lnTo>
                  <a:lnTo>
                    <a:pt x="261874" y="403225"/>
                  </a:lnTo>
                  <a:lnTo>
                    <a:pt x="261874" y="298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786876" y="5792787"/>
              <a:ext cx="219075" cy="552450"/>
            </a:xfrm>
            <a:custGeom>
              <a:avLst/>
              <a:gdLst/>
              <a:ahLst/>
              <a:cxnLst/>
              <a:rect l="l" t="t" r="r" b="b"/>
              <a:pathLst>
                <a:path w="219075" h="552450">
                  <a:moveTo>
                    <a:pt x="219075" y="426389"/>
                  </a:moveTo>
                  <a:lnTo>
                    <a:pt x="127508" y="373062"/>
                  </a:lnTo>
                  <a:lnTo>
                    <a:pt x="117856" y="390029"/>
                  </a:lnTo>
                  <a:lnTo>
                    <a:pt x="89027" y="414274"/>
                  </a:lnTo>
                  <a:lnTo>
                    <a:pt x="72136" y="426389"/>
                  </a:lnTo>
                  <a:lnTo>
                    <a:pt x="38481" y="440944"/>
                  </a:lnTo>
                  <a:lnTo>
                    <a:pt x="19177" y="445782"/>
                  </a:lnTo>
                  <a:lnTo>
                    <a:pt x="0" y="448208"/>
                  </a:lnTo>
                  <a:lnTo>
                    <a:pt x="0" y="552450"/>
                  </a:lnTo>
                  <a:lnTo>
                    <a:pt x="96266" y="530631"/>
                  </a:lnTo>
                  <a:lnTo>
                    <a:pt x="151638" y="496697"/>
                  </a:lnTo>
                  <a:lnTo>
                    <a:pt x="199771" y="453059"/>
                  </a:lnTo>
                  <a:lnTo>
                    <a:pt x="219075" y="426389"/>
                  </a:lnTo>
                  <a:close/>
                </a:path>
                <a:path w="219075" h="552450">
                  <a:moveTo>
                    <a:pt x="219075" y="124942"/>
                  </a:moveTo>
                  <a:lnTo>
                    <a:pt x="178054" y="76885"/>
                  </a:lnTo>
                  <a:lnTo>
                    <a:pt x="125095" y="36042"/>
                  </a:lnTo>
                  <a:lnTo>
                    <a:pt x="33655" y="2400"/>
                  </a:lnTo>
                  <a:lnTo>
                    <a:pt x="0" y="0"/>
                  </a:lnTo>
                  <a:lnTo>
                    <a:pt x="0" y="103314"/>
                  </a:lnTo>
                  <a:lnTo>
                    <a:pt x="19177" y="105714"/>
                  </a:lnTo>
                  <a:lnTo>
                    <a:pt x="38481" y="110528"/>
                  </a:lnTo>
                  <a:lnTo>
                    <a:pt x="89027" y="136956"/>
                  </a:lnTo>
                  <a:lnTo>
                    <a:pt x="117856" y="163385"/>
                  </a:lnTo>
                  <a:lnTo>
                    <a:pt x="127508" y="177800"/>
                  </a:lnTo>
                  <a:lnTo>
                    <a:pt x="219075" y="124942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215376" y="6221412"/>
              <a:ext cx="247650" cy="138430"/>
            </a:xfrm>
            <a:custGeom>
              <a:avLst/>
              <a:gdLst/>
              <a:ahLst/>
              <a:cxnLst/>
              <a:rect l="l" t="t" r="r" b="b"/>
              <a:pathLst>
                <a:path w="247650" h="138429">
                  <a:moveTo>
                    <a:pt x="180213" y="0"/>
                  </a:moveTo>
                  <a:lnTo>
                    <a:pt x="148971" y="0"/>
                  </a:lnTo>
                  <a:lnTo>
                    <a:pt x="115316" y="4851"/>
                  </a:lnTo>
                  <a:lnTo>
                    <a:pt x="84074" y="14541"/>
                  </a:lnTo>
                  <a:lnTo>
                    <a:pt x="55245" y="26657"/>
                  </a:lnTo>
                  <a:lnTo>
                    <a:pt x="26416" y="43611"/>
                  </a:lnTo>
                  <a:lnTo>
                    <a:pt x="0" y="60579"/>
                  </a:lnTo>
                  <a:lnTo>
                    <a:pt x="69723" y="138112"/>
                  </a:lnTo>
                  <a:lnTo>
                    <a:pt x="103377" y="118732"/>
                  </a:lnTo>
                  <a:lnTo>
                    <a:pt x="120142" y="111455"/>
                  </a:lnTo>
                  <a:lnTo>
                    <a:pt x="139446" y="106616"/>
                  </a:lnTo>
                  <a:lnTo>
                    <a:pt x="156209" y="104190"/>
                  </a:lnTo>
                  <a:lnTo>
                    <a:pt x="175514" y="101765"/>
                  </a:lnTo>
                  <a:lnTo>
                    <a:pt x="217851" y="101765"/>
                  </a:lnTo>
                  <a:lnTo>
                    <a:pt x="247650" y="9690"/>
                  </a:lnTo>
                  <a:lnTo>
                    <a:pt x="213868" y="2425"/>
                  </a:lnTo>
                  <a:lnTo>
                    <a:pt x="180213" y="0"/>
                  </a:lnTo>
                  <a:close/>
                </a:path>
                <a:path w="247650" h="138429">
                  <a:moveTo>
                    <a:pt x="217851" y="101765"/>
                  </a:moveTo>
                  <a:lnTo>
                    <a:pt x="175514" y="101765"/>
                  </a:lnTo>
                  <a:lnTo>
                    <a:pt x="197103" y="104190"/>
                  </a:lnTo>
                  <a:lnTo>
                    <a:pt x="216280" y="106616"/>
                  </a:lnTo>
                  <a:lnTo>
                    <a:pt x="217851" y="10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113776" y="6300787"/>
              <a:ext cx="554355" cy="455930"/>
            </a:xfrm>
            <a:custGeom>
              <a:avLst/>
              <a:gdLst/>
              <a:ahLst/>
              <a:cxnLst/>
              <a:rect l="l" t="t" r="r" b="b"/>
              <a:pathLst>
                <a:path w="554354" h="455929">
                  <a:moveTo>
                    <a:pt x="152400" y="77216"/>
                  </a:moveTo>
                  <a:lnTo>
                    <a:pt x="82169" y="0"/>
                  </a:lnTo>
                  <a:lnTo>
                    <a:pt x="60452" y="24130"/>
                  </a:lnTo>
                  <a:lnTo>
                    <a:pt x="41021" y="50673"/>
                  </a:lnTo>
                  <a:lnTo>
                    <a:pt x="26543" y="79629"/>
                  </a:lnTo>
                  <a:lnTo>
                    <a:pt x="14478" y="110998"/>
                  </a:lnTo>
                  <a:lnTo>
                    <a:pt x="4826" y="142367"/>
                  </a:lnTo>
                  <a:lnTo>
                    <a:pt x="0" y="176149"/>
                  </a:lnTo>
                  <a:lnTo>
                    <a:pt x="0" y="209931"/>
                  </a:lnTo>
                  <a:lnTo>
                    <a:pt x="4826" y="241300"/>
                  </a:lnTo>
                  <a:lnTo>
                    <a:pt x="106426" y="219583"/>
                  </a:lnTo>
                  <a:lnTo>
                    <a:pt x="104013" y="200279"/>
                  </a:lnTo>
                  <a:lnTo>
                    <a:pt x="104013" y="180975"/>
                  </a:lnTo>
                  <a:lnTo>
                    <a:pt x="111252" y="142367"/>
                  </a:lnTo>
                  <a:lnTo>
                    <a:pt x="128143" y="106172"/>
                  </a:lnTo>
                  <a:lnTo>
                    <a:pt x="140208" y="91694"/>
                  </a:lnTo>
                  <a:lnTo>
                    <a:pt x="152400" y="77216"/>
                  </a:lnTo>
                  <a:close/>
                </a:path>
                <a:path w="554354" h="455929">
                  <a:moveTo>
                    <a:pt x="209550" y="356857"/>
                  </a:moveTo>
                  <a:lnTo>
                    <a:pt x="175768" y="337591"/>
                  </a:lnTo>
                  <a:lnTo>
                    <a:pt x="146812" y="311099"/>
                  </a:lnTo>
                  <a:lnTo>
                    <a:pt x="125095" y="279781"/>
                  </a:lnTo>
                  <a:lnTo>
                    <a:pt x="110617" y="246062"/>
                  </a:lnTo>
                  <a:lnTo>
                    <a:pt x="9525" y="267741"/>
                  </a:lnTo>
                  <a:lnTo>
                    <a:pt x="33528" y="327952"/>
                  </a:lnTo>
                  <a:lnTo>
                    <a:pt x="69723" y="380949"/>
                  </a:lnTo>
                  <a:lnTo>
                    <a:pt x="117856" y="424307"/>
                  </a:lnTo>
                  <a:lnTo>
                    <a:pt x="178181" y="455625"/>
                  </a:lnTo>
                  <a:lnTo>
                    <a:pt x="209550" y="356857"/>
                  </a:lnTo>
                  <a:close/>
                </a:path>
                <a:path w="554354" h="455929">
                  <a:moveTo>
                    <a:pt x="553974" y="183769"/>
                  </a:moveTo>
                  <a:lnTo>
                    <a:pt x="549148" y="152400"/>
                  </a:lnTo>
                  <a:lnTo>
                    <a:pt x="448691" y="174117"/>
                  </a:lnTo>
                  <a:lnTo>
                    <a:pt x="450977" y="193421"/>
                  </a:lnTo>
                  <a:lnTo>
                    <a:pt x="450977" y="212725"/>
                  </a:lnTo>
                  <a:lnTo>
                    <a:pt x="441452" y="251333"/>
                  </a:lnTo>
                  <a:lnTo>
                    <a:pt x="415163" y="302006"/>
                  </a:lnTo>
                  <a:lnTo>
                    <a:pt x="403225" y="316484"/>
                  </a:lnTo>
                  <a:lnTo>
                    <a:pt x="472567" y="393700"/>
                  </a:lnTo>
                  <a:lnTo>
                    <a:pt x="513334" y="343027"/>
                  </a:lnTo>
                  <a:lnTo>
                    <a:pt x="539623" y="282702"/>
                  </a:lnTo>
                  <a:lnTo>
                    <a:pt x="553974" y="217551"/>
                  </a:lnTo>
                  <a:lnTo>
                    <a:pt x="553974" y="183769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456675" y="6238875"/>
              <a:ext cx="201930" cy="209550"/>
            </a:xfrm>
            <a:custGeom>
              <a:avLst/>
              <a:gdLst/>
              <a:ahLst/>
              <a:cxnLst/>
              <a:rect l="l" t="t" r="r" b="b"/>
              <a:pathLst>
                <a:path w="201929" h="209550">
                  <a:moveTo>
                    <a:pt x="33527" y="0"/>
                  </a:moveTo>
                  <a:lnTo>
                    <a:pt x="0" y="98755"/>
                  </a:lnTo>
                  <a:lnTo>
                    <a:pt x="19176" y="108394"/>
                  </a:lnTo>
                  <a:lnTo>
                    <a:pt x="35941" y="118021"/>
                  </a:lnTo>
                  <a:lnTo>
                    <a:pt x="64770" y="144513"/>
                  </a:lnTo>
                  <a:lnTo>
                    <a:pt x="93599" y="192684"/>
                  </a:lnTo>
                  <a:lnTo>
                    <a:pt x="100710" y="209550"/>
                  </a:lnTo>
                  <a:lnTo>
                    <a:pt x="201549" y="187871"/>
                  </a:lnTo>
                  <a:lnTo>
                    <a:pt x="191897" y="156565"/>
                  </a:lnTo>
                  <a:lnTo>
                    <a:pt x="177546" y="127660"/>
                  </a:lnTo>
                  <a:lnTo>
                    <a:pt x="141604" y="74663"/>
                  </a:lnTo>
                  <a:lnTo>
                    <a:pt x="91185" y="31318"/>
                  </a:lnTo>
                  <a:lnTo>
                    <a:pt x="64770" y="14452"/>
                  </a:lnTo>
                  <a:lnTo>
                    <a:pt x="335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89900" y="5821362"/>
              <a:ext cx="476250" cy="952500"/>
            </a:xfrm>
            <a:custGeom>
              <a:avLst/>
              <a:gdLst/>
              <a:ahLst/>
              <a:cxnLst/>
              <a:rect l="l" t="t" r="r" b="b"/>
              <a:pathLst>
                <a:path w="476250" h="952500">
                  <a:moveTo>
                    <a:pt x="106426" y="160007"/>
                  </a:moveTo>
                  <a:lnTo>
                    <a:pt x="21717" y="109537"/>
                  </a:lnTo>
                  <a:lnTo>
                    <a:pt x="12065" y="128765"/>
                  </a:lnTo>
                  <a:lnTo>
                    <a:pt x="4826" y="150393"/>
                  </a:lnTo>
                  <a:lnTo>
                    <a:pt x="2413" y="174421"/>
                  </a:lnTo>
                  <a:lnTo>
                    <a:pt x="0" y="196062"/>
                  </a:lnTo>
                  <a:lnTo>
                    <a:pt x="2413" y="220091"/>
                  </a:lnTo>
                  <a:lnTo>
                    <a:pt x="4826" y="241719"/>
                  </a:lnTo>
                  <a:lnTo>
                    <a:pt x="12065" y="263347"/>
                  </a:lnTo>
                  <a:lnTo>
                    <a:pt x="21717" y="282575"/>
                  </a:lnTo>
                  <a:lnTo>
                    <a:pt x="106426" y="234505"/>
                  </a:lnTo>
                  <a:lnTo>
                    <a:pt x="101473" y="215277"/>
                  </a:lnTo>
                  <a:lnTo>
                    <a:pt x="99060" y="196062"/>
                  </a:lnTo>
                  <a:lnTo>
                    <a:pt x="101473" y="176834"/>
                  </a:lnTo>
                  <a:lnTo>
                    <a:pt x="106426" y="160007"/>
                  </a:lnTo>
                  <a:close/>
                </a:path>
                <a:path w="476250" h="952500">
                  <a:moveTo>
                    <a:pt x="182626" y="292328"/>
                  </a:moveTo>
                  <a:lnTo>
                    <a:pt x="163322" y="287528"/>
                  </a:lnTo>
                  <a:lnTo>
                    <a:pt x="146431" y="280352"/>
                  </a:lnTo>
                  <a:lnTo>
                    <a:pt x="132080" y="268376"/>
                  </a:lnTo>
                  <a:lnTo>
                    <a:pt x="117602" y="254000"/>
                  </a:lnTo>
                  <a:lnTo>
                    <a:pt x="33401" y="304304"/>
                  </a:lnTo>
                  <a:lnTo>
                    <a:pt x="59817" y="337832"/>
                  </a:lnTo>
                  <a:lnTo>
                    <a:pt x="95885" y="364172"/>
                  </a:lnTo>
                  <a:lnTo>
                    <a:pt x="136779" y="383336"/>
                  </a:lnTo>
                  <a:lnTo>
                    <a:pt x="182626" y="390525"/>
                  </a:lnTo>
                  <a:lnTo>
                    <a:pt x="182626" y="292328"/>
                  </a:lnTo>
                  <a:close/>
                </a:path>
                <a:path w="476250" h="952500">
                  <a:moveTo>
                    <a:pt x="182626" y="0"/>
                  </a:moveTo>
                  <a:lnTo>
                    <a:pt x="115189" y="16967"/>
                  </a:lnTo>
                  <a:lnTo>
                    <a:pt x="76708" y="38773"/>
                  </a:lnTo>
                  <a:lnTo>
                    <a:pt x="45339" y="70269"/>
                  </a:lnTo>
                  <a:lnTo>
                    <a:pt x="33401" y="87223"/>
                  </a:lnTo>
                  <a:lnTo>
                    <a:pt x="117602" y="138112"/>
                  </a:lnTo>
                  <a:lnTo>
                    <a:pt x="132080" y="123571"/>
                  </a:lnTo>
                  <a:lnTo>
                    <a:pt x="146431" y="111455"/>
                  </a:lnTo>
                  <a:lnTo>
                    <a:pt x="163322" y="104190"/>
                  </a:lnTo>
                  <a:lnTo>
                    <a:pt x="182626" y="99339"/>
                  </a:lnTo>
                  <a:lnTo>
                    <a:pt x="182626" y="0"/>
                  </a:lnTo>
                  <a:close/>
                </a:path>
                <a:path w="476250" h="952500">
                  <a:moveTo>
                    <a:pt x="476250" y="889876"/>
                  </a:moveTo>
                  <a:lnTo>
                    <a:pt x="439204" y="848931"/>
                  </a:lnTo>
                  <a:lnTo>
                    <a:pt x="406527" y="812800"/>
                  </a:lnTo>
                  <a:lnTo>
                    <a:pt x="389636" y="824839"/>
                  </a:lnTo>
                  <a:lnTo>
                    <a:pt x="372872" y="834478"/>
                  </a:lnTo>
                  <a:lnTo>
                    <a:pt x="355981" y="841705"/>
                  </a:lnTo>
                  <a:lnTo>
                    <a:pt x="336804" y="846518"/>
                  </a:lnTo>
                  <a:lnTo>
                    <a:pt x="317500" y="848931"/>
                  </a:lnTo>
                  <a:lnTo>
                    <a:pt x="279146" y="848931"/>
                  </a:lnTo>
                  <a:lnTo>
                    <a:pt x="259842" y="844118"/>
                  </a:lnTo>
                  <a:lnTo>
                    <a:pt x="228600" y="942873"/>
                  </a:lnTo>
                  <a:lnTo>
                    <a:pt x="262255" y="950099"/>
                  </a:lnTo>
                  <a:lnTo>
                    <a:pt x="295910" y="952500"/>
                  </a:lnTo>
                  <a:lnTo>
                    <a:pt x="327152" y="952500"/>
                  </a:lnTo>
                  <a:lnTo>
                    <a:pt x="360807" y="947686"/>
                  </a:lnTo>
                  <a:lnTo>
                    <a:pt x="392049" y="938060"/>
                  </a:lnTo>
                  <a:lnTo>
                    <a:pt x="421005" y="926007"/>
                  </a:lnTo>
                  <a:lnTo>
                    <a:pt x="449834" y="909142"/>
                  </a:lnTo>
                  <a:lnTo>
                    <a:pt x="476250" y="889876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297926" y="5930899"/>
              <a:ext cx="182880" cy="281305"/>
            </a:xfrm>
            <a:custGeom>
              <a:avLst/>
              <a:gdLst/>
              <a:ahLst/>
              <a:cxnLst/>
              <a:rect l="l" t="t" r="r" b="b"/>
              <a:pathLst>
                <a:path w="182879" h="281304">
                  <a:moveTo>
                    <a:pt x="150749" y="194767"/>
                  </a:moveTo>
                  <a:lnTo>
                    <a:pt x="64516" y="144462"/>
                  </a:lnTo>
                  <a:lnTo>
                    <a:pt x="52578" y="158838"/>
                  </a:lnTo>
                  <a:lnTo>
                    <a:pt x="35814" y="170815"/>
                  </a:lnTo>
                  <a:lnTo>
                    <a:pt x="19050" y="177990"/>
                  </a:lnTo>
                  <a:lnTo>
                    <a:pt x="0" y="182791"/>
                  </a:lnTo>
                  <a:lnTo>
                    <a:pt x="0" y="280987"/>
                  </a:lnTo>
                  <a:lnTo>
                    <a:pt x="45466" y="273799"/>
                  </a:lnTo>
                  <a:lnTo>
                    <a:pt x="86106" y="254635"/>
                  </a:lnTo>
                  <a:lnTo>
                    <a:pt x="122047" y="228295"/>
                  </a:lnTo>
                  <a:lnTo>
                    <a:pt x="150749" y="194767"/>
                  </a:lnTo>
                  <a:close/>
                </a:path>
                <a:path w="182879" h="281304">
                  <a:moveTo>
                    <a:pt x="182499" y="64884"/>
                  </a:moveTo>
                  <a:lnTo>
                    <a:pt x="177673" y="40855"/>
                  </a:lnTo>
                  <a:lnTo>
                    <a:pt x="170434" y="19227"/>
                  </a:lnTo>
                  <a:lnTo>
                    <a:pt x="163195" y="0"/>
                  </a:lnTo>
                  <a:lnTo>
                    <a:pt x="76200" y="50469"/>
                  </a:lnTo>
                  <a:lnTo>
                    <a:pt x="83439" y="67297"/>
                  </a:lnTo>
                  <a:lnTo>
                    <a:pt x="83439" y="105740"/>
                  </a:lnTo>
                  <a:lnTo>
                    <a:pt x="76200" y="124968"/>
                  </a:lnTo>
                  <a:lnTo>
                    <a:pt x="163195" y="173037"/>
                  </a:lnTo>
                  <a:lnTo>
                    <a:pt x="170434" y="153809"/>
                  </a:lnTo>
                  <a:lnTo>
                    <a:pt x="177673" y="132181"/>
                  </a:lnTo>
                  <a:lnTo>
                    <a:pt x="182499" y="110553"/>
                  </a:lnTo>
                  <a:lnTo>
                    <a:pt x="182499" y="648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297925" y="5821362"/>
              <a:ext cx="151130" cy="138430"/>
            </a:xfrm>
            <a:custGeom>
              <a:avLst/>
              <a:gdLst/>
              <a:ahLst/>
              <a:cxnLst/>
              <a:rect l="l" t="t" r="r" b="b"/>
              <a:pathLst>
                <a:path w="151129" h="138429">
                  <a:moveTo>
                    <a:pt x="0" y="0"/>
                  </a:moveTo>
                  <a:lnTo>
                    <a:pt x="0" y="99339"/>
                  </a:lnTo>
                  <a:lnTo>
                    <a:pt x="19050" y="104190"/>
                  </a:lnTo>
                  <a:lnTo>
                    <a:pt x="35814" y="111455"/>
                  </a:lnTo>
                  <a:lnTo>
                    <a:pt x="52577" y="123571"/>
                  </a:lnTo>
                  <a:lnTo>
                    <a:pt x="64516" y="138112"/>
                  </a:lnTo>
                  <a:lnTo>
                    <a:pt x="150749" y="87223"/>
                  </a:lnTo>
                  <a:lnTo>
                    <a:pt x="122047" y="53301"/>
                  </a:lnTo>
                  <a:lnTo>
                    <a:pt x="86105" y="26657"/>
                  </a:lnTo>
                  <a:lnTo>
                    <a:pt x="23875" y="24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882</Words>
  <Application>Microsoft Office PowerPoint</Application>
  <PresentationFormat>On-screen Show (4:3)</PresentationFormat>
  <Paragraphs>153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Arial MT</vt:lpstr>
      <vt:lpstr>Calibri</vt:lpstr>
      <vt:lpstr>Times New Roman</vt:lpstr>
      <vt:lpstr>Office Theme</vt:lpstr>
      <vt:lpstr>Cyber Security &amp; Digital Forensics CSE - 4207</vt:lpstr>
      <vt:lpstr>Outline</vt:lpstr>
      <vt:lpstr>Transposition Ciphers</vt:lpstr>
      <vt:lpstr>Rail Fence cipher</vt:lpstr>
      <vt:lpstr>Rail Fence Cipher Example</vt:lpstr>
      <vt:lpstr>Rail Fence Cipher Example</vt:lpstr>
      <vt:lpstr>Rail Fence Cipher Example</vt:lpstr>
      <vt:lpstr>Columnar Transposition Ciphers</vt:lpstr>
      <vt:lpstr>Columnar Transposition Ciphers</vt:lpstr>
      <vt:lpstr>Columnar Transposition Ciphers</vt:lpstr>
      <vt:lpstr>Columnar Transposition Ciphers</vt:lpstr>
      <vt:lpstr>Product Ciphers</vt:lpstr>
      <vt:lpstr>Rotor Machines</vt:lpstr>
      <vt:lpstr>Hagelin Rotor Machine</vt:lpstr>
      <vt:lpstr>Rotor Machine Principles</vt:lpstr>
      <vt:lpstr>Steganography</vt:lpstr>
      <vt:lpstr>LSB Steganography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text to go here</dc:title>
  <dc:creator>Windows User</dc:creator>
  <cp:lastModifiedBy>Home</cp:lastModifiedBy>
  <cp:revision>1</cp:revision>
  <dcterms:created xsi:type="dcterms:W3CDTF">2026-03-02T17:14:31Z</dcterms:created>
  <dcterms:modified xsi:type="dcterms:W3CDTF">2026-03-02T17:18:44Z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2023-10-29T00:00:00Z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2026-03-02T00:00:00Z</vt:filetime>
  </property>
  <property fmtid="{D5CDD505-2E9C-101B-9397-08002B2CF9AE}" pid="5" name="Producer">
    <vt:lpwstr>Microsoft® PowerPoint® 2010</vt:lpwstr>
  </property>
</Properties>
</file>