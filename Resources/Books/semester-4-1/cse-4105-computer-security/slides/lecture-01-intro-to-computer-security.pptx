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0" d="100"/>
          <a:sy n="150" d="100"/>
        </p:scale>
        <p:origin x="2094" y="1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16" y="14843"/>
            <a:ext cx="9136083" cy="68431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9644" y="436829"/>
            <a:ext cx="7417434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8954" y="1215890"/>
            <a:ext cx="8086090" cy="4799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86740" y="6297267"/>
            <a:ext cx="276859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ackground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25" y="0"/>
            <a:ext cx="9096375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12393" y="1380820"/>
            <a:ext cx="752538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0" marR="5080" indent="-256603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</a:rPr>
              <a:t>Cyber</a:t>
            </a:r>
            <a:r>
              <a:rPr sz="3600" spc="-10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Security &amp; Digital </a:t>
            </a:r>
            <a:r>
              <a:rPr sz="3600" spc="-10" dirty="0">
                <a:solidFill>
                  <a:srgbClr val="000000"/>
                </a:solidFill>
              </a:rPr>
              <a:t>Forensics </a:t>
            </a:r>
            <a:r>
              <a:rPr sz="3600" dirty="0">
                <a:solidFill>
                  <a:srgbClr val="000000"/>
                </a:solidFill>
              </a:rPr>
              <a:t>CSE</a:t>
            </a:r>
            <a:r>
              <a:rPr sz="3600" spc="-1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-</a:t>
            </a:r>
            <a:r>
              <a:rPr sz="3600" spc="-10" dirty="0">
                <a:solidFill>
                  <a:srgbClr val="000000"/>
                </a:solidFill>
              </a:rPr>
              <a:t> </a:t>
            </a:r>
            <a:r>
              <a:rPr sz="3600" spc="-20" dirty="0">
                <a:solidFill>
                  <a:srgbClr val="000000"/>
                </a:solidFill>
              </a:rPr>
              <a:t>4207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1577721" y="3152393"/>
            <a:ext cx="5987415" cy="25667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Arial"/>
                <a:cs typeface="Arial"/>
              </a:rPr>
              <a:t>Lecture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-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01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75"/>
              </a:spcBef>
            </a:pPr>
            <a:endParaRPr sz="2800" dirty="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</a:pPr>
            <a:r>
              <a:rPr lang="en-US" sz="3200" dirty="0">
                <a:latin typeface="Arial"/>
                <a:cs typeface="Arial"/>
              </a:rPr>
              <a:t>Dr. Md. Alam Hossain</a:t>
            </a:r>
            <a:endParaRPr sz="3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lang="en-US" sz="2400" spc="-10" dirty="0">
                <a:latin typeface="Arial"/>
                <a:cs typeface="Arial"/>
              </a:rPr>
              <a:t>Professor</a:t>
            </a:r>
            <a:endParaRPr sz="24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Arial"/>
                <a:cs typeface="Arial"/>
              </a:rPr>
              <a:t>Jashore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University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Science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&amp;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Technology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8600" y="1143000"/>
            <a:ext cx="447675" cy="659130"/>
            <a:chOff x="228600" y="1143000"/>
            <a:chExt cx="447675" cy="659130"/>
          </a:xfrm>
        </p:grpSpPr>
        <p:sp>
          <p:nvSpPr>
            <p:cNvPr id="6" name="object 6"/>
            <p:cNvSpPr/>
            <p:nvPr/>
          </p:nvSpPr>
          <p:spPr>
            <a:xfrm>
              <a:off x="307784" y="1371600"/>
              <a:ext cx="193040" cy="107950"/>
            </a:xfrm>
            <a:custGeom>
              <a:avLst/>
              <a:gdLst/>
              <a:ahLst/>
              <a:cxnLst/>
              <a:rect l="l" t="t" r="r" b="b"/>
              <a:pathLst>
                <a:path w="193040" h="107950">
                  <a:moveTo>
                    <a:pt x="140538" y="0"/>
                  </a:moveTo>
                  <a:lnTo>
                    <a:pt x="116179" y="0"/>
                  </a:lnTo>
                  <a:lnTo>
                    <a:pt x="89941" y="3810"/>
                  </a:lnTo>
                  <a:lnTo>
                    <a:pt x="65582" y="11302"/>
                  </a:lnTo>
                  <a:lnTo>
                    <a:pt x="43103" y="20700"/>
                  </a:lnTo>
                  <a:lnTo>
                    <a:pt x="20612" y="33909"/>
                  </a:lnTo>
                  <a:lnTo>
                    <a:pt x="0" y="47116"/>
                  </a:lnTo>
                  <a:lnTo>
                    <a:pt x="54343" y="107569"/>
                  </a:lnTo>
                  <a:lnTo>
                    <a:pt x="80581" y="92455"/>
                  </a:lnTo>
                  <a:lnTo>
                    <a:pt x="93687" y="86740"/>
                  </a:lnTo>
                  <a:lnTo>
                    <a:pt x="108686" y="83058"/>
                  </a:lnTo>
                  <a:lnTo>
                    <a:pt x="121805" y="81152"/>
                  </a:lnTo>
                  <a:lnTo>
                    <a:pt x="136791" y="79248"/>
                  </a:lnTo>
                  <a:lnTo>
                    <a:pt x="169884" y="79248"/>
                  </a:lnTo>
                  <a:lnTo>
                    <a:pt x="193014" y="7492"/>
                  </a:lnTo>
                  <a:lnTo>
                    <a:pt x="166776" y="1904"/>
                  </a:lnTo>
                  <a:lnTo>
                    <a:pt x="140538" y="0"/>
                  </a:lnTo>
                  <a:close/>
                </a:path>
                <a:path w="193040" h="107950">
                  <a:moveTo>
                    <a:pt x="169884" y="79248"/>
                  </a:moveTo>
                  <a:lnTo>
                    <a:pt x="136791" y="79248"/>
                  </a:lnTo>
                  <a:lnTo>
                    <a:pt x="153657" y="81152"/>
                  </a:lnTo>
                  <a:lnTo>
                    <a:pt x="168656" y="83058"/>
                  </a:lnTo>
                  <a:lnTo>
                    <a:pt x="169884" y="792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8600" y="1433448"/>
              <a:ext cx="431800" cy="354965"/>
            </a:xfrm>
            <a:custGeom>
              <a:avLst/>
              <a:gdLst/>
              <a:ahLst/>
              <a:cxnLst/>
              <a:rect l="l" t="t" r="r" b="b"/>
              <a:pathLst>
                <a:path w="431800" h="354964">
                  <a:moveTo>
                    <a:pt x="118770" y="60071"/>
                  </a:moveTo>
                  <a:lnTo>
                    <a:pt x="64096" y="0"/>
                  </a:lnTo>
                  <a:lnTo>
                    <a:pt x="47129" y="18796"/>
                  </a:lnTo>
                  <a:lnTo>
                    <a:pt x="32054" y="39370"/>
                  </a:lnTo>
                  <a:lnTo>
                    <a:pt x="20739" y="61976"/>
                  </a:lnTo>
                  <a:lnTo>
                    <a:pt x="11315" y="86360"/>
                  </a:lnTo>
                  <a:lnTo>
                    <a:pt x="3771" y="110871"/>
                  </a:lnTo>
                  <a:lnTo>
                    <a:pt x="0" y="137160"/>
                  </a:lnTo>
                  <a:lnTo>
                    <a:pt x="0" y="163449"/>
                  </a:lnTo>
                  <a:lnTo>
                    <a:pt x="3771" y="187833"/>
                  </a:lnTo>
                  <a:lnTo>
                    <a:pt x="82956" y="170942"/>
                  </a:lnTo>
                  <a:lnTo>
                    <a:pt x="81064" y="155956"/>
                  </a:lnTo>
                  <a:lnTo>
                    <a:pt x="81064" y="140843"/>
                  </a:lnTo>
                  <a:lnTo>
                    <a:pt x="82956" y="125857"/>
                  </a:lnTo>
                  <a:lnTo>
                    <a:pt x="86728" y="110871"/>
                  </a:lnTo>
                  <a:lnTo>
                    <a:pt x="92379" y="97663"/>
                  </a:lnTo>
                  <a:lnTo>
                    <a:pt x="99923" y="82677"/>
                  </a:lnTo>
                  <a:lnTo>
                    <a:pt x="118770" y="60071"/>
                  </a:lnTo>
                  <a:close/>
                </a:path>
                <a:path w="431800" h="354964">
                  <a:moveTo>
                    <a:pt x="163322" y="277876"/>
                  </a:moveTo>
                  <a:lnTo>
                    <a:pt x="125755" y="253492"/>
                  </a:lnTo>
                  <a:lnTo>
                    <a:pt x="97574" y="217805"/>
                  </a:lnTo>
                  <a:lnTo>
                    <a:pt x="86309" y="191643"/>
                  </a:lnTo>
                  <a:lnTo>
                    <a:pt x="7416" y="208407"/>
                  </a:lnTo>
                  <a:lnTo>
                    <a:pt x="26200" y="255397"/>
                  </a:lnTo>
                  <a:lnTo>
                    <a:pt x="54381" y="296672"/>
                  </a:lnTo>
                  <a:lnTo>
                    <a:pt x="91948" y="330327"/>
                  </a:lnTo>
                  <a:lnTo>
                    <a:pt x="138899" y="354711"/>
                  </a:lnTo>
                  <a:lnTo>
                    <a:pt x="163322" y="277876"/>
                  </a:lnTo>
                  <a:close/>
                </a:path>
                <a:path w="431800" h="354964">
                  <a:moveTo>
                    <a:pt x="431800" y="143129"/>
                  </a:moveTo>
                  <a:lnTo>
                    <a:pt x="428066" y="118618"/>
                  </a:lnTo>
                  <a:lnTo>
                    <a:pt x="349707" y="135509"/>
                  </a:lnTo>
                  <a:lnTo>
                    <a:pt x="351574" y="150622"/>
                  </a:lnTo>
                  <a:lnTo>
                    <a:pt x="351574" y="165608"/>
                  </a:lnTo>
                  <a:lnTo>
                    <a:pt x="349707" y="180594"/>
                  </a:lnTo>
                  <a:lnTo>
                    <a:pt x="344106" y="195707"/>
                  </a:lnTo>
                  <a:lnTo>
                    <a:pt x="338518" y="208788"/>
                  </a:lnTo>
                  <a:lnTo>
                    <a:pt x="332917" y="221996"/>
                  </a:lnTo>
                  <a:lnTo>
                    <a:pt x="323583" y="235204"/>
                  </a:lnTo>
                  <a:lnTo>
                    <a:pt x="314261" y="246380"/>
                  </a:lnTo>
                  <a:lnTo>
                    <a:pt x="368363" y="306578"/>
                  </a:lnTo>
                  <a:lnTo>
                    <a:pt x="400088" y="267081"/>
                  </a:lnTo>
                  <a:lnTo>
                    <a:pt x="420611" y="220091"/>
                  </a:lnTo>
                  <a:lnTo>
                    <a:pt x="431800" y="169418"/>
                  </a:lnTo>
                  <a:lnTo>
                    <a:pt x="431800" y="14312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5846" y="1385188"/>
              <a:ext cx="157480" cy="163195"/>
            </a:xfrm>
            <a:custGeom>
              <a:avLst/>
              <a:gdLst/>
              <a:ahLst/>
              <a:cxnLst/>
              <a:rect l="l" t="t" r="r" b="b"/>
              <a:pathLst>
                <a:path w="157479" h="163194">
                  <a:moveTo>
                    <a:pt x="26187" y="0"/>
                  </a:moveTo>
                  <a:lnTo>
                    <a:pt x="0" y="76962"/>
                  </a:lnTo>
                  <a:lnTo>
                    <a:pt x="14960" y="84455"/>
                  </a:lnTo>
                  <a:lnTo>
                    <a:pt x="28054" y="91948"/>
                  </a:lnTo>
                  <a:lnTo>
                    <a:pt x="59855" y="123825"/>
                  </a:lnTo>
                  <a:lnTo>
                    <a:pt x="72948" y="150113"/>
                  </a:lnTo>
                  <a:lnTo>
                    <a:pt x="78562" y="163195"/>
                  </a:lnTo>
                  <a:lnTo>
                    <a:pt x="157137" y="146303"/>
                  </a:lnTo>
                  <a:lnTo>
                    <a:pt x="149644" y="121920"/>
                  </a:lnTo>
                  <a:lnTo>
                    <a:pt x="138429" y="99440"/>
                  </a:lnTo>
                  <a:lnTo>
                    <a:pt x="110362" y="58165"/>
                  </a:lnTo>
                  <a:lnTo>
                    <a:pt x="71081" y="24384"/>
                  </a:lnTo>
                  <a:lnTo>
                    <a:pt x="50507" y="11302"/>
                  </a:lnTo>
                  <a:lnTo>
                    <a:pt x="261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8200" y="1142999"/>
              <a:ext cx="193040" cy="659130"/>
            </a:xfrm>
            <a:custGeom>
              <a:avLst/>
              <a:gdLst/>
              <a:ahLst/>
              <a:cxnLst/>
              <a:rect l="l" t="t" r="r" b="b"/>
              <a:pathLst>
                <a:path w="193040" h="659130">
                  <a:moveTo>
                    <a:pt x="128663" y="89789"/>
                  </a:moveTo>
                  <a:lnTo>
                    <a:pt x="81203" y="61468"/>
                  </a:lnTo>
                  <a:lnTo>
                    <a:pt x="75780" y="72263"/>
                  </a:lnTo>
                  <a:lnTo>
                    <a:pt x="71716" y="84328"/>
                  </a:lnTo>
                  <a:lnTo>
                    <a:pt x="70358" y="97790"/>
                  </a:lnTo>
                  <a:lnTo>
                    <a:pt x="68999" y="109982"/>
                  </a:lnTo>
                  <a:lnTo>
                    <a:pt x="70358" y="123444"/>
                  </a:lnTo>
                  <a:lnTo>
                    <a:pt x="71716" y="135636"/>
                  </a:lnTo>
                  <a:lnTo>
                    <a:pt x="75780" y="147701"/>
                  </a:lnTo>
                  <a:lnTo>
                    <a:pt x="81203" y="158496"/>
                  </a:lnTo>
                  <a:lnTo>
                    <a:pt x="128663" y="131572"/>
                  </a:lnTo>
                  <a:lnTo>
                    <a:pt x="125958" y="120777"/>
                  </a:lnTo>
                  <a:lnTo>
                    <a:pt x="124599" y="109982"/>
                  </a:lnTo>
                  <a:lnTo>
                    <a:pt x="125958" y="99187"/>
                  </a:lnTo>
                  <a:lnTo>
                    <a:pt x="128663" y="89789"/>
                  </a:lnTo>
                  <a:close/>
                </a:path>
                <a:path w="193040" h="659130">
                  <a:moveTo>
                    <a:pt x="171411" y="163957"/>
                  </a:moveTo>
                  <a:lnTo>
                    <a:pt x="160616" y="161290"/>
                  </a:lnTo>
                  <a:lnTo>
                    <a:pt x="151155" y="157226"/>
                  </a:lnTo>
                  <a:lnTo>
                    <a:pt x="143052" y="150495"/>
                  </a:lnTo>
                  <a:lnTo>
                    <a:pt x="134962" y="142494"/>
                  </a:lnTo>
                  <a:lnTo>
                    <a:pt x="87706" y="170688"/>
                  </a:lnTo>
                  <a:lnTo>
                    <a:pt x="122809" y="204343"/>
                  </a:lnTo>
                  <a:lnTo>
                    <a:pt x="171411" y="219075"/>
                  </a:lnTo>
                  <a:lnTo>
                    <a:pt x="171411" y="163957"/>
                  </a:lnTo>
                  <a:close/>
                </a:path>
                <a:path w="193040" h="659130">
                  <a:moveTo>
                    <a:pt x="171411" y="0"/>
                  </a:moveTo>
                  <a:lnTo>
                    <a:pt x="133604" y="9525"/>
                  </a:lnTo>
                  <a:lnTo>
                    <a:pt x="94449" y="39370"/>
                  </a:lnTo>
                  <a:lnTo>
                    <a:pt x="87706" y="48895"/>
                  </a:lnTo>
                  <a:lnTo>
                    <a:pt x="134962" y="77470"/>
                  </a:lnTo>
                  <a:lnTo>
                    <a:pt x="143052" y="69342"/>
                  </a:lnTo>
                  <a:lnTo>
                    <a:pt x="151155" y="62484"/>
                  </a:lnTo>
                  <a:lnTo>
                    <a:pt x="160616" y="58420"/>
                  </a:lnTo>
                  <a:lnTo>
                    <a:pt x="171411" y="55753"/>
                  </a:lnTo>
                  <a:lnTo>
                    <a:pt x="171411" y="0"/>
                  </a:lnTo>
                  <a:close/>
                </a:path>
                <a:path w="193040" h="659130">
                  <a:moveTo>
                    <a:pt x="193014" y="610108"/>
                  </a:moveTo>
                  <a:lnTo>
                    <a:pt x="164058" y="578104"/>
                  </a:lnTo>
                  <a:lnTo>
                    <a:pt x="138671" y="550037"/>
                  </a:lnTo>
                  <a:lnTo>
                    <a:pt x="125552" y="559435"/>
                  </a:lnTo>
                  <a:lnTo>
                    <a:pt x="112433" y="566928"/>
                  </a:lnTo>
                  <a:lnTo>
                    <a:pt x="99326" y="572516"/>
                  </a:lnTo>
                  <a:lnTo>
                    <a:pt x="84328" y="576326"/>
                  </a:lnTo>
                  <a:lnTo>
                    <a:pt x="69342" y="578104"/>
                  </a:lnTo>
                  <a:lnTo>
                    <a:pt x="39357" y="578104"/>
                  </a:lnTo>
                  <a:lnTo>
                    <a:pt x="24358" y="574421"/>
                  </a:lnTo>
                  <a:lnTo>
                    <a:pt x="0" y="651256"/>
                  </a:lnTo>
                  <a:lnTo>
                    <a:pt x="26238" y="656971"/>
                  </a:lnTo>
                  <a:lnTo>
                    <a:pt x="52476" y="658749"/>
                  </a:lnTo>
                  <a:lnTo>
                    <a:pt x="76835" y="658749"/>
                  </a:lnTo>
                  <a:lnTo>
                    <a:pt x="103073" y="655066"/>
                  </a:lnTo>
                  <a:lnTo>
                    <a:pt x="127431" y="647573"/>
                  </a:lnTo>
                  <a:lnTo>
                    <a:pt x="149910" y="638175"/>
                  </a:lnTo>
                  <a:lnTo>
                    <a:pt x="172402" y="625094"/>
                  </a:lnTo>
                  <a:lnTo>
                    <a:pt x="193014" y="610108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3862" y="1204467"/>
              <a:ext cx="102870" cy="158115"/>
            </a:xfrm>
            <a:custGeom>
              <a:avLst/>
              <a:gdLst/>
              <a:ahLst/>
              <a:cxnLst/>
              <a:rect l="l" t="t" r="r" b="b"/>
              <a:pathLst>
                <a:path w="102870" h="158115">
                  <a:moveTo>
                    <a:pt x="84607" y="109220"/>
                  </a:moveTo>
                  <a:lnTo>
                    <a:pt x="36258" y="81026"/>
                  </a:lnTo>
                  <a:lnTo>
                    <a:pt x="29540" y="89027"/>
                  </a:lnTo>
                  <a:lnTo>
                    <a:pt x="20142" y="95758"/>
                  </a:lnTo>
                  <a:lnTo>
                    <a:pt x="10744" y="99822"/>
                  </a:lnTo>
                  <a:lnTo>
                    <a:pt x="0" y="102489"/>
                  </a:lnTo>
                  <a:lnTo>
                    <a:pt x="0" y="157607"/>
                  </a:lnTo>
                  <a:lnTo>
                    <a:pt x="37604" y="148209"/>
                  </a:lnTo>
                  <a:lnTo>
                    <a:pt x="68491" y="128016"/>
                  </a:lnTo>
                  <a:lnTo>
                    <a:pt x="84607" y="109220"/>
                  </a:lnTo>
                  <a:close/>
                </a:path>
                <a:path w="102870" h="158115">
                  <a:moveTo>
                    <a:pt x="102412" y="36322"/>
                  </a:moveTo>
                  <a:lnTo>
                    <a:pt x="99695" y="22860"/>
                  </a:lnTo>
                  <a:lnTo>
                    <a:pt x="95631" y="10795"/>
                  </a:lnTo>
                  <a:lnTo>
                    <a:pt x="91567" y="0"/>
                  </a:lnTo>
                  <a:lnTo>
                    <a:pt x="42748" y="28321"/>
                  </a:lnTo>
                  <a:lnTo>
                    <a:pt x="46812" y="37719"/>
                  </a:lnTo>
                  <a:lnTo>
                    <a:pt x="46812" y="59309"/>
                  </a:lnTo>
                  <a:lnTo>
                    <a:pt x="42748" y="70104"/>
                  </a:lnTo>
                  <a:lnTo>
                    <a:pt x="91567" y="97028"/>
                  </a:lnTo>
                  <a:lnTo>
                    <a:pt x="95631" y="86233"/>
                  </a:lnTo>
                  <a:lnTo>
                    <a:pt x="99695" y="74168"/>
                  </a:lnTo>
                  <a:lnTo>
                    <a:pt x="102412" y="61976"/>
                  </a:lnTo>
                  <a:lnTo>
                    <a:pt x="102412" y="363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3862" y="1143000"/>
              <a:ext cx="85090" cy="77470"/>
            </a:xfrm>
            <a:custGeom>
              <a:avLst/>
              <a:gdLst/>
              <a:ahLst/>
              <a:cxnLst/>
              <a:rect l="l" t="t" r="r" b="b"/>
              <a:pathLst>
                <a:path w="85090" h="77469">
                  <a:moveTo>
                    <a:pt x="0" y="0"/>
                  </a:moveTo>
                  <a:lnTo>
                    <a:pt x="0" y="55752"/>
                  </a:lnTo>
                  <a:lnTo>
                    <a:pt x="10744" y="58420"/>
                  </a:lnTo>
                  <a:lnTo>
                    <a:pt x="20142" y="62484"/>
                  </a:lnTo>
                  <a:lnTo>
                    <a:pt x="29540" y="69341"/>
                  </a:lnTo>
                  <a:lnTo>
                    <a:pt x="36258" y="77470"/>
                  </a:lnTo>
                  <a:lnTo>
                    <a:pt x="84607" y="48895"/>
                  </a:lnTo>
                  <a:lnTo>
                    <a:pt x="48348" y="14986"/>
                  </a:lnTo>
                  <a:lnTo>
                    <a:pt x="13423" y="1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solidFill>
                  <a:srgbClr val="01395E"/>
                </a:solidFill>
                <a:latin typeface="Arial"/>
                <a:cs typeface="Arial"/>
              </a:rPr>
              <a:t>Outline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7593" y="1262227"/>
            <a:ext cx="4647565" cy="405002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Security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Mindset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Meet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Adversary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Security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Standards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Organizations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Key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Security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Concepts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Levels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Impact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Computer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Security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Challenges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84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Aspects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Security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Passive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Attacks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Active</a:t>
            </a:r>
            <a:r>
              <a:rPr sz="2000" spc="-10" dirty="0">
                <a:latin typeface="Arial"/>
                <a:cs typeface="Arial"/>
              </a:rPr>
              <a:t> Attacks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Model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Network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Security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Model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Network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Access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Security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089900" y="5792787"/>
            <a:ext cx="958850" cy="981075"/>
            <a:chOff x="8089900" y="5792787"/>
            <a:chExt cx="958850" cy="981075"/>
          </a:xfrm>
        </p:grpSpPr>
        <p:sp>
          <p:nvSpPr>
            <p:cNvPr id="6" name="object 6"/>
            <p:cNvSpPr/>
            <p:nvPr/>
          </p:nvSpPr>
          <p:spPr>
            <a:xfrm>
              <a:off x="8537575" y="5792787"/>
              <a:ext cx="511175" cy="403225"/>
            </a:xfrm>
            <a:custGeom>
              <a:avLst/>
              <a:gdLst/>
              <a:ahLst/>
              <a:cxnLst/>
              <a:rect l="l" t="t" r="r" b="b"/>
              <a:pathLst>
                <a:path w="511175" h="403225">
                  <a:moveTo>
                    <a:pt x="219075" y="0"/>
                  </a:moveTo>
                  <a:lnTo>
                    <a:pt x="122809" y="21628"/>
                  </a:lnTo>
                  <a:lnTo>
                    <a:pt x="67437" y="55257"/>
                  </a:lnTo>
                  <a:lnTo>
                    <a:pt x="19304" y="98513"/>
                  </a:lnTo>
                  <a:lnTo>
                    <a:pt x="0" y="124942"/>
                  </a:lnTo>
                  <a:lnTo>
                    <a:pt x="91440" y="177800"/>
                  </a:lnTo>
                  <a:lnTo>
                    <a:pt x="115570" y="148971"/>
                  </a:lnTo>
                  <a:lnTo>
                    <a:pt x="130048" y="136956"/>
                  </a:lnTo>
                  <a:lnTo>
                    <a:pt x="146812" y="124942"/>
                  </a:lnTo>
                  <a:lnTo>
                    <a:pt x="180594" y="110528"/>
                  </a:lnTo>
                  <a:lnTo>
                    <a:pt x="199771" y="105714"/>
                  </a:lnTo>
                  <a:lnTo>
                    <a:pt x="219075" y="103314"/>
                  </a:lnTo>
                  <a:lnTo>
                    <a:pt x="219075" y="0"/>
                  </a:lnTo>
                  <a:close/>
                </a:path>
                <a:path w="511175" h="403225">
                  <a:moveTo>
                    <a:pt x="511175" y="277431"/>
                  </a:moveTo>
                  <a:lnTo>
                    <a:pt x="508762" y="243573"/>
                  </a:lnTo>
                  <a:lnTo>
                    <a:pt x="503936" y="209702"/>
                  </a:lnTo>
                  <a:lnTo>
                    <a:pt x="494284" y="178257"/>
                  </a:lnTo>
                  <a:lnTo>
                    <a:pt x="479806" y="149225"/>
                  </a:lnTo>
                  <a:lnTo>
                    <a:pt x="390525" y="202450"/>
                  </a:lnTo>
                  <a:lnTo>
                    <a:pt x="397764" y="219379"/>
                  </a:lnTo>
                  <a:lnTo>
                    <a:pt x="402590" y="236308"/>
                  </a:lnTo>
                  <a:lnTo>
                    <a:pt x="407416" y="255663"/>
                  </a:lnTo>
                  <a:lnTo>
                    <a:pt x="407416" y="296786"/>
                  </a:lnTo>
                  <a:lnTo>
                    <a:pt x="402590" y="316141"/>
                  </a:lnTo>
                  <a:lnTo>
                    <a:pt x="397764" y="333070"/>
                  </a:lnTo>
                  <a:lnTo>
                    <a:pt x="390525" y="352425"/>
                  </a:lnTo>
                  <a:lnTo>
                    <a:pt x="479806" y="403225"/>
                  </a:lnTo>
                  <a:lnTo>
                    <a:pt x="494284" y="374192"/>
                  </a:lnTo>
                  <a:lnTo>
                    <a:pt x="503936" y="342747"/>
                  </a:lnTo>
                  <a:lnTo>
                    <a:pt x="508762" y="311302"/>
                  </a:lnTo>
                  <a:lnTo>
                    <a:pt x="511175" y="277431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94776" y="5942012"/>
              <a:ext cx="262255" cy="403225"/>
            </a:xfrm>
            <a:custGeom>
              <a:avLst/>
              <a:gdLst/>
              <a:ahLst/>
              <a:cxnLst/>
              <a:rect l="l" t="t" r="r" b="b"/>
              <a:pathLst>
                <a:path w="262254" h="403225">
                  <a:moveTo>
                    <a:pt x="120650" y="53225"/>
                  </a:moveTo>
                  <a:lnTo>
                    <a:pt x="31242" y="0"/>
                  </a:lnTo>
                  <a:lnTo>
                    <a:pt x="16891" y="29032"/>
                  </a:lnTo>
                  <a:lnTo>
                    <a:pt x="7239" y="60477"/>
                  </a:lnTo>
                  <a:lnTo>
                    <a:pt x="2413" y="94348"/>
                  </a:lnTo>
                  <a:lnTo>
                    <a:pt x="0" y="128206"/>
                  </a:lnTo>
                  <a:lnTo>
                    <a:pt x="2413" y="162077"/>
                  </a:lnTo>
                  <a:lnTo>
                    <a:pt x="7239" y="193522"/>
                  </a:lnTo>
                  <a:lnTo>
                    <a:pt x="16891" y="224967"/>
                  </a:lnTo>
                  <a:lnTo>
                    <a:pt x="31242" y="254000"/>
                  </a:lnTo>
                  <a:lnTo>
                    <a:pt x="120650" y="203200"/>
                  </a:lnTo>
                  <a:lnTo>
                    <a:pt x="113284" y="183845"/>
                  </a:lnTo>
                  <a:lnTo>
                    <a:pt x="108458" y="166916"/>
                  </a:lnTo>
                  <a:lnTo>
                    <a:pt x="103632" y="147561"/>
                  </a:lnTo>
                  <a:lnTo>
                    <a:pt x="103632" y="106438"/>
                  </a:lnTo>
                  <a:lnTo>
                    <a:pt x="108458" y="87083"/>
                  </a:lnTo>
                  <a:lnTo>
                    <a:pt x="113284" y="70154"/>
                  </a:lnTo>
                  <a:lnTo>
                    <a:pt x="120650" y="53225"/>
                  </a:lnTo>
                  <a:close/>
                </a:path>
                <a:path w="262254" h="403225">
                  <a:moveTo>
                    <a:pt x="261874" y="298983"/>
                  </a:moveTo>
                  <a:lnTo>
                    <a:pt x="223393" y="291719"/>
                  </a:lnTo>
                  <a:lnTo>
                    <a:pt x="172847" y="265049"/>
                  </a:lnTo>
                  <a:lnTo>
                    <a:pt x="134239" y="223837"/>
                  </a:lnTo>
                  <a:lnTo>
                    <a:pt x="42799" y="277164"/>
                  </a:lnTo>
                  <a:lnTo>
                    <a:pt x="110236" y="347472"/>
                  </a:lnTo>
                  <a:lnTo>
                    <a:pt x="165608" y="381406"/>
                  </a:lnTo>
                  <a:lnTo>
                    <a:pt x="228219" y="400799"/>
                  </a:lnTo>
                  <a:lnTo>
                    <a:pt x="261874" y="403225"/>
                  </a:lnTo>
                  <a:lnTo>
                    <a:pt x="261874" y="298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86876" y="5792787"/>
              <a:ext cx="219075" cy="552450"/>
            </a:xfrm>
            <a:custGeom>
              <a:avLst/>
              <a:gdLst/>
              <a:ahLst/>
              <a:cxnLst/>
              <a:rect l="l" t="t" r="r" b="b"/>
              <a:pathLst>
                <a:path w="219075" h="552450">
                  <a:moveTo>
                    <a:pt x="219075" y="426389"/>
                  </a:moveTo>
                  <a:lnTo>
                    <a:pt x="127508" y="373062"/>
                  </a:lnTo>
                  <a:lnTo>
                    <a:pt x="117856" y="390029"/>
                  </a:lnTo>
                  <a:lnTo>
                    <a:pt x="89027" y="414274"/>
                  </a:lnTo>
                  <a:lnTo>
                    <a:pt x="72136" y="426389"/>
                  </a:lnTo>
                  <a:lnTo>
                    <a:pt x="38481" y="440944"/>
                  </a:lnTo>
                  <a:lnTo>
                    <a:pt x="19177" y="445782"/>
                  </a:lnTo>
                  <a:lnTo>
                    <a:pt x="0" y="448208"/>
                  </a:lnTo>
                  <a:lnTo>
                    <a:pt x="0" y="552450"/>
                  </a:lnTo>
                  <a:lnTo>
                    <a:pt x="96266" y="530631"/>
                  </a:lnTo>
                  <a:lnTo>
                    <a:pt x="151638" y="496697"/>
                  </a:lnTo>
                  <a:lnTo>
                    <a:pt x="199771" y="453059"/>
                  </a:lnTo>
                  <a:lnTo>
                    <a:pt x="219075" y="426389"/>
                  </a:lnTo>
                  <a:close/>
                </a:path>
                <a:path w="219075" h="552450">
                  <a:moveTo>
                    <a:pt x="219075" y="124942"/>
                  </a:moveTo>
                  <a:lnTo>
                    <a:pt x="178054" y="76885"/>
                  </a:lnTo>
                  <a:lnTo>
                    <a:pt x="125095" y="36042"/>
                  </a:lnTo>
                  <a:lnTo>
                    <a:pt x="33655" y="2400"/>
                  </a:lnTo>
                  <a:lnTo>
                    <a:pt x="0" y="0"/>
                  </a:lnTo>
                  <a:lnTo>
                    <a:pt x="0" y="103314"/>
                  </a:lnTo>
                  <a:lnTo>
                    <a:pt x="19177" y="105714"/>
                  </a:lnTo>
                  <a:lnTo>
                    <a:pt x="38481" y="110528"/>
                  </a:lnTo>
                  <a:lnTo>
                    <a:pt x="89027" y="136956"/>
                  </a:lnTo>
                  <a:lnTo>
                    <a:pt x="117856" y="163385"/>
                  </a:lnTo>
                  <a:lnTo>
                    <a:pt x="127508" y="177800"/>
                  </a:lnTo>
                  <a:lnTo>
                    <a:pt x="219075" y="12494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5376" y="6221412"/>
              <a:ext cx="247650" cy="138430"/>
            </a:xfrm>
            <a:custGeom>
              <a:avLst/>
              <a:gdLst/>
              <a:ahLst/>
              <a:cxnLst/>
              <a:rect l="l" t="t" r="r" b="b"/>
              <a:pathLst>
                <a:path w="247650" h="138429">
                  <a:moveTo>
                    <a:pt x="180213" y="0"/>
                  </a:moveTo>
                  <a:lnTo>
                    <a:pt x="148971" y="0"/>
                  </a:lnTo>
                  <a:lnTo>
                    <a:pt x="115316" y="4851"/>
                  </a:lnTo>
                  <a:lnTo>
                    <a:pt x="84074" y="14541"/>
                  </a:lnTo>
                  <a:lnTo>
                    <a:pt x="55245" y="26657"/>
                  </a:lnTo>
                  <a:lnTo>
                    <a:pt x="26416" y="43611"/>
                  </a:lnTo>
                  <a:lnTo>
                    <a:pt x="0" y="60579"/>
                  </a:lnTo>
                  <a:lnTo>
                    <a:pt x="69723" y="138112"/>
                  </a:lnTo>
                  <a:lnTo>
                    <a:pt x="103377" y="118732"/>
                  </a:lnTo>
                  <a:lnTo>
                    <a:pt x="120142" y="111455"/>
                  </a:lnTo>
                  <a:lnTo>
                    <a:pt x="139446" y="106616"/>
                  </a:lnTo>
                  <a:lnTo>
                    <a:pt x="156209" y="104190"/>
                  </a:lnTo>
                  <a:lnTo>
                    <a:pt x="175514" y="101765"/>
                  </a:lnTo>
                  <a:lnTo>
                    <a:pt x="217851" y="101765"/>
                  </a:lnTo>
                  <a:lnTo>
                    <a:pt x="247650" y="9690"/>
                  </a:lnTo>
                  <a:lnTo>
                    <a:pt x="213868" y="2425"/>
                  </a:lnTo>
                  <a:lnTo>
                    <a:pt x="180213" y="0"/>
                  </a:lnTo>
                  <a:close/>
                </a:path>
                <a:path w="247650" h="138429">
                  <a:moveTo>
                    <a:pt x="217851" y="101765"/>
                  </a:moveTo>
                  <a:lnTo>
                    <a:pt x="175514" y="101765"/>
                  </a:lnTo>
                  <a:lnTo>
                    <a:pt x="197103" y="104190"/>
                  </a:lnTo>
                  <a:lnTo>
                    <a:pt x="216280" y="106616"/>
                  </a:lnTo>
                  <a:lnTo>
                    <a:pt x="217851" y="10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13776" y="6300787"/>
              <a:ext cx="554355" cy="455930"/>
            </a:xfrm>
            <a:custGeom>
              <a:avLst/>
              <a:gdLst/>
              <a:ahLst/>
              <a:cxnLst/>
              <a:rect l="l" t="t" r="r" b="b"/>
              <a:pathLst>
                <a:path w="554354" h="455929">
                  <a:moveTo>
                    <a:pt x="152400" y="77216"/>
                  </a:moveTo>
                  <a:lnTo>
                    <a:pt x="82169" y="0"/>
                  </a:lnTo>
                  <a:lnTo>
                    <a:pt x="60452" y="24130"/>
                  </a:lnTo>
                  <a:lnTo>
                    <a:pt x="41021" y="50673"/>
                  </a:lnTo>
                  <a:lnTo>
                    <a:pt x="26543" y="79629"/>
                  </a:lnTo>
                  <a:lnTo>
                    <a:pt x="14478" y="110998"/>
                  </a:lnTo>
                  <a:lnTo>
                    <a:pt x="4826" y="142367"/>
                  </a:lnTo>
                  <a:lnTo>
                    <a:pt x="0" y="176149"/>
                  </a:lnTo>
                  <a:lnTo>
                    <a:pt x="0" y="209931"/>
                  </a:lnTo>
                  <a:lnTo>
                    <a:pt x="4826" y="241300"/>
                  </a:lnTo>
                  <a:lnTo>
                    <a:pt x="106426" y="219583"/>
                  </a:lnTo>
                  <a:lnTo>
                    <a:pt x="104013" y="200279"/>
                  </a:lnTo>
                  <a:lnTo>
                    <a:pt x="104013" y="180975"/>
                  </a:lnTo>
                  <a:lnTo>
                    <a:pt x="111252" y="142367"/>
                  </a:lnTo>
                  <a:lnTo>
                    <a:pt x="128143" y="106172"/>
                  </a:lnTo>
                  <a:lnTo>
                    <a:pt x="140208" y="91694"/>
                  </a:lnTo>
                  <a:lnTo>
                    <a:pt x="152400" y="77216"/>
                  </a:lnTo>
                  <a:close/>
                </a:path>
                <a:path w="554354" h="455929">
                  <a:moveTo>
                    <a:pt x="209550" y="356857"/>
                  </a:moveTo>
                  <a:lnTo>
                    <a:pt x="175768" y="337591"/>
                  </a:lnTo>
                  <a:lnTo>
                    <a:pt x="146812" y="311099"/>
                  </a:lnTo>
                  <a:lnTo>
                    <a:pt x="125095" y="279781"/>
                  </a:lnTo>
                  <a:lnTo>
                    <a:pt x="110617" y="246062"/>
                  </a:lnTo>
                  <a:lnTo>
                    <a:pt x="9525" y="267741"/>
                  </a:lnTo>
                  <a:lnTo>
                    <a:pt x="33528" y="327952"/>
                  </a:lnTo>
                  <a:lnTo>
                    <a:pt x="69723" y="380949"/>
                  </a:lnTo>
                  <a:lnTo>
                    <a:pt x="117856" y="424307"/>
                  </a:lnTo>
                  <a:lnTo>
                    <a:pt x="178181" y="455625"/>
                  </a:lnTo>
                  <a:lnTo>
                    <a:pt x="209550" y="356857"/>
                  </a:lnTo>
                  <a:close/>
                </a:path>
                <a:path w="554354" h="455929">
                  <a:moveTo>
                    <a:pt x="553974" y="183769"/>
                  </a:moveTo>
                  <a:lnTo>
                    <a:pt x="549148" y="152400"/>
                  </a:lnTo>
                  <a:lnTo>
                    <a:pt x="448691" y="174117"/>
                  </a:lnTo>
                  <a:lnTo>
                    <a:pt x="450977" y="193421"/>
                  </a:lnTo>
                  <a:lnTo>
                    <a:pt x="450977" y="212725"/>
                  </a:lnTo>
                  <a:lnTo>
                    <a:pt x="441452" y="251333"/>
                  </a:lnTo>
                  <a:lnTo>
                    <a:pt x="415163" y="302006"/>
                  </a:lnTo>
                  <a:lnTo>
                    <a:pt x="403225" y="316484"/>
                  </a:lnTo>
                  <a:lnTo>
                    <a:pt x="472567" y="393700"/>
                  </a:lnTo>
                  <a:lnTo>
                    <a:pt x="513334" y="343027"/>
                  </a:lnTo>
                  <a:lnTo>
                    <a:pt x="539623" y="282702"/>
                  </a:lnTo>
                  <a:lnTo>
                    <a:pt x="553974" y="217551"/>
                  </a:lnTo>
                  <a:lnTo>
                    <a:pt x="553974" y="18376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456675" y="6238875"/>
              <a:ext cx="201930" cy="209550"/>
            </a:xfrm>
            <a:custGeom>
              <a:avLst/>
              <a:gdLst/>
              <a:ahLst/>
              <a:cxnLst/>
              <a:rect l="l" t="t" r="r" b="b"/>
              <a:pathLst>
                <a:path w="201929" h="209550">
                  <a:moveTo>
                    <a:pt x="33527" y="0"/>
                  </a:moveTo>
                  <a:lnTo>
                    <a:pt x="0" y="98755"/>
                  </a:lnTo>
                  <a:lnTo>
                    <a:pt x="19176" y="108394"/>
                  </a:lnTo>
                  <a:lnTo>
                    <a:pt x="35941" y="118021"/>
                  </a:lnTo>
                  <a:lnTo>
                    <a:pt x="64770" y="144513"/>
                  </a:lnTo>
                  <a:lnTo>
                    <a:pt x="93599" y="192684"/>
                  </a:lnTo>
                  <a:lnTo>
                    <a:pt x="100710" y="209550"/>
                  </a:lnTo>
                  <a:lnTo>
                    <a:pt x="201549" y="187871"/>
                  </a:lnTo>
                  <a:lnTo>
                    <a:pt x="191897" y="156565"/>
                  </a:lnTo>
                  <a:lnTo>
                    <a:pt x="177546" y="127660"/>
                  </a:lnTo>
                  <a:lnTo>
                    <a:pt x="141604" y="74663"/>
                  </a:lnTo>
                  <a:lnTo>
                    <a:pt x="91185" y="31318"/>
                  </a:lnTo>
                  <a:lnTo>
                    <a:pt x="64770" y="14452"/>
                  </a:lnTo>
                  <a:lnTo>
                    <a:pt x="335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89900" y="5821362"/>
              <a:ext cx="476250" cy="952500"/>
            </a:xfrm>
            <a:custGeom>
              <a:avLst/>
              <a:gdLst/>
              <a:ahLst/>
              <a:cxnLst/>
              <a:rect l="l" t="t" r="r" b="b"/>
              <a:pathLst>
                <a:path w="476250" h="952500">
                  <a:moveTo>
                    <a:pt x="106426" y="160007"/>
                  </a:moveTo>
                  <a:lnTo>
                    <a:pt x="21717" y="109537"/>
                  </a:lnTo>
                  <a:lnTo>
                    <a:pt x="12065" y="128765"/>
                  </a:lnTo>
                  <a:lnTo>
                    <a:pt x="4826" y="150393"/>
                  </a:lnTo>
                  <a:lnTo>
                    <a:pt x="2413" y="174421"/>
                  </a:lnTo>
                  <a:lnTo>
                    <a:pt x="0" y="196062"/>
                  </a:lnTo>
                  <a:lnTo>
                    <a:pt x="2413" y="220091"/>
                  </a:lnTo>
                  <a:lnTo>
                    <a:pt x="4826" y="241719"/>
                  </a:lnTo>
                  <a:lnTo>
                    <a:pt x="12065" y="263347"/>
                  </a:lnTo>
                  <a:lnTo>
                    <a:pt x="21717" y="282575"/>
                  </a:lnTo>
                  <a:lnTo>
                    <a:pt x="106426" y="234505"/>
                  </a:lnTo>
                  <a:lnTo>
                    <a:pt x="101473" y="215277"/>
                  </a:lnTo>
                  <a:lnTo>
                    <a:pt x="99060" y="196062"/>
                  </a:lnTo>
                  <a:lnTo>
                    <a:pt x="101473" y="176834"/>
                  </a:lnTo>
                  <a:lnTo>
                    <a:pt x="106426" y="160007"/>
                  </a:lnTo>
                  <a:close/>
                </a:path>
                <a:path w="476250" h="952500">
                  <a:moveTo>
                    <a:pt x="182626" y="292328"/>
                  </a:moveTo>
                  <a:lnTo>
                    <a:pt x="163322" y="287528"/>
                  </a:lnTo>
                  <a:lnTo>
                    <a:pt x="146431" y="280352"/>
                  </a:lnTo>
                  <a:lnTo>
                    <a:pt x="132080" y="268376"/>
                  </a:lnTo>
                  <a:lnTo>
                    <a:pt x="117602" y="254000"/>
                  </a:lnTo>
                  <a:lnTo>
                    <a:pt x="33401" y="304304"/>
                  </a:lnTo>
                  <a:lnTo>
                    <a:pt x="59817" y="337832"/>
                  </a:lnTo>
                  <a:lnTo>
                    <a:pt x="95885" y="364172"/>
                  </a:lnTo>
                  <a:lnTo>
                    <a:pt x="136779" y="383336"/>
                  </a:lnTo>
                  <a:lnTo>
                    <a:pt x="182626" y="390525"/>
                  </a:lnTo>
                  <a:lnTo>
                    <a:pt x="182626" y="292328"/>
                  </a:lnTo>
                  <a:close/>
                </a:path>
                <a:path w="476250" h="952500">
                  <a:moveTo>
                    <a:pt x="182626" y="0"/>
                  </a:moveTo>
                  <a:lnTo>
                    <a:pt x="115189" y="16967"/>
                  </a:lnTo>
                  <a:lnTo>
                    <a:pt x="76708" y="38773"/>
                  </a:lnTo>
                  <a:lnTo>
                    <a:pt x="45339" y="70269"/>
                  </a:lnTo>
                  <a:lnTo>
                    <a:pt x="33401" y="87223"/>
                  </a:lnTo>
                  <a:lnTo>
                    <a:pt x="117602" y="138112"/>
                  </a:lnTo>
                  <a:lnTo>
                    <a:pt x="132080" y="123571"/>
                  </a:lnTo>
                  <a:lnTo>
                    <a:pt x="146431" y="111455"/>
                  </a:lnTo>
                  <a:lnTo>
                    <a:pt x="163322" y="104190"/>
                  </a:lnTo>
                  <a:lnTo>
                    <a:pt x="182626" y="99339"/>
                  </a:lnTo>
                  <a:lnTo>
                    <a:pt x="182626" y="0"/>
                  </a:lnTo>
                  <a:close/>
                </a:path>
                <a:path w="476250" h="952500">
                  <a:moveTo>
                    <a:pt x="476250" y="889876"/>
                  </a:moveTo>
                  <a:lnTo>
                    <a:pt x="439204" y="848931"/>
                  </a:lnTo>
                  <a:lnTo>
                    <a:pt x="406527" y="812800"/>
                  </a:lnTo>
                  <a:lnTo>
                    <a:pt x="389636" y="824839"/>
                  </a:lnTo>
                  <a:lnTo>
                    <a:pt x="372872" y="834478"/>
                  </a:lnTo>
                  <a:lnTo>
                    <a:pt x="355981" y="841705"/>
                  </a:lnTo>
                  <a:lnTo>
                    <a:pt x="336804" y="846518"/>
                  </a:lnTo>
                  <a:lnTo>
                    <a:pt x="317500" y="848931"/>
                  </a:lnTo>
                  <a:lnTo>
                    <a:pt x="279146" y="848931"/>
                  </a:lnTo>
                  <a:lnTo>
                    <a:pt x="259842" y="844118"/>
                  </a:lnTo>
                  <a:lnTo>
                    <a:pt x="228600" y="942873"/>
                  </a:lnTo>
                  <a:lnTo>
                    <a:pt x="262255" y="950099"/>
                  </a:lnTo>
                  <a:lnTo>
                    <a:pt x="295910" y="952500"/>
                  </a:lnTo>
                  <a:lnTo>
                    <a:pt x="327152" y="952500"/>
                  </a:lnTo>
                  <a:lnTo>
                    <a:pt x="360807" y="947686"/>
                  </a:lnTo>
                  <a:lnTo>
                    <a:pt x="392049" y="938060"/>
                  </a:lnTo>
                  <a:lnTo>
                    <a:pt x="421005" y="926007"/>
                  </a:lnTo>
                  <a:lnTo>
                    <a:pt x="449834" y="909142"/>
                  </a:lnTo>
                  <a:lnTo>
                    <a:pt x="476250" y="889876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97926" y="5930899"/>
              <a:ext cx="182880" cy="281305"/>
            </a:xfrm>
            <a:custGeom>
              <a:avLst/>
              <a:gdLst/>
              <a:ahLst/>
              <a:cxnLst/>
              <a:rect l="l" t="t" r="r" b="b"/>
              <a:pathLst>
                <a:path w="182879" h="281304">
                  <a:moveTo>
                    <a:pt x="150749" y="194767"/>
                  </a:moveTo>
                  <a:lnTo>
                    <a:pt x="64516" y="144462"/>
                  </a:lnTo>
                  <a:lnTo>
                    <a:pt x="52578" y="158838"/>
                  </a:lnTo>
                  <a:lnTo>
                    <a:pt x="35814" y="170815"/>
                  </a:lnTo>
                  <a:lnTo>
                    <a:pt x="19050" y="177990"/>
                  </a:lnTo>
                  <a:lnTo>
                    <a:pt x="0" y="182791"/>
                  </a:lnTo>
                  <a:lnTo>
                    <a:pt x="0" y="280987"/>
                  </a:lnTo>
                  <a:lnTo>
                    <a:pt x="45466" y="273799"/>
                  </a:lnTo>
                  <a:lnTo>
                    <a:pt x="86106" y="254635"/>
                  </a:lnTo>
                  <a:lnTo>
                    <a:pt x="122047" y="228295"/>
                  </a:lnTo>
                  <a:lnTo>
                    <a:pt x="150749" y="194767"/>
                  </a:lnTo>
                  <a:close/>
                </a:path>
                <a:path w="182879" h="281304">
                  <a:moveTo>
                    <a:pt x="182499" y="64884"/>
                  </a:moveTo>
                  <a:lnTo>
                    <a:pt x="177673" y="40855"/>
                  </a:lnTo>
                  <a:lnTo>
                    <a:pt x="170434" y="19227"/>
                  </a:lnTo>
                  <a:lnTo>
                    <a:pt x="163195" y="0"/>
                  </a:lnTo>
                  <a:lnTo>
                    <a:pt x="76200" y="50469"/>
                  </a:lnTo>
                  <a:lnTo>
                    <a:pt x="83439" y="67297"/>
                  </a:lnTo>
                  <a:lnTo>
                    <a:pt x="83439" y="105740"/>
                  </a:lnTo>
                  <a:lnTo>
                    <a:pt x="76200" y="124968"/>
                  </a:lnTo>
                  <a:lnTo>
                    <a:pt x="163195" y="173037"/>
                  </a:lnTo>
                  <a:lnTo>
                    <a:pt x="170434" y="153809"/>
                  </a:lnTo>
                  <a:lnTo>
                    <a:pt x="177673" y="132181"/>
                  </a:lnTo>
                  <a:lnTo>
                    <a:pt x="182499" y="110553"/>
                  </a:lnTo>
                  <a:lnTo>
                    <a:pt x="182499" y="648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297925" y="5821362"/>
              <a:ext cx="151130" cy="138430"/>
            </a:xfrm>
            <a:custGeom>
              <a:avLst/>
              <a:gdLst/>
              <a:ahLst/>
              <a:cxnLst/>
              <a:rect l="l" t="t" r="r" b="b"/>
              <a:pathLst>
                <a:path w="151129" h="138429">
                  <a:moveTo>
                    <a:pt x="0" y="0"/>
                  </a:moveTo>
                  <a:lnTo>
                    <a:pt x="0" y="99339"/>
                  </a:lnTo>
                  <a:lnTo>
                    <a:pt x="19050" y="104190"/>
                  </a:lnTo>
                  <a:lnTo>
                    <a:pt x="35814" y="111455"/>
                  </a:lnTo>
                  <a:lnTo>
                    <a:pt x="52577" y="123571"/>
                  </a:lnTo>
                  <a:lnTo>
                    <a:pt x="64516" y="138112"/>
                  </a:lnTo>
                  <a:lnTo>
                    <a:pt x="150749" y="87223"/>
                  </a:lnTo>
                  <a:lnTo>
                    <a:pt x="122047" y="53301"/>
                  </a:lnTo>
                  <a:lnTo>
                    <a:pt x="86105" y="26657"/>
                  </a:lnTo>
                  <a:lnTo>
                    <a:pt x="23875" y="2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The</a:t>
            </a:r>
            <a:r>
              <a:rPr sz="4400" spc="-10" dirty="0"/>
              <a:t> </a:t>
            </a:r>
            <a:r>
              <a:rPr sz="4400" dirty="0"/>
              <a:t>Security</a:t>
            </a:r>
            <a:r>
              <a:rPr sz="4400" spc="-5" dirty="0"/>
              <a:t> </a:t>
            </a:r>
            <a:r>
              <a:rPr sz="4400" spc="-10" dirty="0"/>
              <a:t>Mindset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319529"/>
            <a:ext cx="8213725" cy="4022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“Security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requires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particular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mindset.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Security </a:t>
            </a:r>
            <a:r>
              <a:rPr sz="2800" dirty="0">
                <a:latin typeface="Arial"/>
                <a:cs typeface="Arial"/>
              </a:rPr>
              <a:t>professionals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--</a:t>
            </a:r>
            <a:r>
              <a:rPr sz="2800" dirty="0">
                <a:latin typeface="Arial"/>
                <a:cs typeface="Arial"/>
              </a:rPr>
              <a:t>at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least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good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ones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--</a:t>
            </a:r>
            <a:r>
              <a:rPr sz="2800" dirty="0">
                <a:latin typeface="Arial"/>
                <a:cs typeface="Arial"/>
              </a:rPr>
              <a:t>see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world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differently.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They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can't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walk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into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store </a:t>
            </a:r>
            <a:r>
              <a:rPr sz="2800" dirty="0">
                <a:latin typeface="Arial"/>
                <a:cs typeface="Arial"/>
              </a:rPr>
              <a:t>without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noticing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how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they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might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shoplift.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They </a:t>
            </a:r>
            <a:r>
              <a:rPr sz="2800" dirty="0">
                <a:latin typeface="Arial"/>
                <a:cs typeface="Arial"/>
              </a:rPr>
              <a:t>can't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computer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without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wondering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about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security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vulnerabilities.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They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can't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vote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without </a:t>
            </a:r>
            <a:r>
              <a:rPr sz="2800" dirty="0">
                <a:latin typeface="Arial"/>
                <a:cs typeface="Arial"/>
              </a:rPr>
              <a:t>trying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figure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out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how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vote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twice.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They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just </a:t>
            </a:r>
            <a:r>
              <a:rPr sz="2800" dirty="0">
                <a:latin typeface="Arial"/>
                <a:cs typeface="Arial"/>
              </a:rPr>
              <a:t>can't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help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it.”</a:t>
            </a:r>
            <a:endParaRPr sz="28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755"/>
              </a:spcBef>
            </a:pPr>
            <a:r>
              <a:rPr sz="2800" b="1" dirty="0">
                <a:latin typeface="Arial"/>
                <a:cs typeface="Arial"/>
              </a:rPr>
              <a:t>—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Bruce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Schneier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Meet</a:t>
            </a:r>
            <a:r>
              <a:rPr sz="4400" spc="-20" dirty="0"/>
              <a:t> </a:t>
            </a:r>
            <a:r>
              <a:rPr sz="4400" dirty="0"/>
              <a:t>the </a:t>
            </a:r>
            <a:r>
              <a:rPr sz="4400" spc="-10" dirty="0"/>
              <a:t>Adversary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319529"/>
            <a:ext cx="4921885" cy="4634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330" marR="266065" indent="-341630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“Computer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security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studies 	</a:t>
            </a:r>
            <a:r>
              <a:rPr sz="2800" dirty="0">
                <a:latin typeface="Arial"/>
                <a:cs typeface="Arial"/>
              </a:rPr>
              <a:t>how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systems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behave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the 	</a:t>
            </a:r>
            <a:r>
              <a:rPr sz="2800" dirty="0">
                <a:latin typeface="Arial"/>
                <a:cs typeface="Arial"/>
              </a:rPr>
              <a:t>presence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adversary.”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85"/>
              </a:spcBef>
              <a:buFont typeface="Arial"/>
              <a:buChar char="•"/>
            </a:pPr>
            <a:endParaRPr sz="28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The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adversary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-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attacker/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bad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guy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85"/>
              </a:spcBef>
              <a:buFont typeface="Arial"/>
              <a:buChar char="•"/>
            </a:pPr>
            <a:endParaRPr sz="2800">
              <a:latin typeface="Arial"/>
              <a:cs typeface="Arial"/>
            </a:endParaRPr>
          </a:p>
          <a:p>
            <a:pPr marL="354330" marR="229870" indent="-341630" algn="just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An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intelligence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that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actively 	</a:t>
            </a:r>
            <a:r>
              <a:rPr sz="2800" dirty="0">
                <a:latin typeface="Arial"/>
                <a:cs typeface="Arial"/>
              </a:rPr>
              <a:t>tries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cause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system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to 	</a:t>
            </a:r>
            <a:r>
              <a:rPr sz="2800" spc="-10" dirty="0">
                <a:latin typeface="Arial"/>
                <a:cs typeface="Arial"/>
              </a:rPr>
              <a:t>misbehave.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91200" y="1447800"/>
            <a:ext cx="3098292" cy="43434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Know</a:t>
            </a:r>
            <a:r>
              <a:rPr sz="4400" spc="-30" dirty="0"/>
              <a:t> </a:t>
            </a:r>
            <a:r>
              <a:rPr sz="4400" dirty="0"/>
              <a:t>Your </a:t>
            </a:r>
            <a:r>
              <a:rPr sz="4400" spc="-10" dirty="0"/>
              <a:t>Enemy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319529"/>
            <a:ext cx="8060055" cy="2742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The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art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war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teaches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rely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not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likelihood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enemy's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coming,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but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our </a:t>
            </a:r>
            <a:r>
              <a:rPr sz="2800" dirty="0">
                <a:latin typeface="Arial"/>
                <a:cs typeface="Arial"/>
              </a:rPr>
              <a:t>own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readiness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receive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him;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not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chance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his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attacking,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but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rather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fact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that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we </a:t>
            </a:r>
            <a:r>
              <a:rPr sz="2800" dirty="0">
                <a:latin typeface="Arial"/>
                <a:cs typeface="Arial"/>
              </a:rPr>
              <a:t>have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made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our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position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unassailable.</a:t>
            </a:r>
            <a:endParaRPr sz="28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755"/>
              </a:spcBef>
            </a:pPr>
            <a:r>
              <a:rPr sz="3200" b="1" spc="-10" dirty="0">
                <a:latin typeface="Arial"/>
                <a:cs typeface="Arial"/>
              </a:rPr>
              <a:t>—</a:t>
            </a:r>
            <a:r>
              <a:rPr sz="3200" b="1" i="1" dirty="0">
                <a:latin typeface="Arial"/>
                <a:cs typeface="Arial"/>
              </a:rPr>
              <a:t>The</a:t>
            </a:r>
            <a:r>
              <a:rPr sz="3200" b="1" i="1" spc="-30" dirty="0">
                <a:latin typeface="Arial"/>
                <a:cs typeface="Arial"/>
              </a:rPr>
              <a:t> </a:t>
            </a:r>
            <a:r>
              <a:rPr sz="3200" b="1" i="1" dirty="0">
                <a:latin typeface="Arial"/>
                <a:cs typeface="Arial"/>
              </a:rPr>
              <a:t>Art</a:t>
            </a:r>
            <a:r>
              <a:rPr sz="3200" b="1" i="1" spc="-15" dirty="0">
                <a:latin typeface="Arial"/>
                <a:cs typeface="Arial"/>
              </a:rPr>
              <a:t> </a:t>
            </a:r>
            <a:r>
              <a:rPr sz="3200" b="1" i="1" dirty="0">
                <a:latin typeface="Arial"/>
                <a:cs typeface="Arial"/>
              </a:rPr>
              <a:t>of</a:t>
            </a:r>
            <a:r>
              <a:rPr sz="3200" b="1" i="1" spc="-20" dirty="0">
                <a:latin typeface="Arial"/>
                <a:cs typeface="Arial"/>
              </a:rPr>
              <a:t> </a:t>
            </a:r>
            <a:r>
              <a:rPr sz="3200" b="1" i="1" dirty="0">
                <a:latin typeface="Arial"/>
                <a:cs typeface="Arial"/>
              </a:rPr>
              <a:t>War,</a:t>
            </a:r>
            <a:r>
              <a:rPr sz="3200" b="1" i="1" spc="-15" dirty="0">
                <a:latin typeface="Arial"/>
                <a:cs typeface="Arial"/>
              </a:rPr>
              <a:t> </a:t>
            </a:r>
            <a:r>
              <a:rPr sz="3200" b="1" i="1" dirty="0">
                <a:latin typeface="Arial"/>
                <a:cs typeface="Arial"/>
              </a:rPr>
              <a:t>Sun</a:t>
            </a:r>
            <a:r>
              <a:rPr sz="3200" b="1" i="1" spc="-25" dirty="0">
                <a:latin typeface="Arial"/>
                <a:cs typeface="Arial"/>
              </a:rPr>
              <a:t> Tzu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Thinking</a:t>
            </a:r>
            <a:r>
              <a:rPr sz="4400" spc="-15" dirty="0"/>
              <a:t> </a:t>
            </a:r>
            <a:r>
              <a:rPr sz="4400" dirty="0"/>
              <a:t>Like</a:t>
            </a:r>
            <a:r>
              <a:rPr sz="4400" spc="-10" dirty="0"/>
              <a:t> </a:t>
            </a:r>
            <a:r>
              <a:rPr sz="4400" dirty="0"/>
              <a:t>an</a:t>
            </a:r>
            <a:r>
              <a:rPr sz="4400" spc="-10" dirty="0"/>
              <a:t> Attacker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61950" indent="-342265">
              <a:lnSpc>
                <a:spcPct val="100000"/>
              </a:lnSpc>
              <a:spcBef>
                <a:spcPts val="894"/>
              </a:spcBef>
              <a:buChar char="•"/>
              <a:tabLst>
                <a:tab pos="361950" algn="l"/>
              </a:tabLst>
            </a:pPr>
            <a:r>
              <a:rPr dirty="0"/>
              <a:t>Look</a:t>
            </a:r>
            <a:r>
              <a:rPr spc="-40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weakest</a:t>
            </a:r>
            <a:r>
              <a:rPr spc="-40" dirty="0"/>
              <a:t> </a:t>
            </a:r>
            <a:r>
              <a:rPr dirty="0"/>
              <a:t>links </a:t>
            </a:r>
            <a:r>
              <a:rPr spc="-10" dirty="0"/>
              <a:t>–</a:t>
            </a:r>
            <a:r>
              <a:rPr dirty="0"/>
              <a:t>easiest</a:t>
            </a:r>
            <a:r>
              <a:rPr spc="-3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spc="-10" dirty="0"/>
              <a:t>attack.</a:t>
            </a:r>
          </a:p>
          <a:p>
            <a:pPr marL="763270" lvl="1" indent="-286385">
              <a:lnSpc>
                <a:spcPct val="100000"/>
              </a:lnSpc>
              <a:spcBef>
                <a:spcPts val="690"/>
              </a:spcBef>
              <a:buChar char="–"/>
              <a:tabLst>
                <a:tab pos="763270" algn="l"/>
              </a:tabLst>
            </a:pPr>
            <a:r>
              <a:rPr sz="2800" dirty="0">
                <a:latin typeface="Arial"/>
                <a:cs typeface="Arial"/>
              </a:rPr>
              <a:t>Identify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assumptions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that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security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depends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on.</a:t>
            </a:r>
            <a:endParaRPr sz="2800">
              <a:latin typeface="Arial"/>
              <a:cs typeface="Arial"/>
            </a:endParaRPr>
          </a:p>
          <a:p>
            <a:pPr marL="763270">
              <a:lnSpc>
                <a:spcPct val="100000"/>
              </a:lnSpc>
            </a:pPr>
            <a:r>
              <a:rPr sz="2800" dirty="0"/>
              <a:t>Are</a:t>
            </a:r>
            <a:r>
              <a:rPr sz="2800" spc="-55" dirty="0"/>
              <a:t> </a:t>
            </a:r>
            <a:r>
              <a:rPr sz="2800" dirty="0"/>
              <a:t>they</a:t>
            </a:r>
            <a:r>
              <a:rPr sz="2800" spc="-50" dirty="0"/>
              <a:t> </a:t>
            </a:r>
            <a:r>
              <a:rPr sz="2800" spc="-10" dirty="0"/>
              <a:t>false?</a:t>
            </a:r>
            <a:endParaRPr sz="2800"/>
          </a:p>
          <a:p>
            <a:pPr marL="763270" marR="776605" lvl="1" indent="-287020">
              <a:lnSpc>
                <a:spcPct val="100000"/>
              </a:lnSpc>
              <a:spcBef>
                <a:spcPts val="675"/>
              </a:spcBef>
              <a:buChar char="–"/>
              <a:tabLst>
                <a:tab pos="763270" algn="l"/>
              </a:tabLst>
            </a:pPr>
            <a:r>
              <a:rPr sz="2800" dirty="0">
                <a:latin typeface="Arial"/>
                <a:cs typeface="Arial"/>
              </a:rPr>
              <a:t>Think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outside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box: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Not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constrained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by </a:t>
            </a:r>
            <a:r>
              <a:rPr sz="2800" dirty="0">
                <a:latin typeface="Arial"/>
                <a:cs typeface="Arial"/>
              </a:rPr>
              <a:t>system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designer’s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worldview.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01395E"/>
                </a:solidFill>
                <a:latin typeface="Arial"/>
                <a:cs typeface="Arial"/>
              </a:rPr>
              <a:t>Find</a:t>
            </a:r>
            <a:r>
              <a:rPr sz="4400" b="0" spc="-15" dirty="0">
                <a:solidFill>
                  <a:srgbClr val="01395E"/>
                </a:solidFill>
                <a:latin typeface="Arial"/>
                <a:cs typeface="Arial"/>
              </a:rPr>
              <a:t> </a:t>
            </a:r>
            <a:r>
              <a:rPr sz="4400" b="0" dirty="0">
                <a:solidFill>
                  <a:srgbClr val="01395E"/>
                </a:solidFill>
                <a:latin typeface="Arial"/>
                <a:cs typeface="Arial"/>
              </a:rPr>
              <a:t>the</a:t>
            </a:r>
            <a:r>
              <a:rPr sz="4400" b="0" spc="-10" dirty="0">
                <a:solidFill>
                  <a:srgbClr val="01395E"/>
                </a:solidFill>
                <a:latin typeface="Arial"/>
                <a:cs typeface="Arial"/>
              </a:rPr>
              <a:t> </a:t>
            </a:r>
            <a:r>
              <a:rPr sz="4400" b="0" spc="-20" dirty="0">
                <a:solidFill>
                  <a:srgbClr val="01395E"/>
                </a:solidFill>
                <a:latin typeface="Arial"/>
                <a:cs typeface="Arial"/>
              </a:rPr>
              <a:t>Code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 descr="C:\Users\Jubayer Al Mahmud\Desktop\Captur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7000" y="1600200"/>
            <a:ext cx="3562350" cy="48958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26333"/>
            <a:ext cx="700087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"/>
                <a:cs typeface="Arial"/>
              </a:rPr>
              <a:t>What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are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some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security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systems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you </a:t>
            </a:r>
            <a:r>
              <a:rPr sz="3200" dirty="0">
                <a:latin typeface="Arial"/>
                <a:cs typeface="Arial"/>
              </a:rPr>
              <a:t>interact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with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in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everyday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life?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895600"/>
            <a:ext cx="303212" cy="3031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8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Security</a:t>
            </a:r>
            <a:r>
              <a:rPr spc="-6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Standards</a:t>
            </a:r>
            <a:r>
              <a:rPr spc="-50" dirty="0"/>
              <a:t> </a:t>
            </a:r>
            <a:r>
              <a:rPr spc="-10" dirty="0"/>
              <a:t>Organizations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19529"/>
            <a:ext cx="8404860" cy="32689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002665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National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Institute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Standards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&amp;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Technology (NIST)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Internet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Society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(ISOC)</a:t>
            </a:r>
            <a:endParaRPr sz="28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International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Telecommunication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Union Telecommunication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Standardization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Sector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(ITU-</a:t>
            </a:r>
            <a:r>
              <a:rPr sz="2800" spc="-25" dirty="0">
                <a:latin typeface="Arial"/>
                <a:cs typeface="Arial"/>
              </a:rPr>
              <a:t>T)</a:t>
            </a:r>
            <a:endParaRPr sz="2800">
              <a:latin typeface="Arial"/>
              <a:cs typeface="Arial"/>
            </a:endParaRPr>
          </a:p>
          <a:p>
            <a:pPr marL="355600" marR="87884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International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Organization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for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Standardization (ISO)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Key</a:t>
            </a:r>
            <a:r>
              <a:rPr sz="4400" spc="-10" dirty="0"/>
              <a:t> </a:t>
            </a:r>
            <a:r>
              <a:rPr sz="4400" dirty="0"/>
              <a:t>Security</a:t>
            </a:r>
            <a:r>
              <a:rPr sz="4400" spc="-5" dirty="0"/>
              <a:t> </a:t>
            </a:r>
            <a:r>
              <a:rPr sz="4400" spc="-10" dirty="0"/>
              <a:t>Concepts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1200" y="1447800"/>
            <a:ext cx="5286375" cy="51149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Levels of </a:t>
            </a:r>
            <a:r>
              <a:rPr sz="4400" spc="-10" dirty="0"/>
              <a:t>Impact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902079"/>
            <a:ext cx="6841490" cy="2540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"/>
                <a:cs typeface="Arial"/>
              </a:rPr>
              <a:t>Can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define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3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levels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of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impact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from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50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security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breach</a:t>
            </a:r>
            <a:endParaRPr sz="32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85"/>
              </a:spcBef>
              <a:buChar char="–"/>
              <a:tabLst>
                <a:tab pos="756285" algn="l"/>
              </a:tabLst>
            </a:pPr>
            <a:r>
              <a:rPr sz="2800" spc="-25" dirty="0">
                <a:latin typeface="Arial"/>
                <a:cs typeface="Arial"/>
              </a:rPr>
              <a:t>Low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Char char="–"/>
              <a:tabLst>
                <a:tab pos="756285" algn="l"/>
              </a:tabLst>
            </a:pPr>
            <a:r>
              <a:rPr sz="2800" spc="-10" dirty="0">
                <a:latin typeface="Arial"/>
                <a:cs typeface="Arial"/>
              </a:rPr>
              <a:t>Moderate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70"/>
              </a:spcBef>
              <a:buChar char="–"/>
              <a:tabLst>
                <a:tab pos="756285" algn="l"/>
              </a:tabLst>
            </a:pPr>
            <a:r>
              <a:rPr sz="2800" spc="-20" dirty="0">
                <a:latin typeface="Arial"/>
                <a:cs typeface="Arial"/>
              </a:rPr>
              <a:t>High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8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Examples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Security</a:t>
            </a:r>
            <a:r>
              <a:rPr spc="-45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805152"/>
            <a:ext cx="6666865" cy="17811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Confidentiality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–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student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grades</a:t>
            </a:r>
            <a:endParaRPr sz="3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Integrity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–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patient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information</a:t>
            </a:r>
            <a:endParaRPr sz="3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Availability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–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authentication</a:t>
            </a:r>
            <a:r>
              <a:rPr sz="3200" spc="-7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service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Computer</a:t>
            </a:r>
            <a:r>
              <a:rPr sz="4000" spc="-50" dirty="0"/>
              <a:t> </a:t>
            </a:r>
            <a:r>
              <a:rPr sz="4000" dirty="0"/>
              <a:t>Security</a:t>
            </a:r>
            <a:r>
              <a:rPr sz="4000" spc="-60" dirty="0"/>
              <a:t> </a:t>
            </a:r>
            <a:r>
              <a:rPr sz="4000" spc="-10" dirty="0"/>
              <a:t>Challenges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247901"/>
            <a:ext cx="6216015" cy="44157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7685" algn="l"/>
              </a:tabLst>
            </a:pPr>
            <a:r>
              <a:rPr sz="2400" dirty="0">
                <a:latin typeface="Arial"/>
                <a:cs typeface="Arial"/>
              </a:rPr>
              <a:t>not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simple</a:t>
            </a:r>
            <a:endParaRPr sz="2400">
              <a:latin typeface="Arial"/>
              <a:cs typeface="Arial"/>
            </a:endParaRPr>
          </a:p>
          <a:p>
            <a:pPr marL="527685" indent="-514984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527685" algn="l"/>
              </a:tabLst>
            </a:pPr>
            <a:r>
              <a:rPr sz="2400" dirty="0">
                <a:latin typeface="Arial"/>
                <a:cs typeface="Arial"/>
              </a:rPr>
              <a:t>must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consider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potential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attacks</a:t>
            </a:r>
            <a:endParaRPr sz="2400">
              <a:latin typeface="Arial"/>
              <a:cs typeface="Arial"/>
            </a:endParaRPr>
          </a:p>
          <a:p>
            <a:pPr marL="527685" indent="-514984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527685" algn="l"/>
              </a:tabLst>
            </a:pPr>
            <a:r>
              <a:rPr sz="2400" dirty="0">
                <a:latin typeface="Arial"/>
                <a:cs typeface="Arial"/>
              </a:rPr>
              <a:t>procedures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used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counter-intuitive</a:t>
            </a:r>
            <a:endParaRPr sz="2400">
              <a:latin typeface="Arial"/>
              <a:cs typeface="Arial"/>
            </a:endParaRPr>
          </a:p>
          <a:p>
            <a:pPr marL="527685" indent="-514984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527685" algn="l"/>
              </a:tabLst>
            </a:pPr>
            <a:r>
              <a:rPr sz="2400" dirty="0">
                <a:latin typeface="Arial"/>
                <a:cs typeface="Arial"/>
              </a:rPr>
              <a:t>involve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algorithms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secret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info</a:t>
            </a:r>
            <a:endParaRPr sz="2400">
              <a:latin typeface="Arial"/>
              <a:cs typeface="Arial"/>
            </a:endParaRPr>
          </a:p>
          <a:p>
            <a:pPr marL="527685" indent="-514984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527685" algn="l"/>
              </a:tabLst>
            </a:pPr>
            <a:r>
              <a:rPr sz="2400" dirty="0">
                <a:latin typeface="Arial"/>
                <a:cs typeface="Arial"/>
              </a:rPr>
              <a:t>must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decide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where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deploy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mechanisms</a:t>
            </a:r>
            <a:endParaRPr sz="2400">
              <a:latin typeface="Arial"/>
              <a:cs typeface="Arial"/>
            </a:endParaRPr>
          </a:p>
          <a:p>
            <a:pPr marL="527685" indent="-514984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527685" algn="l"/>
              </a:tabLst>
            </a:pPr>
            <a:r>
              <a:rPr sz="2400" dirty="0">
                <a:latin typeface="Arial"/>
                <a:cs typeface="Arial"/>
              </a:rPr>
              <a:t>battle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between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attacker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/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admin</a:t>
            </a:r>
            <a:endParaRPr sz="2400">
              <a:latin typeface="Arial"/>
              <a:cs typeface="Arial"/>
            </a:endParaRPr>
          </a:p>
          <a:p>
            <a:pPr marL="527685" indent="-514984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527685" algn="l"/>
              </a:tabLst>
            </a:pPr>
            <a:r>
              <a:rPr sz="2400" dirty="0">
                <a:latin typeface="Arial"/>
                <a:cs typeface="Arial"/>
              </a:rPr>
              <a:t>not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perceived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benefit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until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fails</a:t>
            </a:r>
            <a:endParaRPr sz="2400">
              <a:latin typeface="Arial"/>
              <a:cs typeface="Arial"/>
            </a:endParaRPr>
          </a:p>
          <a:p>
            <a:pPr marL="527685" indent="-514984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527685" algn="l"/>
              </a:tabLst>
            </a:pPr>
            <a:r>
              <a:rPr sz="2400" dirty="0">
                <a:latin typeface="Arial"/>
                <a:cs typeface="Arial"/>
              </a:rPr>
              <a:t>requires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regular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monitoring</a:t>
            </a:r>
            <a:endParaRPr sz="2400">
              <a:latin typeface="Arial"/>
              <a:cs typeface="Arial"/>
            </a:endParaRPr>
          </a:p>
          <a:p>
            <a:pPr marL="527685" indent="-514984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527685" algn="l"/>
              </a:tabLst>
            </a:pPr>
            <a:r>
              <a:rPr sz="2400" dirty="0">
                <a:latin typeface="Arial"/>
                <a:cs typeface="Arial"/>
              </a:rPr>
              <a:t>too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often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after-thought</a:t>
            </a:r>
            <a:endParaRPr sz="2400">
              <a:latin typeface="Arial"/>
              <a:cs typeface="Arial"/>
            </a:endParaRPr>
          </a:p>
          <a:p>
            <a:pPr marL="526415" indent="-51371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526415" algn="l"/>
              </a:tabLst>
            </a:pPr>
            <a:r>
              <a:rPr sz="2400" dirty="0">
                <a:latin typeface="Arial"/>
                <a:cs typeface="Arial"/>
              </a:rPr>
              <a:t>regarded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impediment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using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system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Aspects</a:t>
            </a:r>
            <a:r>
              <a:rPr sz="4400" spc="-10" dirty="0"/>
              <a:t> </a:t>
            </a:r>
            <a:r>
              <a:rPr sz="4400" dirty="0"/>
              <a:t>of</a:t>
            </a:r>
            <a:r>
              <a:rPr sz="4400" spc="-5" dirty="0"/>
              <a:t> </a:t>
            </a:r>
            <a:r>
              <a:rPr sz="4400" spc="-10" dirty="0"/>
              <a:t>Security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215890"/>
            <a:ext cx="7948930" cy="418909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consider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3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aspects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of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information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security:</a:t>
            </a:r>
            <a:endParaRPr sz="32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security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attack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security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mechanism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70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security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service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note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terms</a:t>
            </a:r>
            <a:endParaRPr sz="32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85"/>
              </a:spcBef>
              <a:buFont typeface="Arial"/>
              <a:buChar char="–"/>
              <a:tabLst>
                <a:tab pos="756285" algn="l"/>
              </a:tabLst>
            </a:pPr>
            <a:r>
              <a:rPr sz="2800" b="1" dirty="0">
                <a:latin typeface="Arial"/>
                <a:cs typeface="Arial"/>
              </a:rPr>
              <a:t>threat</a:t>
            </a:r>
            <a:r>
              <a:rPr sz="2800" b="1" spc="-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–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potential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for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violation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security</a:t>
            </a:r>
            <a:endParaRPr sz="2800">
              <a:latin typeface="Arial"/>
              <a:cs typeface="Arial"/>
            </a:endParaRPr>
          </a:p>
          <a:p>
            <a:pPr marL="756285" marR="142240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285" algn="l"/>
              </a:tabLst>
            </a:pPr>
            <a:r>
              <a:rPr sz="2800" b="1" dirty="0">
                <a:latin typeface="Arial"/>
                <a:cs typeface="Arial"/>
              </a:rPr>
              <a:t>attack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–</a:t>
            </a:r>
            <a:r>
              <a:rPr sz="2800" dirty="0">
                <a:latin typeface="Arial"/>
                <a:cs typeface="Arial"/>
              </a:rPr>
              <a:t>an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assault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system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security,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a </a:t>
            </a:r>
            <a:r>
              <a:rPr sz="2800" dirty="0">
                <a:latin typeface="Arial"/>
                <a:cs typeface="Arial"/>
              </a:rPr>
              <a:t>deliberate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attempt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evade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security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services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Passive </a:t>
            </a:r>
            <a:r>
              <a:rPr sz="4400" spc="-10" dirty="0"/>
              <a:t>Attacks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3217" y="1524000"/>
            <a:ext cx="8798433" cy="46482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Active </a:t>
            </a:r>
            <a:r>
              <a:rPr sz="4400" spc="-10" dirty="0"/>
              <a:t>Attacks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1600200"/>
            <a:ext cx="8508619" cy="4495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Security </a:t>
            </a:r>
            <a:r>
              <a:rPr sz="4400" spc="-10" dirty="0"/>
              <a:t>Services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215890"/>
            <a:ext cx="8008620" cy="487235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Char char="•"/>
              <a:tabLst>
                <a:tab pos="354965" algn="l"/>
              </a:tabLst>
            </a:pPr>
            <a:r>
              <a:rPr sz="3200" spc="-10" dirty="0">
                <a:latin typeface="Arial"/>
                <a:cs typeface="Arial"/>
              </a:rPr>
              <a:t>X.800:</a:t>
            </a:r>
            <a:endParaRPr sz="3200">
              <a:latin typeface="Arial"/>
              <a:cs typeface="Arial"/>
            </a:endParaRPr>
          </a:p>
          <a:p>
            <a:pPr marL="756285" marR="83185" lvl="1" indent="-287020">
              <a:lnSpc>
                <a:spcPct val="100000"/>
              </a:lnSpc>
              <a:spcBef>
                <a:spcPts val="690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“a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service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provided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by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protocol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layer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of </a:t>
            </a:r>
            <a:r>
              <a:rPr sz="2800" dirty="0">
                <a:latin typeface="Arial"/>
                <a:cs typeface="Arial"/>
              </a:rPr>
              <a:t>communicating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open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systems,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which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ensures </a:t>
            </a:r>
            <a:r>
              <a:rPr sz="2800" dirty="0">
                <a:latin typeface="Arial"/>
                <a:cs typeface="Arial"/>
              </a:rPr>
              <a:t>adequate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security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systems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or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data </a:t>
            </a:r>
            <a:r>
              <a:rPr sz="2800" spc="-10" dirty="0">
                <a:latin typeface="Arial"/>
                <a:cs typeface="Arial"/>
              </a:rPr>
              <a:t>transfers”</a:t>
            </a:r>
            <a:endParaRPr sz="2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565"/>
              </a:spcBef>
              <a:buFont typeface="Arial"/>
              <a:buChar char="–"/>
            </a:pP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RFC</a:t>
            </a:r>
            <a:r>
              <a:rPr sz="3200" spc="-10" dirty="0">
                <a:latin typeface="Arial"/>
                <a:cs typeface="Arial"/>
              </a:rPr>
              <a:t> 2828:</a:t>
            </a:r>
            <a:endParaRPr sz="3200">
              <a:latin typeface="Arial"/>
              <a:cs typeface="Arial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90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“a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processing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or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communication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service </a:t>
            </a:r>
            <a:r>
              <a:rPr sz="2800" dirty="0">
                <a:latin typeface="Arial"/>
                <a:cs typeface="Arial"/>
              </a:rPr>
              <a:t>provided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by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system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give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specific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kind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of </a:t>
            </a:r>
            <a:r>
              <a:rPr sz="2800" dirty="0">
                <a:latin typeface="Arial"/>
                <a:cs typeface="Arial"/>
              </a:rPr>
              <a:t>protection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system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resources”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Model</a:t>
            </a:r>
            <a:r>
              <a:rPr sz="4400" spc="-25" dirty="0"/>
              <a:t> </a:t>
            </a:r>
            <a:r>
              <a:rPr sz="4400" dirty="0"/>
              <a:t>for</a:t>
            </a:r>
            <a:r>
              <a:rPr sz="4400" spc="-5" dirty="0"/>
              <a:t> </a:t>
            </a:r>
            <a:r>
              <a:rPr sz="4400" dirty="0"/>
              <a:t>Network</a:t>
            </a:r>
            <a:r>
              <a:rPr sz="4400" spc="-20" dirty="0"/>
              <a:t> </a:t>
            </a:r>
            <a:r>
              <a:rPr sz="4400" spc="-10" dirty="0"/>
              <a:t>Security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447800"/>
            <a:ext cx="8772525" cy="4800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Model</a:t>
            </a:r>
            <a:r>
              <a:rPr sz="4400" spc="-25" dirty="0"/>
              <a:t> </a:t>
            </a:r>
            <a:r>
              <a:rPr sz="4400" dirty="0"/>
              <a:t>for</a:t>
            </a:r>
            <a:r>
              <a:rPr sz="4400" spc="-5" dirty="0"/>
              <a:t> </a:t>
            </a:r>
            <a:r>
              <a:rPr sz="4400" dirty="0"/>
              <a:t>Network</a:t>
            </a:r>
            <a:r>
              <a:rPr sz="4400" spc="-20" dirty="0"/>
              <a:t> </a:t>
            </a:r>
            <a:r>
              <a:rPr sz="4400" spc="-10" dirty="0"/>
              <a:t>Security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61950" indent="-342265">
              <a:lnSpc>
                <a:spcPct val="100000"/>
              </a:lnSpc>
              <a:spcBef>
                <a:spcPts val="894"/>
              </a:spcBef>
              <a:buChar char="•"/>
              <a:tabLst>
                <a:tab pos="361950" algn="l"/>
              </a:tabLst>
            </a:pPr>
            <a:r>
              <a:rPr dirty="0"/>
              <a:t>Using</a:t>
            </a:r>
            <a:r>
              <a:rPr spc="-50" dirty="0"/>
              <a:t> </a:t>
            </a:r>
            <a:r>
              <a:rPr dirty="0"/>
              <a:t>this</a:t>
            </a:r>
            <a:r>
              <a:rPr spc="-25" dirty="0"/>
              <a:t> </a:t>
            </a:r>
            <a:r>
              <a:rPr dirty="0"/>
              <a:t>model</a:t>
            </a:r>
            <a:r>
              <a:rPr spc="-40" dirty="0"/>
              <a:t> </a:t>
            </a:r>
            <a:r>
              <a:rPr dirty="0"/>
              <a:t>requires</a:t>
            </a:r>
            <a:r>
              <a:rPr spc="-45" dirty="0"/>
              <a:t> </a:t>
            </a:r>
            <a:r>
              <a:rPr dirty="0"/>
              <a:t>us</a:t>
            </a:r>
            <a:r>
              <a:rPr spc="-40" dirty="0"/>
              <a:t> </a:t>
            </a:r>
            <a:r>
              <a:rPr spc="-25" dirty="0"/>
              <a:t>to:</a:t>
            </a:r>
          </a:p>
          <a:p>
            <a:pPr marL="534670" marR="814705" indent="-515620">
              <a:lnSpc>
                <a:spcPct val="100000"/>
              </a:lnSpc>
              <a:spcBef>
                <a:spcPts val="690"/>
              </a:spcBef>
              <a:buAutoNum type="arabicPeriod"/>
              <a:tabLst>
                <a:tab pos="534670" algn="l"/>
              </a:tabLst>
            </a:pPr>
            <a:r>
              <a:rPr sz="2800" dirty="0"/>
              <a:t>Design</a:t>
            </a:r>
            <a:r>
              <a:rPr sz="2800" spc="-55" dirty="0"/>
              <a:t> </a:t>
            </a:r>
            <a:r>
              <a:rPr sz="2800" dirty="0"/>
              <a:t>a</a:t>
            </a:r>
            <a:r>
              <a:rPr sz="2800" spc="-65" dirty="0"/>
              <a:t> </a:t>
            </a:r>
            <a:r>
              <a:rPr sz="2800" dirty="0"/>
              <a:t>suitable</a:t>
            </a:r>
            <a:r>
              <a:rPr sz="2800" spc="-65" dirty="0"/>
              <a:t> </a:t>
            </a:r>
            <a:r>
              <a:rPr sz="2800" dirty="0"/>
              <a:t>algorithm</a:t>
            </a:r>
            <a:r>
              <a:rPr sz="2800" spc="-50" dirty="0"/>
              <a:t> </a:t>
            </a:r>
            <a:r>
              <a:rPr sz="2800" dirty="0"/>
              <a:t>for</a:t>
            </a:r>
            <a:r>
              <a:rPr sz="2800" spc="-55" dirty="0"/>
              <a:t> </a:t>
            </a:r>
            <a:r>
              <a:rPr sz="2800" dirty="0"/>
              <a:t>the</a:t>
            </a:r>
            <a:r>
              <a:rPr sz="2800" spc="-70" dirty="0"/>
              <a:t> </a:t>
            </a:r>
            <a:r>
              <a:rPr sz="2800" spc="-10" dirty="0"/>
              <a:t>security transformation</a:t>
            </a:r>
            <a:endParaRPr sz="2800"/>
          </a:p>
          <a:p>
            <a:pPr marL="534670" marR="125095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34670" algn="l"/>
              </a:tabLst>
            </a:pPr>
            <a:r>
              <a:rPr sz="2800" dirty="0"/>
              <a:t>Generate</a:t>
            </a:r>
            <a:r>
              <a:rPr sz="2800" spc="-75" dirty="0"/>
              <a:t> </a:t>
            </a:r>
            <a:r>
              <a:rPr sz="2800" dirty="0"/>
              <a:t>the</a:t>
            </a:r>
            <a:r>
              <a:rPr sz="2800" spc="-85" dirty="0"/>
              <a:t> </a:t>
            </a:r>
            <a:r>
              <a:rPr sz="2800" dirty="0"/>
              <a:t>secret</a:t>
            </a:r>
            <a:r>
              <a:rPr sz="2800" spc="-90" dirty="0"/>
              <a:t> </a:t>
            </a:r>
            <a:r>
              <a:rPr sz="2800" dirty="0"/>
              <a:t>information</a:t>
            </a:r>
            <a:r>
              <a:rPr sz="2800" spc="-75" dirty="0"/>
              <a:t> </a:t>
            </a:r>
            <a:r>
              <a:rPr sz="2800" dirty="0"/>
              <a:t>(keys)</a:t>
            </a:r>
            <a:r>
              <a:rPr sz="2800" spc="-90" dirty="0"/>
              <a:t> </a:t>
            </a:r>
            <a:r>
              <a:rPr sz="2800" dirty="0"/>
              <a:t>used</a:t>
            </a:r>
            <a:r>
              <a:rPr sz="2800" spc="-80" dirty="0"/>
              <a:t> </a:t>
            </a:r>
            <a:r>
              <a:rPr sz="2800" spc="-25" dirty="0"/>
              <a:t>by </a:t>
            </a:r>
            <a:r>
              <a:rPr sz="2800" dirty="0"/>
              <a:t>the</a:t>
            </a:r>
            <a:r>
              <a:rPr sz="2800" spc="-40" dirty="0"/>
              <a:t> </a:t>
            </a:r>
            <a:r>
              <a:rPr sz="2800" spc="-10" dirty="0"/>
              <a:t>algorithm</a:t>
            </a:r>
            <a:endParaRPr sz="2800"/>
          </a:p>
          <a:p>
            <a:pPr marL="534670" marR="557530" indent="-515620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534670" algn="l"/>
              </a:tabLst>
            </a:pPr>
            <a:r>
              <a:rPr sz="2800" dirty="0"/>
              <a:t>Develop</a:t>
            </a:r>
            <a:r>
              <a:rPr sz="2800" spc="-75" dirty="0"/>
              <a:t> </a:t>
            </a:r>
            <a:r>
              <a:rPr sz="2800" dirty="0"/>
              <a:t>methods</a:t>
            </a:r>
            <a:r>
              <a:rPr sz="2800" spc="-80" dirty="0"/>
              <a:t> </a:t>
            </a:r>
            <a:r>
              <a:rPr sz="2800" dirty="0"/>
              <a:t>to</a:t>
            </a:r>
            <a:r>
              <a:rPr sz="2800" spc="-85" dirty="0"/>
              <a:t> </a:t>
            </a:r>
            <a:r>
              <a:rPr sz="2800" dirty="0"/>
              <a:t>distribute</a:t>
            </a:r>
            <a:r>
              <a:rPr sz="2800" spc="-90" dirty="0"/>
              <a:t> </a:t>
            </a:r>
            <a:r>
              <a:rPr sz="2800" dirty="0"/>
              <a:t>and</a:t>
            </a:r>
            <a:r>
              <a:rPr sz="2800" spc="-70" dirty="0"/>
              <a:t> </a:t>
            </a:r>
            <a:r>
              <a:rPr sz="2800" dirty="0"/>
              <a:t>share</a:t>
            </a:r>
            <a:r>
              <a:rPr sz="2800" spc="-80" dirty="0"/>
              <a:t> </a:t>
            </a:r>
            <a:r>
              <a:rPr sz="2800" spc="-25" dirty="0"/>
              <a:t>the </a:t>
            </a:r>
            <a:r>
              <a:rPr sz="2800" dirty="0"/>
              <a:t>secret</a:t>
            </a:r>
            <a:r>
              <a:rPr sz="2800" spc="-80" dirty="0"/>
              <a:t> </a:t>
            </a:r>
            <a:r>
              <a:rPr sz="2800" spc="-10" dirty="0"/>
              <a:t>information</a:t>
            </a:r>
            <a:endParaRPr sz="2800"/>
          </a:p>
          <a:p>
            <a:pPr marL="534670" marR="5080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34670" algn="l"/>
              </a:tabLst>
            </a:pPr>
            <a:r>
              <a:rPr sz="2800" dirty="0"/>
              <a:t>Specify</a:t>
            </a:r>
            <a:r>
              <a:rPr sz="2800" spc="-75" dirty="0"/>
              <a:t> </a:t>
            </a:r>
            <a:r>
              <a:rPr sz="2800" dirty="0"/>
              <a:t>a</a:t>
            </a:r>
            <a:r>
              <a:rPr sz="2800" spc="-75" dirty="0"/>
              <a:t> </a:t>
            </a:r>
            <a:r>
              <a:rPr sz="2800" dirty="0"/>
              <a:t>protocol</a:t>
            </a:r>
            <a:r>
              <a:rPr sz="2800" spc="-70" dirty="0"/>
              <a:t> </a:t>
            </a:r>
            <a:r>
              <a:rPr sz="2800" dirty="0"/>
              <a:t>enabling</a:t>
            </a:r>
            <a:r>
              <a:rPr sz="2800" spc="-55" dirty="0"/>
              <a:t> </a:t>
            </a:r>
            <a:r>
              <a:rPr sz="2800" dirty="0"/>
              <a:t>the</a:t>
            </a:r>
            <a:r>
              <a:rPr sz="2800" spc="-70" dirty="0"/>
              <a:t> </a:t>
            </a:r>
            <a:r>
              <a:rPr sz="2800" dirty="0"/>
              <a:t>principals</a:t>
            </a:r>
            <a:r>
              <a:rPr sz="2800" spc="-55" dirty="0"/>
              <a:t> </a:t>
            </a:r>
            <a:r>
              <a:rPr sz="2800" dirty="0"/>
              <a:t>to</a:t>
            </a:r>
            <a:r>
              <a:rPr sz="2800" spc="-70" dirty="0"/>
              <a:t> </a:t>
            </a:r>
            <a:r>
              <a:rPr sz="2800" spc="-25" dirty="0"/>
              <a:t>use </a:t>
            </a:r>
            <a:r>
              <a:rPr sz="2800" dirty="0"/>
              <a:t>the</a:t>
            </a:r>
            <a:r>
              <a:rPr sz="2800" spc="-65" dirty="0"/>
              <a:t> </a:t>
            </a:r>
            <a:r>
              <a:rPr sz="2800" spc="-10" dirty="0"/>
              <a:t>transformation</a:t>
            </a:r>
            <a:r>
              <a:rPr sz="2800" spc="-75" dirty="0"/>
              <a:t> </a:t>
            </a:r>
            <a:r>
              <a:rPr sz="2800" dirty="0"/>
              <a:t>and</a:t>
            </a:r>
            <a:r>
              <a:rPr sz="2800" spc="-65" dirty="0"/>
              <a:t> </a:t>
            </a:r>
            <a:r>
              <a:rPr sz="2800" dirty="0"/>
              <a:t>secret</a:t>
            </a:r>
            <a:r>
              <a:rPr sz="2800" spc="-70" dirty="0"/>
              <a:t> </a:t>
            </a:r>
            <a:r>
              <a:rPr sz="2800" dirty="0"/>
              <a:t>information</a:t>
            </a:r>
            <a:r>
              <a:rPr sz="2800" spc="-55" dirty="0"/>
              <a:t> </a:t>
            </a:r>
            <a:r>
              <a:rPr sz="2800" dirty="0"/>
              <a:t>for</a:t>
            </a:r>
            <a:r>
              <a:rPr sz="2800" spc="-65" dirty="0"/>
              <a:t> </a:t>
            </a:r>
            <a:r>
              <a:rPr sz="2800" spc="-50" dirty="0"/>
              <a:t>a </a:t>
            </a:r>
            <a:r>
              <a:rPr sz="2800" dirty="0"/>
              <a:t>security</a:t>
            </a:r>
            <a:r>
              <a:rPr sz="2800" spc="-100" dirty="0"/>
              <a:t> </a:t>
            </a:r>
            <a:r>
              <a:rPr sz="2800" spc="-10" dirty="0"/>
              <a:t>service</a:t>
            </a:r>
            <a:endParaRPr sz="2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8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Model</a:t>
            </a:r>
            <a:r>
              <a:rPr spc="-3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Network</a:t>
            </a:r>
            <a:r>
              <a:rPr spc="-50" dirty="0"/>
              <a:t> </a:t>
            </a:r>
            <a:r>
              <a:rPr dirty="0"/>
              <a:t>Access</a:t>
            </a:r>
            <a:r>
              <a:rPr spc="-35" dirty="0"/>
              <a:t> </a:t>
            </a:r>
            <a:r>
              <a:rPr spc="-10" dirty="0"/>
              <a:t>Security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" y="1828800"/>
            <a:ext cx="8278241" cy="35814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8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Model</a:t>
            </a:r>
            <a:r>
              <a:rPr spc="-3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Network</a:t>
            </a:r>
            <a:r>
              <a:rPr spc="-50" dirty="0"/>
              <a:t> </a:t>
            </a:r>
            <a:r>
              <a:rPr dirty="0"/>
              <a:t>Access</a:t>
            </a:r>
            <a:r>
              <a:rPr spc="-3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16482"/>
            <a:ext cx="8078470" cy="34061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Using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this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model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requires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us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to: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4"/>
              </a:spcBef>
            </a:pPr>
            <a:endParaRPr sz="3200">
              <a:latin typeface="Arial"/>
              <a:cs typeface="Arial"/>
            </a:endParaRPr>
          </a:p>
          <a:p>
            <a:pPr marL="527685" marR="853440" indent="-515620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sz="2800" dirty="0">
                <a:latin typeface="Arial"/>
                <a:cs typeface="Arial"/>
              </a:rPr>
              <a:t>Select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appropriate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gatekeeper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functions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to </a:t>
            </a:r>
            <a:r>
              <a:rPr sz="2800" dirty="0">
                <a:latin typeface="Arial"/>
                <a:cs typeface="Arial"/>
              </a:rPr>
              <a:t>identify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users</a:t>
            </a:r>
            <a:endParaRPr sz="2800">
              <a:latin typeface="Arial"/>
              <a:cs typeface="Arial"/>
            </a:endParaRPr>
          </a:p>
          <a:p>
            <a:pPr marL="527685" marR="5080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7685" algn="l"/>
              </a:tabLst>
            </a:pPr>
            <a:r>
              <a:rPr sz="2800" dirty="0">
                <a:latin typeface="Arial"/>
                <a:cs typeface="Arial"/>
              </a:rPr>
              <a:t>Implement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security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controls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ensure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only </a:t>
            </a:r>
            <a:r>
              <a:rPr sz="2800" dirty="0">
                <a:latin typeface="Arial"/>
                <a:cs typeface="Arial"/>
              </a:rPr>
              <a:t>authorized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users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access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designated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information </a:t>
            </a:r>
            <a:r>
              <a:rPr sz="2800" dirty="0">
                <a:latin typeface="Arial"/>
                <a:cs typeface="Arial"/>
              </a:rPr>
              <a:t>or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resources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48229" y="2619883"/>
            <a:ext cx="44450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b="0" dirty="0">
                <a:latin typeface="Arial"/>
                <a:cs typeface="Arial"/>
              </a:rPr>
              <a:t>Thank</a:t>
            </a:r>
            <a:r>
              <a:rPr sz="7200" b="0" spc="-40" dirty="0">
                <a:latin typeface="Arial"/>
                <a:cs typeface="Arial"/>
              </a:rPr>
              <a:t> </a:t>
            </a:r>
            <a:r>
              <a:rPr sz="7200" b="0" spc="-25" dirty="0">
                <a:latin typeface="Arial"/>
                <a:cs typeface="Arial"/>
              </a:rPr>
              <a:t>You</a:t>
            </a:r>
            <a:endParaRPr sz="7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089900" y="5792787"/>
            <a:ext cx="958850" cy="981075"/>
            <a:chOff x="8089900" y="5792787"/>
            <a:chExt cx="958850" cy="981075"/>
          </a:xfrm>
        </p:grpSpPr>
        <p:sp>
          <p:nvSpPr>
            <p:cNvPr id="5" name="object 5"/>
            <p:cNvSpPr/>
            <p:nvPr/>
          </p:nvSpPr>
          <p:spPr>
            <a:xfrm>
              <a:off x="8537575" y="5792787"/>
              <a:ext cx="511175" cy="403225"/>
            </a:xfrm>
            <a:custGeom>
              <a:avLst/>
              <a:gdLst/>
              <a:ahLst/>
              <a:cxnLst/>
              <a:rect l="l" t="t" r="r" b="b"/>
              <a:pathLst>
                <a:path w="511175" h="403225">
                  <a:moveTo>
                    <a:pt x="219075" y="0"/>
                  </a:moveTo>
                  <a:lnTo>
                    <a:pt x="122809" y="21628"/>
                  </a:lnTo>
                  <a:lnTo>
                    <a:pt x="67437" y="55257"/>
                  </a:lnTo>
                  <a:lnTo>
                    <a:pt x="19304" y="98513"/>
                  </a:lnTo>
                  <a:lnTo>
                    <a:pt x="0" y="124942"/>
                  </a:lnTo>
                  <a:lnTo>
                    <a:pt x="91440" y="177800"/>
                  </a:lnTo>
                  <a:lnTo>
                    <a:pt x="115570" y="148971"/>
                  </a:lnTo>
                  <a:lnTo>
                    <a:pt x="130048" y="136956"/>
                  </a:lnTo>
                  <a:lnTo>
                    <a:pt x="146812" y="124942"/>
                  </a:lnTo>
                  <a:lnTo>
                    <a:pt x="180594" y="110528"/>
                  </a:lnTo>
                  <a:lnTo>
                    <a:pt x="199771" y="105714"/>
                  </a:lnTo>
                  <a:lnTo>
                    <a:pt x="219075" y="103314"/>
                  </a:lnTo>
                  <a:lnTo>
                    <a:pt x="219075" y="0"/>
                  </a:lnTo>
                  <a:close/>
                </a:path>
                <a:path w="511175" h="403225">
                  <a:moveTo>
                    <a:pt x="511175" y="277431"/>
                  </a:moveTo>
                  <a:lnTo>
                    <a:pt x="508762" y="243573"/>
                  </a:lnTo>
                  <a:lnTo>
                    <a:pt x="503936" y="209702"/>
                  </a:lnTo>
                  <a:lnTo>
                    <a:pt x="494284" y="178257"/>
                  </a:lnTo>
                  <a:lnTo>
                    <a:pt x="479806" y="149225"/>
                  </a:lnTo>
                  <a:lnTo>
                    <a:pt x="390525" y="202450"/>
                  </a:lnTo>
                  <a:lnTo>
                    <a:pt x="397764" y="219379"/>
                  </a:lnTo>
                  <a:lnTo>
                    <a:pt x="402590" y="236308"/>
                  </a:lnTo>
                  <a:lnTo>
                    <a:pt x="407416" y="255663"/>
                  </a:lnTo>
                  <a:lnTo>
                    <a:pt x="407416" y="296786"/>
                  </a:lnTo>
                  <a:lnTo>
                    <a:pt x="402590" y="316141"/>
                  </a:lnTo>
                  <a:lnTo>
                    <a:pt x="397764" y="333070"/>
                  </a:lnTo>
                  <a:lnTo>
                    <a:pt x="390525" y="352425"/>
                  </a:lnTo>
                  <a:lnTo>
                    <a:pt x="479806" y="403225"/>
                  </a:lnTo>
                  <a:lnTo>
                    <a:pt x="494284" y="374192"/>
                  </a:lnTo>
                  <a:lnTo>
                    <a:pt x="503936" y="342747"/>
                  </a:lnTo>
                  <a:lnTo>
                    <a:pt x="508762" y="311302"/>
                  </a:lnTo>
                  <a:lnTo>
                    <a:pt x="511175" y="277431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94776" y="5942012"/>
              <a:ext cx="262255" cy="403225"/>
            </a:xfrm>
            <a:custGeom>
              <a:avLst/>
              <a:gdLst/>
              <a:ahLst/>
              <a:cxnLst/>
              <a:rect l="l" t="t" r="r" b="b"/>
              <a:pathLst>
                <a:path w="262254" h="403225">
                  <a:moveTo>
                    <a:pt x="120650" y="53225"/>
                  </a:moveTo>
                  <a:lnTo>
                    <a:pt x="31242" y="0"/>
                  </a:lnTo>
                  <a:lnTo>
                    <a:pt x="16891" y="29032"/>
                  </a:lnTo>
                  <a:lnTo>
                    <a:pt x="7239" y="60477"/>
                  </a:lnTo>
                  <a:lnTo>
                    <a:pt x="2413" y="94348"/>
                  </a:lnTo>
                  <a:lnTo>
                    <a:pt x="0" y="128206"/>
                  </a:lnTo>
                  <a:lnTo>
                    <a:pt x="2413" y="162077"/>
                  </a:lnTo>
                  <a:lnTo>
                    <a:pt x="7239" y="193522"/>
                  </a:lnTo>
                  <a:lnTo>
                    <a:pt x="16891" y="224967"/>
                  </a:lnTo>
                  <a:lnTo>
                    <a:pt x="31242" y="254000"/>
                  </a:lnTo>
                  <a:lnTo>
                    <a:pt x="120650" y="203200"/>
                  </a:lnTo>
                  <a:lnTo>
                    <a:pt x="113284" y="183845"/>
                  </a:lnTo>
                  <a:lnTo>
                    <a:pt x="108458" y="166916"/>
                  </a:lnTo>
                  <a:lnTo>
                    <a:pt x="103632" y="147561"/>
                  </a:lnTo>
                  <a:lnTo>
                    <a:pt x="103632" y="106438"/>
                  </a:lnTo>
                  <a:lnTo>
                    <a:pt x="108458" y="87083"/>
                  </a:lnTo>
                  <a:lnTo>
                    <a:pt x="113284" y="70154"/>
                  </a:lnTo>
                  <a:lnTo>
                    <a:pt x="120650" y="53225"/>
                  </a:lnTo>
                  <a:close/>
                </a:path>
                <a:path w="262254" h="403225">
                  <a:moveTo>
                    <a:pt x="261874" y="298983"/>
                  </a:moveTo>
                  <a:lnTo>
                    <a:pt x="223393" y="291719"/>
                  </a:lnTo>
                  <a:lnTo>
                    <a:pt x="172847" y="265049"/>
                  </a:lnTo>
                  <a:lnTo>
                    <a:pt x="134239" y="223837"/>
                  </a:lnTo>
                  <a:lnTo>
                    <a:pt x="42799" y="277164"/>
                  </a:lnTo>
                  <a:lnTo>
                    <a:pt x="110236" y="347472"/>
                  </a:lnTo>
                  <a:lnTo>
                    <a:pt x="165608" y="381406"/>
                  </a:lnTo>
                  <a:lnTo>
                    <a:pt x="228219" y="400799"/>
                  </a:lnTo>
                  <a:lnTo>
                    <a:pt x="261874" y="403225"/>
                  </a:lnTo>
                  <a:lnTo>
                    <a:pt x="261874" y="298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786876" y="5792787"/>
              <a:ext cx="219075" cy="552450"/>
            </a:xfrm>
            <a:custGeom>
              <a:avLst/>
              <a:gdLst/>
              <a:ahLst/>
              <a:cxnLst/>
              <a:rect l="l" t="t" r="r" b="b"/>
              <a:pathLst>
                <a:path w="219075" h="552450">
                  <a:moveTo>
                    <a:pt x="219075" y="426389"/>
                  </a:moveTo>
                  <a:lnTo>
                    <a:pt x="127508" y="373062"/>
                  </a:lnTo>
                  <a:lnTo>
                    <a:pt x="117856" y="390029"/>
                  </a:lnTo>
                  <a:lnTo>
                    <a:pt x="89027" y="414274"/>
                  </a:lnTo>
                  <a:lnTo>
                    <a:pt x="72136" y="426389"/>
                  </a:lnTo>
                  <a:lnTo>
                    <a:pt x="38481" y="440944"/>
                  </a:lnTo>
                  <a:lnTo>
                    <a:pt x="19177" y="445782"/>
                  </a:lnTo>
                  <a:lnTo>
                    <a:pt x="0" y="448208"/>
                  </a:lnTo>
                  <a:lnTo>
                    <a:pt x="0" y="552450"/>
                  </a:lnTo>
                  <a:lnTo>
                    <a:pt x="96266" y="530631"/>
                  </a:lnTo>
                  <a:lnTo>
                    <a:pt x="151638" y="496697"/>
                  </a:lnTo>
                  <a:lnTo>
                    <a:pt x="199771" y="453059"/>
                  </a:lnTo>
                  <a:lnTo>
                    <a:pt x="219075" y="426389"/>
                  </a:lnTo>
                  <a:close/>
                </a:path>
                <a:path w="219075" h="552450">
                  <a:moveTo>
                    <a:pt x="219075" y="124942"/>
                  </a:moveTo>
                  <a:lnTo>
                    <a:pt x="178054" y="76885"/>
                  </a:lnTo>
                  <a:lnTo>
                    <a:pt x="125095" y="36042"/>
                  </a:lnTo>
                  <a:lnTo>
                    <a:pt x="33655" y="2400"/>
                  </a:lnTo>
                  <a:lnTo>
                    <a:pt x="0" y="0"/>
                  </a:lnTo>
                  <a:lnTo>
                    <a:pt x="0" y="103314"/>
                  </a:lnTo>
                  <a:lnTo>
                    <a:pt x="19177" y="105714"/>
                  </a:lnTo>
                  <a:lnTo>
                    <a:pt x="38481" y="110528"/>
                  </a:lnTo>
                  <a:lnTo>
                    <a:pt x="89027" y="136956"/>
                  </a:lnTo>
                  <a:lnTo>
                    <a:pt x="117856" y="163385"/>
                  </a:lnTo>
                  <a:lnTo>
                    <a:pt x="127508" y="177800"/>
                  </a:lnTo>
                  <a:lnTo>
                    <a:pt x="219075" y="12494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15376" y="6221412"/>
              <a:ext cx="247650" cy="138430"/>
            </a:xfrm>
            <a:custGeom>
              <a:avLst/>
              <a:gdLst/>
              <a:ahLst/>
              <a:cxnLst/>
              <a:rect l="l" t="t" r="r" b="b"/>
              <a:pathLst>
                <a:path w="247650" h="138429">
                  <a:moveTo>
                    <a:pt x="180213" y="0"/>
                  </a:moveTo>
                  <a:lnTo>
                    <a:pt x="148971" y="0"/>
                  </a:lnTo>
                  <a:lnTo>
                    <a:pt x="115316" y="4851"/>
                  </a:lnTo>
                  <a:lnTo>
                    <a:pt x="84074" y="14541"/>
                  </a:lnTo>
                  <a:lnTo>
                    <a:pt x="55245" y="26657"/>
                  </a:lnTo>
                  <a:lnTo>
                    <a:pt x="26416" y="43611"/>
                  </a:lnTo>
                  <a:lnTo>
                    <a:pt x="0" y="60579"/>
                  </a:lnTo>
                  <a:lnTo>
                    <a:pt x="69723" y="138112"/>
                  </a:lnTo>
                  <a:lnTo>
                    <a:pt x="103377" y="118732"/>
                  </a:lnTo>
                  <a:lnTo>
                    <a:pt x="120142" y="111455"/>
                  </a:lnTo>
                  <a:lnTo>
                    <a:pt x="139446" y="106616"/>
                  </a:lnTo>
                  <a:lnTo>
                    <a:pt x="156209" y="104190"/>
                  </a:lnTo>
                  <a:lnTo>
                    <a:pt x="175514" y="101765"/>
                  </a:lnTo>
                  <a:lnTo>
                    <a:pt x="217851" y="101765"/>
                  </a:lnTo>
                  <a:lnTo>
                    <a:pt x="247650" y="9690"/>
                  </a:lnTo>
                  <a:lnTo>
                    <a:pt x="213868" y="2425"/>
                  </a:lnTo>
                  <a:lnTo>
                    <a:pt x="180213" y="0"/>
                  </a:lnTo>
                  <a:close/>
                </a:path>
                <a:path w="247650" h="138429">
                  <a:moveTo>
                    <a:pt x="217851" y="101765"/>
                  </a:moveTo>
                  <a:lnTo>
                    <a:pt x="175514" y="101765"/>
                  </a:lnTo>
                  <a:lnTo>
                    <a:pt x="197103" y="104190"/>
                  </a:lnTo>
                  <a:lnTo>
                    <a:pt x="216280" y="106616"/>
                  </a:lnTo>
                  <a:lnTo>
                    <a:pt x="217851" y="10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13776" y="6300787"/>
              <a:ext cx="554355" cy="455930"/>
            </a:xfrm>
            <a:custGeom>
              <a:avLst/>
              <a:gdLst/>
              <a:ahLst/>
              <a:cxnLst/>
              <a:rect l="l" t="t" r="r" b="b"/>
              <a:pathLst>
                <a:path w="554354" h="455929">
                  <a:moveTo>
                    <a:pt x="152400" y="77216"/>
                  </a:moveTo>
                  <a:lnTo>
                    <a:pt x="82169" y="0"/>
                  </a:lnTo>
                  <a:lnTo>
                    <a:pt x="60452" y="24130"/>
                  </a:lnTo>
                  <a:lnTo>
                    <a:pt x="41021" y="50673"/>
                  </a:lnTo>
                  <a:lnTo>
                    <a:pt x="26543" y="79629"/>
                  </a:lnTo>
                  <a:lnTo>
                    <a:pt x="14478" y="110998"/>
                  </a:lnTo>
                  <a:lnTo>
                    <a:pt x="4826" y="142367"/>
                  </a:lnTo>
                  <a:lnTo>
                    <a:pt x="0" y="176149"/>
                  </a:lnTo>
                  <a:lnTo>
                    <a:pt x="0" y="209931"/>
                  </a:lnTo>
                  <a:lnTo>
                    <a:pt x="4826" y="241300"/>
                  </a:lnTo>
                  <a:lnTo>
                    <a:pt x="106426" y="219583"/>
                  </a:lnTo>
                  <a:lnTo>
                    <a:pt x="104013" y="200279"/>
                  </a:lnTo>
                  <a:lnTo>
                    <a:pt x="104013" y="180975"/>
                  </a:lnTo>
                  <a:lnTo>
                    <a:pt x="111252" y="142367"/>
                  </a:lnTo>
                  <a:lnTo>
                    <a:pt x="128143" y="106172"/>
                  </a:lnTo>
                  <a:lnTo>
                    <a:pt x="140208" y="91694"/>
                  </a:lnTo>
                  <a:lnTo>
                    <a:pt x="152400" y="77216"/>
                  </a:lnTo>
                  <a:close/>
                </a:path>
                <a:path w="554354" h="455929">
                  <a:moveTo>
                    <a:pt x="209550" y="356857"/>
                  </a:moveTo>
                  <a:lnTo>
                    <a:pt x="175768" y="337591"/>
                  </a:lnTo>
                  <a:lnTo>
                    <a:pt x="146812" y="311099"/>
                  </a:lnTo>
                  <a:lnTo>
                    <a:pt x="125095" y="279781"/>
                  </a:lnTo>
                  <a:lnTo>
                    <a:pt x="110617" y="246062"/>
                  </a:lnTo>
                  <a:lnTo>
                    <a:pt x="9525" y="267741"/>
                  </a:lnTo>
                  <a:lnTo>
                    <a:pt x="33528" y="327952"/>
                  </a:lnTo>
                  <a:lnTo>
                    <a:pt x="69723" y="380949"/>
                  </a:lnTo>
                  <a:lnTo>
                    <a:pt x="117856" y="424307"/>
                  </a:lnTo>
                  <a:lnTo>
                    <a:pt x="178181" y="455625"/>
                  </a:lnTo>
                  <a:lnTo>
                    <a:pt x="209550" y="356857"/>
                  </a:lnTo>
                  <a:close/>
                </a:path>
                <a:path w="554354" h="455929">
                  <a:moveTo>
                    <a:pt x="553974" y="183769"/>
                  </a:moveTo>
                  <a:lnTo>
                    <a:pt x="549148" y="152400"/>
                  </a:lnTo>
                  <a:lnTo>
                    <a:pt x="448691" y="174117"/>
                  </a:lnTo>
                  <a:lnTo>
                    <a:pt x="450977" y="193421"/>
                  </a:lnTo>
                  <a:lnTo>
                    <a:pt x="450977" y="212725"/>
                  </a:lnTo>
                  <a:lnTo>
                    <a:pt x="441452" y="251333"/>
                  </a:lnTo>
                  <a:lnTo>
                    <a:pt x="415163" y="302006"/>
                  </a:lnTo>
                  <a:lnTo>
                    <a:pt x="403225" y="316484"/>
                  </a:lnTo>
                  <a:lnTo>
                    <a:pt x="472567" y="393700"/>
                  </a:lnTo>
                  <a:lnTo>
                    <a:pt x="513334" y="343027"/>
                  </a:lnTo>
                  <a:lnTo>
                    <a:pt x="539623" y="282702"/>
                  </a:lnTo>
                  <a:lnTo>
                    <a:pt x="553974" y="217551"/>
                  </a:lnTo>
                  <a:lnTo>
                    <a:pt x="553974" y="18376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456675" y="6238875"/>
              <a:ext cx="201930" cy="209550"/>
            </a:xfrm>
            <a:custGeom>
              <a:avLst/>
              <a:gdLst/>
              <a:ahLst/>
              <a:cxnLst/>
              <a:rect l="l" t="t" r="r" b="b"/>
              <a:pathLst>
                <a:path w="201929" h="209550">
                  <a:moveTo>
                    <a:pt x="33527" y="0"/>
                  </a:moveTo>
                  <a:lnTo>
                    <a:pt x="0" y="98755"/>
                  </a:lnTo>
                  <a:lnTo>
                    <a:pt x="19176" y="108394"/>
                  </a:lnTo>
                  <a:lnTo>
                    <a:pt x="35941" y="118021"/>
                  </a:lnTo>
                  <a:lnTo>
                    <a:pt x="64770" y="144513"/>
                  </a:lnTo>
                  <a:lnTo>
                    <a:pt x="93599" y="192684"/>
                  </a:lnTo>
                  <a:lnTo>
                    <a:pt x="100710" y="209550"/>
                  </a:lnTo>
                  <a:lnTo>
                    <a:pt x="201549" y="187871"/>
                  </a:lnTo>
                  <a:lnTo>
                    <a:pt x="191897" y="156565"/>
                  </a:lnTo>
                  <a:lnTo>
                    <a:pt x="177546" y="127660"/>
                  </a:lnTo>
                  <a:lnTo>
                    <a:pt x="141604" y="74663"/>
                  </a:lnTo>
                  <a:lnTo>
                    <a:pt x="91185" y="31318"/>
                  </a:lnTo>
                  <a:lnTo>
                    <a:pt x="64770" y="14452"/>
                  </a:lnTo>
                  <a:lnTo>
                    <a:pt x="335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89900" y="5821362"/>
              <a:ext cx="476250" cy="952500"/>
            </a:xfrm>
            <a:custGeom>
              <a:avLst/>
              <a:gdLst/>
              <a:ahLst/>
              <a:cxnLst/>
              <a:rect l="l" t="t" r="r" b="b"/>
              <a:pathLst>
                <a:path w="476250" h="952500">
                  <a:moveTo>
                    <a:pt x="106426" y="160007"/>
                  </a:moveTo>
                  <a:lnTo>
                    <a:pt x="21717" y="109537"/>
                  </a:lnTo>
                  <a:lnTo>
                    <a:pt x="12065" y="128765"/>
                  </a:lnTo>
                  <a:lnTo>
                    <a:pt x="4826" y="150393"/>
                  </a:lnTo>
                  <a:lnTo>
                    <a:pt x="2413" y="174421"/>
                  </a:lnTo>
                  <a:lnTo>
                    <a:pt x="0" y="196062"/>
                  </a:lnTo>
                  <a:lnTo>
                    <a:pt x="2413" y="220091"/>
                  </a:lnTo>
                  <a:lnTo>
                    <a:pt x="4826" y="241719"/>
                  </a:lnTo>
                  <a:lnTo>
                    <a:pt x="12065" y="263347"/>
                  </a:lnTo>
                  <a:lnTo>
                    <a:pt x="21717" y="282575"/>
                  </a:lnTo>
                  <a:lnTo>
                    <a:pt x="106426" y="234505"/>
                  </a:lnTo>
                  <a:lnTo>
                    <a:pt x="101473" y="215277"/>
                  </a:lnTo>
                  <a:lnTo>
                    <a:pt x="99060" y="196062"/>
                  </a:lnTo>
                  <a:lnTo>
                    <a:pt x="101473" y="176834"/>
                  </a:lnTo>
                  <a:lnTo>
                    <a:pt x="106426" y="160007"/>
                  </a:lnTo>
                  <a:close/>
                </a:path>
                <a:path w="476250" h="952500">
                  <a:moveTo>
                    <a:pt x="182626" y="292328"/>
                  </a:moveTo>
                  <a:lnTo>
                    <a:pt x="163322" y="287528"/>
                  </a:lnTo>
                  <a:lnTo>
                    <a:pt x="146431" y="280352"/>
                  </a:lnTo>
                  <a:lnTo>
                    <a:pt x="132080" y="268376"/>
                  </a:lnTo>
                  <a:lnTo>
                    <a:pt x="117602" y="254000"/>
                  </a:lnTo>
                  <a:lnTo>
                    <a:pt x="33401" y="304304"/>
                  </a:lnTo>
                  <a:lnTo>
                    <a:pt x="59817" y="337832"/>
                  </a:lnTo>
                  <a:lnTo>
                    <a:pt x="95885" y="364172"/>
                  </a:lnTo>
                  <a:lnTo>
                    <a:pt x="136779" y="383336"/>
                  </a:lnTo>
                  <a:lnTo>
                    <a:pt x="182626" y="390525"/>
                  </a:lnTo>
                  <a:lnTo>
                    <a:pt x="182626" y="292328"/>
                  </a:lnTo>
                  <a:close/>
                </a:path>
                <a:path w="476250" h="952500">
                  <a:moveTo>
                    <a:pt x="182626" y="0"/>
                  </a:moveTo>
                  <a:lnTo>
                    <a:pt x="115189" y="16967"/>
                  </a:lnTo>
                  <a:lnTo>
                    <a:pt x="76708" y="38773"/>
                  </a:lnTo>
                  <a:lnTo>
                    <a:pt x="45339" y="70269"/>
                  </a:lnTo>
                  <a:lnTo>
                    <a:pt x="33401" y="87223"/>
                  </a:lnTo>
                  <a:lnTo>
                    <a:pt x="117602" y="138112"/>
                  </a:lnTo>
                  <a:lnTo>
                    <a:pt x="132080" y="123571"/>
                  </a:lnTo>
                  <a:lnTo>
                    <a:pt x="146431" y="111455"/>
                  </a:lnTo>
                  <a:lnTo>
                    <a:pt x="163322" y="104190"/>
                  </a:lnTo>
                  <a:lnTo>
                    <a:pt x="182626" y="99339"/>
                  </a:lnTo>
                  <a:lnTo>
                    <a:pt x="182626" y="0"/>
                  </a:lnTo>
                  <a:close/>
                </a:path>
                <a:path w="476250" h="952500">
                  <a:moveTo>
                    <a:pt x="476250" y="889876"/>
                  </a:moveTo>
                  <a:lnTo>
                    <a:pt x="439204" y="848931"/>
                  </a:lnTo>
                  <a:lnTo>
                    <a:pt x="406527" y="812800"/>
                  </a:lnTo>
                  <a:lnTo>
                    <a:pt x="389636" y="824839"/>
                  </a:lnTo>
                  <a:lnTo>
                    <a:pt x="372872" y="834478"/>
                  </a:lnTo>
                  <a:lnTo>
                    <a:pt x="355981" y="841705"/>
                  </a:lnTo>
                  <a:lnTo>
                    <a:pt x="336804" y="846518"/>
                  </a:lnTo>
                  <a:lnTo>
                    <a:pt x="317500" y="848931"/>
                  </a:lnTo>
                  <a:lnTo>
                    <a:pt x="279146" y="848931"/>
                  </a:lnTo>
                  <a:lnTo>
                    <a:pt x="259842" y="844118"/>
                  </a:lnTo>
                  <a:lnTo>
                    <a:pt x="228600" y="942873"/>
                  </a:lnTo>
                  <a:lnTo>
                    <a:pt x="262255" y="950099"/>
                  </a:lnTo>
                  <a:lnTo>
                    <a:pt x="295910" y="952500"/>
                  </a:lnTo>
                  <a:lnTo>
                    <a:pt x="327152" y="952500"/>
                  </a:lnTo>
                  <a:lnTo>
                    <a:pt x="360807" y="947686"/>
                  </a:lnTo>
                  <a:lnTo>
                    <a:pt x="392049" y="938060"/>
                  </a:lnTo>
                  <a:lnTo>
                    <a:pt x="421005" y="926007"/>
                  </a:lnTo>
                  <a:lnTo>
                    <a:pt x="449834" y="909142"/>
                  </a:lnTo>
                  <a:lnTo>
                    <a:pt x="476250" y="889876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97926" y="5930899"/>
              <a:ext cx="182880" cy="281305"/>
            </a:xfrm>
            <a:custGeom>
              <a:avLst/>
              <a:gdLst/>
              <a:ahLst/>
              <a:cxnLst/>
              <a:rect l="l" t="t" r="r" b="b"/>
              <a:pathLst>
                <a:path w="182879" h="281304">
                  <a:moveTo>
                    <a:pt x="150749" y="194767"/>
                  </a:moveTo>
                  <a:lnTo>
                    <a:pt x="64516" y="144462"/>
                  </a:lnTo>
                  <a:lnTo>
                    <a:pt x="52578" y="158838"/>
                  </a:lnTo>
                  <a:lnTo>
                    <a:pt x="35814" y="170815"/>
                  </a:lnTo>
                  <a:lnTo>
                    <a:pt x="19050" y="177990"/>
                  </a:lnTo>
                  <a:lnTo>
                    <a:pt x="0" y="182791"/>
                  </a:lnTo>
                  <a:lnTo>
                    <a:pt x="0" y="280987"/>
                  </a:lnTo>
                  <a:lnTo>
                    <a:pt x="45466" y="273799"/>
                  </a:lnTo>
                  <a:lnTo>
                    <a:pt x="86106" y="254635"/>
                  </a:lnTo>
                  <a:lnTo>
                    <a:pt x="122047" y="228295"/>
                  </a:lnTo>
                  <a:lnTo>
                    <a:pt x="150749" y="194767"/>
                  </a:lnTo>
                  <a:close/>
                </a:path>
                <a:path w="182879" h="281304">
                  <a:moveTo>
                    <a:pt x="182499" y="64884"/>
                  </a:moveTo>
                  <a:lnTo>
                    <a:pt x="177673" y="40855"/>
                  </a:lnTo>
                  <a:lnTo>
                    <a:pt x="170434" y="19227"/>
                  </a:lnTo>
                  <a:lnTo>
                    <a:pt x="163195" y="0"/>
                  </a:lnTo>
                  <a:lnTo>
                    <a:pt x="76200" y="50469"/>
                  </a:lnTo>
                  <a:lnTo>
                    <a:pt x="83439" y="67297"/>
                  </a:lnTo>
                  <a:lnTo>
                    <a:pt x="83439" y="105740"/>
                  </a:lnTo>
                  <a:lnTo>
                    <a:pt x="76200" y="124968"/>
                  </a:lnTo>
                  <a:lnTo>
                    <a:pt x="163195" y="173037"/>
                  </a:lnTo>
                  <a:lnTo>
                    <a:pt x="170434" y="153809"/>
                  </a:lnTo>
                  <a:lnTo>
                    <a:pt x="177673" y="132181"/>
                  </a:lnTo>
                  <a:lnTo>
                    <a:pt x="182499" y="110553"/>
                  </a:lnTo>
                  <a:lnTo>
                    <a:pt x="182499" y="648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97925" y="5821362"/>
              <a:ext cx="151130" cy="138430"/>
            </a:xfrm>
            <a:custGeom>
              <a:avLst/>
              <a:gdLst/>
              <a:ahLst/>
              <a:cxnLst/>
              <a:rect l="l" t="t" r="r" b="b"/>
              <a:pathLst>
                <a:path w="151129" h="138429">
                  <a:moveTo>
                    <a:pt x="0" y="0"/>
                  </a:moveTo>
                  <a:lnTo>
                    <a:pt x="0" y="99339"/>
                  </a:lnTo>
                  <a:lnTo>
                    <a:pt x="19050" y="104190"/>
                  </a:lnTo>
                  <a:lnTo>
                    <a:pt x="35814" y="111455"/>
                  </a:lnTo>
                  <a:lnTo>
                    <a:pt x="52577" y="123571"/>
                  </a:lnTo>
                  <a:lnTo>
                    <a:pt x="64516" y="138112"/>
                  </a:lnTo>
                  <a:lnTo>
                    <a:pt x="150749" y="87223"/>
                  </a:lnTo>
                  <a:lnTo>
                    <a:pt x="122047" y="53301"/>
                  </a:lnTo>
                  <a:lnTo>
                    <a:pt x="86105" y="26657"/>
                  </a:lnTo>
                  <a:lnTo>
                    <a:pt x="23875" y="2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622</Words>
  <Application>Microsoft Office PowerPoint</Application>
  <PresentationFormat>On-screen Show (4:3)</PresentationFormat>
  <Paragraphs>114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Arial</vt:lpstr>
      <vt:lpstr>Office Theme</vt:lpstr>
      <vt:lpstr>Cyber Security &amp; Digital Forensics CSE - 4207</vt:lpstr>
      <vt:lpstr>Outline</vt:lpstr>
      <vt:lpstr>The Security Mindset</vt:lpstr>
      <vt:lpstr>Meet the Adversary</vt:lpstr>
      <vt:lpstr>Know Your Enemy</vt:lpstr>
      <vt:lpstr>Thinking Like an Attacker</vt:lpstr>
      <vt:lpstr>Find the Code</vt:lpstr>
      <vt:lpstr>PowerPoint Presentation</vt:lpstr>
      <vt:lpstr>Security and Standards Organizations</vt:lpstr>
      <vt:lpstr>Key Security Concepts</vt:lpstr>
      <vt:lpstr>Levels of Impact</vt:lpstr>
      <vt:lpstr>Examples of Security Requirements</vt:lpstr>
      <vt:lpstr>Computer Security Challenges</vt:lpstr>
      <vt:lpstr>Aspects of Security</vt:lpstr>
      <vt:lpstr>Passive Attacks</vt:lpstr>
      <vt:lpstr>Active Attacks</vt:lpstr>
      <vt:lpstr>Security Services</vt:lpstr>
      <vt:lpstr>Model for Network Security</vt:lpstr>
      <vt:lpstr>Model for Network Security</vt:lpstr>
      <vt:lpstr>Model for Network Access Security</vt:lpstr>
      <vt:lpstr>Model for Network Access Security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text to go here</dc:title>
  <dc:creator>Windows User</dc:creator>
  <cp:lastModifiedBy>Home</cp:lastModifiedBy>
  <cp:revision>1</cp:revision>
  <dcterms:created xsi:type="dcterms:W3CDTF">2026-03-02T17:07:21Z</dcterms:created>
  <dcterms:modified xsi:type="dcterms:W3CDTF">2026-03-02T17:10:30Z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2026-03-02T00:00:00Z</vt:filetime>
  </property>
  <property fmtid="{D5CDD505-2E9C-101B-9397-08002B2CF9AE}" pid="5" name="Producer">
    <vt:lpwstr>Microsoft® PowerPoint® 2010</vt:lpwstr>
  </property>
</Properties>
</file>