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09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9644" y="436829"/>
            <a:ext cx="645795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01406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1406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1406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1406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16" y="14843"/>
            <a:ext cx="9136083" cy="6843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644" y="150368"/>
            <a:ext cx="7157720" cy="9836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01406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6550" y="1390650"/>
            <a:ext cx="8470900" cy="4576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" y="0"/>
            <a:ext cx="9096375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2393" y="1380820"/>
            <a:ext cx="75253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0" marR="5080" indent="-256603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00"/>
                </a:solidFill>
                <a:latin typeface="Arial"/>
                <a:cs typeface="Arial"/>
              </a:rPr>
              <a:t>Cyber</a:t>
            </a:r>
            <a:r>
              <a:rPr sz="36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"/>
                <a:cs typeface="Arial"/>
              </a:rPr>
              <a:t>Security &amp; Digital </a:t>
            </a:r>
            <a:r>
              <a:rPr sz="3600" b="1" spc="-10" dirty="0">
                <a:solidFill>
                  <a:srgbClr val="000000"/>
                </a:solidFill>
                <a:latin typeface="Arial"/>
                <a:cs typeface="Arial"/>
              </a:rPr>
              <a:t>Forensics </a:t>
            </a:r>
            <a:r>
              <a:rPr sz="3600" b="1" dirty="0">
                <a:solidFill>
                  <a:srgbClr val="000000"/>
                </a:solidFill>
                <a:latin typeface="Arial"/>
                <a:cs typeface="Arial"/>
              </a:rPr>
              <a:t>CSE</a:t>
            </a:r>
            <a:r>
              <a:rPr sz="36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sz="36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000000"/>
                </a:solidFill>
                <a:latin typeface="Arial"/>
                <a:cs typeface="Arial"/>
              </a:rPr>
              <a:t>4207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7721" y="3152393"/>
            <a:ext cx="5987415" cy="2566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Lecture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-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05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800" dirty="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lang="en-US" sz="3200" dirty="0">
                <a:latin typeface="Arial MT"/>
                <a:cs typeface="Arial MT"/>
              </a:rPr>
              <a:t>Dr. </a:t>
            </a:r>
            <a:r>
              <a:rPr lang="en-US" sz="3200" err="1">
                <a:latin typeface="Arial MT"/>
                <a:cs typeface="Arial MT"/>
              </a:rPr>
              <a:t>Md</a:t>
            </a:r>
            <a:r>
              <a:rPr lang="en-US" sz="3200">
                <a:latin typeface="Arial MT"/>
                <a:cs typeface="Arial MT"/>
              </a:rPr>
              <a:t>. Alam </a:t>
            </a:r>
            <a:r>
              <a:rPr lang="en-US" sz="3200" dirty="0">
                <a:latin typeface="Arial MT"/>
                <a:cs typeface="Arial MT"/>
              </a:rPr>
              <a:t>Hossain</a:t>
            </a:r>
            <a:endParaRPr sz="32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lang="en-US" sz="2400" spc="-10" dirty="0">
                <a:latin typeface="Arial MT"/>
                <a:cs typeface="Arial MT"/>
              </a:rPr>
              <a:t>Professor</a:t>
            </a:r>
            <a:endParaRPr sz="2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 MT"/>
                <a:cs typeface="Arial MT"/>
              </a:rPr>
              <a:t>Jashore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University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Technology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" y="1143000"/>
            <a:ext cx="447675" cy="659130"/>
            <a:chOff x="228600" y="1143000"/>
            <a:chExt cx="447675" cy="659130"/>
          </a:xfrm>
        </p:grpSpPr>
        <p:sp>
          <p:nvSpPr>
            <p:cNvPr id="6" name="object 6"/>
            <p:cNvSpPr/>
            <p:nvPr/>
          </p:nvSpPr>
          <p:spPr>
            <a:xfrm>
              <a:off x="307784" y="1371600"/>
              <a:ext cx="193040" cy="107950"/>
            </a:xfrm>
            <a:custGeom>
              <a:avLst/>
              <a:gdLst/>
              <a:ahLst/>
              <a:cxnLst/>
              <a:rect l="l" t="t" r="r" b="b"/>
              <a:pathLst>
                <a:path w="193040" h="107950">
                  <a:moveTo>
                    <a:pt x="140538" y="0"/>
                  </a:moveTo>
                  <a:lnTo>
                    <a:pt x="116179" y="0"/>
                  </a:lnTo>
                  <a:lnTo>
                    <a:pt x="89941" y="3810"/>
                  </a:lnTo>
                  <a:lnTo>
                    <a:pt x="65582" y="11302"/>
                  </a:lnTo>
                  <a:lnTo>
                    <a:pt x="43103" y="20700"/>
                  </a:lnTo>
                  <a:lnTo>
                    <a:pt x="20612" y="33909"/>
                  </a:lnTo>
                  <a:lnTo>
                    <a:pt x="0" y="47116"/>
                  </a:lnTo>
                  <a:lnTo>
                    <a:pt x="54343" y="107569"/>
                  </a:lnTo>
                  <a:lnTo>
                    <a:pt x="80581" y="92455"/>
                  </a:lnTo>
                  <a:lnTo>
                    <a:pt x="93687" y="86740"/>
                  </a:lnTo>
                  <a:lnTo>
                    <a:pt x="108686" y="83058"/>
                  </a:lnTo>
                  <a:lnTo>
                    <a:pt x="121805" y="81152"/>
                  </a:lnTo>
                  <a:lnTo>
                    <a:pt x="136791" y="79248"/>
                  </a:lnTo>
                  <a:lnTo>
                    <a:pt x="169884" y="79248"/>
                  </a:lnTo>
                  <a:lnTo>
                    <a:pt x="193014" y="7492"/>
                  </a:lnTo>
                  <a:lnTo>
                    <a:pt x="166776" y="1904"/>
                  </a:lnTo>
                  <a:lnTo>
                    <a:pt x="140538" y="0"/>
                  </a:lnTo>
                  <a:close/>
                </a:path>
                <a:path w="193040" h="107950">
                  <a:moveTo>
                    <a:pt x="169884" y="79248"/>
                  </a:moveTo>
                  <a:lnTo>
                    <a:pt x="136791" y="79248"/>
                  </a:lnTo>
                  <a:lnTo>
                    <a:pt x="153657" y="81152"/>
                  </a:lnTo>
                  <a:lnTo>
                    <a:pt x="168656" y="83058"/>
                  </a:lnTo>
                  <a:lnTo>
                    <a:pt x="169884" y="79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433448"/>
              <a:ext cx="431800" cy="354965"/>
            </a:xfrm>
            <a:custGeom>
              <a:avLst/>
              <a:gdLst/>
              <a:ahLst/>
              <a:cxnLst/>
              <a:rect l="l" t="t" r="r" b="b"/>
              <a:pathLst>
                <a:path w="431800" h="354964">
                  <a:moveTo>
                    <a:pt x="118770" y="60071"/>
                  </a:moveTo>
                  <a:lnTo>
                    <a:pt x="64096" y="0"/>
                  </a:lnTo>
                  <a:lnTo>
                    <a:pt x="47129" y="18796"/>
                  </a:lnTo>
                  <a:lnTo>
                    <a:pt x="32054" y="39370"/>
                  </a:lnTo>
                  <a:lnTo>
                    <a:pt x="20739" y="61976"/>
                  </a:lnTo>
                  <a:lnTo>
                    <a:pt x="11315" y="86360"/>
                  </a:lnTo>
                  <a:lnTo>
                    <a:pt x="3771" y="110871"/>
                  </a:lnTo>
                  <a:lnTo>
                    <a:pt x="0" y="137160"/>
                  </a:lnTo>
                  <a:lnTo>
                    <a:pt x="0" y="163449"/>
                  </a:lnTo>
                  <a:lnTo>
                    <a:pt x="3771" y="187833"/>
                  </a:lnTo>
                  <a:lnTo>
                    <a:pt x="82956" y="170942"/>
                  </a:lnTo>
                  <a:lnTo>
                    <a:pt x="81064" y="155956"/>
                  </a:lnTo>
                  <a:lnTo>
                    <a:pt x="81064" y="140843"/>
                  </a:lnTo>
                  <a:lnTo>
                    <a:pt x="82956" y="125857"/>
                  </a:lnTo>
                  <a:lnTo>
                    <a:pt x="86728" y="110871"/>
                  </a:lnTo>
                  <a:lnTo>
                    <a:pt x="92379" y="97663"/>
                  </a:lnTo>
                  <a:lnTo>
                    <a:pt x="99923" y="82677"/>
                  </a:lnTo>
                  <a:lnTo>
                    <a:pt x="118770" y="60071"/>
                  </a:lnTo>
                  <a:close/>
                </a:path>
                <a:path w="431800" h="354964">
                  <a:moveTo>
                    <a:pt x="163322" y="277876"/>
                  </a:moveTo>
                  <a:lnTo>
                    <a:pt x="125755" y="253492"/>
                  </a:lnTo>
                  <a:lnTo>
                    <a:pt x="97574" y="217805"/>
                  </a:lnTo>
                  <a:lnTo>
                    <a:pt x="86309" y="191643"/>
                  </a:lnTo>
                  <a:lnTo>
                    <a:pt x="7416" y="208407"/>
                  </a:lnTo>
                  <a:lnTo>
                    <a:pt x="26200" y="255397"/>
                  </a:lnTo>
                  <a:lnTo>
                    <a:pt x="54381" y="296672"/>
                  </a:lnTo>
                  <a:lnTo>
                    <a:pt x="91948" y="330327"/>
                  </a:lnTo>
                  <a:lnTo>
                    <a:pt x="138899" y="354711"/>
                  </a:lnTo>
                  <a:lnTo>
                    <a:pt x="163322" y="277876"/>
                  </a:lnTo>
                  <a:close/>
                </a:path>
                <a:path w="431800" h="354964">
                  <a:moveTo>
                    <a:pt x="431800" y="143129"/>
                  </a:moveTo>
                  <a:lnTo>
                    <a:pt x="428066" y="118618"/>
                  </a:lnTo>
                  <a:lnTo>
                    <a:pt x="349707" y="135509"/>
                  </a:lnTo>
                  <a:lnTo>
                    <a:pt x="351574" y="150622"/>
                  </a:lnTo>
                  <a:lnTo>
                    <a:pt x="351574" y="165608"/>
                  </a:lnTo>
                  <a:lnTo>
                    <a:pt x="349707" y="180594"/>
                  </a:lnTo>
                  <a:lnTo>
                    <a:pt x="344106" y="195707"/>
                  </a:lnTo>
                  <a:lnTo>
                    <a:pt x="338518" y="208788"/>
                  </a:lnTo>
                  <a:lnTo>
                    <a:pt x="332917" y="221996"/>
                  </a:lnTo>
                  <a:lnTo>
                    <a:pt x="323583" y="235204"/>
                  </a:lnTo>
                  <a:lnTo>
                    <a:pt x="314261" y="246380"/>
                  </a:lnTo>
                  <a:lnTo>
                    <a:pt x="368363" y="306578"/>
                  </a:lnTo>
                  <a:lnTo>
                    <a:pt x="400088" y="267081"/>
                  </a:lnTo>
                  <a:lnTo>
                    <a:pt x="420611" y="220091"/>
                  </a:lnTo>
                  <a:lnTo>
                    <a:pt x="431800" y="169418"/>
                  </a:lnTo>
                  <a:lnTo>
                    <a:pt x="431800" y="14312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846" y="1385188"/>
              <a:ext cx="157480" cy="163195"/>
            </a:xfrm>
            <a:custGeom>
              <a:avLst/>
              <a:gdLst/>
              <a:ahLst/>
              <a:cxnLst/>
              <a:rect l="l" t="t" r="r" b="b"/>
              <a:pathLst>
                <a:path w="157479" h="163194">
                  <a:moveTo>
                    <a:pt x="26187" y="0"/>
                  </a:moveTo>
                  <a:lnTo>
                    <a:pt x="0" y="76962"/>
                  </a:lnTo>
                  <a:lnTo>
                    <a:pt x="14960" y="84455"/>
                  </a:lnTo>
                  <a:lnTo>
                    <a:pt x="28054" y="91948"/>
                  </a:lnTo>
                  <a:lnTo>
                    <a:pt x="59855" y="123825"/>
                  </a:lnTo>
                  <a:lnTo>
                    <a:pt x="72948" y="150113"/>
                  </a:lnTo>
                  <a:lnTo>
                    <a:pt x="78562" y="163195"/>
                  </a:lnTo>
                  <a:lnTo>
                    <a:pt x="157137" y="146303"/>
                  </a:lnTo>
                  <a:lnTo>
                    <a:pt x="149644" y="121920"/>
                  </a:lnTo>
                  <a:lnTo>
                    <a:pt x="138429" y="99440"/>
                  </a:lnTo>
                  <a:lnTo>
                    <a:pt x="110362" y="58165"/>
                  </a:lnTo>
                  <a:lnTo>
                    <a:pt x="71081" y="24384"/>
                  </a:lnTo>
                  <a:lnTo>
                    <a:pt x="50507" y="11302"/>
                  </a:lnTo>
                  <a:lnTo>
                    <a:pt x="2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200" y="1142999"/>
              <a:ext cx="193040" cy="659130"/>
            </a:xfrm>
            <a:custGeom>
              <a:avLst/>
              <a:gdLst/>
              <a:ahLst/>
              <a:cxnLst/>
              <a:rect l="l" t="t" r="r" b="b"/>
              <a:pathLst>
                <a:path w="193040" h="659130">
                  <a:moveTo>
                    <a:pt x="128663" y="89789"/>
                  </a:moveTo>
                  <a:lnTo>
                    <a:pt x="81203" y="61468"/>
                  </a:lnTo>
                  <a:lnTo>
                    <a:pt x="75780" y="72263"/>
                  </a:lnTo>
                  <a:lnTo>
                    <a:pt x="71716" y="84328"/>
                  </a:lnTo>
                  <a:lnTo>
                    <a:pt x="70358" y="97790"/>
                  </a:lnTo>
                  <a:lnTo>
                    <a:pt x="68999" y="109982"/>
                  </a:lnTo>
                  <a:lnTo>
                    <a:pt x="70358" y="123444"/>
                  </a:lnTo>
                  <a:lnTo>
                    <a:pt x="71716" y="135636"/>
                  </a:lnTo>
                  <a:lnTo>
                    <a:pt x="75780" y="147701"/>
                  </a:lnTo>
                  <a:lnTo>
                    <a:pt x="81203" y="158496"/>
                  </a:lnTo>
                  <a:lnTo>
                    <a:pt x="128663" y="131572"/>
                  </a:lnTo>
                  <a:lnTo>
                    <a:pt x="125958" y="120777"/>
                  </a:lnTo>
                  <a:lnTo>
                    <a:pt x="124599" y="109982"/>
                  </a:lnTo>
                  <a:lnTo>
                    <a:pt x="125958" y="99187"/>
                  </a:lnTo>
                  <a:lnTo>
                    <a:pt x="128663" y="89789"/>
                  </a:lnTo>
                  <a:close/>
                </a:path>
                <a:path w="193040" h="659130">
                  <a:moveTo>
                    <a:pt x="171411" y="163957"/>
                  </a:moveTo>
                  <a:lnTo>
                    <a:pt x="160616" y="161290"/>
                  </a:lnTo>
                  <a:lnTo>
                    <a:pt x="151155" y="157226"/>
                  </a:lnTo>
                  <a:lnTo>
                    <a:pt x="143052" y="150495"/>
                  </a:lnTo>
                  <a:lnTo>
                    <a:pt x="134962" y="142494"/>
                  </a:lnTo>
                  <a:lnTo>
                    <a:pt x="87706" y="170688"/>
                  </a:lnTo>
                  <a:lnTo>
                    <a:pt x="122809" y="204343"/>
                  </a:lnTo>
                  <a:lnTo>
                    <a:pt x="171411" y="219075"/>
                  </a:lnTo>
                  <a:lnTo>
                    <a:pt x="171411" y="163957"/>
                  </a:lnTo>
                  <a:close/>
                </a:path>
                <a:path w="193040" h="659130">
                  <a:moveTo>
                    <a:pt x="171411" y="0"/>
                  </a:moveTo>
                  <a:lnTo>
                    <a:pt x="133604" y="9525"/>
                  </a:lnTo>
                  <a:lnTo>
                    <a:pt x="94449" y="39370"/>
                  </a:lnTo>
                  <a:lnTo>
                    <a:pt x="87706" y="48895"/>
                  </a:lnTo>
                  <a:lnTo>
                    <a:pt x="134962" y="77470"/>
                  </a:lnTo>
                  <a:lnTo>
                    <a:pt x="143052" y="69342"/>
                  </a:lnTo>
                  <a:lnTo>
                    <a:pt x="151155" y="62484"/>
                  </a:lnTo>
                  <a:lnTo>
                    <a:pt x="160616" y="58420"/>
                  </a:lnTo>
                  <a:lnTo>
                    <a:pt x="171411" y="55753"/>
                  </a:lnTo>
                  <a:lnTo>
                    <a:pt x="171411" y="0"/>
                  </a:lnTo>
                  <a:close/>
                </a:path>
                <a:path w="193040" h="659130">
                  <a:moveTo>
                    <a:pt x="193014" y="610108"/>
                  </a:moveTo>
                  <a:lnTo>
                    <a:pt x="164058" y="578104"/>
                  </a:lnTo>
                  <a:lnTo>
                    <a:pt x="138671" y="550037"/>
                  </a:lnTo>
                  <a:lnTo>
                    <a:pt x="125552" y="559435"/>
                  </a:lnTo>
                  <a:lnTo>
                    <a:pt x="112433" y="566928"/>
                  </a:lnTo>
                  <a:lnTo>
                    <a:pt x="99326" y="572516"/>
                  </a:lnTo>
                  <a:lnTo>
                    <a:pt x="84328" y="576326"/>
                  </a:lnTo>
                  <a:lnTo>
                    <a:pt x="69342" y="578104"/>
                  </a:lnTo>
                  <a:lnTo>
                    <a:pt x="39357" y="578104"/>
                  </a:lnTo>
                  <a:lnTo>
                    <a:pt x="24358" y="574421"/>
                  </a:lnTo>
                  <a:lnTo>
                    <a:pt x="0" y="651256"/>
                  </a:lnTo>
                  <a:lnTo>
                    <a:pt x="26238" y="656971"/>
                  </a:lnTo>
                  <a:lnTo>
                    <a:pt x="52476" y="658749"/>
                  </a:lnTo>
                  <a:lnTo>
                    <a:pt x="76835" y="658749"/>
                  </a:lnTo>
                  <a:lnTo>
                    <a:pt x="103073" y="655066"/>
                  </a:lnTo>
                  <a:lnTo>
                    <a:pt x="127431" y="647573"/>
                  </a:lnTo>
                  <a:lnTo>
                    <a:pt x="149910" y="638175"/>
                  </a:lnTo>
                  <a:lnTo>
                    <a:pt x="172402" y="625094"/>
                  </a:lnTo>
                  <a:lnTo>
                    <a:pt x="193014" y="61010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862" y="1204467"/>
              <a:ext cx="102870" cy="158115"/>
            </a:xfrm>
            <a:custGeom>
              <a:avLst/>
              <a:gdLst/>
              <a:ahLst/>
              <a:cxnLst/>
              <a:rect l="l" t="t" r="r" b="b"/>
              <a:pathLst>
                <a:path w="102870" h="158115">
                  <a:moveTo>
                    <a:pt x="84607" y="109220"/>
                  </a:moveTo>
                  <a:lnTo>
                    <a:pt x="36258" y="81026"/>
                  </a:lnTo>
                  <a:lnTo>
                    <a:pt x="29540" y="89027"/>
                  </a:lnTo>
                  <a:lnTo>
                    <a:pt x="20142" y="95758"/>
                  </a:lnTo>
                  <a:lnTo>
                    <a:pt x="10744" y="99822"/>
                  </a:lnTo>
                  <a:lnTo>
                    <a:pt x="0" y="102489"/>
                  </a:lnTo>
                  <a:lnTo>
                    <a:pt x="0" y="157607"/>
                  </a:lnTo>
                  <a:lnTo>
                    <a:pt x="37604" y="148209"/>
                  </a:lnTo>
                  <a:lnTo>
                    <a:pt x="68491" y="128016"/>
                  </a:lnTo>
                  <a:lnTo>
                    <a:pt x="84607" y="109220"/>
                  </a:lnTo>
                  <a:close/>
                </a:path>
                <a:path w="102870" h="158115">
                  <a:moveTo>
                    <a:pt x="102412" y="36322"/>
                  </a:moveTo>
                  <a:lnTo>
                    <a:pt x="99695" y="22860"/>
                  </a:lnTo>
                  <a:lnTo>
                    <a:pt x="95631" y="10795"/>
                  </a:lnTo>
                  <a:lnTo>
                    <a:pt x="91567" y="0"/>
                  </a:lnTo>
                  <a:lnTo>
                    <a:pt x="42748" y="28321"/>
                  </a:lnTo>
                  <a:lnTo>
                    <a:pt x="46812" y="37719"/>
                  </a:lnTo>
                  <a:lnTo>
                    <a:pt x="46812" y="59309"/>
                  </a:lnTo>
                  <a:lnTo>
                    <a:pt x="42748" y="70104"/>
                  </a:lnTo>
                  <a:lnTo>
                    <a:pt x="91567" y="97028"/>
                  </a:lnTo>
                  <a:lnTo>
                    <a:pt x="95631" y="86233"/>
                  </a:lnTo>
                  <a:lnTo>
                    <a:pt x="99695" y="74168"/>
                  </a:lnTo>
                  <a:lnTo>
                    <a:pt x="102412" y="61976"/>
                  </a:lnTo>
                  <a:lnTo>
                    <a:pt x="102412" y="363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862" y="1143000"/>
              <a:ext cx="85090" cy="77470"/>
            </a:xfrm>
            <a:custGeom>
              <a:avLst/>
              <a:gdLst/>
              <a:ahLst/>
              <a:cxnLst/>
              <a:rect l="l" t="t" r="r" b="b"/>
              <a:pathLst>
                <a:path w="85090" h="77469">
                  <a:moveTo>
                    <a:pt x="0" y="0"/>
                  </a:moveTo>
                  <a:lnTo>
                    <a:pt x="0" y="55752"/>
                  </a:lnTo>
                  <a:lnTo>
                    <a:pt x="10744" y="58420"/>
                  </a:lnTo>
                  <a:lnTo>
                    <a:pt x="20142" y="62484"/>
                  </a:lnTo>
                  <a:lnTo>
                    <a:pt x="29540" y="69341"/>
                  </a:lnTo>
                  <a:lnTo>
                    <a:pt x="36258" y="77470"/>
                  </a:lnTo>
                  <a:lnTo>
                    <a:pt x="84607" y="48895"/>
                  </a:lnTo>
                  <a:lnTo>
                    <a:pt x="48348" y="14986"/>
                  </a:lnTo>
                  <a:lnTo>
                    <a:pt x="13423" y="1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1395E"/>
                </a:solidFill>
              </a:rPr>
              <a:t>Outline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07593" y="1233345"/>
            <a:ext cx="8044815" cy="236855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Polyalphabetic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Ciphers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95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Autokey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Vernam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55015" algn="l"/>
              </a:tabLst>
            </a:pPr>
            <a:r>
              <a:rPr sz="2400" spc="-25" dirty="0">
                <a:latin typeface="Arial MT"/>
                <a:cs typeface="Arial MT"/>
              </a:rPr>
              <a:t>One-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Pad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Monoalphabetic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vs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Polyalphabetic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6" name="object 6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Autokey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Cipher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19529"/>
            <a:ext cx="8106409" cy="3354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83515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latin typeface="Arial"/>
                <a:cs typeface="Arial"/>
              </a:rPr>
              <a:t>Autokey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Cipher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polyalphabetic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substitution cipher</a:t>
            </a:r>
            <a:endParaRPr sz="2800">
              <a:latin typeface="Arial MT"/>
              <a:cs typeface="Arial MT"/>
            </a:endParaRPr>
          </a:p>
          <a:p>
            <a:pPr marL="355600" marR="600075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closely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Vigenere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but </a:t>
            </a:r>
            <a:r>
              <a:rPr sz="2800" dirty="0">
                <a:latin typeface="Arial MT"/>
                <a:cs typeface="Arial MT"/>
              </a:rPr>
              <a:t>uses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different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method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generating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key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was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invented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Blaise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Vigenère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1586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general,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secure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Vigenere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But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still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frequency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characteristics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attack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Autokey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Cipher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447800"/>
            <a:ext cx="8315325" cy="3401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Autokey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Cipher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33576"/>
            <a:ext cx="3890645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Plaintext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"HELLO"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Autokey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N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Ciphertext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"ULPWZ"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3276600"/>
            <a:ext cx="8138286" cy="2014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Autokey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Cipher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1371574"/>
            <a:ext cx="4800600" cy="50589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4475" y="1371600"/>
            <a:ext cx="3819525" cy="2590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72328" y="4244340"/>
            <a:ext cx="2828544" cy="24475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5000" y="4267200"/>
            <a:ext cx="2743200" cy="2362200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710237" y="4262437"/>
          <a:ext cx="2828925" cy="2360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A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J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C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U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M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V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W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F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G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Q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Z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I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3E69"/>
                      </a:solidFill>
                      <a:prstDash val="solid"/>
                    </a:lnL>
                    <a:lnR w="9525">
                      <a:solidFill>
                        <a:srgbClr val="003E69"/>
                      </a:solidFill>
                      <a:prstDash val="solid"/>
                    </a:lnR>
                    <a:lnT w="9525">
                      <a:solidFill>
                        <a:srgbClr val="003E69"/>
                      </a:solidFill>
                      <a:prstDash val="solid"/>
                    </a:lnT>
                    <a:lnB w="9525">
                      <a:solidFill>
                        <a:srgbClr val="003E6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"/>
                <a:cs typeface="Arial"/>
              </a:rPr>
              <a:t>Autokey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Cipher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Alternative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Solution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5605068"/>
            <a:ext cx="1542415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000" spc="-20" dirty="0">
                <a:latin typeface="Arial MT"/>
                <a:cs typeface="Arial MT"/>
              </a:rPr>
              <a:t>key: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spc="-10" dirty="0">
                <a:latin typeface="Arial MT"/>
                <a:cs typeface="Arial MT"/>
              </a:rPr>
              <a:t>plaintext: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000" spc="-10" dirty="0">
                <a:latin typeface="Arial MT"/>
                <a:cs typeface="Arial MT"/>
              </a:rPr>
              <a:t>ciphertext: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7794" y="5605068"/>
            <a:ext cx="3552190" cy="111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3189">
              <a:lnSpc>
                <a:spcPct val="120000"/>
              </a:lnSpc>
              <a:spcBef>
                <a:spcPts val="100"/>
              </a:spcBef>
            </a:pPr>
            <a:r>
              <a:rPr sz="2000" spc="-10" dirty="0">
                <a:solidFill>
                  <a:srgbClr val="014069"/>
                </a:solidFill>
                <a:latin typeface="Arial MT"/>
                <a:cs typeface="Arial MT"/>
              </a:rPr>
              <a:t>deceptivewearediscoveredsav wearediscoveredsaveyourself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600" spc="-10" dirty="0">
                <a:solidFill>
                  <a:srgbClr val="014069"/>
                </a:solidFill>
                <a:latin typeface="Arial MT"/>
                <a:cs typeface="Arial MT"/>
              </a:rPr>
              <a:t>ZICVTWQNGKZEIIGASXSTSLVVWLA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28600"/>
            <a:ext cx="303212" cy="303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62000"/>
            <a:ext cx="9144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Vernam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Cipher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16482"/>
            <a:ext cx="8129905" cy="4319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93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ultimate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defense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long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as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plaintext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statistical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relationship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it</a:t>
            </a:r>
            <a:endParaRPr sz="32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invented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AT&amp;T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engineer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Gilbert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Vernam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1918</a:t>
            </a:r>
            <a:endParaRPr sz="3200">
              <a:latin typeface="Arial MT"/>
              <a:cs typeface="Arial MT"/>
            </a:endParaRPr>
          </a:p>
          <a:p>
            <a:pPr marL="355600" marR="50165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originally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proposed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very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long</a:t>
            </a:r>
            <a:r>
              <a:rPr sz="3200" spc="-25" dirty="0">
                <a:latin typeface="Arial MT"/>
                <a:cs typeface="Arial MT"/>
              </a:rPr>
              <a:t> but </a:t>
            </a:r>
            <a:r>
              <a:rPr sz="3200" dirty="0">
                <a:latin typeface="Arial MT"/>
                <a:cs typeface="Arial MT"/>
              </a:rPr>
              <a:t>eventually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repeating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key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also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known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One-</a:t>
            </a:r>
            <a:r>
              <a:rPr sz="3200" dirty="0">
                <a:latin typeface="Arial MT"/>
                <a:cs typeface="Arial MT"/>
              </a:rPr>
              <a:t>Time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Pad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627806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8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latin typeface="Arial"/>
                <a:cs typeface="Arial"/>
              </a:rPr>
              <a:t>One-</a:t>
            </a:r>
            <a:r>
              <a:rPr sz="4400" b="1" dirty="0">
                <a:latin typeface="Arial"/>
                <a:cs typeface="Arial"/>
              </a:rPr>
              <a:t>Time</a:t>
            </a:r>
            <a:r>
              <a:rPr sz="4400" b="1" spc="20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Pad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19529"/>
            <a:ext cx="796607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8542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truly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random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long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message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 </a:t>
            </a:r>
            <a:r>
              <a:rPr sz="2800" dirty="0">
                <a:latin typeface="Arial MT"/>
                <a:cs typeface="Arial MT"/>
              </a:rPr>
              <a:t>used,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secure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called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One-</a:t>
            </a:r>
            <a:r>
              <a:rPr sz="2800" dirty="0">
                <a:latin typeface="Arial MT"/>
                <a:cs typeface="Arial MT"/>
              </a:rPr>
              <a:t>Time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pad</a:t>
            </a:r>
            <a:endParaRPr sz="2800">
              <a:latin typeface="Arial MT"/>
              <a:cs typeface="Arial MT"/>
            </a:endParaRPr>
          </a:p>
          <a:p>
            <a:pPr marL="355600" marR="12319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is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unbreakable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since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ciphertext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bears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no </a:t>
            </a:r>
            <a:r>
              <a:rPr sz="2800" dirty="0">
                <a:latin typeface="Arial MT"/>
                <a:cs typeface="Arial MT"/>
              </a:rPr>
              <a:t>statistical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relationship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plaintext</a:t>
            </a:r>
            <a:endParaRPr sz="2800">
              <a:latin typeface="Arial MT"/>
              <a:cs typeface="Arial MT"/>
            </a:endParaRPr>
          </a:p>
          <a:p>
            <a:pPr marL="355600" marR="198755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since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any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plaintext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&amp;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any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ciphertext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 MT"/>
                <a:cs typeface="Arial MT"/>
              </a:rPr>
              <a:t>there </a:t>
            </a:r>
            <a:r>
              <a:rPr sz="2800" dirty="0">
                <a:latin typeface="Arial MT"/>
                <a:cs typeface="Arial MT"/>
              </a:rPr>
              <a:t>exists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mapping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other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once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though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problems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generation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&amp;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safe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distribution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key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627806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9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Vernam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Cipher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21053"/>
            <a:ext cx="8216900" cy="353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78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Vernam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Cipher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method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encrypting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alphabetic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text.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substitution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mechanism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assign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character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Plain-</a:t>
            </a:r>
            <a:r>
              <a:rPr sz="2400" dirty="0">
                <a:latin typeface="Arial MT"/>
                <a:cs typeface="Arial MT"/>
              </a:rPr>
              <a:t>Text,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 (a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…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z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25).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Method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take</a:t>
            </a:r>
            <a:r>
              <a:rPr sz="2400" b="1" spc="-20" dirty="0">
                <a:latin typeface="Arial"/>
                <a:cs typeface="Arial"/>
              </a:rPr>
              <a:t> key:</a:t>
            </a:r>
            <a:endParaRPr sz="240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Vernam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encrypt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plain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length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length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plain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text.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6278067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 MT"/>
                <a:cs typeface="Arial MT"/>
              </a:rPr>
              <a:t>10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Vernam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Cipher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47901"/>
            <a:ext cx="8082915" cy="28790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Encryption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Algorithm:</a:t>
            </a:r>
            <a:endParaRPr sz="2400">
              <a:latin typeface="Arial"/>
              <a:cs typeface="Arial"/>
            </a:endParaRPr>
          </a:p>
          <a:p>
            <a:pPr marL="355600" marR="228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Assign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plain-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25" dirty="0">
                <a:latin typeface="Arial MT"/>
                <a:cs typeface="Arial MT"/>
              </a:rPr>
              <a:t> and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according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alphabetical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order.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Add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(Corresponding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plain-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character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number).</a:t>
            </a:r>
            <a:endParaRPr sz="2400">
              <a:latin typeface="Arial MT"/>
              <a:cs typeface="Arial MT"/>
            </a:endParaRPr>
          </a:p>
          <a:p>
            <a:pPr marL="355600" marR="74041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Subtract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greater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isn’t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leave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6278067"/>
            <a:ext cx="223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0" dirty="0">
                <a:latin typeface="Arial MT"/>
                <a:cs typeface="Arial MT"/>
              </a:rPr>
              <a:t>11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Vernam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Cipher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47901"/>
            <a:ext cx="158432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Plain-</a:t>
            </a:r>
            <a:r>
              <a:rPr sz="2400" b="1" spc="-20" dirty="0">
                <a:latin typeface="Arial"/>
                <a:cs typeface="Arial"/>
              </a:rPr>
              <a:t>Text: Key: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994" y="1247901"/>
            <a:ext cx="224091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Arial MT"/>
                <a:cs typeface="Arial MT"/>
              </a:rPr>
              <a:t>RAMSWARUPK </a:t>
            </a:r>
            <a:r>
              <a:rPr sz="2400" spc="-10" dirty="0">
                <a:latin typeface="Arial MT"/>
                <a:cs typeface="Arial MT"/>
              </a:rPr>
              <a:t>RANCHOBABA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198954"/>
            <a:ext cx="82251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1105535" algn="l"/>
                <a:tab pos="2568575" algn="l"/>
                <a:tab pos="2963545" algn="l"/>
                <a:tab pos="3545840" algn="l"/>
                <a:tab pos="5093970" algn="l"/>
                <a:tab pos="6488430" algn="l"/>
                <a:tab pos="7018020" algn="l"/>
                <a:tab pos="8042275" algn="l"/>
              </a:tabLst>
            </a:pPr>
            <a:r>
              <a:rPr sz="2400" spc="-25" dirty="0">
                <a:latin typeface="Arial MT"/>
                <a:cs typeface="Arial MT"/>
              </a:rPr>
              <a:t>Now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according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our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encryption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algorithm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we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assign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plain-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key.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198821"/>
            <a:ext cx="82251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Add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Plain-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addition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subtraction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required),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get 	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corresponding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Cipher-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number.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3763" y="3124200"/>
            <a:ext cx="5172837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Vernam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Cipher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198954"/>
            <a:ext cx="822515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case,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5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5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numbers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greater 	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subtract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after 	</a:t>
            </a:r>
            <a:r>
              <a:rPr sz="2400" dirty="0">
                <a:latin typeface="Arial MT"/>
                <a:cs typeface="Arial MT"/>
              </a:rPr>
              <a:t>applying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subtraction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5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text 	</a:t>
            </a: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follow: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613529"/>
            <a:ext cx="2829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1224280" algn="l"/>
              </a:tabLst>
            </a:pPr>
            <a:r>
              <a:rPr sz="2400" spc="-25" dirty="0">
                <a:latin typeface="Arial MT"/>
                <a:cs typeface="Arial MT"/>
              </a:rPr>
              <a:t>New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Cipher-Text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815" y="4613529"/>
            <a:ext cx="5158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0855" algn="l"/>
                <a:tab pos="1358265" algn="l"/>
                <a:tab pos="2530475" algn="l"/>
                <a:tab pos="3211195" algn="l"/>
              </a:tabLst>
            </a:pPr>
            <a:r>
              <a:rPr sz="2400" spc="-2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after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getting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corresponding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4979289"/>
            <a:ext cx="3701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number.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1447800"/>
            <a:ext cx="6985634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3810000"/>
            <a:ext cx="7126478" cy="609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9200" y="5715000"/>
            <a:ext cx="7086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Vernam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Cipher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3085" y="2638171"/>
            <a:ext cx="5653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Try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decrypt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reversing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algorithm!!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6278067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 MT"/>
                <a:cs typeface="Arial MT"/>
              </a:rPr>
              <a:t>14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30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Monoalphabetic</a:t>
            </a:r>
            <a:r>
              <a:rPr spc="-60" dirty="0"/>
              <a:t> </a:t>
            </a:r>
            <a:r>
              <a:rPr dirty="0"/>
              <a:t>Cipher</a:t>
            </a:r>
            <a:r>
              <a:rPr spc="-40" dirty="0"/>
              <a:t> </a:t>
            </a:r>
            <a:r>
              <a:rPr dirty="0"/>
              <a:t>vs</a:t>
            </a:r>
            <a:r>
              <a:rPr spc="-30" dirty="0"/>
              <a:t> </a:t>
            </a:r>
            <a:r>
              <a:rPr dirty="0"/>
              <a:t>Polyalphabetic</a:t>
            </a:r>
            <a:r>
              <a:rPr spc="-50" dirty="0"/>
              <a:t> </a:t>
            </a:r>
            <a:r>
              <a:rPr spc="-10" dirty="0"/>
              <a:t>Cipher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140" y="6278067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 MT"/>
                <a:cs typeface="Arial MT"/>
              </a:rPr>
              <a:t>15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4650" y="1390650"/>
          <a:ext cx="8470900" cy="4576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8312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Monoalphabetic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Cipher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14069"/>
                    </a:solidFill>
                  </a:tcPr>
                </a:tc>
                <a:tc>
                  <a:txBody>
                    <a:bodyPr/>
                    <a:lstStyle/>
                    <a:p>
                      <a:pPr marL="9144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Polyalphabetic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cipher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140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1440" marR="1555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Once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key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chosen, each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alphabetic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plaintext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mapped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onto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unique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alphabetic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ciphertext.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3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851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Each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alphabetic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plaintext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mapped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onto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“m”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alphabetic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ciphertext.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relationship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plaintext and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ciphertext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one-to-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one.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relationship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plaintext and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ciphertext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one-to-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many.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1440" marR="2355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stream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cipher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monoalphabetic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cipher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1800" baseline="-20833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800" spc="232" baseline="-208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does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not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depend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position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plaintext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plaintext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stream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3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35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stream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cipher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polyalphabetic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cipher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id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does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depend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on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position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plaintext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plaintext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stream.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5251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Monoalphabetic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cipher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includes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additive,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multiplicative,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affine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monoalphabetic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substitution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cipher.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30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Polyalphabetic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cipher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includes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autokey,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Playfair,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Vigenere,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Hill,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one-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pad,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rotor,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Enigma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cipher.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229" y="2619883"/>
            <a:ext cx="4445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/>
              <a:t>Thank</a:t>
            </a:r>
            <a:r>
              <a:rPr sz="7200" spc="-40" dirty="0"/>
              <a:t> </a:t>
            </a:r>
            <a:r>
              <a:rPr sz="7200" spc="-25" dirty="0"/>
              <a:t>You</a:t>
            </a:r>
            <a:endParaRPr sz="7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5" name="object 5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2140" y="6278067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 MT"/>
                <a:cs typeface="Arial MT"/>
              </a:rPr>
              <a:t>16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743</Words>
  <Application>Microsoft Office PowerPoint</Application>
  <PresentationFormat>On-screen Show (4:3)</PresentationFormat>
  <Paragraphs>139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MT</vt:lpstr>
      <vt:lpstr>Calibri</vt:lpstr>
      <vt:lpstr>Times New Roman</vt:lpstr>
      <vt:lpstr>Office Theme</vt:lpstr>
      <vt:lpstr>Cyber Security &amp; Digital Forensics CSE - 4207</vt:lpstr>
      <vt:lpstr>Outline</vt:lpstr>
      <vt:lpstr>Autokey Cipher</vt:lpstr>
      <vt:lpstr>Autokey Cipher</vt:lpstr>
      <vt:lpstr>Autokey Cipher Example</vt:lpstr>
      <vt:lpstr>Autokey Cipher Example</vt:lpstr>
      <vt:lpstr>Autokey Cipher Alternative Solution</vt:lpstr>
      <vt:lpstr>Vernam Cipher</vt:lpstr>
      <vt:lpstr>One-Time Pad</vt:lpstr>
      <vt:lpstr>Vernam Cipher</vt:lpstr>
      <vt:lpstr>Vernam Cipher</vt:lpstr>
      <vt:lpstr>Vernam Cipher Example</vt:lpstr>
      <vt:lpstr>Vernam Cipher Example</vt:lpstr>
      <vt:lpstr>Vernam Cipher Example</vt:lpstr>
      <vt:lpstr>Monoalphabetic Cipher vs Polyalphabetic Cipher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Home</cp:lastModifiedBy>
  <cp:revision>2</cp:revision>
  <dcterms:created xsi:type="dcterms:W3CDTF">2026-03-02T17:13:53Z</dcterms:created>
  <dcterms:modified xsi:type="dcterms:W3CDTF">2026-03-02T17:18:55Z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2010</vt:lpwstr>
  </property>
</Properties>
</file>