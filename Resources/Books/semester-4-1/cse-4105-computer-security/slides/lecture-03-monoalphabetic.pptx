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436829"/>
            <a:ext cx="720344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15890"/>
            <a:ext cx="7880350" cy="4053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6740" y="6297267"/>
            <a:ext cx="2768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Cyber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Security &amp; Digital </a:t>
            </a:r>
            <a:r>
              <a:rPr sz="3600" spc="-10" dirty="0">
                <a:solidFill>
                  <a:srgbClr val="000000"/>
                </a:solidFill>
              </a:rPr>
              <a:t>Forensics </a:t>
            </a:r>
            <a:r>
              <a:rPr sz="3600" dirty="0">
                <a:solidFill>
                  <a:srgbClr val="000000"/>
                </a:solidFill>
              </a:rPr>
              <a:t>CSE</a:t>
            </a:r>
            <a:r>
              <a:rPr sz="3600" spc="-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-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20" dirty="0">
                <a:solidFill>
                  <a:srgbClr val="000000"/>
                </a:solidFill>
              </a:rPr>
              <a:t>4207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03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lang="en-US"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 MT"/>
                <a:cs typeface="Arial MT"/>
              </a:rPr>
              <a:t>Dr. Md. Alam Hossain</a:t>
            </a: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Arial MT"/>
                <a:cs typeface="Arial MT"/>
              </a:rPr>
              <a:t>Professor</a:t>
            </a:r>
            <a:endParaRPr lang="en-US"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 err="1">
                <a:latin typeface="Arial MT"/>
                <a:cs typeface="Arial MT"/>
              </a:rPr>
              <a:t>Jashore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1395E"/>
                </a:solidFill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593" y="1249423"/>
            <a:ext cx="6030595" cy="44157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Terminology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Symmetric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Cryptanalysis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Cryptanalytic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Attacks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Brute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Monoalphabetic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Caesar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Redundancy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Cryptanalysis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English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Letter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Frequencies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Cryptanalysis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Basic</a:t>
            </a:r>
            <a:r>
              <a:rPr spc="-5" dirty="0"/>
              <a:t> </a:t>
            </a:r>
            <a:r>
              <a:rPr spc="-1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4244"/>
            <a:ext cx="8201659" cy="4522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Plaintext-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original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message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Ciphertext-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coded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message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Cipher-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algorithm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transforming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plaintext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ciphertext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Key-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info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used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cipher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known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only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sender/receiver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Encipher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(encrypt)-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converting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plaintext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ciphertext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dirty="0">
                <a:latin typeface="Arial MT"/>
                <a:cs typeface="Arial MT"/>
              </a:rPr>
              <a:t>Decipher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(decrypt)-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recovering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ciphertext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from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plaintext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har char="•"/>
              <a:tabLst>
                <a:tab pos="354965" algn="l"/>
              </a:tabLst>
            </a:pPr>
            <a:r>
              <a:rPr sz="2500" spc="-10" dirty="0">
                <a:latin typeface="Arial MT"/>
                <a:cs typeface="Arial MT"/>
              </a:rPr>
              <a:t>Cryptography-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study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encryption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principles/methods</a:t>
            </a:r>
            <a:endParaRPr sz="2500">
              <a:latin typeface="Arial MT"/>
              <a:cs typeface="Arial MT"/>
            </a:endParaRPr>
          </a:p>
          <a:p>
            <a:pPr marL="355600" marR="145415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Cryptanalysis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(code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breaking)-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study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principles/ </a:t>
            </a:r>
            <a:r>
              <a:rPr sz="2500" dirty="0">
                <a:latin typeface="Arial MT"/>
                <a:cs typeface="Arial MT"/>
              </a:rPr>
              <a:t>methods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deciphering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ciphertext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without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knowing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i="1" spc="-25" dirty="0">
                <a:latin typeface="Arial"/>
                <a:cs typeface="Arial"/>
              </a:rPr>
              <a:t>key</a:t>
            </a:r>
            <a:endParaRPr sz="25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500" spc="-10" dirty="0">
                <a:latin typeface="Arial MT"/>
                <a:cs typeface="Arial MT"/>
              </a:rPr>
              <a:t>Cryptology-</a:t>
            </a:r>
            <a:r>
              <a:rPr sz="2500" dirty="0">
                <a:latin typeface="Arial MT"/>
                <a:cs typeface="Arial MT"/>
              </a:rPr>
              <a:t>field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both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cryptography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cryptanalysis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Symmetric</a:t>
            </a:r>
            <a:r>
              <a:rPr spc="-20" dirty="0"/>
              <a:t> </a:t>
            </a:r>
            <a:r>
              <a:rPr dirty="0"/>
              <a:t>Cipher</a:t>
            </a:r>
            <a:r>
              <a:rPr spc="-15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" y="1676400"/>
            <a:ext cx="7973822" cy="3886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7711440" cy="4808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0109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two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requirements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secure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dirty="0">
                <a:latin typeface="Arial MT"/>
                <a:cs typeface="Arial MT"/>
              </a:rPr>
              <a:t>symmetric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encryption:</a:t>
            </a:r>
            <a:endParaRPr sz="32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strong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encryption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secret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sender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receiver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mathematically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have: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i="1" dirty="0">
                <a:latin typeface="Arial"/>
                <a:cs typeface="Arial"/>
              </a:rPr>
              <a:t>Y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=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E(K,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spc="-25" dirty="0">
                <a:latin typeface="Arial"/>
                <a:cs typeface="Arial"/>
              </a:rPr>
              <a:t>X)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i="1" dirty="0">
                <a:latin typeface="Arial"/>
                <a:cs typeface="Arial"/>
              </a:rPr>
              <a:t>X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=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D(K,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spc="-2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assume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encryption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algorithm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known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implies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channel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distribute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key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Cryptography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8035925" cy="478917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characterize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cryptographic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system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by:</a:t>
            </a:r>
            <a:endParaRPr sz="32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type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encryption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operations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used</a:t>
            </a:r>
            <a:endParaRPr sz="28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95"/>
              </a:spcBef>
              <a:buChar char="•"/>
              <a:tabLst>
                <a:tab pos="1154430" algn="l"/>
              </a:tabLst>
            </a:pPr>
            <a:r>
              <a:rPr sz="2400" spc="-10" dirty="0">
                <a:latin typeface="Arial MT"/>
                <a:cs typeface="Arial MT"/>
              </a:rPr>
              <a:t>Substitution</a:t>
            </a:r>
            <a:endParaRPr sz="24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Char char="•"/>
              <a:tabLst>
                <a:tab pos="1154430" algn="l"/>
              </a:tabLst>
            </a:pPr>
            <a:r>
              <a:rPr sz="2400" spc="-10" dirty="0">
                <a:latin typeface="Arial MT"/>
                <a:cs typeface="Arial MT"/>
              </a:rPr>
              <a:t>Transposition</a:t>
            </a:r>
            <a:endParaRPr sz="24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Char char="•"/>
              <a:tabLst>
                <a:tab pos="1154430" algn="l"/>
              </a:tabLst>
            </a:pPr>
            <a:r>
              <a:rPr sz="2400" spc="-10" dirty="0">
                <a:latin typeface="Arial MT"/>
                <a:cs typeface="Arial MT"/>
              </a:rPr>
              <a:t>Product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number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used</a:t>
            </a:r>
            <a:endParaRPr sz="28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90"/>
              </a:spcBef>
              <a:buChar char="•"/>
              <a:tabLst>
                <a:tab pos="1154430" algn="l"/>
              </a:tabLst>
            </a:pPr>
            <a:r>
              <a:rPr sz="2400" spc="-25" dirty="0">
                <a:latin typeface="Arial MT"/>
                <a:cs typeface="Arial MT"/>
              </a:rPr>
              <a:t>Single-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spc="-10" dirty="0">
                <a:latin typeface="Arial MT"/>
                <a:cs typeface="Arial MT"/>
              </a:rPr>
              <a:t>private</a:t>
            </a:r>
            <a:endParaRPr sz="24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Char char="•"/>
              <a:tabLst>
                <a:tab pos="1154430" algn="l"/>
              </a:tabLst>
            </a:pPr>
            <a:r>
              <a:rPr sz="2400" spc="-25" dirty="0">
                <a:latin typeface="Arial MT"/>
                <a:cs typeface="Arial MT"/>
              </a:rPr>
              <a:t>Two-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0" dirty="0">
                <a:latin typeface="Arial MT"/>
                <a:cs typeface="Arial MT"/>
              </a:rPr>
              <a:t> public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6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plaintext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processed</a:t>
            </a:r>
            <a:endParaRPr sz="2800">
              <a:latin typeface="Arial MT"/>
              <a:cs typeface="Arial MT"/>
            </a:endParaRPr>
          </a:p>
          <a:p>
            <a:pPr marL="1154430" lvl="2" indent="-227329">
              <a:lnSpc>
                <a:spcPct val="100000"/>
              </a:lnSpc>
              <a:spcBef>
                <a:spcPts val="590"/>
              </a:spcBef>
              <a:buChar char="•"/>
              <a:tabLst>
                <a:tab pos="1154430" algn="l"/>
              </a:tabLst>
            </a:pP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6052515"/>
            <a:ext cx="1236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Stream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6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Cryptanalysis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dirty="0"/>
              <a:t>objective</a:t>
            </a:r>
            <a:r>
              <a:rPr spc="-4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recover</a:t>
            </a:r>
            <a:r>
              <a:rPr spc="-50" dirty="0"/>
              <a:t> </a:t>
            </a:r>
            <a:r>
              <a:rPr dirty="0"/>
              <a:t>key</a:t>
            </a:r>
            <a:r>
              <a:rPr spc="-15" dirty="0"/>
              <a:t> </a:t>
            </a:r>
            <a:r>
              <a:rPr dirty="0"/>
              <a:t>not</a:t>
            </a:r>
            <a:r>
              <a:rPr spc="-20" dirty="0"/>
              <a:t> </a:t>
            </a:r>
            <a:r>
              <a:rPr dirty="0"/>
              <a:t>just</a:t>
            </a:r>
            <a:r>
              <a:rPr spc="-30" dirty="0"/>
              <a:t> </a:t>
            </a:r>
            <a:r>
              <a:rPr spc="-10" dirty="0"/>
              <a:t>message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dirty="0"/>
              <a:t>general</a:t>
            </a:r>
            <a:r>
              <a:rPr spc="-75" dirty="0"/>
              <a:t> </a:t>
            </a:r>
            <a:r>
              <a:rPr spc="-10" dirty="0"/>
              <a:t>approaches:</a:t>
            </a: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cryptanalytic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attack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spc="-20" dirty="0">
                <a:latin typeface="Arial MT"/>
                <a:cs typeface="Arial MT"/>
              </a:rPr>
              <a:t>brute-</a:t>
            </a:r>
            <a:r>
              <a:rPr sz="2800" dirty="0">
                <a:latin typeface="Arial MT"/>
                <a:cs typeface="Arial MT"/>
              </a:rPr>
              <a:t>force </a:t>
            </a:r>
            <a:r>
              <a:rPr sz="2800" spc="-10" dirty="0">
                <a:latin typeface="Arial MT"/>
                <a:cs typeface="Arial MT"/>
              </a:rPr>
              <a:t>attack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dirty="0"/>
              <a:t>if</a:t>
            </a:r>
            <a:r>
              <a:rPr spc="-20" dirty="0"/>
              <a:t> </a:t>
            </a:r>
            <a:r>
              <a:rPr dirty="0"/>
              <a:t>either</a:t>
            </a:r>
            <a:r>
              <a:rPr spc="-15" dirty="0"/>
              <a:t> </a:t>
            </a:r>
            <a:r>
              <a:rPr dirty="0"/>
              <a:t>succeed</a:t>
            </a:r>
            <a:r>
              <a:rPr spc="-50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10" dirty="0"/>
              <a:t>compromised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Cryptanalytic</a:t>
            </a:r>
            <a:r>
              <a:rPr spc="-25" dirty="0"/>
              <a:t> </a:t>
            </a:r>
            <a:r>
              <a:rPr spc="-10" dirty="0"/>
              <a:t>Attacks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8122284" cy="51511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only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ciphertext,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statistical,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	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plaintext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known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plaintext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know/suspect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plaintext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ciphertext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chosen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plaintext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plaintext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ciphertext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chosen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ciphertext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ciphertext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plaintext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chosen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text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plaintext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ciphertext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en/decrypt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20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8188959" cy="4787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Unconditional</a:t>
            </a:r>
            <a:r>
              <a:rPr sz="3200" spc="-10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14069"/>
                </a:solidFill>
                <a:latin typeface="Arial MT"/>
                <a:cs typeface="Arial MT"/>
              </a:rPr>
              <a:t>security</a:t>
            </a:r>
            <a:endParaRPr sz="32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no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much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power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available,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cannot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broken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since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insufficient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information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uniquely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determine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corresponding plaintext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Computational</a:t>
            </a:r>
            <a:r>
              <a:rPr sz="3200" spc="-11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14069"/>
                </a:solidFill>
                <a:latin typeface="Arial MT"/>
                <a:cs typeface="Arial MT"/>
              </a:rPr>
              <a:t>security</a:t>
            </a:r>
            <a:endParaRPr sz="3200">
              <a:latin typeface="Arial MT"/>
              <a:cs typeface="Arial MT"/>
            </a:endParaRPr>
          </a:p>
          <a:p>
            <a:pPr marL="756285" marR="2990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limited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computing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resources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(i.e.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time </a:t>
            </a:r>
            <a:r>
              <a:rPr sz="2800" dirty="0">
                <a:latin typeface="Arial MT"/>
                <a:cs typeface="Arial MT"/>
              </a:rPr>
              <a:t>needed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calculations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greater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universe),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cannot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broken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Brute</a:t>
            </a:r>
            <a:r>
              <a:rPr spc="-20" dirty="0"/>
              <a:t> </a:t>
            </a:r>
            <a:r>
              <a:rPr dirty="0"/>
              <a:t>Force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9117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dirty="0"/>
              <a:t>always</a:t>
            </a:r>
            <a:r>
              <a:rPr spc="-25" dirty="0"/>
              <a:t> </a:t>
            </a:r>
            <a:r>
              <a:rPr dirty="0"/>
              <a:t>possible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simply</a:t>
            </a:r>
            <a:r>
              <a:rPr spc="-20" dirty="0"/>
              <a:t> </a:t>
            </a:r>
            <a:r>
              <a:rPr dirty="0"/>
              <a:t>try</a:t>
            </a:r>
            <a:r>
              <a:rPr spc="-40" dirty="0"/>
              <a:t> </a:t>
            </a:r>
            <a:r>
              <a:rPr dirty="0"/>
              <a:t>every</a:t>
            </a:r>
            <a:r>
              <a:rPr spc="-40" dirty="0"/>
              <a:t> </a:t>
            </a:r>
            <a:r>
              <a:rPr spc="-25" dirty="0"/>
              <a:t>key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dirty="0"/>
              <a:t>most</a:t>
            </a:r>
            <a:r>
              <a:rPr spc="-50" dirty="0"/>
              <a:t> </a:t>
            </a:r>
            <a:r>
              <a:rPr dirty="0"/>
              <a:t>basic</a:t>
            </a:r>
            <a:r>
              <a:rPr spc="-30" dirty="0"/>
              <a:t> </a:t>
            </a:r>
            <a:r>
              <a:rPr dirty="0"/>
              <a:t>attack,</a:t>
            </a:r>
            <a:r>
              <a:rPr spc="-60" dirty="0"/>
              <a:t> </a:t>
            </a:r>
            <a:r>
              <a:rPr dirty="0"/>
              <a:t>proportional</a:t>
            </a:r>
            <a:r>
              <a:rPr spc="-5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key</a:t>
            </a:r>
            <a:r>
              <a:rPr spc="-30" dirty="0"/>
              <a:t> </a:t>
            </a:r>
            <a:r>
              <a:rPr spc="-20" dirty="0"/>
              <a:t>size</a:t>
            </a: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dirty="0"/>
              <a:t>assume</a:t>
            </a:r>
            <a:r>
              <a:rPr spc="-65" dirty="0"/>
              <a:t> </a:t>
            </a:r>
            <a:r>
              <a:rPr dirty="0"/>
              <a:t>either</a:t>
            </a:r>
            <a:r>
              <a:rPr spc="-25" dirty="0"/>
              <a:t> </a:t>
            </a:r>
            <a:r>
              <a:rPr dirty="0"/>
              <a:t>know</a:t>
            </a:r>
            <a:r>
              <a:rPr spc="-5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recognize</a:t>
            </a:r>
            <a:r>
              <a:rPr spc="-55" dirty="0"/>
              <a:t> </a:t>
            </a:r>
            <a:r>
              <a:rPr spc="-10" dirty="0"/>
              <a:t>plaintext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Classical</a:t>
            </a:r>
            <a:r>
              <a:rPr sz="3600" spc="-40" dirty="0"/>
              <a:t> </a:t>
            </a:r>
            <a:r>
              <a:rPr sz="3600" dirty="0"/>
              <a:t>Substitution </a:t>
            </a:r>
            <a:r>
              <a:rPr sz="3600" spc="-10" dirty="0"/>
              <a:t>Ciphers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902079"/>
            <a:ext cx="7676515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where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replaced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by </a:t>
            </a:r>
            <a:r>
              <a:rPr sz="3200" dirty="0">
                <a:latin typeface="Arial MT"/>
                <a:cs typeface="Arial MT"/>
              </a:rPr>
              <a:t>other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numbers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symbols</a:t>
            </a:r>
            <a:endParaRPr sz="3200">
              <a:latin typeface="Arial MT"/>
              <a:cs typeface="Arial MT"/>
            </a:endParaRPr>
          </a:p>
          <a:p>
            <a:pPr marL="355600" marR="26034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or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viewed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sequence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dirty="0">
                <a:latin typeface="Arial MT"/>
                <a:cs typeface="Arial MT"/>
              </a:rPr>
              <a:t>bits,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substitution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involves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replacing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patterns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ciphertext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bit </a:t>
            </a:r>
            <a:r>
              <a:rPr sz="3200" spc="-10" dirty="0">
                <a:latin typeface="Arial MT"/>
                <a:cs typeface="Arial MT"/>
              </a:rPr>
              <a:t>patterns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Monoalphabetic</a:t>
            </a:r>
            <a:r>
              <a:rPr spc="-35" dirty="0"/>
              <a:t> </a:t>
            </a:r>
            <a:r>
              <a:rPr spc="-10" dirty="0"/>
              <a:t>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3576"/>
            <a:ext cx="7807959" cy="25012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rather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just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shifting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alphabet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could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shuffle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(jumble)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arbitrarily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plaintext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random </a:t>
            </a: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letter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hence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26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long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08869"/>
            <a:ext cx="148844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spc="-10" dirty="0">
                <a:solidFill>
                  <a:srgbClr val="014069"/>
                </a:solidFill>
                <a:latin typeface="Arial MT"/>
                <a:cs typeface="Arial MT"/>
              </a:rPr>
              <a:t>Plain: Cipher: Plaintext: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3794836"/>
            <a:ext cx="4556760" cy="147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14069"/>
                </a:solidFill>
                <a:latin typeface="Arial MT"/>
                <a:cs typeface="Arial MT"/>
              </a:rPr>
              <a:t>abcdefghijklmnopqrstuvwxyz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000" spc="-10" dirty="0">
                <a:solidFill>
                  <a:srgbClr val="014069"/>
                </a:solidFill>
                <a:latin typeface="Arial MT"/>
                <a:cs typeface="Arial MT"/>
              </a:rPr>
              <a:t>DKVQFIBJWPESCXHTMYAUOLRGZN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800" spc="-10" dirty="0">
                <a:solidFill>
                  <a:srgbClr val="014069"/>
                </a:solidFill>
                <a:latin typeface="Arial MT"/>
                <a:cs typeface="Arial MT"/>
              </a:rPr>
              <a:t>ifwewishtoreplaceletters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331358"/>
            <a:ext cx="5520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14069"/>
                </a:solidFill>
                <a:latin typeface="Arial MT"/>
                <a:cs typeface="Arial MT"/>
              </a:rPr>
              <a:t>Ciphertext:</a:t>
            </a:r>
            <a:r>
              <a:rPr sz="2800" spc="-114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14069"/>
                </a:solidFill>
                <a:latin typeface="Arial MT"/>
                <a:cs typeface="Arial MT"/>
              </a:rPr>
              <a:t>WIRFRWAJUHYFTSDVFSFUUFYA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Monoalphabetic</a:t>
            </a:r>
            <a:r>
              <a:rPr sz="3600" spc="-10" dirty="0"/>
              <a:t> </a:t>
            </a:r>
            <a:r>
              <a:rPr sz="3600" dirty="0"/>
              <a:t>Cipher</a:t>
            </a:r>
            <a:r>
              <a:rPr sz="3600" spc="-25" dirty="0"/>
              <a:t> </a:t>
            </a:r>
            <a:r>
              <a:rPr sz="3600" spc="-10" dirty="0"/>
              <a:t>Security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219174"/>
            <a:ext cx="7612380" cy="23672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now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total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26!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=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4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x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1026keys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many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might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think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0" dirty="0">
                <a:latin typeface="Arial MT"/>
                <a:cs typeface="Arial MT"/>
              </a:rPr>
              <a:t> secure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but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would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!!!WRONG!!!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problem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language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characteristics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Caesar </a:t>
            </a:r>
            <a:r>
              <a:rPr spc="-10" dirty="0"/>
              <a:t>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7221220" cy="3783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254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Earliest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known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substitution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-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by </a:t>
            </a:r>
            <a:r>
              <a:rPr sz="3200" dirty="0">
                <a:latin typeface="Arial MT"/>
                <a:cs typeface="Arial MT"/>
              </a:rPr>
              <a:t>Julius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Caesar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First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attested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military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affairs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Replaces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each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3rd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5" dirty="0">
                <a:latin typeface="Arial MT"/>
                <a:cs typeface="Arial MT"/>
              </a:rPr>
              <a:t> on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spc="-10" dirty="0">
                <a:latin typeface="Arial MT"/>
                <a:cs typeface="Arial MT"/>
              </a:rPr>
              <a:t>example:</a:t>
            </a:r>
            <a:endParaRPr sz="32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meet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after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toga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party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PHHW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DIWHU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WKH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WRJD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SDUWB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3818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Caesar </a:t>
            </a:r>
            <a:r>
              <a:rPr spc="-10" dirty="0"/>
              <a:t>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50262"/>
            <a:ext cx="8333105" cy="5100955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0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define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transformation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as: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570"/>
              </a:spcBef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b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c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d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e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f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g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h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j k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l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m n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o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p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q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r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s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t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u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v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w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x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y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 MT"/>
                <a:cs typeface="Arial MT"/>
              </a:rPr>
              <a:t>z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D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E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F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G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H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I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J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K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L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M N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O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P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Q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R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S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T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U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V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W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X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Y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Z</a:t>
            </a:r>
            <a:r>
              <a:rPr sz="24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A</a:t>
            </a: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B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mathematically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each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number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b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c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d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e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f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g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h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j k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l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m n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o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p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q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r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s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t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u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v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w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x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y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 MT"/>
                <a:cs typeface="Arial MT"/>
              </a:rPr>
              <a:t>z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0</a:t>
            </a:r>
            <a:r>
              <a:rPr sz="24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</a:t>
            </a:r>
            <a:r>
              <a:rPr sz="24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2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3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4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5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6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7</a:t>
            </a:r>
            <a:r>
              <a:rPr sz="24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8</a:t>
            </a:r>
            <a:r>
              <a:rPr sz="24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9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10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11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12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13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14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15</a:t>
            </a:r>
            <a:r>
              <a:rPr sz="24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16</a:t>
            </a:r>
            <a:r>
              <a:rPr sz="24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17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18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19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20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21</a:t>
            </a:r>
            <a:r>
              <a:rPr sz="24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Arial MT"/>
                <a:cs typeface="Arial MT"/>
              </a:rPr>
              <a:t>22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23</a:t>
            </a:r>
            <a:r>
              <a:rPr sz="24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24</a:t>
            </a:r>
            <a:r>
              <a:rPr sz="2400" spc="-25" dirty="0">
                <a:solidFill>
                  <a:srgbClr val="00AF50"/>
                </a:solidFill>
                <a:latin typeface="Arial MT"/>
                <a:cs typeface="Arial MT"/>
              </a:rPr>
              <a:t> 25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Caesar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as:</a:t>
            </a:r>
            <a:endParaRPr sz="32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E(k,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p)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(p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+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k)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mod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(26)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D(k,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c)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(c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–k)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mod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(26)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Cryptanalysis</a:t>
            </a:r>
            <a:r>
              <a:rPr sz="3600" spc="-25" dirty="0"/>
              <a:t> </a:t>
            </a:r>
            <a:r>
              <a:rPr sz="3600" dirty="0"/>
              <a:t>of Caesar</a:t>
            </a:r>
            <a:r>
              <a:rPr sz="3600" spc="-25" dirty="0"/>
              <a:t> </a:t>
            </a:r>
            <a:r>
              <a:rPr sz="3600" spc="-10" dirty="0"/>
              <a:t>Cipher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dirty="0"/>
              <a:t>only</a:t>
            </a:r>
            <a:r>
              <a:rPr spc="-5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26</a:t>
            </a:r>
            <a:r>
              <a:rPr spc="-50" dirty="0"/>
              <a:t> </a:t>
            </a:r>
            <a:r>
              <a:rPr dirty="0"/>
              <a:t>possible</a:t>
            </a:r>
            <a:r>
              <a:rPr spc="-40" dirty="0"/>
              <a:t> </a:t>
            </a:r>
            <a:r>
              <a:rPr spc="-10" dirty="0"/>
              <a:t>ciphers</a:t>
            </a: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–</a:t>
            </a:r>
            <a:r>
              <a:rPr sz="2800" spc="-105" dirty="0"/>
              <a:t> </a:t>
            </a:r>
            <a:r>
              <a:rPr sz="2800" dirty="0"/>
              <a:t>A</a:t>
            </a:r>
            <a:r>
              <a:rPr sz="2800" spc="-30" dirty="0"/>
              <a:t> </a:t>
            </a:r>
            <a:r>
              <a:rPr sz="2800" dirty="0"/>
              <a:t>maps</a:t>
            </a:r>
            <a:r>
              <a:rPr sz="2800" spc="-20" dirty="0"/>
              <a:t> </a:t>
            </a:r>
            <a:r>
              <a:rPr sz="2800" dirty="0"/>
              <a:t>to</a:t>
            </a:r>
            <a:r>
              <a:rPr sz="2800" spc="-25" dirty="0"/>
              <a:t> </a:t>
            </a:r>
            <a:r>
              <a:rPr sz="2800" spc="-10" dirty="0"/>
              <a:t>A,B,..Z</a:t>
            </a:r>
            <a:endParaRPr sz="2800"/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dirty="0"/>
              <a:t>could</a:t>
            </a:r>
            <a:r>
              <a:rPr spc="-50" dirty="0"/>
              <a:t> </a:t>
            </a:r>
            <a:r>
              <a:rPr dirty="0"/>
              <a:t>simply</a:t>
            </a:r>
            <a:r>
              <a:rPr spc="-15" dirty="0"/>
              <a:t> </a:t>
            </a:r>
            <a:r>
              <a:rPr dirty="0"/>
              <a:t>try</a:t>
            </a:r>
            <a:r>
              <a:rPr spc="-40" dirty="0"/>
              <a:t> </a:t>
            </a: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0" dirty="0"/>
              <a:t>turn</a:t>
            </a: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dirty="0"/>
              <a:t>a</a:t>
            </a:r>
            <a:r>
              <a:rPr spc="-30" dirty="0"/>
              <a:t> </a:t>
            </a:r>
            <a:r>
              <a:rPr dirty="0"/>
              <a:t>brute</a:t>
            </a:r>
            <a:r>
              <a:rPr spc="-45" dirty="0"/>
              <a:t> </a:t>
            </a:r>
            <a:r>
              <a:rPr dirty="0"/>
              <a:t>force</a:t>
            </a:r>
            <a:r>
              <a:rPr spc="-40" dirty="0"/>
              <a:t> </a:t>
            </a:r>
            <a:r>
              <a:rPr spc="-10" dirty="0"/>
              <a:t>search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dirty="0"/>
              <a:t>given</a:t>
            </a:r>
            <a:r>
              <a:rPr spc="-50" dirty="0"/>
              <a:t> </a:t>
            </a:r>
            <a:r>
              <a:rPr dirty="0"/>
              <a:t>ciphertext,</a:t>
            </a:r>
            <a:r>
              <a:rPr spc="-45" dirty="0"/>
              <a:t> </a:t>
            </a:r>
            <a:r>
              <a:rPr dirty="0"/>
              <a:t>just</a:t>
            </a:r>
            <a:r>
              <a:rPr spc="-30" dirty="0"/>
              <a:t> </a:t>
            </a:r>
            <a:r>
              <a:rPr dirty="0"/>
              <a:t>try</a:t>
            </a:r>
            <a:r>
              <a:rPr spc="-3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shifts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letters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dirty="0"/>
              <a:t>do</a:t>
            </a:r>
            <a:r>
              <a:rPr spc="-35" dirty="0"/>
              <a:t> </a:t>
            </a:r>
            <a:r>
              <a:rPr dirty="0"/>
              <a:t>need</a:t>
            </a:r>
            <a:r>
              <a:rPr spc="-4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recognize</a:t>
            </a:r>
            <a:r>
              <a:rPr spc="-50" dirty="0"/>
              <a:t> </a:t>
            </a:r>
            <a:r>
              <a:rPr dirty="0"/>
              <a:t>when</a:t>
            </a:r>
            <a:r>
              <a:rPr spc="-35" dirty="0"/>
              <a:t> </a:t>
            </a:r>
            <a:r>
              <a:rPr dirty="0"/>
              <a:t>have</a:t>
            </a:r>
            <a:r>
              <a:rPr spc="-35" dirty="0"/>
              <a:t> </a:t>
            </a:r>
            <a:r>
              <a:rPr spc="-10" dirty="0"/>
              <a:t>plaintext</a:t>
            </a: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dirty="0"/>
              <a:t>eg.</a:t>
            </a:r>
            <a:r>
              <a:rPr spc="-25" dirty="0"/>
              <a:t> </a:t>
            </a:r>
            <a:r>
              <a:rPr dirty="0"/>
              <a:t>break</a:t>
            </a:r>
            <a:r>
              <a:rPr spc="-40" dirty="0"/>
              <a:t> </a:t>
            </a:r>
            <a:r>
              <a:rPr dirty="0"/>
              <a:t>ciphertext</a:t>
            </a:r>
            <a:r>
              <a:rPr spc="-50" dirty="0"/>
              <a:t> </a:t>
            </a:r>
            <a:r>
              <a:rPr dirty="0"/>
              <a:t>"GCUA</a:t>
            </a:r>
            <a:r>
              <a:rPr spc="-40" dirty="0"/>
              <a:t> </a:t>
            </a:r>
            <a:r>
              <a:rPr dirty="0"/>
              <a:t>VQ</a:t>
            </a:r>
            <a:r>
              <a:rPr spc="-35" dirty="0"/>
              <a:t> </a:t>
            </a:r>
            <a:r>
              <a:rPr spc="-10" dirty="0"/>
              <a:t>DTGCM"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Language</a:t>
            </a:r>
            <a:r>
              <a:rPr sz="2800" spc="-95" dirty="0"/>
              <a:t> </a:t>
            </a:r>
            <a:r>
              <a:rPr sz="2800" dirty="0"/>
              <a:t>Redundancy</a:t>
            </a:r>
            <a:r>
              <a:rPr sz="2800" spc="-90" dirty="0"/>
              <a:t> </a:t>
            </a:r>
            <a:r>
              <a:rPr sz="2800" dirty="0"/>
              <a:t>and</a:t>
            </a:r>
            <a:r>
              <a:rPr sz="2800" spc="-114" dirty="0"/>
              <a:t> </a:t>
            </a:r>
            <a:r>
              <a:rPr sz="2800" spc="-10" dirty="0"/>
              <a:t>Cryptanalysis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942326" y="4319397"/>
            <a:ext cx="816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letter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233576"/>
            <a:ext cx="7411720" cy="39643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human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redundant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eg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"th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lrd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shphrd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shll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wnt"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equally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commonly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used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English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letter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T,R,N,I,O,A,S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Z,J,K,Q,X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fairly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rare</a:t>
            </a:r>
            <a:endParaRPr sz="2800">
              <a:latin typeface="Arial MT"/>
              <a:cs typeface="Arial MT"/>
            </a:endParaRPr>
          </a:p>
          <a:p>
            <a:pPr marL="355600" marR="262255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1403985" algn="l"/>
                <a:tab pos="2631440" algn="l"/>
                <a:tab pos="3204210" algn="l"/>
                <a:tab pos="4508500" algn="l"/>
                <a:tab pos="5855970" algn="l"/>
                <a:tab pos="6369685" algn="l"/>
              </a:tabLst>
            </a:pPr>
            <a:r>
              <a:rPr sz="2800" spc="-20" dirty="0">
                <a:latin typeface="Arial MT"/>
                <a:cs typeface="Arial MT"/>
              </a:rPr>
              <a:t>have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tables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of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single,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double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&amp;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triple </a:t>
            </a:r>
            <a:r>
              <a:rPr sz="2800" dirty="0">
                <a:latin typeface="Arial MT"/>
                <a:cs typeface="Arial MT"/>
              </a:rPr>
              <a:t>frequencies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languages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English</a:t>
            </a:r>
            <a:r>
              <a:rPr spc="-30" dirty="0"/>
              <a:t> </a:t>
            </a:r>
            <a:r>
              <a:rPr dirty="0"/>
              <a:t>Letter</a:t>
            </a:r>
            <a:r>
              <a:rPr spc="-5" dirty="0"/>
              <a:t> </a:t>
            </a:r>
            <a:r>
              <a:rPr spc="-10" dirty="0"/>
              <a:t>Frequencies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561"/>
            <a:ext cx="8686800" cy="52320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</a:t>
            </a:r>
            <a:r>
              <a:rPr spc="-10" dirty="0"/>
              <a:t> </a:t>
            </a:r>
            <a:r>
              <a:rPr dirty="0"/>
              <a:t>in </a:t>
            </a:r>
            <a:r>
              <a:rPr spc="-10" dirty="0"/>
              <a:t>Cryptanalysis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8224520" cy="4758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key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concept-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monoalphabetic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substitution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ciphers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change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relative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frequencies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discovered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Arabian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scientists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9thcentury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calculate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frequencies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ciphertext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compare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counts/plots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values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caesar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look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peaks/troughs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peaks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A-E-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triple,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triple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troughs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JK,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X-</a:t>
            </a:r>
            <a:r>
              <a:rPr sz="2400" spc="-50" dirty="0">
                <a:latin typeface="Arial MT"/>
                <a:cs typeface="Arial MT"/>
              </a:rPr>
              <a:t>Z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monoalphabetic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identify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letter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tables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double/triple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letters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help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25" dirty="0"/>
              <a:t> </a:t>
            </a:r>
            <a:r>
              <a:rPr spc="-10" dirty="0"/>
              <a:t>Cryptanalysis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2684"/>
            <a:ext cx="8201659" cy="491490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ciphertext:</a:t>
            </a:r>
            <a:endParaRPr sz="3200">
              <a:latin typeface="Arial MT"/>
              <a:cs typeface="Arial MT"/>
            </a:endParaRPr>
          </a:p>
          <a:p>
            <a:pPr marL="753745" marR="101600" lvl="1" indent="-284480" algn="just">
              <a:lnSpc>
                <a:spcPct val="100000"/>
              </a:lnSpc>
              <a:spcBef>
                <a:spcPts val="515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Arial MT"/>
                <a:cs typeface="Arial MT"/>
              </a:rPr>
              <a:t>UZQSOVUOHXMOPVGPOZPEVSGZWSZOPFPESXUDBMETS 	XAIZVUEPHZHMDZSHZOWSFPAPPDTSVPQUZWYMXUZUHS 	XEPYEPOPDZSZUFPOMBZWPFUPZHMDJUDTMOHMQ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count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relative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frequencies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(see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text)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guess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Z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guess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ZW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hence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ZWP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proceeding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trial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error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finally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get:</a:t>
            </a:r>
            <a:endParaRPr sz="32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2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disclosed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yesterday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several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contacts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political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representatives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spc="-10" dirty="0">
                <a:latin typeface="Arial MT"/>
                <a:cs typeface="Arial MT"/>
              </a:rPr>
              <a:t>moscow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 MT"/>
                <a:cs typeface="Arial MT"/>
              </a:rPr>
              <a:t>Thank</a:t>
            </a:r>
            <a:r>
              <a:rPr sz="7200" b="0" spc="-40" dirty="0">
                <a:latin typeface="Arial MT"/>
                <a:cs typeface="Arial MT"/>
              </a:rPr>
              <a:t> </a:t>
            </a:r>
            <a:r>
              <a:rPr sz="7200" b="0" spc="-25" dirty="0">
                <a:latin typeface="Arial MT"/>
                <a:cs typeface="Arial MT"/>
              </a:rPr>
              <a:t>You</a:t>
            </a:r>
            <a:endParaRPr sz="7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21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977</Words>
  <Application>Microsoft Office PowerPoint</Application>
  <PresentationFormat>On-screen Show (4:3)</PresentationFormat>
  <Paragraphs>165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Arial MT</vt:lpstr>
      <vt:lpstr>Office Theme</vt:lpstr>
      <vt:lpstr>Cyber Security &amp; Digital Forensics CSE - 4207</vt:lpstr>
      <vt:lpstr>Outline</vt:lpstr>
      <vt:lpstr>Some Basic Terminology</vt:lpstr>
      <vt:lpstr>Symmetric Cipher Model</vt:lpstr>
      <vt:lpstr>Requirements</vt:lpstr>
      <vt:lpstr>Cryptography</vt:lpstr>
      <vt:lpstr>Cryptanalysis</vt:lpstr>
      <vt:lpstr>Cryptanalytic Attacks</vt:lpstr>
      <vt:lpstr>More Definitions</vt:lpstr>
      <vt:lpstr>Brute Force Search</vt:lpstr>
      <vt:lpstr>Classical Substitution Ciphers</vt:lpstr>
      <vt:lpstr>Monoalphabetic Cipher</vt:lpstr>
      <vt:lpstr>Monoalphabetic Cipher Security</vt:lpstr>
      <vt:lpstr>Caesar Cipher</vt:lpstr>
      <vt:lpstr>Caesar Cipher</vt:lpstr>
      <vt:lpstr>Cryptanalysis of Caesar Cipher</vt:lpstr>
      <vt:lpstr>Language Redundancy and Cryptanalysis</vt:lpstr>
      <vt:lpstr>English Letter Frequencies</vt:lpstr>
      <vt:lpstr>Use in Cryptanalysis</vt:lpstr>
      <vt:lpstr>Example Cryptanalysis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1</cp:revision>
  <dcterms:created xsi:type="dcterms:W3CDTF">2026-03-02T17:12:48Z</dcterms:created>
  <dcterms:modified xsi:type="dcterms:W3CDTF">2026-03-02T17:16:31Z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