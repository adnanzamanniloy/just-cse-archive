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regular.fntdata"/><Relationship Id="rId25" Type="http://schemas.openxmlformats.org/officeDocument/2006/relationships/slide" Target="slides/slide20.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351b4b35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351b4b35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351b4b350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351b4b350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1351b4b350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1351b4b350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1351b4b350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1351b4b350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351b4b350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1351b4b350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351b4b350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1351b4b350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1351b4b350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1351b4b350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1351b4b350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1351b4b350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1351b4b350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1351b4b350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351b4b350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1351b4b350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351b4b350_2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351b4b350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1351b4b350_2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1351b4b350_2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351b4b350_2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351b4b350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1377cb780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1377cb780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377cb780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1377cb780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1377cb780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1377cb780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377cb780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1377cb780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1377cb780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1377cb780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1377cb780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1377cb780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729442" y="542531"/>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7950" y="882225"/>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7952" y="2546925"/>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729442" y="573431"/>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704875"/>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000000"/>
              </a:buClr>
              <a:buSzPts val="1800"/>
              <a:buChar char="●"/>
              <a:defRPr sz="1800">
                <a:solidFill>
                  <a:srgbClr val="000000"/>
                </a:solidFill>
              </a:defRPr>
            </a:lvl1pPr>
            <a:lvl2pPr indent="-323850" lvl="1" marL="914400">
              <a:spcBef>
                <a:spcPts val="0"/>
              </a:spcBef>
              <a:spcAft>
                <a:spcPts val="0"/>
              </a:spcAft>
              <a:buClr>
                <a:srgbClr val="000000"/>
              </a:buClr>
              <a:buSzPts val="1500"/>
              <a:buChar char="○"/>
              <a:defRPr sz="1500">
                <a:solidFill>
                  <a:srgbClr val="000000"/>
                </a:solidFill>
              </a:defRPr>
            </a:lvl2pPr>
            <a:lvl3pPr indent="-317500" lvl="2" marL="1371600">
              <a:spcBef>
                <a:spcPts val="0"/>
              </a:spcBef>
              <a:spcAft>
                <a:spcPts val="0"/>
              </a:spcAft>
              <a:buClr>
                <a:srgbClr val="000000"/>
              </a:buClr>
              <a:buSzPts val="1400"/>
              <a:buChar char="■"/>
              <a:defRPr sz="1400">
                <a:solidFill>
                  <a:srgbClr val="000000"/>
                </a:solidFill>
              </a:defRPr>
            </a:lvl3pPr>
            <a:lvl4pPr indent="-311150" lvl="3" marL="1828800">
              <a:spcBef>
                <a:spcPts val="0"/>
              </a:spcBef>
              <a:spcAft>
                <a:spcPts val="0"/>
              </a:spcAft>
              <a:buClr>
                <a:srgbClr val="000000"/>
              </a:buClr>
              <a:buSzPts val="1300"/>
              <a:buChar char="●"/>
              <a:defRPr sz="1300">
                <a:solidFill>
                  <a:srgbClr val="000000"/>
                </a:solidFill>
              </a:defRPr>
            </a:lvl4pPr>
            <a:lvl5pPr indent="-304800" lvl="4" marL="2286000">
              <a:spcBef>
                <a:spcPts val="0"/>
              </a:spcBef>
              <a:spcAft>
                <a:spcPts val="0"/>
              </a:spcAft>
              <a:buClr>
                <a:srgbClr val="000000"/>
              </a:buClr>
              <a:buSzPts val="1200"/>
              <a:buChar char="○"/>
              <a:defRPr sz="1200">
                <a:solidFill>
                  <a:srgbClr val="000000"/>
                </a:solidFill>
              </a:defRPr>
            </a:lvl5pPr>
            <a:lvl6pPr indent="-298450" lvl="5" marL="2743200">
              <a:spcBef>
                <a:spcPts val="0"/>
              </a:spcBef>
              <a:spcAft>
                <a:spcPts val="0"/>
              </a:spcAft>
              <a:buClr>
                <a:srgbClr val="000000"/>
              </a:buClr>
              <a:buSzPts val="1100"/>
              <a:buChar char="■"/>
              <a:defRPr>
                <a:solidFill>
                  <a:srgbClr val="000000"/>
                </a:solidFill>
              </a:defRPr>
            </a:lvl6pPr>
            <a:lvl7pPr indent="-298450" lvl="6" marL="3200400">
              <a:spcBef>
                <a:spcPts val="0"/>
              </a:spcBef>
              <a:spcAft>
                <a:spcPts val="0"/>
              </a:spcAft>
              <a:buClr>
                <a:srgbClr val="000000"/>
              </a:buClr>
              <a:buSzPts val="1100"/>
              <a:buChar char="●"/>
              <a:defRPr>
                <a:solidFill>
                  <a:srgbClr val="000000"/>
                </a:solidFill>
              </a:defRPr>
            </a:lvl7pPr>
            <a:lvl8pPr indent="-298450" lvl="7" marL="3657600">
              <a:spcBef>
                <a:spcPts val="0"/>
              </a:spcBef>
              <a:spcAft>
                <a:spcPts val="0"/>
              </a:spcAft>
              <a:buClr>
                <a:srgbClr val="000000"/>
              </a:buClr>
              <a:buSzPts val="1100"/>
              <a:buChar char="○"/>
              <a:defRPr>
                <a:solidFill>
                  <a:srgbClr val="000000"/>
                </a:solidFill>
              </a:defRPr>
            </a:lvl8pPr>
            <a:lvl9pPr indent="-298450" lvl="8" marL="4114800">
              <a:spcBef>
                <a:spcPts val="0"/>
              </a:spcBef>
              <a:spcAft>
                <a:spcPts val="0"/>
              </a:spcAft>
              <a:buClr>
                <a:srgbClr val="000000"/>
              </a:buClr>
              <a:buSzPts val="1100"/>
              <a:buChar char="■"/>
              <a:defRPr>
                <a:solidFill>
                  <a:srgbClr val="000000"/>
                </a:solidFill>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729317" y="588181"/>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7800" y="734375"/>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1269575"/>
            <a:ext cx="3774300" cy="22611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rgbClr val="000000"/>
              </a:buClr>
              <a:buSzPts val="1600"/>
              <a:buChar char="●"/>
              <a:defRPr sz="1600">
                <a:solidFill>
                  <a:srgbClr val="000000"/>
                </a:solidFill>
              </a:defRPr>
            </a:lvl1pPr>
            <a:lvl2pPr indent="-317500" lvl="1" marL="914400">
              <a:spcBef>
                <a:spcPts val="0"/>
              </a:spcBef>
              <a:spcAft>
                <a:spcPts val="0"/>
              </a:spcAft>
              <a:buClr>
                <a:srgbClr val="000000"/>
              </a:buClr>
              <a:buSzPts val="1400"/>
              <a:buChar char="○"/>
              <a:defRPr sz="1400">
                <a:solidFill>
                  <a:srgbClr val="000000"/>
                </a:solidFill>
              </a:defRPr>
            </a:lvl2pPr>
            <a:lvl3pPr indent="-298450" lvl="2" marL="1371600">
              <a:spcBef>
                <a:spcPts val="0"/>
              </a:spcBef>
              <a:spcAft>
                <a:spcPts val="0"/>
              </a:spcAft>
              <a:buClr>
                <a:srgbClr val="000000"/>
              </a:buClr>
              <a:buSzPts val="1100"/>
              <a:buChar char="■"/>
              <a:defRPr>
                <a:solidFill>
                  <a:srgbClr val="000000"/>
                </a:solidFill>
              </a:defRPr>
            </a:lvl3pPr>
            <a:lvl4pPr indent="-298450" lvl="3" marL="1828800">
              <a:spcBef>
                <a:spcPts val="0"/>
              </a:spcBef>
              <a:spcAft>
                <a:spcPts val="0"/>
              </a:spcAft>
              <a:buClr>
                <a:srgbClr val="000000"/>
              </a:buClr>
              <a:buSzPts val="1100"/>
              <a:buChar char="●"/>
              <a:defRPr>
                <a:solidFill>
                  <a:srgbClr val="000000"/>
                </a:solidFill>
              </a:defRPr>
            </a:lvl4pPr>
            <a:lvl5pPr indent="-298450" lvl="4" marL="2286000">
              <a:spcBef>
                <a:spcPts val="0"/>
              </a:spcBef>
              <a:spcAft>
                <a:spcPts val="0"/>
              </a:spcAft>
              <a:buClr>
                <a:srgbClr val="000000"/>
              </a:buClr>
              <a:buSzPts val="1100"/>
              <a:buChar char="○"/>
              <a:defRPr>
                <a:solidFill>
                  <a:srgbClr val="000000"/>
                </a:solidFill>
              </a:defRPr>
            </a:lvl5pPr>
            <a:lvl6pPr indent="-298450" lvl="5" marL="2743200">
              <a:spcBef>
                <a:spcPts val="0"/>
              </a:spcBef>
              <a:spcAft>
                <a:spcPts val="0"/>
              </a:spcAft>
              <a:buClr>
                <a:srgbClr val="000000"/>
              </a:buClr>
              <a:buSzPts val="1100"/>
              <a:buChar char="■"/>
              <a:defRPr>
                <a:solidFill>
                  <a:srgbClr val="000000"/>
                </a:solidFill>
              </a:defRPr>
            </a:lvl6pPr>
            <a:lvl7pPr indent="-298450" lvl="6" marL="3200400">
              <a:spcBef>
                <a:spcPts val="0"/>
              </a:spcBef>
              <a:spcAft>
                <a:spcPts val="0"/>
              </a:spcAft>
              <a:buClr>
                <a:srgbClr val="000000"/>
              </a:buClr>
              <a:buSzPts val="1100"/>
              <a:buChar char="●"/>
              <a:defRPr>
                <a:solidFill>
                  <a:srgbClr val="000000"/>
                </a:solidFill>
              </a:defRPr>
            </a:lvl7pPr>
            <a:lvl8pPr indent="-298450" lvl="7" marL="3657600">
              <a:spcBef>
                <a:spcPts val="0"/>
              </a:spcBef>
              <a:spcAft>
                <a:spcPts val="0"/>
              </a:spcAft>
              <a:buClr>
                <a:srgbClr val="000000"/>
              </a:buClr>
              <a:buSzPts val="1100"/>
              <a:buChar char="○"/>
              <a:defRPr>
                <a:solidFill>
                  <a:srgbClr val="000000"/>
                </a:solidFill>
              </a:defRPr>
            </a:lvl8pPr>
            <a:lvl9pPr indent="-298450" lvl="8" marL="4114800">
              <a:spcBef>
                <a:spcPts val="0"/>
              </a:spcBef>
              <a:spcAft>
                <a:spcPts val="0"/>
              </a:spcAft>
              <a:buClr>
                <a:srgbClr val="000000"/>
              </a:buClr>
              <a:buSzPts val="1100"/>
              <a:buChar char="■"/>
              <a:defRPr>
                <a:solidFill>
                  <a:srgbClr val="000000"/>
                </a:solidFill>
              </a:defRPr>
            </a:lvl9pPr>
          </a:lstStyle>
          <a:p/>
        </p:txBody>
      </p:sp>
      <p:sp>
        <p:nvSpPr>
          <p:cNvPr id="38" name="Google Shape;38;p5"/>
          <p:cNvSpPr txBox="1"/>
          <p:nvPr>
            <p:ph idx="2" type="body"/>
          </p:nvPr>
        </p:nvSpPr>
        <p:spPr>
          <a:xfrm>
            <a:off x="4641904" y="1269575"/>
            <a:ext cx="3774300" cy="22611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rgbClr val="000000"/>
              </a:buClr>
              <a:buSzPts val="1600"/>
              <a:buChar char="●"/>
              <a:defRPr sz="1600">
                <a:solidFill>
                  <a:srgbClr val="000000"/>
                </a:solidFill>
              </a:defRPr>
            </a:lvl1pPr>
            <a:lvl2pPr indent="-317500" lvl="1" marL="914400">
              <a:spcBef>
                <a:spcPts val="0"/>
              </a:spcBef>
              <a:spcAft>
                <a:spcPts val="0"/>
              </a:spcAft>
              <a:buClr>
                <a:srgbClr val="000000"/>
              </a:buClr>
              <a:buSzPts val="1400"/>
              <a:buChar char="○"/>
              <a:defRPr sz="1400">
                <a:solidFill>
                  <a:srgbClr val="000000"/>
                </a:solidFill>
              </a:defRPr>
            </a:lvl2pPr>
            <a:lvl3pPr indent="-298450" lvl="2" marL="1371600">
              <a:spcBef>
                <a:spcPts val="0"/>
              </a:spcBef>
              <a:spcAft>
                <a:spcPts val="0"/>
              </a:spcAft>
              <a:buClr>
                <a:srgbClr val="000000"/>
              </a:buClr>
              <a:buSzPts val="1100"/>
              <a:buChar char="■"/>
              <a:defRPr>
                <a:solidFill>
                  <a:srgbClr val="000000"/>
                </a:solidFill>
              </a:defRPr>
            </a:lvl3pPr>
            <a:lvl4pPr indent="-298450" lvl="3" marL="1828800">
              <a:spcBef>
                <a:spcPts val="0"/>
              </a:spcBef>
              <a:spcAft>
                <a:spcPts val="0"/>
              </a:spcAft>
              <a:buClr>
                <a:srgbClr val="000000"/>
              </a:buClr>
              <a:buSzPts val="1100"/>
              <a:buChar char="●"/>
              <a:defRPr>
                <a:solidFill>
                  <a:srgbClr val="000000"/>
                </a:solidFill>
              </a:defRPr>
            </a:lvl4pPr>
            <a:lvl5pPr indent="-298450" lvl="4" marL="2286000">
              <a:spcBef>
                <a:spcPts val="0"/>
              </a:spcBef>
              <a:spcAft>
                <a:spcPts val="0"/>
              </a:spcAft>
              <a:buClr>
                <a:srgbClr val="000000"/>
              </a:buClr>
              <a:buSzPts val="1100"/>
              <a:buChar char="○"/>
              <a:defRPr>
                <a:solidFill>
                  <a:srgbClr val="000000"/>
                </a:solidFill>
              </a:defRPr>
            </a:lvl5pPr>
            <a:lvl6pPr indent="-298450" lvl="5" marL="2743200">
              <a:spcBef>
                <a:spcPts val="0"/>
              </a:spcBef>
              <a:spcAft>
                <a:spcPts val="0"/>
              </a:spcAft>
              <a:buClr>
                <a:srgbClr val="000000"/>
              </a:buClr>
              <a:buSzPts val="1100"/>
              <a:buChar char="■"/>
              <a:defRPr>
                <a:solidFill>
                  <a:srgbClr val="000000"/>
                </a:solidFill>
              </a:defRPr>
            </a:lvl6pPr>
            <a:lvl7pPr indent="-298450" lvl="6" marL="3200400">
              <a:spcBef>
                <a:spcPts val="0"/>
              </a:spcBef>
              <a:spcAft>
                <a:spcPts val="0"/>
              </a:spcAft>
              <a:buClr>
                <a:srgbClr val="000000"/>
              </a:buClr>
              <a:buSzPts val="1100"/>
              <a:buChar char="●"/>
              <a:defRPr>
                <a:solidFill>
                  <a:srgbClr val="000000"/>
                </a:solidFill>
              </a:defRPr>
            </a:lvl7pPr>
            <a:lvl8pPr indent="-298450" lvl="7" marL="3657600">
              <a:spcBef>
                <a:spcPts val="0"/>
              </a:spcBef>
              <a:spcAft>
                <a:spcPts val="0"/>
              </a:spcAft>
              <a:buClr>
                <a:srgbClr val="000000"/>
              </a:buClr>
              <a:buSzPts val="1100"/>
              <a:buChar char="○"/>
              <a:defRPr>
                <a:solidFill>
                  <a:srgbClr val="000000"/>
                </a:solidFill>
              </a:defRPr>
            </a:lvl8pPr>
            <a:lvl9pPr indent="-298450" lvl="8" marL="4114800">
              <a:spcBef>
                <a:spcPts val="0"/>
              </a:spcBef>
              <a:spcAft>
                <a:spcPts val="0"/>
              </a:spcAft>
              <a:buClr>
                <a:srgbClr val="000000"/>
              </a:buClr>
              <a:buSzPts val="1100"/>
              <a:buChar char="■"/>
              <a:defRPr>
                <a:solidFill>
                  <a:srgbClr val="000000"/>
                </a:solidFill>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729442" y="56570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7800" y="689425"/>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55600" lvl="0" marL="457200">
              <a:spcBef>
                <a:spcPts val="0"/>
              </a:spcBef>
              <a:spcAft>
                <a:spcPts val="0"/>
              </a:spcAft>
              <a:buSzPts val="20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55600" lvl="0" marL="457200">
              <a:spcBef>
                <a:spcPts val="0"/>
              </a:spcBef>
              <a:spcAft>
                <a:spcPts val="0"/>
              </a:spcAft>
              <a:buSzPts val="20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55600" lvl="0" marL="457200">
              <a:spcBef>
                <a:spcPts val="0"/>
              </a:spcBef>
              <a:spcAft>
                <a:spcPts val="0"/>
              </a:spcAft>
              <a:buClr>
                <a:schemeClr val="lt1"/>
              </a:buClr>
              <a:buSzPts val="20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55600" lvl="0" marL="457200">
              <a:lnSpc>
                <a:spcPct val="115000"/>
              </a:lnSpc>
              <a:spcBef>
                <a:spcPts val="0"/>
              </a:spcBef>
              <a:spcAft>
                <a:spcPts val="0"/>
              </a:spcAft>
              <a:buClr>
                <a:schemeClr val="dk2"/>
              </a:buClr>
              <a:buSzPts val="2000"/>
              <a:buFont typeface="Lato"/>
              <a:buChar char="●"/>
              <a:defRPr sz="2000">
                <a:solidFill>
                  <a:schemeClr val="dk2"/>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7950" y="882225"/>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Measures of Variability</a:t>
            </a:r>
            <a:endParaRPr/>
          </a:p>
        </p:txBody>
      </p:sp>
      <p:sp>
        <p:nvSpPr>
          <p:cNvPr id="87" name="Google Shape;87;p13"/>
          <p:cNvSpPr txBox="1"/>
          <p:nvPr>
            <p:ph idx="1" type="subTitle"/>
          </p:nvPr>
        </p:nvSpPr>
        <p:spPr>
          <a:xfrm>
            <a:off x="727952" y="2546925"/>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measures of variability</a:t>
            </a:r>
            <a:endParaRPr/>
          </a:p>
        </p:txBody>
      </p:sp>
      <p:sp>
        <p:nvSpPr>
          <p:cNvPr id="93" name="Google Shape;93;p14"/>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Some questions</a:t>
            </a:r>
            <a:endParaRPr/>
          </a:p>
          <a:p>
            <a:pPr indent="-342900" lvl="0" marL="457200" rtl="0" algn="l">
              <a:spcBef>
                <a:spcPts val="1200"/>
              </a:spcBef>
              <a:spcAft>
                <a:spcPts val="0"/>
              </a:spcAft>
              <a:buSzPts val="1800"/>
              <a:buChar char="-"/>
            </a:pPr>
            <a:r>
              <a:rPr lang="en"/>
              <a:t>What is variable?</a:t>
            </a:r>
            <a:endParaRPr/>
          </a:p>
          <a:p>
            <a:pPr indent="-342900" lvl="0" marL="457200" rtl="0" algn="l">
              <a:spcBef>
                <a:spcPts val="0"/>
              </a:spcBef>
              <a:spcAft>
                <a:spcPts val="0"/>
              </a:spcAft>
              <a:buSzPts val="1800"/>
              <a:buChar char="-"/>
            </a:pPr>
            <a:r>
              <a:rPr lang="en"/>
              <a:t>What are the types of variables?</a:t>
            </a:r>
            <a:endParaRPr/>
          </a:p>
          <a:p>
            <a:pPr indent="-342900" lvl="0" marL="457200" rtl="0" algn="l">
              <a:spcBef>
                <a:spcPts val="0"/>
              </a:spcBef>
              <a:spcAft>
                <a:spcPts val="0"/>
              </a:spcAft>
              <a:buSzPts val="1800"/>
              <a:buChar char="-"/>
            </a:pPr>
            <a:r>
              <a:rPr lang="en"/>
              <a:t>Why do we tend to find the center of data? Give some examples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measures of variability</a:t>
            </a:r>
            <a:endParaRPr/>
          </a:p>
        </p:txBody>
      </p:sp>
      <p:sp>
        <p:nvSpPr>
          <p:cNvPr id="99" name="Google Shape;99;p15"/>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0" name="Google Shape;100;p15"/>
          <p:cNvPicPr preferRelativeResize="0"/>
          <p:nvPr/>
        </p:nvPicPr>
        <p:blipFill>
          <a:blip r:embed="rId3">
            <a:alphaModFix/>
          </a:blip>
          <a:stretch>
            <a:fillRect/>
          </a:stretch>
        </p:blipFill>
        <p:spPr>
          <a:xfrm>
            <a:off x="774398" y="1873575"/>
            <a:ext cx="7595200" cy="2741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measures of variability</a:t>
            </a:r>
            <a:endParaRPr/>
          </a:p>
        </p:txBody>
      </p:sp>
      <p:sp>
        <p:nvSpPr>
          <p:cNvPr id="106" name="Google Shape;106;p16"/>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t>Data sets may have the same center but look different because of the way the numbers spread out from the center.</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Variability or Dispersion</a:t>
            </a:r>
            <a:endParaRPr/>
          </a:p>
        </p:txBody>
      </p:sp>
      <p:sp>
        <p:nvSpPr>
          <p:cNvPr id="112" name="Google Shape;112;p17"/>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Variability, or dispersion, refers to how spread out or clustered the values in a dataset are around a </a:t>
            </a:r>
            <a:r>
              <a:rPr b="1" lang="en" sz="2000"/>
              <a:t>central value</a:t>
            </a:r>
            <a:r>
              <a:rPr lang="en" sz="2000"/>
              <a:t>, such as the mean or median. </a:t>
            </a:r>
            <a:endParaRPr sz="2000"/>
          </a:p>
          <a:p>
            <a:pPr indent="0" lvl="0" marL="0" rtl="0" algn="l">
              <a:spcBef>
                <a:spcPts val="1200"/>
              </a:spcBef>
              <a:spcAft>
                <a:spcPts val="0"/>
              </a:spcAft>
              <a:buNone/>
            </a:pPr>
            <a:r>
              <a:rPr lang="en" sz="2000"/>
              <a:t>Understanding variability helps us assess the consistency of data and provides insight into how typical or unusual certain data points may be.</a:t>
            </a:r>
            <a:endParaRPr sz="2000"/>
          </a:p>
          <a:p>
            <a:pPr indent="0" lvl="0" marL="0" rtl="0" algn="l">
              <a:spcBef>
                <a:spcPts val="1200"/>
              </a:spcBef>
              <a:spcAft>
                <a:spcPts val="1200"/>
              </a:spcAft>
              <a:buNone/>
            </a:pPr>
            <a:r>
              <a:rPr lang="en" sz="2000"/>
              <a:t>Measures of variability can help you create a mental picture of the spread of the data. The simplest measure of variation is the </a:t>
            </a:r>
            <a:r>
              <a:rPr b="1" i="1" lang="en" sz="2000"/>
              <a:t>range.</a:t>
            </a:r>
            <a:endParaRPr b="1" i="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Range</a:t>
            </a:r>
            <a:endParaRPr/>
          </a:p>
        </p:txBody>
      </p:sp>
      <p:sp>
        <p:nvSpPr>
          <p:cNvPr id="118" name="Google Shape;118;p18"/>
          <p:cNvSpPr txBox="1"/>
          <p:nvPr>
            <p:ph idx="1" type="body"/>
          </p:nvPr>
        </p:nvSpPr>
        <p:spPr>
          <a:xfrm>
            <a:off x="729450" y="120130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t>The range, R, of a set of n measurements is defined as the difference between the largest and smallest measurements.</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a:t>
            </a:r>
            <a:endParaRPr/>
          </a:p>
        </p:txBody>
      </p:sp>
      <p:sp>
        <p:nvSpPr>
          <p:cNvPr id="124" name="Google Shape;124;p19"/>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5" name="Google Shape;125;p19"/>
          <p:cNvPicPr preferRelativeResize="0"/>
          <p:nvPr/>
        </p:nvPicPr>
        <p:blipFill>
          <a:blip r:embed="rId3">
            <a:alphaModFix/>
          </a:blip>
          <a:stretch>
            <a:fillRect/>
          </a:stretch>
        </p:blipFill>
        <p:spPr>
          <a:xfrm>
            <a:off x="1485900" y="1783150"/>
            <a:ext cx="6172200" cy="1981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Birth Weight Data</a:t>
            </a:r>
            <a:endParaRPr/>
          </a:p>
        </p:txBody>
      </p:sp>
      <p:sp>
        <p:nvSpPr>
          <p:cNvPr id="131" name="Google Shape;131;p20"/>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is the </a:t>
            </a:r>
            <a:r>
              <a:rPr b="1" i="1" lang="en"/>
              <a:t>Range? </a:t>
            </a:r>
            <a:endParaRPr/>
          </a:p>
          <a:p>
            <a:pPr indent="-342900" lvl="0" marL="457200" rtl="0" algn="l">
              <a:spcBef>
                <a:spcPts val="0"/>
              </a:spcBef>
              <a:spcAft>
                <a:spcPts val="0"/>
              </a:spcAft>
              <a:buSzPts val="1800"/>
              <a:buChar char="-"/>
            </a:pPr>
            <a:r>
              <a:rPr lang="en"/>
              <a:t>How many classes should we create?</a:t>
            </a:r>
            <a:endParaRPr/>
          </a:p>
          <a:p>
            <a:pPr indent="-342900" lvl="0" marL="457200" rtl="0" algn="l">
              <a:spcBef>
                <a:spcPts val="0"/>
              </a:spcBef>
              <a:spcAft>
                <a:spcPts val="0"/>
              </a:spcAft>
              <a:buSzPts val="1800"/>
              <a:buChar char="-"/>
            </a:pPr>
            <a:r>
              <a:rPr lang="en"/>
              <a:t>Can we draw a frequency histogram?</a:t>
            </a:r>
            <a:endParaRPr/>
          </a:p>
          <a:p>
            <a:pPr indent="-342900" lvl="0" marL="457200" rtl="0" algn="l">
              <a:spcBef>
                <a:spcPts val="0"/>
              </a:spcBef>
              <a:spcAft>
                <a:spcPts val="0"/>
              </a:spcAft>
              <a:buSzPts val="1800"/>
              <a:buChar char="-"/>
            </a:pPr>
            <a:r>
              <a:rPr lang="en"/>
              <a:t>M</a:t>
            </a:r>
            <a:r>
              <a:rPr lang="en"/>
              <a:t>ethod of left inclusion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7" name="Google Shape;137;p21"/>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8" name="Google Shape;138;p21"/>
          <p:cNvPicPr preferRelativeResize="0"/>
          <p:nvPr/>
        </p:nvPicPr>
        <p:blipFill>
          <a:blip r:embed="rId3">
            <a:alphaModFix/>
          </a:blip>
          <a:stretch>
            <a:fillRect/>
          </a:stretch>
        </p:blipFill>
        <p:spPr>
          <a:xfrm>
            <a:off x="790550" y="1476585"/>
            <a:ext cx="7562900" cy="27083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729450" y="1322450"/>
            <a:ext cx="7688400" cy="1518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Is there a measure of variability that is more sensitive than the range?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 of Variability</a:t>
            </a:r>
            <a:endParaRPr/>
          </a:p>
        </p:txBody>
      </p:sp>
      <p:sp>
        <p:nvSpPr>
          <p:cNvPr id="149" name="Google Shape;149;p23"/>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Let’s draw a diagram with the following data</a:t>
            </a:r>
            <a:endParaRPr/>
          </a:p>
          <a:p>
            <a:pPr indent="0" lvl="0" marL="0" rtl="0" algn="l">
              <a:spcBef>
                <a:spcPts val="1200"/>
              </a:spcBef>
              <a:spcAft>
                <a:spcPts val="0"/>
              </a:spcAft>
              <a:buNone/>
            </a:pPr>
            <a:r>
              <a:rPr lang="en"/>
              <a:t>5, 7, 1, 2, 4</a:t>
            </a:r>
            <a:endParaRPr/>
          </a:p>
          <a:p>
            <a:pPr indent="0" lvl="0" marL="0" rtl="0" algn="l">
              <a:spcBef>
                <a:spcPts val="1200"/>
              </a:spcBef>
              <a:spcAft>
                <a:spcPts val="1200"/>
              </a:spcAft>
              <a:buNone/>
            </a:pPr>
            <a:r>
              <a:rPr lang="en"/>
              <a:t>Mean: 19/5 = 3.8</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 of Variability</a:t>
            </a:r>
            <a:endParaRPr/>
          </a:p>
        </p:txBody>
      </p:sp>
      <p:sp>
        <p:nvSpPr>
          <p:cNvPr id="155" name="Google Shape;155;p24"/>
          <p:cNvSpPr txBox="1"/>
          <p:nvPr>
            <p:ph idx="1" type="body"/>
          </p:nvPr>
        </p:nvSpPr>
        <p:spPr>
          <a:xfrm>
            <a:off x="727650" y="1240150"/>
            <a:ext cx="39108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6" name="Google Shape;156;p24"/>
          <p:cNvPicPr preferRelativeResize="0"/>
          <p:nvPr/>
        </p:nvPicPr>
        <p:blipFill>
          <a:blip r:embed="rId3">
            <a:alphaModFix/>
          </a:blip>
          <a:stretch>
            <a:fillRect/>
          </a:stretch>
        </p:blipFill>
        <p:spPr>
          <a:xfrm>
            <a:off x="873450" y="1869563"/>
            <a:ext cx="3841000" cy="2250875"/>
          </a:xfrm>
          <a:prstGeom prst="rect">
            <a:avLst/>
          </a:prstGeom>
          <a:noFill/>
          <a:ln>
            <a:noFill/>
          </a:ln>
        </p:spPr>
      </p:pic>
      <p:sp>
        <p:nvSpPr>
          <p:cNvPr id="157" name="Google Shape;157;p24"/>
          <p:cNvSpPr txBox="1"/>
          <p:nvPr>
            <p:ph idx="1" type="body"/>
          </p:nvPr>
        </p:nvSpPr>
        <p:spPr>
          <a:xfrm>
            <a:off x="4876650" y="1240163"/>
            <a:ext cx="39108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horizontal distances between each dot (measurement) and the mean x  will help you to measure the variability.</a:t>
            </a:r>
            <a:endParaRPr/>
          </a:p>
          <a:p>
            <a:pPr indent="0" lvl="0" marL="0" rtl="0" algn="l">
              <a:spcBef>
                <a:spcPts val="1200"/>
              </a:spcBef>
              <a:spcAft>
                <a:spcPts val="0"/>
              </a:spcAft>
              <a:buNone/>
            </a:pPr>
            <a:r>
              <a:rPr lang="en"/>
              <a:t>If the distances are large, the data are more spread out or variable than if the distances are small.</a:t>
            </a:r>
            <a:endParaRPr/>
          </a:p>
          <a:p>
            <a:pPr indent="0" lvl="0" marL="0" rtl="0" algn="l">
              <a:spcBef>
                <a:spcPts val="1200"/>
              </a:spcBef>
              <a:spcAft>
                <a:spcPts val="1200"/>
              </a:spcAft>
              <a:buNone/>
            </a:pPr>
            <a:r>
              <a:t/>
            </a:r>
            <a:endParaRPr/>
          </a:p>
        </p:txBody>
      </p:sp>
      <p:cxnSp>
        <p:nvCxnSpPr>
          <p:cNvPr id="158" name="Google Shape;158;p24"/>
          <p:cNvCxnSpPr/>
          <p:nvPr/>
        </p:nvCxnSpPr>
        <p:spPr>
          <a:xfrm>
            <a:off x="5567400" y="2033125"/>
            <a:ext cx="1071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Deviation</a:t>
            </a:r>
            <a:endParaRPr/>
          </a:p>
        </p:txBody>
      </p:sp>
      <p:sp>
        <p:nvSpPr>
          <p:cNvPr id="164" name="Google Shape;164;p25"/>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If </a:t>
            </a:r>
            <a:r>
              <a:rPr b="1" i="1" lang="en"/>
              <a:t>x</a:t>
            </a:r>
            <a:r>
              <a:rPr b="1" baseline="-25000" i="1" lang="en"/>
              <a:t>i</a:t>
            </a:r>
            <a:r>
              <a:rPr lang="en"/>
              <a:t> is a particular dot (measurement), then the </a:t>
            </a:r>
            <a:r>
              <a:rPr b="1" i="1" lang="en"/>
              <a:t>deviation </a:t>
            </a:r>
            <a:r>
              <a:rPr lang="en"/>
              <a:t>of that measurement from the mean is (x</a:t>
            </a:r>
            <a:r>
              <a:rPr baseline="-25000" lang="en"/>
              <a:t>i</a:t>
            </a:r>
            <a:r>
              <a:rPr lang="en"/>
              <a:t> - x ).</a:t>
            </a:r>
            <a:endParaRPr/>
          </a:p>
          <a:p>
            <a:pPr indent="0" lvl="0" marL="0" rtl="0" algn="l">
              <a:spcBef>
                <a:spcPts val="1200"/>
              </a:spcBef>
              <a:spcAft>
                <a:spcPts val="0"/>
              </a:spcAft>
              <a:buNone/>
            </a:pPr>
            <a:r>
              <a:rPr lang="en"/>
              <a:t>Measurements to the right of the mean produce positive deviations, and those to the left produce negative deviations.</a:t>
            </a:r>
            <a:endParaRPr/>
          </a:p>
          <a:p>
            <a:pPr indent="0" lvl="0" marL="0" rtl="0" algn="l">
              <a:spcBef>
                <a:spcPts val="1200"/>
              </a:spcBef>
              <a:spcAft>
                <a:spcPts val="1200"/>
              </a:spcAft>
              <a:buNone/>
            </a:pPr>
            <a:r>
              <a:t/>
            </a:r>
            <a:endParaRPr/>
          </a:p>
        </p:txBody>
      </p:sp>
      <p:cxnSp>
        <p:nvCxnSpPr>
          <p:cNvPr id="165" name="Google Shape;165;p25"/>
          <p:cNvCxnSpPr/>
          <p:nvPr/>
        </p:nvCxnSpPr>
        <p:spPr>
          <a:xfrm>
            <a:off x="4334875" y="1708625"/>
            <a:ext cx="1155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Deviation</a:t>
            </a:r>
            <a:endParaRPr/>
          </a:p>
        </p:txBody>
      </p:sp>
      <p:sp>
        <p:nvSpPr>
          <p:cNvPr id="171" name="Google Shape;171;p26"/>
          <p:cNvSpPr txBox="1"/>
          <p:nvPr>
            <p:ph idx="1" type="body"/>
          </p:nvPr>
        </p:nvSpPr>
        <p:spPr>
          <a:xfrm>
            <a:off x="5042500" y="1274475"/>
            <a:ext cx="3342900" cy="3509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Because the deviations in the second column of the table contain information on variability, one way to combine the five deviations into one numerical measure is to average them. The average will not work because some of the deviations are positive, some are negative, and the sum is always zero.</a:t>
            </a:r>
            <a:endParaRPr/>
          </a:p>
        </p:txBody>
      </p:sp>
      <p:pic>
        <p:nvPicPr>
          <p:cNvPr id="172" name="Google Shape;172;p26"/>
          <p:cNvPicPr preferRelativeResize="0"/>
          <p:nvPr/>
        </p:nvPicPr>
        <p:blipFill>
          <a:blip r:embed="rId3">
            <a:alphaModFix/>
          </a:blip>
          <a:stretch>
            <a:fillRect/>
          </a:stretch>
        </p:blipFill>
        <p:spPr>
          <a:xfrm>
            <a:off x="729450" y="1772025"/>
            <a:ext cx="3429000" cy="2514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Deviation</a:t>
            </a:r>
            <a:endParaRPr/>
          </a:p>
        </p:txBody>
      </p:sp>
      <p:sp>
        <p:nvSpPr>
          <p:cNvPr id="178" name="Google Shape;178;p27"/>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Another possibility might be to disregard the signs of the deviations and calculate the average of their absolute values. This method has been used as a measure of variability in exploratory data analysis and in the analysis of </a:t>
            </a:r>
            <a:r>
              <a:rPr b="1" lang="en"/>
              <a:t>time series data</a:t>
            </a:r>
            <a:r>
              <a:rPr lang="en"/>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t>
            </a:r>
            <a:r>
              <a:rPr lang="en"/>
              <a:t>ariance</a:t>
            </a:r>
            <a:endParaRPr/>
          </a:p>
        </p:txBody>
      </p:sp>
      <p:sp>
        <p:nvSpPr>
          <p:cNvPr id="184" name="Google Shape;184;p28"/>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the sum of squared deviations, a single measure called the variance is calculated (Column 3).</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Variance is the mean of the squared deviations from the mean, showing how data points are spread out.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Variance</a:t>
            </a:r>
            <a:endParaRPr/>
          </a:p>
        </p:txBody>
      </p:sp>
      <p:sp>
        <p:nvSpPr>
          <p:cNvPr id="190" name="Google Shape;190;p29"/>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variance of a</a:t>
            </a:r>
            <a:r>
              <a:rPr b="1" lang="en"/>
              <a:t> population</a:t>
            </a:r>
            <a:r>
              <a:rPr lang="en"/>
              <a:t> of N measurements is the average of the squares of the deviations of the measurements about their mean μ. The population</a:t>
            </a:r>
            <a:endParaRPr/>
          </a:p>
          <a:p>
            <a:pPr indent="0" lvl="0" marL="0" rtl="0" algn="l">
              <a:spcBef>
                <a:spcPts val="1200"/>
              </a:spcBef>
              <a:spcAft>
                <a:spcPts val="0"/>
              </a:spcAft>
              <a:buNone/>
            </a:pPr>
            <a:r>
              <a:rPr lang="en"/>
              <a:t>variance is denoted by </a:t>
            </a:r>
            <a:r>
              <a:rPr lang="en"/>
              <a:t>𝜎</a:t>
            </a:r>
            <a:r>
              <a:rPr baseline="30000" lang="en"/>
              <a:t>2</a:t>
            </a:r>
            <a:r>
              <a:rPr lang="en"/>
              <a:t> and is given by the formula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91" name="Google Shape;191;p29"/>
          <p:cNvPicPr preferRelativeResize="0"/>
          <p:nvPr/>
        </p:nvPicPr>
        <p:blipFill>
          <a:blip r:embed="rId3">
            <a:alphaModFix/>
          </a:blip>
          <a:stretch>
            <a:fillRect/>
          </a:stretch>
        </p:blipFill>
        <p:spPr>
          <a:xfrm>
            <a:off x="3140886" y="2956900"/>
            <a:ext cx="2865825" cy="1099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Variance</a:t>
            </a:r>
            <a:endParaRPr/>
          </a:p>
        </p:txBody>
      </p:sp>
      <p:sp>
        <p:nvSpPr>
          <p:cNvPr id="197" name="Google Shape;197;p30"/>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variance of a sample of n measurements is the sum of the squared deviations of the measurements about their mean x divided by (n - 1). The sample variance is denoted by s</a:t>
            </a:r>
            <a:r>
              <a:rPr baseline="30000" lang="en"/>
              <a:t>2</a:t>
            </a:r>
            <a:r>
              <a:rPr lang="en"/>
              <a:t> and is given by the formula</a:t>
            </a:r>
            <a:endParaRPr/>
          </a:p>
          <a:p>
            <a:pPr indent="0" lvl="0" marL="0" rtl="0" algn="l">
              <a:spcBef>
                <a:spcPts val="1200"/>
              </a:spcBef>
              <a:spcAft>
                <a:spcPts val="1200"/>
              </a:spcAft>
              <a:buNone/>
            </a:pPr>
            <a:r>
              <a:t/>
            </a:r>
            <a:endParaRPr/>
          </a:p>
        </p:txBody>
      </p:sp>
      <p:cxnSp>
        <p:nvCxnSpPr>
          <p:cNvPr id="198" name="Google Shape;198;p30"/>
          <p:cNvCxnSpPr/>
          <p:nvPr/>
        </p:nvCxnSpPr>
        <p:spPr>
          <a:xfrm>
            <a:off x="5803100" y="1718675"/>
            <a:ext cx="105300" cy="0"/>
          </a:xfrm>
          <a:prstGeom prst="straightConnector1">
            <a:avLst/>
          </a:prstGeom>
          <a:noFill/>
          <a:ln cap="flat" cmpd="sng" w="9525">
            <a:solidFill>
              <a:schemeClr val="dk2"/>
            </a:solidFill>
            <a:prstDash val="solid"/>
            <a:round/>
            <a:headEnd len="med" w="med" type="none"/>
            <a:tailEnd len="med" w="med" type="none"/>
          </a:ln>
        </p:spPr>
      </p:cxnSp>
      <p:pic>
        <p:nvPicPr>
          <p:cNvPr id="199" name="Google Shape;199;p30"/>
          <p:cNvPicPr preferRelativeResize="0"/>
          <p:nvPr/>
        </p:nvPicPr>
        <p:blipFill>
          <a:blip r:embed="rId3">
            <a:alphaModFix/>
          </a:blip>
          <a:stretch>
            <a:fillRect/>
          </a:stretch>
        </p:blipFill>
        <p:spPr>
          <a:xfrm>
            <a:off x="2997236" y="2571748"/>
            <a:ext cx="3149525" cy="1270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Standard Deviation</a:t>
            </a:r>
            <a:endParaRPr/>
          </a:p>
        </p:txBody>
      </p:sp>
      <p:sp>
        <p:nvSpPr>
          <p:cNvPr id="205" name="Google Shape;205;p31"/>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standard deviation of a set of measurements is equal to the positive square root of the variance.</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type="title"/>
          </p:nvPr>
        </p:nvSpPr>
        <p:spPr>
          <a:xfrm>
            <a:off x="729450" y="704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Tchebysheff’s Theorem</a:t>
            </a:r>
            <a:endParaRPr/>
          </a:p>
          <a:p>
            <a:pPr indent="0" lvl="0" marL="0" rtl="0" algn="l">
              <a:spcBef>
                <a:spcPts val="0"/>
              </a:spcBef>
              <a:spcAft>
                <a:spcPts val="0"/>
              </a:spcAft>
              <a:buNone/>
            </a:pPr>
            <a:r>
              <a:t/>
            </a:r>
            <a:endParaRPr/>
          </a:p>
        </p:txBody>
      </p:sp>
      <p:sp>
        <p:nvSpPr>
          <p:cNvPr id="211" name="Google Shape;211;p32"/>
          <p:cNvSpPr txBox="1"/>
          <p:nvPr>
            <p:ph idx="1" type="body"/>
          </p:nvPr>
        </p:nvSpPr>
        <p:spPr>
          <a:xfrm>
            <a:off x="727650" y="1240150"/>
            <a:ext cx="7688700" cy="350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Given a number k greater than or equal to 1 and a set of n measurements, at least </a:t>
            </a:r>
            <a:r>
              <a:rPr b="1" i="1" lang="en"/>
              <a:t>[1  (1/k</a:t>
            </a:r>
            <a:r>
              <a:rPr b="1" baseline="30000" i="1" lang="en"/>
              <a:t>2</a:t>
            </a:r>
            <a:r>
              <a:rPr b="1" i="1" lang="en"/>
              <a:t>)]</a:t>
            </a:r>
            <a:r>
              <a:rPr lang="en"/>
              <a:t> of the measurements will lie within </a:t>
            </a:r>
            <a:r>
              <a:rPr b="1" i="1" lang="en"/>
              <a:t>k</a:t>
            </a:r>
            <a:r>
              <a:rPr lang="en"/>
              <a:t> standard deviations of their mean.</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lass Slid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