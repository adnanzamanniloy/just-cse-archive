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5" r:id="rId3"/>
    <p:sldId id="286" r:id="rId4"/>
    <p:sldId id="287" r:id="rId5"/>
    <p:sldId id="288" r:id="rId6"/>
    <p:sldId id="289" r:id="rId7"/>
    <p:sldId id="290" r:id="rId8"/>
    <p:sldId id="291" r:id="rId9"/>
    <p:sldId id="292" r:id="rId10"/>
    <p:sldId id="293" r:id="rId11"/>
    <p:sldId id="257" r:id="rId12"/>
    <p:sldId id="259" r:id="rId13"/>
    <p:sldId id="258" r:id="rId14"/>
    <p:sldId id="260" r:id="rId15"/>
    <p:sldId id="294" r:id="rId16"/>
    <p:sldId id="261" r:id="rId17"/>
    <p:sldId id="262" r:id="rId18"/>
    <p:sldId id="296" r:id="rId19"/>
    <p:sldId id="263"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9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067FD-94C0-5F64-731F-5E9A0B0700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43CC98-45AF-73BF-DEA1-CF3B2F9849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BB775DF-6C7D-76DC-E66A-CD0122CE7E45}"/>
              </a:ext>
            </a:extLst>
          </p:cNvPr>
          <p:cNvSpPr>
            <a:spLocks noGrp="1"/>
          </p:cNvSpPr>
          <p:nvPr>
            <p:ph type="dt" sz="half" idx="10"/>
          </p:nvPr>
        </p:nvSpPr>
        <p:spPr/>
        <p:txBody>
          <a:bodyPr/>
          <a:lstStyle/>
          <a:p>
            <a:fld id="{FC6743AC-0777-4E68-A30A-1E9C37E2F29F}" type="datetimeFigureOut">
              <a:rPr lang="en-US" smtClean="0"/>
              <a:t>5/17/2025</a:t>
            </a:fld>
            <a:endParaRPr lang="en-US"/>
          </a:p>
        </p:txBody>
      </p:sp>
      <p:sp>
        <p:nvSpPr>
          <p:cNvPr id="5" name="Footer Placeholder 4">
            <a:extLst>
              <a:ext uri="{FF2B5EF4-FFF2-40B4-BE49-F238E27FC236}">
                <a16:creationId xmlns:a16="http://schemas.microsoft.com/office/drawing/2014/main" id="{7A389E0C-176E-E394-6445-6C83F5AEC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15B105-AE44-0652-9529-F427A8E7EB99}"/>
              </a:ext>
            </a:extLst>
          </p:cNvPr>
          <p:cNvSpPr>
            <a:spLocks noGrp="1"/>
          </p:cNvSpPr>
          <p:nvPr>
            <p:ph type="sldNum" sz="quarter" idx="12"/>
          </p:nvPr>
        </p:nvSpPr>
        <p:spPr/>
        <p:txBody>
          <a:bodyPr/>
          <a:lstStyle/>
          <a:p>
            <a:fld id="{BBF28B9F-72AA-481E-B642-3214C04C7EBB}" type="slidenum">
              <a:rPr lang="en-US" smtClean="0"/>
              <a:t>‹#›</a:t>
            </a:fld>
            <a:endParaRPr lang="en-US"/>
          </a:p>
        </p:txBody>
      </p:sp>
    </p:spTree>
    <p:extLst>
      <p:ext uri="{BB962C8B-B14F-4D97-AF65-F5344CB8AC3E}">
        <p14:creationId xmlns:p14="http://schemas.microsoft.com/office/powerpoint/2010/main" val="3477294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81469-A90A-050C-ACBF-ECB23C1E68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22344C-DBF0-D1ED-DF8F-28A9BCC95A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D16619-FB2F-6BA3-70B0-F05B03E95784}"/>
              </a:ext>
            </a:extLst>
          </p:cNvPr>
          <p:cNvSpPr>
            <a:spLocks noGrp="1"/>
          </p:cNvSpPr>
          <p:nvPr>
            <p:ph type="dt" sz="half" idx="10"/>
          </p:nvPr>
        </p:nvSpPr>
        <p:spPr/>
        <p:txBody>
          <a:bodyPr/>
          <a:lstStyle/>
          <a:p>
            <a:fld id="{FC6743AC-0777-4E68-A30A-1E9C37E2F29F}" type="datetimeFigureOut">
              <a:rPr lang="en-US" smtClean="0"/>
              <a:t>5/17/2025</a:t>
            </a:fld>
            <a:endParaRPr lang="en-US"/>
          </a:p>
        </p:txBody>
      </p:sp>
      <p:sp>
        <p:nvSpPr>
          <p:cNvPr id="5" name="Footer Placeholder 4">
            <a:extLst>
              <a:ext uri="{FF2B5EF4-FFF2-40B4-BE49-F238E27FC236}">
                <a16:creationId xmlns:a16="http://schemas.microsoft.com/office/drawing/2014/main" id="{0458261F-8F2F-13E2-309B-5135C7A544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C5EDA5-BA1D-95C8-847F-8F753C4EF776}"/>
              </a:ext>
            </a:extLst>
          </p:cNvPr>
          <p:cNvSpPr>
            <a:spLocks noGrp="1"/>
          </p:cNvSpPr>
          <p:nvPr>
            <p:ph type="sldNum" sz="quarter" idx="12"/>
          </p:nvPr>
        </p:nvSpPr>
        <p:spPr/>
        <p:txBody>
          <a:bodyPr/>
          <a:lstStyle/>
          <a:p>
            <a:fld id="{BBF28B9F-72AA-481E-B642-3214C04C7EBB}" type="slidenum">
              <a:rPr lang="en-US" smtClean="0"/>
              <a:t>‹#›</a:t>
            </a:fld>
            <a:endParaRPr lang="en-US"/>
          </a:p>
        </p:txBody>
      </p:sp>
    </p:spTree>
    <p:extLst>
      <p:ext uri="{BB962C8B-B14F-4D97-AF65-F5344CB8AC3E}">
        <p14:creationId xmlns:p14="http://schemas.microsoft.com/office/powerpoint/2010/main" val="876772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86386-CE29-94BA-708F-EBA7D35636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58327EA-7F7F-D407-A7AD-E98061E68D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28D3D3-B41D-A705-54A1-50291FA17A72}"/>
              </a:ext>
            </a:extLst>
          </p:cNvPr>
          <p:cNvSpPr>
            <a:spLocks noGrp="1"/>
          </p:cNvSpPr>
          <p:nvPr>
            <p:ph type="dt" sz="half" idx="10"/>
          </p:nvPr>
        </p:nvSpPr>
        <p:spPr/>
        <p:txBody>
          <a:bodyPr/>
          <a:lstStyle/>
          <a:p>
            <a:fld id="{FC6743AC-0777-4E68-A30A-1E9C37E2F29F}" type="datetimeFigureOut">
              <a:rPr lang="en-US" smtClean="0"/>
              <a:t>5/17/2025</a:t>
            </a:fld>
            <a:endParaRPr lang="en-US"/>
          </a:p>
        </p:txBody>
      </p:sp>
      <p:sp>
        <p:nvSpPr>
          <p:cNvPr id="5" name="Footer Placeholder 4">
            <a:extLst>
              <a:ext uri="{FF2B5EF4-FFF2-40B4-BE49-F238E27FC236}">
                <a16:creationId xmlns:a16="http://schemas.microsoft.com/office/drawing/2014/main" id="{001935E5-6384-A73C-CD06-A44938B0D8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BF45B7-566F-2621-EBA2-94FEE5CF454D}"/>
              </a:ext>
            </a:extLst>
          </p:cNvPr>
          <p:cNvSpPr>
            <a:spLocks noGrp="1"/>
          </p:cNvSpPr>
          <p:nvPr>
            <p:ph type="sldNum" sz="quarter" idx="12"/>
          </p:nvPr>
        </p:nvSpPr>
        <p:spPr/>
        <p:txBody>
          <a:bodyPr/>
          <a:lstStyle/>
          <a:p>
            <a:fld id="{BBF28B9F-72AA-481E-B642-3214C04C7EBB}" type="slidenum">
              <a:rPr lang="en-US" smtClean="0"/>
              <a:t>‹#›</a:t>
            </a:fld>
            <a:endParaRPr lang="en-US"/>
          </a:p>
        </p:txBody>
      </p:sp>
    </p:spTree>
    <p:extLst>
      <p:ext uri="{BB962C8B-B14F-4D97-AF65-F5344CB8AC3E}">
        <p14:creationId xmlns:p14="http://schemas.microsoft.com/office/powerpoint/2010/main" val="3833652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A1D1F-F840-E6A7-E6A8-B268F4A8A5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9DAB05-E38B-6C4C-C812-CA6A7DCAC7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08F5E6-B9A2-7E5B-8358-9882F8F7B5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53A11B-5C48-A83A-7ED5-75BC969BC0EC}"/>
              </a:ext>
            </a:extLst>
          </p:cNvPr>
          <p:cNvSpPr>
            <a:spLocks noGrp="1"/>
          </p:cNvSpPr>
          <p:nvPr>
            <p:ph type="dt" sz="half" idx="10"/>
          </p:nvPr>
        </p:nvSpPr>
        <p:spPr/>
        <p:txBody>
          <a:bodyPr/>
          <a:lstStyle/>
          <a:p>
            <a:fld id="{FC6743AC-0777-4E68-A30A-1E9C37E2F29F}" type="datetimeFigureOut">
              <a:rPr lang="en-US" smtClean="0"/>
              <a:t>5/17/2025</a:t>
            </a:fld>
            <a:endParaRPr lang="en-US"/>
          </a:p>
        </p:txBody>
      </p:sp>
      <p:sp>
        <p:nvSpPr>
          <p:cNvPr id="6" name="Footer Placeholder 5">
            <a:extLst>
              <a:ext uri="{FF2B5EF4-FFF2-40B4-BE49-F238E27FC236}">
                <a16:creationId xmlns:a16="http://schemas.microsoft.com/office/drawing/2014/main" id="{4837F047-05F8-7D0F-5EEA-78F789AB7F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8584C9-E27F-6EB0-D279-CF00A77DD62B}"/>
              </a:ext>
            </a:extLst>
          </p:cNvPr>
          <p:cNvSpPr>
            <a:spLocks noGrp="1"/>
          </p:cNvSpPr>
          <p:nvPr>
            <p:ph type="sldNum" sz="quarter" idx="12"/>
          </p:nvPr>
        </p:nvSpPr>
        <p:spPr/>
        <p:txBody>
          <a:bodyPr/>
          <a:lstStyle/>
          <a:p>
            <a:fld id="{BBF28B9F-72AA-481E-B642-3214C04C7EBB}" type="slidenum">
              <a:rPr lang="en-US" smtClean="0"/>
              <a:t>‹#›</a:t>
            </a:fld>
            <a:endParaRPr lang="en-US"/>
          </a:p>
        </p:txBody>
      </p:sp>
    </p:spTree>
    <p:extLst>
      <p:ext uri="{BB962C8B-B14F-4D97-AF65-F5344CB8AC3E}">
        <p14:creationId xmlns:p14="http://schemas.microsoft.com/office/powerpoint/2010/main" val="1526548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55D65-AC45-DA70-F405-DC12093ADB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F4831D-136E-5F1F-D20F-9ACEE0C717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DBDFD0-DB71-4C12-83E7-DE5DA548AF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44EBD7-DE93-6B9A-956B-FEFD8F1AA3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4F54DF-2F58-307D-D6B7-15958CA835B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64CCF0-D8B1-A5F9-F685-57EB03A60EB7}"/>
              </a:ext>
            </a:extLst>
          </p:cNvPr>
          <p:cNvSpPr>
            <a:spLocks noGrp="1"/>
          </p:cNvSpPr>
          <p:nvPr>
            <p:ph type="dt" sz="half" idx="10"/>
          </p:nvPr>
        </p:nvSpPr>
        <p:spPr/>
        <p:txBody>
          <a:bodyPr/>
          <a:lstStyle/>
          <a:p>
            <a:fld id="{FC6743AC-0777-4E68-A30A-1E9C37E2F29F}" type="datetimeFigureOut">
              <a:rPr lang="en-US" smtClean="0"/>
              <a:t>5/17/2025</a:t>
            </a:fld>
            <a:endParaRPr lang="en-US"/>
          </a:p>
        </p:txBody>
      </p:sp>
      <p:sp>
        <p:nvSpPr>
          <p:cNvPr id="8" name="Footer Placeholder 7">
            <a:extLst>
              <a:ext uri="{FF2B5EF4-FFF2-40B4-BE49-F238E27FC236}">
                <a16:creationId xmlns:a16="http://schemas.microsoft.com/office/drawing/2014/main" id="{1C3B3F12-53A6-343E-86A4-801F836DEA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EB7291-FCE0-D9DF-59FB-72E190F04BFE}"/>
              </a:ext>
            </a:extLst>
          </p:cNvPr>
          <p:cNvSpPr>
            <a:spLocks noGrp="1"/>
          </p:cNvSpPr>
          <p:nvPr>
            <p:ph type="sldNum" sz="quarter" idx="12"/>
          </p:nvPr>
        </p:nvSpPr>
        <p:spPr/>
        <p:txBody>
          <a:bodyPr/>
          <a:lstStyle/>
          <a:p>
            <a:fld id="{BBF28B9F-72AA-481E-B642-3214C04C7EBB}" type="slidenum">
              <a:rPr lang="en-US" smtClean="0"/>
              <a:t>‹#›</a:t>
            </a:fld>
            <a:endParaRPr lang="en-US"/>
          </a:p>
        </p:txBody>
      </p:sp>
    </p:spTree>
    <p:extLst>
      <p:ext uri="{BB962C8B-B14F-4D97-AF65-F5344CB8AC3E}">
        <p14:creationId xmlns:p14="http://schemas.microsoft.com/office/powerpoint/2010/main" val="4050844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F491B-8226-8A72-8474-42D92939BF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FDA31CF-17E4-ECF1-0F18-07C9B44B77BB}"/>
              </a:ext>
            </a:extLst>
          </p:cNvPr>
          <p:cNvSpPr>
            <a:spLocks noGrp="1"/>
          </p:cNvSpPr>
          <p:nvPr>
            <p:ph type="dt" sz="half" idx="10"/>
          </p:nvPr>
        </p:nvSpPr>
        <p:spPr/>
        <p:txBody>
          <a:bodyPr/>
          <a:lstStyle/>
          <a:p>
            <a:fld id="{FC6743AC-0777-4E68-A30A-1E9C37E2F29F}" type="datetimeFigureOut">
              <a:rPr lang="en-US" smtClean="0"/>
              <a:t>5/17/2025</a:t>
            </a:fld>
            <a:endParaRPr lang="en-US"/>
          </a:p>
        </p:txBody>
      </p:sp>
      <p:sp>
        <p:nvSpPr>
          <p:cNvPr id="4" name="Footer Placeholder 3">
            <a:extLst>
              <a:ext uri="{FF2B5EF4-FFF2-40B4-BE49-F238E27FC236}">
                <a16:creationId xmlns:a16="http://schemas.microsoft.com/office/drawing/2014/main" id="{DEA45108-9A72-8C79-152B-5D377E8EE5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D356C2-6022-F5C7-DB30-34E2DF4AA631}"/>
              </a:ext>
            </a:extLst>
          </p:cNvPr>
          <p:cNvSpPr>
            <a:spLocks noGrp="1"/>
          </p:cNvSpPr>
          <p:nvPr>
            <p:ph type="sldNum" sz="quarter" idx="12"/>
          </p:nvPr>
        </p:nvSpPr>
        <p:spPr/>
        <p:txBody>
          <a:bodyPr/>
          <a:lstStyle/>
          <a:p>
            <a:fld id="{BBF28B9F-72AA-481E-B642-3214C04C7EBB}" type="slidenum">
              <a:rPr lang="en-US" smtClean="0"/>
              <a:t>‹#›</a:t>
            </a:fld>
            <a:endParaRPr lang="en-US"/>
          </a:p>
        </p:txBody>
      </p:sp>
    </p:spTree>
    <p:extLst>
      <p:ext uri="{BB962C8B-B14F-4D97-AF65-F5344CB8AC3E}">
        <p14:creationId xmlns:p14="http://schemas.microsoft.com/office/powerpoint/2010/main" val="3587017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CC9B04-EBD2-104E-A129-0B3C93FE779B}"/>
              </a:ext>
            </a:extLst>
          </p:cNvPr>
          <p:cNvSpPr>
            <a:spLocks noGrp="1"/>
          </p:cNvSpPr>
          <p:nvPr>
            <p:ph type="dt" sz="half" idx="10"/>
          </p:nvPr>
        </p:nvSpPr>
        <p:spPr/>
        <p:txBody>
          <a:bodyPr/>
          <a:lstStyle/>
          <a:p>
            <a:fld id="{FC6743AC-0777-4E68-A30A-1E9C37E2F29F}" type="datetimeFigureOut">
              <a:rPr lang="en-US" smtClean="0"/>
              <a:t>5/17/2025</a:t>
            </a:fld>
            <a:endParaRPr lang="en-US"/>
          </a:p>
        </p:txBody>
      </p:sp>
      <p:sp>
        <p:nvSpPr>
          <p:cNvPr id="3" name="Footer Placeholder 2">
            <a:extLst>
              <a:ext uri="{FF2B5EF4-FFF2-40B4-BE49-F238E27FC236}">
                <a16:creationId xmlns:a16="http://schemas.microsoft.com/office/drawing/2014/main" id="{DDFAF5A3-82E1-CB62-7462-65A3F3CF75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C0F3B3-AC6C-F659-8D36-BA2FFE641416}"/>
              </a:ext>
            </a:extLst>
          </p:cNvPr>
          <p:cNvSpPr>
            <a:spLocks noGrp="1"/>
          </p:cNvSpPr>
          <p:nvPr>
            <p:ph type="sldNum" sz="quarter" idx="12"/>
          </p:nvPr>
        </p:nvSpPr>
        <p:spPr/>
        <p:txBody>
          <a:bodyPr/>
          <a:lstStyle/>
          <a:p>
            <a:fld id="{BBF28B9F-72AA-481E-B642-3214C04C7EBB}" type="slidenum">
              <a:rPr lang="en-US" smtClean="0"/>
              <a:t>‹#›</a:t>
            </a:fld>
            <a:endParaRPr lang="en-US"/>
          </a:p>
        </p:txBody>
      </p:sp>
    </p:spTree>
    <p:extLst>
      <p:ext uri="{BB962C8B-B14F-4D97-AF65-F5344CB8AC3E}">
        <p14:creationId xmlns:p14="http://schemas.microsoft.com/office/powerpoint/2010/main" val="2126110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EC19D-2453-C12B-62E0-C61EA4C93C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90588BB-2CC5-F822-7F7B-06C349D8FB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6BEF92-8CD2-1FD1-6C02-F2DF044AFD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3DC6F7-13A7-31A9-82C8-262D87B431E7}"/>
              </a:ext>
            </a:extLst>
          </p:cNvPr>
          <p:cNvSpPr>
            <a:spLocks noGrp="1"/>
          </p:cNvSpPr>
          <p:nvPr>
            <p:ph type="dt" sz="half" idx="10"/>
          </p:nvPr>
        </p:nvSpPr>
        <p:spPr/>
        <p:txBody>
          <a:bodyPr/>
          <a:lstStyle/>
          <a:p>
            <a:fld id="{FC6743AC-0777-4E68-A30A-1E9C37E2F29F}" type="datetimeFigureOut">
              <a:rPr lang="en-US" smtClean="0"/>
              <a:t>5/17/2025</a:t>
            </a:fld>
            <a:endParaRPr lang="en-US"/>
          </a:p>
        </p:txBody>
      </p:sp>
      <p:sp>
        <p:nvSpPr>
          <p:cNvPr id="6" name="Footer Placeholder 5">
            <a:extLst>
              <a:ext uri="{FF2B5EF4-FFF2-40B4-BE49-F238E27FC236}">
                <a16:creationId xmlns:a16="http://schemas.microsoft.com/office/drawing/2014/main" id="{8F1F2624-5A75-69D9-B6EC-C4ECE71775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7741ED-E52B-75B6-A05C-C0BFED4960BC}"/>
              </a:ext>
            </a:extLst>
          </p:cNvPr>
          <p:cNvSpPr>
            <a:spLocks noGrp="1"/>
          </p:cNvSpPr>
          <p:nvPr>
            <p:ph type="sldNum" sz="quarter" idx="12"/>
          </p:nvPr>
        </p:nvSpPr>
        <p:spPr/>
        <p:txBody>
          <a:bodyPr/>
          <a:lstStyle/>
          <a:p>
            <a:fld id="{BBF28B9F-72AA-481E-B642-3214C04C7EBB}" type="slidenum">
              <a:rPr lang="en-US" smtClean="0"/>
              <a:t>‹#›</a:t>
            </a:fld>
            <a:endParaRPr lang="en-US"/>
          </a:p>
        </p:txBody>
      </p:sp>
    </p:spTree>
    <p:extLst>
      <p:ext uri="{BB962C8B-B14F-4D97-AF65-F5344CB8AC3E}">
        <p14:creationId xmlns:p14="http://schemas.microsoft.com/office/powerpoint/2010/main" val="1190715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52A98-A5B4-996B-0A0D-03CF23F2D9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C5DC9F-81C2-6747-991C-9439F53D67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7EE5A9-127C-024F-6540-2FAF331CC5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1345F6-A034-27C9-8510-C1E48116AA8E}"/>
              </a:ext>
            </a:extLst>
          </p:cNvPr>
          <p:cNvSpPr>
            <a:spLocks noGrp="1"/>
          </p:cNvSpPr>
          <p:nvPr>
            <p:ph type="dt" sz="half" idx="10"/>
          </p:nvPr>
        </p:nvSpPr>
        <p:spPr/>
        <p:txBody>
          <a:bodyPr/>
          <a:lstStyle/>
          <a:p>
            <a:fld id="{FC6743AC-0777-4E68-A30A-1E9C37E2F29F}" type="datetimeFigureOut">
              <a:rPr lang="en-US" smtClean="0"/>
              <a:t>5/17/2025</a:t>
            </a:fld>
            <a:endParaRPr lang="en-US"/>
          </a:p>
        </p:txBody>
      </p:sp>
      <p:sp>
        <p:nvSpPr>
          <p:cNvPr id="6" name="Footer Placeholder 5">
            <a:extLst>
              <a:ext uri="{FF2B5EF4-FFF2-40B4-BE49-F238E27FC236}">
                <a16:creationId xmlns:a16="http://schemas.microsoft.com/office/drawing/2014/main" id="{75DEA5C6-C6F9-FBDE-589B-CEB09CDB09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D5F7B1-7731-80C9-C775-D12820983D64}"/>
              </a:ext>
            </a:extLst>
          </p:cNvPr>
          <p:cNvSpPr>
            <a:spLocks noGrp="1"/>
          </p:cNvSpPr>
          <p:nvPr>
            <p:ph type="sldNum" sz="quarter" idx="12"/>
          </p:nvPr>
        </p:nvSpPr>
        <p:spPr/>
        <p:txBody>
          <a:bodyPr/>
          <a:lstStyle/>
          <a:p>
            <a:fld id="{BBF28B9F-72AA-481E-B642-3214C04C7EBB}" type="slidenum">
              <a:rPr lang="en-US" smtClean="0"/>
              <a:t>‹#›</a:t>
            </a:fld>
            <a:endParaRPr lang="en-US"/>
          </a:p>
        </p:txBody>
      </p:sp>
    </p:spTree>
    <p:extLst>
      <p:ext uri="{BB962C8B-B14F-4D97-AF65-F5344CB8AC3E}">
        <p14:creationId xmlns:p14="http://schemas.microsoft.com/office/powerpoint/2010/main" val="2406669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EBD3C-CFAA-8210-4E5F-C2ACA1405E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2878782-B1D1-79B0-6499-A7D6DF99CE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C2B8C2-BBEA-0CF7-3783-2191A7A0C866}"/>
              </a:ext>
            </a:extLst>
          </p:cNvPr>
          <p:cNvSpPr>
            <a:spLocks noGrp="1"/>
          </p:cNvSpPr>
          <p:nvPr>
            <p:ph type="dt" sz="half" idx="10"/>
          </p:nvPr>
        </p:nvSpPr>
        <p:spPr/>
        <p:txBody>
          <a:bodyPr/>
          <a:lstStyle/>
          <a:p>
            <a:fld id="{FC6743AC-0777-4E68-A30A-1E9C37E2F29F}" type="datetimeFigureOut">
              <a:rPr lang="en-US" smtClean="0"/>
              <a:t>5/17/2025</a:t>
            </a:fld>
            <a:endParaRPr lang="en-US"/>
          </a:p>
        </p:txBody>
      </p:sp>
      <p:sp>
        <p:nvSpPr>
          <p:cNvPr id="5" name="Footer Placeholder 4">
            <a:extLst>
              <a:ext uri="{FF2B5EF4-FFF2-40B4-BE49-F238E27FC236}">
                <a16:creationId xmlns:a16="http://schemas.microsoft.com/office/drawing/2014/main" id="{2C5F50EA-701D-B8B2-4525-4426EAB74B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F6591A-1C05-5101-DE89-0A0727413685}"/>
              </a:ext>
            </a:extLst>
          </p:cNvPr>
          <p:cNvSpPr>
            <a:spLocks noGrp="1"/>
          </p:cNvSpPr>
          <p:nvPr>
            <p:ph type="sldNum" sz="quarter" idx="12"/>
          </p:nvPr>
        </p:nvSpPr>
        <p:spPr/>
        <p:txBody>
          <a:bodyPr/>
          <a:lstStyle/>
          <a:p>
            <a:fld id="{BBF28B9F-72AA-481E-B642-3214C04C7EBB}" type="slidenum">
              <a:rPr lang="en-US" smtClean="0"/>
              <a:t>‹#›</a:t>
            </a:fld>
            <a:endParaRPr lang="en-US"/>
          </a:p>
        </p:txBody>
      </p:sp>
    </p:spTree>
    <p:extLst>
      <p:ext uri="{BB962C8B-B14F-4D97-AF65-F5344CB8AC3E}">
        <p14:creationId xmlns:p14="http://schemas.microsoft.com/office/powerpoint/2010/main" val="1231742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942E92-AAD7-5C07-BFD5-9006FABFC62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CF98DA-FF75-C858-B5F5-D4676543E9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13CE7F-71DC-9F82-4B47-40EED5D7A59C}"/>
              </a:ext>
            </a:extLst>
          </p:cNvPr>
          <p:cNvSpPr>
            <a:spLocks noGrp="1"/>
          </p:cNvSpPr>
          <p:nvPr>
            <p:ph type="dt" sz="half" idx="10"/>
          </p:nvPr>
        </p:nvSpPr>
        <p:spPr/>
        <p:txBody>
          <a:bodyPr/>
          <a:lstStyle/>
          <a:p>
            <a:fld id="{FC6743AC-0777-4E68-A30A-1E9C37E2F29F}" type="datetimeFigureOut">
              <a:rPr lang="en-US" smtClean="0"/>
              <a:t>5/17/2025</a:t>
            </a:fld>
            <a:endParaRPr lang="en-US"/>
          </a:p>
        </p:txBody>
      </p:sp>
      <p:sp>
        <p:nvSpPr>
          <p:cNvPr id="5" name="Footer Placeholder 4">
            <a:extLst>
              <a:ext uri="{FF2B5EF4-FFF2-40B4-BE49-F238E27FC236}">
                <a16:creationId xmlns:a16="http://schemas.microsoft.com/office/drawing/2014/main" id="{958BC23D-B44F-0B05-AA1B-24DF596FC1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B8CCC8-1C8E-7312-B119-72A4B6CACEDB}"/>
              </a:ext>
            </a:extLst>
          </p:cNvPr>
          <p:cNvSpPr>
            <a:spLocks noGrp="1"/>
          </p:cNvSpPr>
          <p:nvPr>
            <p:ph type="sldNum" sz="quarter" idx="12"/>
          </p:nvPr>
        </p:nvSpPr>
        <p:spPr/>
        <p:txBody>
          <a:bodyPr/>
          <a:lstStyle/>
          <a:p>
            <a:fld id="{BBF28B9F-72AA-481E-B642-3214C04C7EBB}" type="slidenum">
              <a:rPr lang="en-US" smtClean="0"/>
              <a:t>‹#›</a:t>
            </a:fld>
            <a:endParaRPr lang="en-US"/>
          </a:p>
        </p:txBody>
      </p:sp>
    </p:spTree>
    <p:extLst>
      <p:ext uri="{BB962C8B-B14F-4D97-AF65-F5344CB8AC3E}">
        <p14:creationId xmlns:p14="http://schemas.microsoft.com/office/powerpoint/2010/main" val="651057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AD80D5-1FA7-5B45-ACF2-0FECAF549C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F8B268-EAE4-2458-1F64-694D0B2BA0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B58E21-664C-03E0-6245-B9973F9C48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6743AC-0777-4E68-A30A-1E9C37E2F29F}" type="datetimeFigureOut">
              <a:rPr lang="en-US" smtClean="0"/>
              <a:t>5/17/2025</a:t>
            </a:fld>
            <a:endParaRPr lang="en-US"/>
          </a:p>
        </p:txBody>
      </p:sp>
      <p:sp>
        <p:nvSpPr>
          <p:cNvPr id="5" name="Footer Placeholder 4">
            <a:extLst>
              <a:ext uri="{FF2B5EF4-FFF2-40B4-BE49-F238E27FC236}">
                <a16:creationId xmlns:a16="http://schemas.microsoft.com/office/drawing/2014/main" id="{87E6EFE1-B263-0A6E-3E5E-1B6F7CA7F3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D98B82D-562E-7187-B0AB-F71A0CFA3F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F28B9F-72AA-481E-B642-3214C04C7EBB}" type="slidenum">
              <a:rPr lang="en-US" smtClean="0"/>
              <a:t>‹#›</a:t>
            </a:fld>
            <a:endParaRPr lang="en-US"/>
          </a:p>
        </p:txBody>
      </p:sp>
    </p:spTree>
    <p:extLst>
      <p:ext uri="{BB962C8B-B14F-4D97-AF65-F5344CB8AC3E}">
        <p14:creationId xmlns:p14="http://schemas.microsoft.com/office/powerpoint/2010/main" val="2556962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BFFB2-8008-5BB0-C038-8CD80AC19A25}"/>
              </a:ext>
            </a:extLst>
          </p:cNvPr>
          <p:cNvSpPr>
            <a:spLocks noGrp="1"/>
          </p:cNvSpPr>
          <p:nvPr>
            <p:ph type="ctrTitle"/>
          </p:nvPr>
        </p:nvSpPr>
        <p:spPr/>
        <p:txBody>
          <a:bodyPr/>
          <a:lstStyle/>
          <a:p>
            <a:r>
              <a:rPr lang="en-GB" dirty="0"/>
              <a:t>Software Engineering</a:t>
            </a:r>
            <a:endParaRPr lang="en-US" dirty="0"/>
          </a:p>
        </p:txBody>
      </p:sp>
      <p:sp>
        <p:nvSpPr>
          <p:cNvPr id="3" name="Subtitle 2">
            <a:extLst>
              <a:ext uri="{FF2B5EF4-FFF2-40B4-BE49-F238E27FC236}">
                <a16:creationId xmlns:a16="http://schemas.microsoft.com/office/drawing/2014/main" id="{08548AD3-2382-70B8-84B4-A945B3BFA222}"/>
              </a:ext>
            </a:extLst>
          </p:cNvPr>
          <p:cNvSpPr>
            <a:spLocks noGrp="1"/>
          </p:cNvSpPr>
          <p:nvPr>
            <p:ph type="subTitle" idx="1"/>
          </p:nvPr>
        </p:nvSpPr>
        <p:spPr/>
        <p:txBody>
          <a:bodyPr/>
          <a:lstStyle/>
          <a:p>
            <a:r>
              <a:rPr lang="en-GB" dirty="0"/>
              <a:t>Dr. Md. Nasim Adnan</a:t>
            </a:r>
            <a:endParaRPr lang="en-US" dirty="0"/>
          </a:p>
        </p:txBody>
      </p:sp>
    </p:spTree>
    <p:extLst>
      <p:ext uri="{BB962C8B-B14F-4D97-AF65-F5344CB8AC3E}">
        <p14:creationId xmlns:p14="http://schemas.microsoft.com/office/powerpoint/2010/main" val="308478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7C666-C5DC-506D-CF6C-65C5DF4AB67D}"/>
              </a:ext>
            </a:extLst>
          </p:cNvPr>
          <p:cNvSpPr>
            <a:spLocks noGrp="1"/>
          </p:cNvSpPr>
          <p:nvPr>
            <p:ph type="title"/>
          </p:nvPr>
        </p:nvSpPr>
        <p:spPr/>
        <p:txBody>
          <a:bodyPr/>
          <a:lstStyle/>
          <a:p>
            <a:r>
              <a:rPr lang="en-GB" dirty="0"/>
              <a:t>Why we model?</a:t>
            </a:r>
            <a:endParaRPr lang="en-US" dirty="0"/>
          </a:p>
        </p:txBody>
      </p:sp>
      <p:pic>
        <p:nvPicPr>
          <p:cNvPr id="4" name="Content Placeholder 4">
            <a:extLst>
              <a:ext uri="{FF2B5EF4-FFF2-40B4-BE49-F238E27FC236}">
                <a16:creationId xmlns:a16="http://schemas.microsoft.com/office/drawing/2014/main" id="{310C00AE-C3CA-6A65-F222-25B416139B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66900" y="1365702"/>
            <a:ext cx="8458200" cy="5127173"/>
          </a:xfrm>
        </p:spPr>
      </p:pic>
    </p:spTree>
    <p:extLst>
      <p:ext uri="{BB962C8B-B14F-4D97-AF65-F5344CB8AC3E}">
        <p14:creationId xmlns:p14="http://schemas.microsoft.com/office/powerpoint/2010/main" val="3943356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D53A1-B413-5D2A-CACF-46071804DA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D16468E-5136-4624-FF45-3A6B5AFA00AE}"/>
              </a:ext>
            </a:extLst>
          </p:cNvPr>
          <p:cNvSpPr>
            <a:spLocks noGrp="1"/>
          </p:cNvSpPr>
          <p:nvPr>
            <p:ph idx="1"/>
          </p:nvPr>
        </p:nvSpPr>
        <p:spPr/>
        <p:txBody>
          <a:bodyPr/>
          <a:lstStyle/>
          <a:p>
            <a:pPr algn="just"/>
            <a:r>
              <a:rPr lang="en-GB" dirty="0" err="1"/>
              <a:t>Modeling</a:t>
            </a:r>
            <a:r>
              <a:rPr lang="en-GB" dirty="0"/>
              <a:t> is a proven and well-accepted engineering technique. </a:t>
            </a:r>
          </a:p>
          <a:p>
            <a:pPr algn="just"/>
            <a:r>
              <a:rPr lang="en-GB" dirty="0"/>
              <a:t>Unsuccessful software projects fail in their own unique ways, but all successful projects are alike in many ways. </a:t>
            </a:r>
          </a:p>
          <a:p>
            <a:pPr algn="just"/>
            <a:r>
              <a:rPr lang="en-GB" dirty="0"/>
              <a:t>There are many elements that contribute to a successful software organization; one common thread is the use of </a:t>
            </a:r>
            <a:r>
              <a:rPr lang="en-GB" dirty="0" err="1"/>
              <a:t>modeling</a:t>
            </a:r>
            <a:r>
              <a:rPr lang="en-GB" dirty="0"/>
              <a:t>.</a:t>
            </a:r>
          </a:p>
          <a:p>
            <a:pPr algn="just"/>
            <a:r>
              <a:rPr lang="en-GB" dirty="0"/>
              <a:t>We do model so that we can better understand the system we are developing.</a:t>
            </a:r>
          </a:p>
        </p:txBody>
      </p:sp>
    </p:spTree>
    <p:extLst>
      <p:ext uri="{BB962C8B-B14F-4D97-AF65-F5344CB8AC3E}">
        <p14:creationId xmlns:p14="http://schemas.microsoft.com/office/powerpoint/2010/main" val="3996723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70A43-7737-9E11-F875-7D8AEE46EAD9}"/>
              </a:ext>
            </a:extLst>
          </p:cNvPr>
          <p:cNvSpPr>
            <a:spLocks noGrp="1"/>
          </p:cNvSpPr>
          <p:nvPr>
            <p:ph type="title"/>
          </p:nvPr>
        </p:nvSpPr>
        <p:spPr/>
        <p:txBody>
          <a:bodyPr/>
          <a:lstStyle/>
          <a:p>
            <a:r>
              <a:rPr lang="en-US" dirty="0"/>
              <a:t>What is a Model?</a:t>
            </a:r>
          </a:p>
        </p:txBody>
      </p:sp>
      <p:sp>
        <p:nvSpPr>
          <p:cNvPr id="3" name="Content Placeholder 2">
            <a:extLst>
              <a:ext uri="{FF2B5EF4-FFF2-40B4-BE49-F238E27FC236}">
                <a16:creationId xmlns:a16="http://schemas.microsoft.com/office/drawing/2014/main" id="{403771F4-6067-BFB8-00CF-E99F249E503F}"/>
              </a:ext>
            </a:extLst>
          </p:cNvPr>
          <p:cNvSpPr>
            <a:spLocks noGrp="1"/>
          </p:cNvSpPr>
          <p:nvPr>
            <p:ph idx="1"/>
          </p:nvPr>
        </p:nvSpPr>
        <p:spPr/>
        <p:txBody>
          <a:bodyPr/>
          <a:lstStyle/>
          <a:p>
            <a:r>
              <a:rPr lang="en-GB" dirty="0"/>
              <a:t>A model is a simplification of reality</a:t>
            </a:r>
          </a:p>
          <a:p>
            <a:r>
              <a:rPr lang="en-GB" dirty="0"/>
              <a:t>A model provides the blueprints of a system</a:t>
            </a:r>
            <a:endParaRPr lang="en-US" dirty="0"/>
          </a:p>
        </p:txBody>
      </p:sp>
    </p:spTree>
    <p:extLst>
      <p:ext uri="{BB962C8B-B14F-4D97-AF65-F5344CB8AC3E}">
        <p14:creationId xmlns:p14="http://schemas.microsoft.com/office/powerpoint/2010/main" val="1043325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0329F-C055-661A-0E32-2E46C83353AA}"/>
              </a:ext>
            </a:extLst>
          </p:cNvPr>
          <p:cNvSpPr>
            <a:spLocks noGrp="1"/>
          </p:cNvSpPr>
          <p:nvPr>
            <p:ph type="title"/>
          </p:nvPr>
        </p:nvSpPr>
        <p:spPr/>
        <p:txBody>
          <a:bodyPr/>
          <a:lstStyle/>
          <a:p>
            <a:r>
              <a:rPr lang="en-US" dirty="0"/>
              <a:t>Benefits of Model</a:t>
            </a:r>
          </a:p>
        </p:txBody>
      </p:sp>
      <p:sp>
        <p:nvSpPr>
          <p:cNvPr id="3" name="Content Placeholder 2">
            <a:extLst>
              <a:ext uri="{FF2B5EF4-FFF2-40B4-BE49-F238E27FC236}">
                <a16:creationId xmlns:a16="http://schemas.microsoft.com/office/drawing/2014/main" id="{C7F17E45-32BC-10EA-5015-BDDAEE3BF409}"/>
              </a:ext>
            </a:extLst>
          </p:cNvPr>
          <p:cNvSpPr>
            <a:spLocks noGrp="1"/>
          </p:cNvSpPr>
          <p:nvPr>
            <p:ph idx="1"/>
          </p:nvPr>
        </p:nvSpPr>
        <p:spPr/>
        <p:txBody>
          <a:bodyPr/>
          <a:lstStyle/>
          <a:p>
            <a:pPr marL="514350" indent="-514350">
              <a:buFont typeface="+mj-lt"/>
              <a:buAutoNum type="arabicPeriod"/>
            </a:pPr>
            <a:r>
              <a:rPr lang="en-GB" dirty="0"/>
              <a:t>Models help us to visualize a system as it is or as we want it to be</a:t>
            </a:r>
          </a:p>
          <a:p>
            <a:pPr marL="514350" indent="-514350">
              <a:buFont typeface="+mj-lt"/>
              <a:buAutoNum type="arabicPeriod"/>
            </a:pPr>
            <a:r>
              <a:rPr lang="en-GB" dirty="0"/>
              <a:t>Models permit us to specify the structure or behaviour of a system</a:t>
            </a:r>
          </a:p>
          <a:p>
            <a:pPr marL="514350" indent="-514350">
              <a:buFont typeface="+mj-lt"/>
              <a:buAutoNum type="arabicPeriod"/>
            </a:pPr>
            <a:r>
              <a:rPr lang="en-GB" dirty="0"/>
              <a:t>Models give us a template that guides us in constructing a system</a:t>
            </a:r>
          </a:p>
          <a:p>
            <a:pPr marL="514350" indent="-514350">
              <a:buFont typeface="+mj-lt"/>
              <a:buAutoNum type="arabicPeriod"/>
            </a:pPr>
            <a:r>
              <a:rPr lang="en-GB" dirty="0"/>
              <a:t>Models document the decisions we have made</a:t>
            </a:r>
          </a:p>
        </p:txBody>
      </p:sp>
    </p:spTree>
    <p:extLst>
      <p:ext uri="{BB962C8B-B14F-4D97-AF65-F5344CB8AC3E}">
        <p14:creationId xmlns:p14="http://schemas.microsoft.com/office/powerpoint/2010/main" val="2271805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FA050-8D8A-9365-B9D7-0F0A0C95B697}"/>
              </a:ext>
            </a:extLst>
          </p:cNvPr>
          <p:cNvSpPr>
            <a:spLocks noGrp="1"/>
          </p:cNvSpPr>
          <p:nvPr>
            <p:ph type="title"/>
          </p:nvPr>
        </p:nvSpPr>
        <p:spPr/>
        <p:txBody>
          <a:bodyPr/>
          <a:lstStyle/>
          <a:p>
            <a:r>
              <a:rPr lang="en-US" dirty="0"/>
              <a:t>Limitation of Human Ability</a:t>
            </a:r>
          </a:p>
        </p:txBody>
      </p:sp>
      <p:sp>
        <p:nvSpPr>
          <p:cNvPr id="3" name="Content Placeholder 2">
            <a:extLst>
              <a:ext uri="{FF2B5EF4-FFF2-40B4-BE49-F238E27FC236}">
                <a16:creationId xmlns:a16="http://schemas.microsoft.com/office/drawing/2014/main" id="{9F965F18-BC8B-795A-89FB-5DFFA58A671E}"/>
              </a:ext>
            </a:extLst>
          </p:cNvPr>
          <p:cNvSpPr>
            <a:spLocks noGrp="1"/>
          </p:cNvSpPr>
          <p:nvPr>
            <p:ph idx="1"/>
          </p:nvPr>
        </p:nvSpPr>
        <p:spPr/>
        <p:txBody>
          <a:bodyPr/>
          <a:lstStyle/>
          <a:p>
            <a:pPr algn="just"/>
            <a:r>
              <a:rPr lang="en-GB" dirty="0"/>
              <a:t>The larger and more complex the system, the more important </a:t>
            </a:r>
            <a:r>
              <a:rPr lang="en-GB" dirty="0" err="1"/>
              <a:t>modeling</a:t>
            </a:r>
            <a:r>
              <a:rPr lang="en-GB" dirty="0"/>
              <a:t> becomes, for one very simple reason:</a:t>
            </a:r>
          </a:p>
          <a:p>
            <a:pPr lvl="1" algn="just"/>
            <a:r>
              <a:rPr lang="en-GB" dirty="0"/>
              <a:t>Because we cannot comprehend such a system in its entirety.</a:t>
            </a:r>
          </a:p>
          <a:p>
            <a:pPr algn="just"/>
            <a:r>
              <a:rPr lang="en-GB" dirty="0"/>
              <a:t>There are limits to the human ability to understand complexity. </a:t>
            </a:r>
          </a:p>
          <a:p>
            <a:pPr algn="just"/>
            <a:r>
              <a:rPr lang="en-GB" dirty="0"/>
              <a:t>Through modelling we can narrow down the to a subsystem of a complex system to focus on the intended aspect at a time.</a:t>
            </a:r>
          </a:p>
        </p:txBody>
      </p:sp>
    </p:spTree>
    <p:extLst>
      <p:ext uri="{BB962C8B-B14F-4D97-AF65-F5344CB8AC3E}">
        <p14:creationId xmlns:p14="http://schemas.microsoft.com/office/powerpoint/2010/main" val="4202387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BB916-F68F-BE0F-06ED-D3D2D9A6CCA0}"/>
              </a:ext>
            </a:extLst>
          </p:cNvPr>
          <p:cNvSpPr>
            <a:spLocks noGrp="1"/>
          </p:cNvSpPr>
          <p:nvPr>
            <p:ph type="title"/>
          </p:nvPr>
        </p:nvSpPr>
        <p:spPr/>
        <p:txBody>
          <a:bodyPr/>
          <a:lstStyle/>
          <a:p>
            <a:r>
              <a:rPr lang="en-US" dirty="0"/>
              <a:t>Principles of Modeling – 1st</a:t>
            </a:r>
          </a:p>
        </p:txBody>
      </p:sp>
      <p:sp>
        <p:nvSpPr>
          <p:cNvPr id="3" name="Content Placeholder 2">
            <a:extLst>
              <a:ext uri="{FF2B5EF4-FFF2-40B4-BE49-F238E27FC236}">
                <a16:creationId xmlns:a16="http://schemas.microsoft.com/office/drawing/2014/main" id="{58933B52-11E7-77F8-1A03-03981D9787A5}"/>
              </a:ext>
            </a:extLst>
          </p:cNvPr>
          <p:cNvSpPr>
            <a:spLocks noGrp="1"/>
          </p:cNvSpPr>
          <p:nvPr>
            <p:ph idx="1"/>
          </p:nvPr>
        </p:nvSpPr>
        <p:spPr/>
        <p:txBody>
          <a:bodyPr/>
          <a:lstStyle/>
          <a:p>
            <a:pPr algn="just"/>
            <a:r>
              <a:rPr lang="en-GB" dirty="0"/>
              <a:t>The choice of what models to create has a profound influence on how a problem is attacked and how a solution is shaped.</a:t>
            </a:r>
          </a:p>
          <a:p>
            <a:pPr algn="just"/>
            <a:r>
              <a:rPr lang="en-GB" dirty="0"/>
              <a:t>In other words, choose models intelligently. The right models will illuminate the wicked development problems. </a:t>
            </a:r>
          </a:p>
        </p:txBody>
      </p:sp>
    </p:spTree>
    <p:extLst>
      <p:ext uri="{BB962C8B-B14F-4D97-AF65-F5344CB8AC3E}">
        <p14:creationId xmlns:p14="http://schemas.microsoft.com/office/powerpoint/2010/main" val="478706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FC21E-34A9-C084-CE96-DAB30805F26D}"/>
              </a:ext>
            </a:extLst>
          </p:cNvPr>
          <p:cNvSpPr>
            <a:spLocks noGrp="1"/>
          </p:cNvSpPr>
          <p:nvPr>
            <p:ph type="title"/>
          </p:nvPr>
        </p:nvSpPr>
        <p:spPr/>
        <p:txBody>
          <a:bodyPr/>
          <a:lstStyle/>
          <a:p>
            <a:r>
              <a:rPr lang="en-US" dirty="0"/>
              <a:t>Principles of Modeling – 2nd</a:t>
            </a:r>
          </a:p>
        </p:txBody>
      </p:sp>
      <p:sp>
        <p:nvSpPr>
          <p:cNvPr id="3" name="Content Placeholder 2">
            <a:extLst>
              <a:ext uri="{FF2B5EF4-FFF2-40B4-BE49-F238E27FC236}">
                <a16:creationId xmlns:a16="http://schemas.microsoft.com/office/drawing/2014/main" id="{BAE295E0-E7E2-06E7-3CB8-EDB62547E8E7}"/>
              </a:ext>
            </a:extLst>
          </p:cNvPr>
          <p:cNvSpPr>
            <a:spLocks noGrp="1"/>
          </p:cNvSpPr>
          <p:nvPr>
            <p:ph idx="1"/>
          </p:nvPr>
        </p:nvSpPr>
        <p:spPr/>
        <p:txBody>
          <a:bodyPr/>
          <a:lstStyle/>
          <a:p>
            <a:pPr algn="just"/>
            <a:r>
              <a:rPr lang="en-GB" dirty="0"/>
              <a:t>Every model may be expressed at different levels of precision.</a:t>
            </a:r>
          </a:p>
          <a:p>
            <a:pPr algn="just"/>
            <a:r>
              <a:rPr lang="en-GB" dirty="0"/>
              <a:t>Sometimes a quick and simple executable model of the user interface is exactly what you need (</a:t>
            </a:r>
            <a:r>
              <a:rPr lang="en-GB" dirty="0" err="1"/>
              <a:t>balsamiq</a:t>
            </a:r>
            <a:r>
              <a:rPr lang="en-GB" dirty="0"/>
              <a:t>); at other times, one has to get down and dirty with the bits.</a:t>
            </a:r>
          </a:p>
          <a:p>
            <a:pPr algn="just"/>
            <a:r>
              <a:rPr lang="en-GB" dirty="0"/>
              <a:t>In any case, the best kinds of models are those that let you choose your degree of detail, depending on who is viewing and why they need to view it.</a:t>
            </a:r>
          </a:p>
        </p:txBody>
      </p:sp>
    </p:spTree>
    <p:extLst>
      <p:ext uri="{BB962C8B-B14F-4D97-AF65-F5344CB8AC3E}">
        <p14:creationId xmlns:p14="http://schemas.microsoft.com/office/powerpoint/2010/main" val="3864450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1C3A6-E956-68BA-D11B-33331F7C3D36}"/>
              </a:ext>
            </a:extLst>
          </p:cNvPr>
          <p:cNvSpPr>
            <a:spLocks noGrp="1"/>
          </p:cNvSpPr>
          <p:nvPr>
            <p:ph type="title"/>
          </p:nvPr>
        </p:nvSpPr>
        <p:spPr/>
        <p:txBody>
          <a:bodyPr/>
          <a:lstStyle/>
          <a:p>
            <a:r>
              <a:rPr lang="en-US" dirty="0"/>
              <a:t>Principles of Modeling – 3rd</a:t>
            </a:r>
          </a:p>
        </p:txBody>
      </p:sp>
      <p:sp>
        <p:nvSpPr>
          <p:cNvPr id="3" name="Content Placeholder 2">
            <a:extLst>
              <a:ext uri="{FF2B5EF4-FFF2-40B4-BE49-F238E27FC236}">
                <a16:creationId xmlns:a16="http://schemas.microsoft.com/office/drawing/2014/main" id="{B9AFFC5B-FD1E-BA62-7E45-A884711130BD}"/>
              </a:ext>
            </a:extLst>
          </p:cNvPr>
          <p:cNvSpPr>
            <a:spLocks noGrp="1"/>
          </p:cNvSpPr>
          <p:nvPr>
            <p:ph idx="1"/>
          </p:nvPr>
        </p:nvSpPr>
        <p:spPr/>
        <p:txBody>
          <a:bodyPr/>
          <a:lstStyle/>
          <a:p>
            <a:pPr algn="just"/>
            <a:r>
              <a:rPr lang="en-GB" dirty="0"/>
              <a:t>The best models are connected to reality.</a:t>
            </a:r>
          </a:p>
          <a:p>
            <a:pPr algn="just"/>
            <a:r>
              <a:rPr lang="en-GB" dirty="0"/>
              <a:t>A Model connected to reality makes it more understandable and presentable. The more abstract a model is the more it needs to be closer to reality.</a:t>
            </a:r>
          </a:p>
          <a:p>
            <a:pPr algn="just"/>
            <a:endParaRPr lang="en-US" dirty="0"/>
          </a:p>
        </p:txBody>
      </p:sp>
    </p:spTree>
    <p:extLst>
      <p:ext uri="{BB962C8B-B14F-4D97-AF65-F5344CB8AC3E}">
        <p14:creationId xmlns:p14="http://schemas.microsoft.com/office/powerpoint/2010/main" val="3330919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C0914-BAFE-3EAF-271A-48D75B29B737}"/>
              </a:ext>
            </a:extLst>
          </p:cNvPr>
          <p:cNvSpPr>
            <a:spLocks noGrp="1"/>
          </p:cNvSpPr>
          <p:nvPr>
            <p:ph type="title"/>
          </p:nvPr>
        </p:nvSpPr>
        <p:spPr/>
        <p:txBody>
          <a:bodyPr/>
          <a:lstStyle/>
          <a:p>
            <a:r>
              <a:rPr lang="en-US" dirty="0"/>
              <a:t>Principles of Modeling – 4th</a:t>
            </a:r>
          </a:p>
        </p:txBody>
      </p:sp>
      <p:sp>
        <p:nvSpPr>
          <p:cNvPr id="3" name="Content Placeholder 2">
            <a:extLst>
              <a:ext uri="{FF2B5EF4-FFF2-40B4-BE49-F238E27FC236}">
                <a16:creationId xmlns:a16="http://schemas.microsoft.com/office/drawing/2014/main" id="{6A9BE4BE-BAD4-66CA-CB1B-2C50B6725B34}"/>
              </a:ext>
            </a:extLst>
          </p:cNvPr>
          <p:cNvSpPr>
            <a:spLocks noGrp="1"/>
          </p:cNvSpPr>
          <p:nvPr>
            <p:ph idx="1"/>
          </p:nvPr>
        </p:nvSpPr>
        <p:spPr/>
        <p:txBody>
          <a:bodyPr/>
          <a:lstStyle/>
          <a:p>
            <a:pPr algn="just"/>
            <a:r>
              <a:rPr lang="en-GB" dirty="0"/>
              <a:t>No single model is sufficient.</a:t>
            </a:r>
          </a:p>
          <a:p>
            <a:pPr lvl="1" algn="just"/>
            <a:r>
              <a:rPr lang="en-GB" dirty="0"/>
              <a:t>Every nontrivial system is best approached through a small set of nearly independent models.</a:t>
            </a:r>
          </a:p>
          <a:p>
            <a:pPr lvl="1" algn="just"/>
            <a:r>
              <a:rPr lang="en-US" dirty="0"/>
              <a:t>You need to look at several models to fully understand something you are looking for.</a:t>
            </a:r>
          </a:p>
          <a:p>
            <a:pPr lvl="1" algn="just"/>
            <a:r>
              <a:rPr lang="en-US" dirty="0"/>
              <a:t>In this way, models complement each other.</a:t>
            </a:r>
          </a:p>
        </p:txBody>
      </p:sp>
    </p:spTree>
    <p:extLst>
      <p:ext uri="{BB962C8B-B14F-4D97-AF65-F5344CB8AC3E}">
        <p14:creationId xmlns:p14="http://schemas.microsoft.com/office/powerpoint/2010/main" val="2330414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F7291-B66D-5591-A453-EA425E1F5B73}"/>
              </a:ext>
            </a:extLst>
          </p:cNvPr>
          <p:cNvSpPr>
            <a:spLocks noGrp="1"/>
          </p:cNvSpPr>
          <p:nvPr>
            <p:ph type="title"/>
          </p:nvPr>
        </p:nvSpPr>
        <p:spPr/>
        <p:txBody>
          <a:bodyPr/>
          <a:lstStyle/>
          <a:p>
            <a:r>
              <a:rPr lang="en-GB" dirty="0"/>
              <a:t>Requirement </a:t>
            </a:r>
            <a:r>
              <a:rPr lang="en-GB" dirty="0" err="1"/>
              <a:t>Modeling</a:t>
            </a:r>
            <a:endParaRPr lang="en-US" dirty="0"/>
          </a:p>
        </p:txBody>
      </p:sp>
      <p:sp>
        <p:nvSpPr>
          <p:cNvPr id="3" name="Content Placeholder 2">
            <a:extLst>
              <a:ext uri="{FF2B5EF4-FFF2-40B4-BE49-F238E27FC236}">
                <a16:creationId xmlns:a16="http://schemas.microsoft.com/office/drawing/2014/main" id="{C3E8B09D-00EA-4AAD-9F3F-3B84DD93BDDD}"/>
              </a:ext>
            </a:extLst>
          </p:cNvPr>
          <p:cNvSpPr>
            <a:spLocks noGrp="1"/>
          </p:cNvSpPr>
          <p:nvPr>
            <p:ph idx="1"/>
          </p:nvPr>
        </p:nvSpPr>
        <p:spPr/>
        <p:txBody>
          <a:bodyPr/>
          <a:lstStyle/>
          <a:p>
            <a:pPr algn="just"/>
            <a:r>
              <a:rPr lang="en-GB" dirty="0"/>
              <a:t>At a technical level, software engineering begins with a series of </a:t>
            </a:r>
            <a:r>
              <a:rPr lang="en-GB" dirty="0" err="1"/>
              <a:t>modeling</a:t>
            </a:r>
            <a:r>
              <a:rPr lang="en-GB" dirty="0"/>
              <a:t> tasks that lead to a specification of requirements and a design representation for the software to be built.</a:t>
            </a:r>
          </a:p>
          <a:p>
            <a:pPr algn="just"/>
            <a:r>
              <a:rPr lang="en-GB" dirty="0"/>
              <a:t>The requirements model— actually a set of models—is the first technical representation of a system.</a:t>
            </a:r>
            <a:endParaRPr lang="en-US" dirty="0"/>
          </a:p>
        </p:txBody>
      </p:sp>
    </p:spTree>
    <p:extLst>
      <p:ext uri="{BB962C8B-B14F-4D97-AF65-F5344CB8AC3E}">
        <p14:creationId xmlns:p14="http://schemas.microsoft.com/office/powerpoint/2010/main" val="3739785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CC6CE-8E4D-1E4B-313C-C125E2D6FB5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ABBA9A0-5244-83BB-FD33-4CE68BCD4D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8172" y="1"/>
            <a:ext cx="8665028" cy="6858000"/>
          </a:xfrm>
        </p:spPr>
      </p:pic>
    </p:spTree>
    <p:extLst>
      <p:ext uri="{BB962C8B-B14F-4D97-AF65-F5344CB8AC3E}">
        <p14:creationId xmlns:p14="http://schemas.microsoft.com/office/powerpoint/2010/main" val="734833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0BCD1-6097-B1BA-4289-B487350D9C7A}"/>
              </a:ext>
            </a:extLst>
          </p:cNvPr>
          <p:cNvSpPr>
            <a:spLocks noGrp="1"/>
          </p:cNvSpPr>
          <p:nvPr>
            <p:ph type="title"/>
          </p:nvPr>
        </p:nvSpPr>
        <p:spPr/>
        <p:txBody>
          <a:bodyPr/>
          <a:lstStyle/>
          <a:p>
            <a:r>
              <a:rPr lang="en-GB" dirty="0"/>
              <a:t>Scenario-based </a:t>
            </a:r>
            <a:r>
              <a:rPr lang="en-GB" dirty="0" err="1"/>
              <a:t>Modeling</a:t>
            </a:r>
            <a:endParaRPr lang="en-US" dirty="0"/>
          </a:p>
        </p:txBody>
      </p:sp>
      <p:sp>
        <p:nvSpPr>
          <p:cNvPr id="3" name="Content Placeholder 2">
            <a:extLst>
              <a:ext uri="{FF2B5EF4-FFF2-40B4-BE49-F238E27FC236}">
                <a16:creationId xmlns:a16="http://schemas.microsoft.com/office/drawing/2014/main" id="{900942F4-741B-EA4A-F2D3-F6D30D2E7BD9}"/>
              </a:ext>
            </a:extLst>
          </p:cNvPr>
          <p:cNvSpPr>
            <a:spLocks noGrp="1"/>
          </p:cNvSpPr>
          <p:nvPr>
            <p:ph idx="1"/>
          </p:nvPr>
        </p:nvSpPr>
        <p:spPr/>
        <p:txBody>
          <a:bodyPr/>
          <a:lstStyle/>
          <a:p>
            <a:pPr algn="just"/>
            <a:r>
              <a:rPr lang="en-GB" dirty="0"/>
              <a:t>Although the success of a computer-based system or product is measured in many ways, user satisfaction resides at the top of the list.</a:t>
            </a:r>
          </a:p>
          <a:p>
            <a:pPr algn="just"/>
            <a:r>
              <a:rPr lang="en-GB" dirty="0"/>
              <a:t>If you understand how end users (and other actors) want to interact with a system, your software team will be better able to properly characterize requirements and build meaningful requirements and design models.</a:t>
            </a:r>
          </a:p>
          <a:p>
            <a:pPr algn="just"/>
            <a:r>
              <a:rPr lang="en-GB" dirty="0"/>
              <a:t>Hence, requirements </a:t>
            </a:r>
            <a:r>
              <a:rPr lang="en-GB" dirty="0" err="1"/>
              <a:t>modeling</a:t>
            </a:r>
            <a:r>
              <a:rPr lang="en-GB" dirty="0"/>
              <a:t> with UML begins with the creation of scenarios in the form of use case diagrams.</a:t>
            </a:r>
            <a:endParaRPr lang="en-US" dirty="0"/>
          </a:p>
        </p:txBody>
      </p:sp>
    </p:spTree>
    <p:extLst>
      <p:ext uri="{BB962C8B-B14F-4D97-AF65-F5344CB8AC3E}">
        <p14:creationId xmlns:p14="http://schemas.microsoft.com/office/powerpoint/2010/main" val="609271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9D030-D8D2-7588-A922-CBAB551D1CEF}"/>
              </a:ext>
            </a:extLst>
          </p:cNvPr>
          <p:cNvSpPr>
            <a:spLocks noGrp="1"/>
          </p:cNvSpPr>
          <p:nvPr>
            <p:ph type="title"/>
          </p:nvPr>
        </p:nvSpPr>
        <p:spPr/>
        <p:txBody>
          <a:bodyPr/>
          <a:lstStyle/>
          <a:p>
            <a:r>
              <a:rPr lang="en-GB" dirty="0"/>
              <a:t>UML</a:t>
            </a:r>
            <a:endParaRPr lang="en-US" dirty="0"/>
          </a:p>
        </p:txBody>
      </p:sp>
      <p:sp>
        <p:nvSpPr>
          <p:cNvPr id="3" name="Content Placeholder 2">
            <a:extLst>
              <a:ext uri="{FF2B5EF4-FFF2-40B4-BE49-F238E27FC236}">
                <a16:creationId xmlns:a16="http://schemas.microsoft.com/office/drawing/2014/main" id="{2A1C7FF0-1C1E-039F-3B8D-9DE524D40231}"/>
              </a:ext>
            </a:extLst>
          </p:cNvPr>
          <p:cNvSpPr>
            <a:spLocks noGrp="1"/>
          </p:cNvSpPr>
          <p:nvPr>
            <p:ph idx="1"/>
          </p:nvPr>
        </p:nvSpPr>
        <p:spPr/>
        <p:txBody>
          <a:bodyPr/>
          <a:lstStyle/>
          <a:p>
            <a:pPr algn="just"/>
            <a:r>
              <a:rPr lang="en-GB" dirty="0"/>
              <a:t>Unified </a:t>
            </a:r>
            <a:r>
              <a:rPr lang="en-GB" dirty="0" err="1"/>
              <a:t>Modeling</a:t>
            </a:r>
            <a:r>
              <a:rPr lang="en-GB" dirty="0"/>
              <a:t> Language (UML) is a standardized general-purpose </a:t>
            </a:r>
            <a:r>
              <a:rPr lang="en-GB" dirty="0" err="1"/>
              <a:t>modeling</a:t>
            </a:r>
            <a:r>
              <a:rPr lang="en-GB" dirty="0"/>
              <a:t> language in the field of object-oriented software engineering.</a:t>
            </a:r>
          </a:p>
          <a:p>
            <a:pPr algn="just"/>
            <a:r>
              <a:rPr lang="en-GB" dirty="0"/>
              <a:t>UML includes a set of graphic notation techniques to create visual models of object-oriented software systems.</a:t>
            </a:r>
          </a:p>
        </p:txBody>
      </p:sp>
    </p:spTree>
    <p:extLst>
      <p:ext uri="{BB962C8B-B14F-4D97-AF65-F5344CB8AC3E}">
        <p14:creationId xmlns:p14="http://schemas.microsoft.com/office/powerpoint/2010/main" val="4021282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C1B19-79A6-5745-7854-5C08F1FE9F47}"/>
              </a:ext>
            </a:extLst>
          </p:cNvPr>
          <p:cNvSpPr>
            <a:spLocks noGrp="1"/>
          </p:cNvSpPr>
          <p:nvPr>
            <p:ph type="title"/>
          </p:nvPr>
        </p:nvSpPr>
        <p:spPr/>
        <p:txBody>
          <a:bodyPr/>
          <a:lstStyle/>
          <a:p>
            <a:r>
              <a:rPr lang="en-GB" dirty="0"/>
              <a:t>UML is a Language for Visualizing</a:t>
            </a:r>
            <a:endParaRPr lang="en-US" dirty="0"/>
          </a:p>
        </p:txBody>
      </p:sp>
      <p:sp>
        <p:nvSpPr>
          <p:cNvPr id="3" name="Content Placeholder 2">
            <a:extLst>
              <a:ext uri="{FF2B5EF4-FFF2-40B4-BE49-F238E27FC236}">
                <a16:creationId xmlns:a16="http://schemas.microsoft.com/office/drawing/2014/main" id="{26C3B021-840E-FF2E-AD5E-0D4C889913FA}"/>
              </a:ext>
            </a:extLst>
          </p:cNvPr>
          <p:cNvSpPr>
            <a:spLocks noGrp="1"/>
          </p:cNvSpPr>
          <p:nvPr>
            <p:ph idx="1"/>
          </p:nvPr>
        </p:nvSpPr>
        <p:spPr/>
        <p:txBody>
          <a:bodyPr/>
          <a:lstStyle/>
          <a:p>
            <a:pPr algn="just"/>
            <a:r>
              <a:rPr lang="en-US" dirty="0"/>
              <a:t>Independent of Programming Language</a:t>
            </a:r>
          </a:p>
          <a:p>
            <a:pPr algn="just"/>
            <a:r>
              <a:rPr lang="en-US" altLang="en-US" dirty="0">
                <a:solidFill>
                  <a:srgbClr val="000000"/>
                </a:solidFill>
                <a:cs typeface="Times New Roman" panose="02020603050405020304" pitchFamily="18" charset="0"/>
              </a:rPr>
              <a:t>One person can write a model using UML, and another person, or even another tool, can interpret that model unambiguously</a:t>
            </a:r>
          </a:p>
          <a:p>
            <a:pPr algn="just"/>
            <a:r>
              <a:rPr lang="en-US" altLang="en-US" dirty="0">
                <a:solidFill>
                  <a:srgbClr val="000000"/>
                </a:solidFill>
                <a:cs typeface="Times New Roman" panose="02020603050405020304" pitchFamily="18" charset="0"/>
              </a:rPr>
              <a:t>It is possible to map UML model to Programming Languages such as C++, Java or C#, or even to different RDBMS</a:t>
            </a:r>
            <a:endParaRPr lang="en-US" altLang="en-US" dirty="0"/>
          </a:p>
        </p:txBody>
      </p:sp>
    </p:spTree>
    <p:extLst>
      <p:ext uri="{BB962C8B-B14F-4D97-AF65-F5344CB8AC3E}">
        <p14:creationId xmlns:p14="http://schemas.microsoft.com/office/powerpoint/2010/main" val="3982547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DC9AD-F2AB-CEA5-10CD-6FEE431A2754}"/>
              </a:ext>
            </a:extLst>
          </p:cNvPr>
          <p:cNvSpPr>
            <a:spLocks noGrp="1"/>
          </p:cNvSpPr>
          <p:nvPr>
            <p:ph type="title"/>
          </p:nvPr>
        </p:nvSpPr>
        <p:spPr/>
        <p:txBody>
          <a:bodyPr/>
          <a:lstStyle/>
          <a:p>
            <a:r>
              <a:rPr lang="en-GB" dirty="0"/>
              <a:t>Goals of UML</a:t>
            </a:r>
            <a:endParaRPr lang="en-US" dirty="0"/>
          </a:p>
        </p:txBody>
      </p:sp>
      <p:sp>
        <p:nvSpPr>
          <p:cNvPr id="3" name="Content Placeholder 2">
            <a:extLst>
              <a:ext uri="{FF2B5EF4-FFF2-40B4-BE49-F238E27FC236}">
                <a16:creationId xmlns:a16="http://schemas.microsoft.com/office/drawing/2014/main" id="{8E6C02E9-32E4-9240-EBB8-77321A5B38B2}"/>
              </a:ext>
            </a:extLst>
          </p:cNvPr>
          <p:cNvSpPr>
            <a:spLocks noGrp="1"/>
          </p:cNvSpPr>
          <p:nvPr>
            <p:ph idx="1"/>
          </p:nvPr>
        </p:nvSpPr>
        <p:spPr/>
        <p:txBody>
          <a:bodyPr/>
          <a:lstStyle/>
          <a:p>
            <a:r>
              <a:rPr lang="en-GB" dirty="0"/>
              <a:t>Visibility</a:t>
            </a:r>
          </a:p>
          <a:p>
            <a:r>
              <a:rPr lang="en-GB" dirty="0"/>
              <a:t>Extensibility</a:t>
            </a:r>
          </a:p>
          <a:p>
            <a:r>
              <a:rPr lang="en-GB" dirty="0"/>
              <a:t>Independence</a:t>
            </a:r>
          </a:p>
          <a:p>
            <a:r>
              <a:rPr lang="en-GB" dirty="0"/>
              <a:t>Object Oriented</a:t>
            </a:r>
          </a:p>
        </p:txBody>
      </p:sp>
    </p:spTree>
    <p:extLst>
      <p:ext uri="{BB962C8B-B14F-4D97-AF65-F5344CB8AC3E}">
        <p14:creationId xmlns:p14="http://schemas.microsoft.com/office/powerpoint/2010/main" val="2585111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DA190-515B-AF3A-2377-87650EBB0C62}"/>
              </a:ext>
            </a:extLst>
          </p:cNvPr>
          <p:cNvSpPr>
            <a:spLocks noGrp="1"/>
          </p:cNvSpPr>
          <p:nvPr>
            <p:ph type="title"/>
          </p:nvPr>
        </p:nvSpPr>
        <p:spPr/>
        <p:txBody>
          <a:bodyPr/>
          <a:lstStyle/>
          <a:p>
            <a:r>
              <a:rPr lang="en-GB" dirty="0"/>
              <a:t>Use Case </a:t>
            </a:r>
            <a:r>
              <a:rPr lang="en-GB" dirty="0" err="1"/>
              <a:t>Modeling</a:t>
            </a:r>
            <a:endParaRPr lang="en-US" dirty="0"/>
          </a:p>
        </p:txBody>
      </p:sp>
      <p:sp>
        <p:nvSpPr>
          <p:cNvPr id="3" name="Content Placeholder 2">
            <a:extLst>
              <a:ext uri="{FF2B5EF4-FFF2-40B4-BE49-F238E27FC236}">
                <a16:creationId xmlns:a16="http://schemas.microsoft.com/office/drawing/2014/main" id="{D5064961-6EF4-00A3-F4C5-13A2A2B682F2}"/>
              </a:ext>
            </a:extLst>
          </p:cNvPr>
          <p:cNvSpPr>
            <a:spLocks noGrp="1"/>
          </p:cNvSpPr>
          <p:nvPr>
            <p:ph idx="1"/>
          </p:nvPr>
        </p:nvSpPr>
        <p:spPr/>
        <p:txBody>
          <a:bodyPr>
            <a:normAutofit fontScale="92500" lnSpcReduction="10000"/>
          </a:bodyPr>
          <a:lstStyle/>
          <a:p>
            <a:pPr algn="just"/>
            <a:r>
              <a:rPr lang="en-GB" dirty="0"/>
              <a:t>After the scope has been decided (Recognition of Need + Feasibility Study), gathering of requirements can commence.</a:t>
            </a:r>
          </a:p>
          <a:p>
            <a:pPr algn="just"/>
            <a:r>
              <a:rPr lang="en-GB" dirty="0"/>
              <a:t>Requirements are gathered by various communication techniques such as</a:t>
            </a:r>
          </a:p>
          <a:p>
            <a:pPr lvl="1" algn="just"/>
            <a:r>
              <a:rPr lang="en-GB" dirty="0"/>
              <a:t>Interviewing the people involved</a:t>
            </a:r>
          </a:p>
          <a:p>
            <a:pPr lvl="1" algn="just"/>
            <a:r>
              <a:rPr lang="en-GB" dirty="0"/>
              <a:t>Filling of questionnaires by the stakeholders</a:t>
            </a:r>
          </a:p>
          <a:p>
            <a:pPr lvl="1" algn="just"/>
            <a:r>
              <a:rPr lang="en-US" dirty="0"/>
              <a:t>Observing the manual version (if any) of the system to be automated</a:t>
            </a:r>
          </a:p>
          <a:p>
            <a:pPr algn="just"/>
            <a:r>
              <a:rPr lang="en-US" dirty="0"/>
              <a:t>It is during the Requirements Gathering, use cases come into play.</a:t>
            </a:r>
          </a:p>
          <a:p>
            <a:pPr algn="just"/>
            <a:r>
              <a:rPr lang="en-GB" dirty="0"/>
              <a:t>The fundamental aim of writing use cases is to get </a:t>
            </a:r>
            <a:r>
              <a:rPr lang="en-GB" b="1" dirty="0"/>
              <a:t>functional requirements </a:t>
            </a:r>
            <a:r>
              <a:rPr lang="en-GB" dirty="0"/>
              <a:t>of the system under design.</a:t>
            </a:r>
          </a:p>
          <a:p>
            <a:pPr algn="just"/>
            <a:r>
              <a:rPr lang="en-GB" dirty="0"/>
              <a:t>Hence, the use cases serve as a model for white box testing to decide whether a requirement has been achieved or not.</a:t>
            </a:r>
          </a:p>
        </p:txBody>
      </p:sp>
    </p:spTree>
    <p:extLst>
      <p:ext uri="{BB962C8B-B14F-4D97-AF65-F5344CB8AC3E}">
        <p14:creationId xmlns:p14="http://schemas.microsoft.com/office/powerpoint/2010/main" val="2612489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70FBD-497D-E54B-02F7-9455506C89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D58F009-4790-6E96-7D56-889B5772AFBB}"/>
              </a:ext>
            </a:extLst>
          </p:cNvPr>
          <p:cNvSpPr>
            <a:spLocks noGrp="1"/>
          </p:cNvSpPr>
          <p:nvPr>
            <p:ph idx="1"/>
          </p:nvPr>
        </p:nvSpPr>
        <p:spPr/>
        <p:txBody>
          <a:bodyPr/>
          <a:lstStyle/>
          <a:p>
            <a:endParaRPr lang="en-US"/>
          </a:p>
        </p:txBody>
      </p:sp>
      <p:pic>
        <p:nvPicPr>
          <p:cNvPr id="4" name="Picture 14">
            <a:extLst>
              <a:ext uri="{FF2B5EF4-FFF2-40B4-BE49-F238E27FC236}">
                <a16:creationId xmlns:a16="http://schemas.microsoft.com/office/drawing/2014/main" id="{F9DEC6D7-4B67-5050-2664-0E0793EBABBC}"/>
              </a:ext>
            </a:extLst>
          </p:cNvPr>
          <p:cNvPicPr>
            <a:picLocks noChangeAspect="1" noChangeArrowheads="1"/>
          </p:cNvPicPr>
          <p:nvPr/>
        </p:nvPicPr>
        <p:blipFill>
          <a:blip r:embed="rId2"/>
          <a:srcRect/>
          <a:stretch>
            <a:fillRect/>
          </a:stretch>
        </p:blipFill>
        <p:spPr bwMode="auto">
          <a:xfrm>
            <a:off x="4724400" y="381000"/>
            <a:ext cx="2667000" cy="6172200"/>
          </a:xfrm>
          <a:prstGeom prst="rect">
            <a:avLst/>
          </a:prstGeom>
          <a:noFill/>
          <a:ln w="9525">
            <a:noFill/>
            <a:miter lim="800000"/>
            <a:headEnd/>
            <a:tailEnd/>
          </a:ln>
          <a:effectLst/>
        </p:spPr>
      </p:pic>
    </p:spTree>
    <p:extLst>
      <p:ext uri="{BB962C8B-B14F-4D97-AF65-F5344CB8AC3E}">
        <p14:creationId xmlns:p14="http://schemas.microsoft.com/office/powerpoint/2010/main" val="2625100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47F45-E83F-D023-3EEA-54BD6FAFA970}"/>
              </a:ext>
            </a:extLst>
          </p:cNvPr>
          <p:cNvSpPr>
            <a:spLocks noGrp="1"/>
          </p:cNvSpPr>
          <p:nvPr>
            <p:ph type="title"/>
          </p:nvPr>
        </p:nvSpPr>
        <p:spPr/>
        <p:txBody>
          <a:bodyPr/>
          <a:lstStyle/>
          <a:p>
            <a:r>
              <a:rPr lang="en-GB" dirty="0"/>
              <a:t>Actors and Use Cases</a:t>
            </a:r>
            <a:endParaRPr lang="en-US" dirty="0"/>
          </a:p>
        </p:txBody>
      </p:sp>
      <p:sp>
        <p:nvSpPr>
          <p:cNvPr id="3" name="Content Placeholder 2">
            <a:extLst>
              <a:ext uri="{FF2B5EF4-FFF2-40B4-BE49-F238E27FC236}">
                <a16:creationId xmlns:a16="http://schemas.microsoft.com/office/drawing/2014/main" id="{BEE4CD60-8C32-7821-6B98-A8756352A56D}"/>
              </a:ext>
            </a:extLst>
          </p:cNvPr>
          <p:cNvSpPr>
            <a:spLocks noGrp="1"/>
          </p:cNvSpPr>
          <p:nvPr>
            <p:ph idx="1"/>
          </p:nvPr>
        </p:nvSpPr>
        <p:spPr/>
        <p:txBody>
          <a:bodyPr/>
          <a:lstStyle/>
          <a:p>
            <a:pPr algn="just"/>
            <a:r>
              <a:rPr lang="en-GB" dirty="0"/>
              <a:t>The first step in writing a use case is to define the set of “actors” that will be involved in the story. Actors are the different people (or devices) that use the system or product.</a:t>
            </a:r>
          </a:p>
          <a:p>
            <a:pPr algn="just"/>
            <a:r>
              <a:rPr lang="en-GB" b="1" dirty="0"/>
              <a:t>Actors represent the roles that people (or devices) play as the system operates</a:t>
            </a:r>
            <a:r>
              <a:rPr lang="en-GB" dirty="0"/>
              <a:t>. Defined somewhat more formally, an actor is anything that communicates with the system or product and that is external to the system itself. Every actor has one or more goals when using the system.</a:t>
            </a:r>
          </a:p>
          <a:p>
            <a:pPr algn="just"/>
            <a:r>
              <a:rPr lang="en-GB" dirty="0"/>
              <a:t>Once actors have been identified, use cases can be developed.</a:t>
            </a:r>
            <a:endParaRPr lang="en-US" dirty="0"/>
          </a:p>
        </p:txBody>
      </p:sp>
    </p:spTree>
    <p:extLst>
      <p:ext uri="{BB962C8B-B14F-4D97-AF65-F5344CB8AC3E}">
        <p14:creationId xmlns:p14="http://schemas.microsoft.com/office/powerpoint/2010/main" val="7859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48F7F-C5E3-110A-D732-A752F9D054E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26A3B5E-3179-B260-779C-8B1CA753C2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32657"/>
            <a:ext cx="10515600" cy="4572000"/>
          </a:xfrm>
        </p:spPr>
      </p:pic>
      <p:pic>
        <p:nvPicPr>
          <p:cNvPr id="7" name="Picture 6">
            <a:extLst>
              <a:ext uri="{FF2B5EF4-FFF2-40B4-BE49-F238E27FC236}">
                <a16:creationId xmlns:a16="http://schemas.microsoft.com/office/drawing/2014/main" id="{254766E9-1BF7-E0B9-621B-88E598850D8D}"/>
              </a:ext>
            </a:extLst>
          </p:cNvPr>
          <p:cNvPicPr>
            <a:picLocks noChangeAspect="1"/>
          </p:cNvPicPr>
          <p:nvPr/>
        </p:nvPicPr>
        <p:blipFill>
          <a:blip r:embed="rId3"/>
          <a:stretch>
            <a:fillRect/>
          </a:stretch>
        </p:blipFill>
        <p:spPr>
          <a:xfrm>
            <a:off x="2928516" y="4748099"/>
            <a:ext cx="6030167" cy="1629002"/>
          </a:xfrm>
          <a:prstGeom prst="rect">
            <a:avLst/>
          </a:prstGeom>
        </p:spPr>
      </p:pic>
    </p:spTree>
    <p:extLst>
      <p:ext uri="{BB962C8B-B14F-4D97-AF65-F5344CB8AC3E}">
        <p14:creationId xmlns:p14="http://schemas.microsoft.com/office/powerpoint/2010/main" val="1839144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906C3-4615-9A7A-DE70-C230094C8B43}"/>
              </a:ext>
            </a:extLst>
          </p:cNvPr>
          <p:cNvSpPr>
            <a:spLocks noGrp="1"/>
          </p:cNvSpPr>
          <p:nvPr>
            <p:ph type="title"/>
          </p:nvPr>
        </p:nvSpPr>
        <p:spPr/>
        <p:txBody>
          <a:bodyPr/>
          <a:lstStyle/>
          <a:p>
            <a:r>
              <a:rPr lang="en-GB" dirty="0"/>
              <a:t>Use Case Relationships</a:t>
            </a:r>
            <a:endParaRPr lang="en-US" dirty="0"/>
          </a:p>
        </p:txBody>
      </p:sp>
      <p:sp>
        <p:nvSpPr>
          <p:cNvPr id="3" name="Content Placeholder 2">
            <a:extLst>
              <a:ext uri="{FF2B5EF4-FFF2-40B4-BE49-F238E27FC236}">
                <a16:creationId xmlns:a16="http://schemas.microsoft.com/office/drawing/2014/main" id="{08CF5758-3AAF-F70A-F75D-A4F7429E9462}"/>
              </a:ext>
            </a:extLst>
          </p:cNvPr>
          <p:cNvSpPr>
            <a:spLocks noGrp="1"/>
          </p:cNvSpPr>
          <p:nvPr>
            <p:ph idx="1"/>
          </p:nvPr>
        </p:nvSpPr>
        <p:spPr/>
        <p:txBody>
          <a:bodyPr/>
          <a:lstStyle/>
          <a:p>
            <a:r>
              <a:rPr lang="en-US" dirty="0"/>
              <a:t>Association Relationship</a:t>
            </a:r>
          </a:p>
          <a:p>
            <a:endParaRPr lang="en-US" dirty="0"/>
          </a:p>
        </p:txBody>
      </p:sp>
      <p:pic>
        <p:nvPicPr>
          <p:cNvPr id="5" name="Picture 4">
            <a:extLst>
              <a:ext uri="{FF2B5EF4-FFF2-40B4-BE49-F238E27FC236}">
                <a16:creationId xmlns:a16="http://schemas.microsoft.com/office/drawing/2014/main" id="{7318DE9F-0D4C-5603-9B89-77F83D1E15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0457" y="2677432"/>
            <a:ext cx="9307286" cy="2961368"/>
          </a:xfrm>
          <a:prstGeom prst="rect">
            <a:avLst/>
          </a:prstGeom>
        </p:spPr>
      </p:pic>
    </p:spTree>
    <p:extLst>
      <p:ext uri="{BB962C8B-B14F-4D97-AF65-F5344CB8AC3E}">
        <p14:creationId xmlns:p14="http://schemas.microsoft.com/office/powerpoint/2010/main" val="30989166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088F9-FA1F-D044-35E4-140C16093E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25A457-92B4-3408-7D39-5C864697E690}"/>
              </a:ext>
            </a:extLst>
          </p:cNvPr>
          <p:cNvSpPr>
            <a:spLocks noGrp="1"/>
          </p:cNvSpPr>
          <p:nvPr>
            <p:ph idx="1"/>
          </p:nvPr>
        </p:nvSpPr>
        <p:spPr/>
        <p:txBody>
          <a:bodyPr/>
          <a:lstStyle/>
          <a:p>
            <a:r>
              <a:rPr lang="en-US" dirty="0"/>
              <a:t>Include Relationship</a:t>
            </a:r>
          </a:p>
          <a:p>
            <a:endParaRPr lang="en-US" dirty="0"/>
          </a:p>
        </p:txBody>
      </p:sp>
      <p:pic>
        <p:nvPicPr>
          <p:cNvPr id="5" name="Picture 4">
            <a:extLst>
              <a:ext uri="{FF2B5EF4-FFF2-40B4-BE49-F238E27FC236}">
                <a16:creationId xmlns:a16="http://schemas.microsoft.com/office/drawing/2014/main" id="{8EC0814E-5016-EA9D-D969-1BBDCAB6C9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457450"/>
            <a:ext cx="11074400" cy="2705100"/>
          </a:xfrm>
          <a:prstGeom prst="rect">
            <a:avLst/>
          </a:prstGeom>
        </p:spPr>
      </p:pic>
    </p:spTree>
    <p:extLst>
      <p:ext uri="{BB962C8B-B14F-4D97-AF65-F5344CB8AC3E}">
        <p14:creationId xmlns:p14="http://schemas.microsoft.com/office/powerpoint/2010/main" val="12570299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4ECB9-49E8-F7E5-BA4C-DD319E64A97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061E00C-512A-D88C-DA10-C65D9FBF56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1115" y="365124"/>
            <a:ext cx="10958390" cy="5807075"/>
          </a:xfrm>
        </p:spPr>
      </p:pic>
    </p:spTree>
    <p:extLst>
      <p:ext uri="{BB962C8B-B14F-4D97-AF65-F5344CB8AC3E}">
        <p14:creationId xmlns:p14="http://schemas.microsoft.com/office/powerpoint/2010/main" val="429975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65C57-963F-0E4E-78F3-EEA3E1B8E60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4581B95-CF0F-6999-6854-B3C8285411EB}"/>
              </a:ext>
            </a:extLst>
          </p:cNvPr>
          <p:cNvSpPr>
            <a:spLocks noGrp="1"/>
          </p:cNvSpPr>
          <p:nvPr>
            <p:ph idx="1"/>
          </p:nvPr>
        </p:nvSpPr>
        <p:spPr/>
        <p:txBody>
          <a:bodyPr/>
          <a:lstStyle/>
          <a:p>
            <a:r>
              <a:rPr lang="en-US" dirty="0"/>
              <a:t> Extend Relationship</a:t>
            </a:r>
          </a:p>
          <a:p>
            <a:endParaRPr lang="en-US" dirty="0"/>
          </a:p>
        </p:txBody>
      </p:sp>
      <p:pic>
        <p:nvPicPr>
          <p:cNvPr id="5" name="Picture 4">
            <a:extLst>
              <a:ext uri="{FF2B5EF4-FFF2-40B4-BE49-F238E27FC236}">
                <a16:creationId xmlns:a16="http://schemas.microsoft.com/office/drawing/2014/main" id="{C2ED9175-86B2-266E-3DC5-56615021BF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543" y="2632528"/>
            <a:ext cx="10566400" cy="3378200"/>
          </a:xfrm>
          <a:prstGeom prst="rect">
            <a:avLst/>
          </a:prstGeom>
        </p:spPr>
      </p:pic>
    </p:spTree>
    <p:extLst>
      <p:ext uri="{BB962C8B-B14F-4D97-AF65-F5344CB8AC3E}">
        <p14:creationId xmlns:p14="http://schemas.microsoft.com/office/powerpoint/2010/main" val="1304903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D725A-2247-1370-137A-6C69219CA67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AFBCFC7-B858-F5FF-F898-C6926D93FD3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00629" y="1874044"/>
            <a:ext cx="10109200" cy="4254500"/>
          </a:xfrm>
        </p:spPr>
      </p:pic>
    </p:spTree>
    <p:extLst>
      <p:ext uri="{BB962C8B-B14F-4D97-AF65-F5344CB8AC3E}">
        <p14:creationId xmlns:p14="http://schemas.microsoft.com/office/powerpoint/2010/main" val="30734043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3E12B-CC6C-1774-87D1-E813E11A2B6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D5EA3FB-7FB8-0801-CB49-889763161D2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382778"/>
            <a:ext cx="10515600" cy="3237031"/>
          </a:xfrm>
        </p:spPr>
      </p:pic>
    </p:spTree>
    <p:extLst>
      <p:ext uri="{BB962C8B-B14F-4D97-AF65-F5344CB8AC3E}">
        <p14:creationId xmlns:p14="http://schemas.microsoft.com/office/powerpoint/2010/main" val="2796119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D49E6-D7BE-ED41-7DC9-80392B9B69A1}"/>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993BE03D-FC09-DBDA-9926-AB66FDDE65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03650" y="1825625"/>
            <a:ext cx="5184699" cy="4351338"/>
          </a:xfrm>
        </p:spPr>
      </p:pic>
    </p:spTree>
    <p:extLst>
      <p:ext uri="{BB962C8B-B14F-4D97-AF65-F5344CB8AC3E}">
        <p14:creationId xmlns:p14="http://schemas.microsoft.com/office/powerpoint/2010/main" val="5054314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748F-C151-5F72-CF16-A97EBC7A8B2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AFB490A-CF23-7AE4-70F1-07534B6F3E06}"/>
              </a:ext>
            </a:extLst>
          </p:cNvPr>
          <p:cNvSpPr>
            <a:spLocks noGrp="1"/>
          </p:cNvSpPr>
          <p:nvPr>
            <p:ph idx="1"/>
          </p:nvPr>
        </p:nvSpPr>
        <p:spPr/>
        <p:txBody>
          <a:bodyPr/>
          <a:lstStyle/>
          <a:p>
            <a:r>
              <a:rPr lang="en-GB" dirty="0"/>
              <a:t>Generalization relationship</a:t>
            </a:r>
          </a:p>
          <a:p>
            <a:endParaRPr lang="en-US" dirty="0"/>
          </a:p>
        </p:txBody>
      </p:sp>
      <p:pic>
        <p:nvPicPr>
          <p:cNvPr id="5" name="Picture 4">
            <a:extLst>
              <a:ext uri="{FF2B5EF4-FFF2-40B4-BE49-F238E27FC236}">
                <a16:creationId xmlns:a16="http://schemas.microsoft.com/office/drawing/2014/main" id="{C7C9B0E1-BEE5-8627-D2E0-9BEAD48D65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2821" y="2520497"/>
            <a:ext cx="7632700" cy="3384550"/>
          </a:xfrm>
          <a:prstGeom prst="rect">
            <a:avLst/>
          </a:prstGeom>
        </p:spPr>
      </p:pic>
    </p:spTree>
    <p:extLst>
      <p:ext uri="{BB962C8B-B14F-4D97-AF65-F5344CB8AC3E}">
        <p14:creationId xmlns:p14="http://schemas.microsoft.com/office/powerpoint/2010/main" val="4151242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A91F0-E106-8004-E22A-02CB7A69C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754CCC-FFDE-929D-39FA-899422C273B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AA56CA-2717-F078-ABFB-BBB91CCFE80B}"/>
              </a:ext>
            </a:extLst>
          </p:cNvPr>
          <p:cNvSpPr>
            <a:spLocks noGrp="1"/>
          </p:cNvSpPr>
          <p:nvPr>
            <p:ph idx="1"/>
          </p:nvPr>
        </p:nvSpPr>
        <p:spPr/>
        <p:txBody>
          <a:bodyPr/>
          <a:lstStyle/>
          <a:p>
            <a:r>
              <a:rPr lang="en-GB" dirty="0"/>
              <a:t>Generalization relationship</a:t>
            </a:r>
          </a:p>
          <a:p>
            <a:endParaRPr lang="en-US" dirty="0"/>
          </a:p>
        </p:txBody>
      </p:sp>
      <p:pic>
        <p:nvPicPr>
          <p:cNvPr id="6" name="Picture 5">
            <a:extLst>
              <a:ext uri="{FF2B5EF4-FFF2-40B4-BE49-F238E27FC236}">
                <a16:creationId xmlns:a16="http://schemas.microsoft.com/office/drawing/2014/main" id="{80D3A791-C7F8-FE7A-F4F4-7082B17540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1085" y="2568575"/>
            <a:ext cx="6604000" cy="3244850"/>
          </a:xfrm>
          <a:prstGeom prst="rect">
            <a:avLst/>
          </a:prstGeom>
        </p:spPr>
      </p:pic>
    </p:spTree>
    <p:extLst>
      <p:ext uri="{BB962C8B-B14F-4D97-AF65-F5344CB8AC3E}">
        <p14:creationId xmlns:p14="http://schemas.microsoft.com/office/powerpoint/2010/main" val="17419077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30925-5907-C8EC-FCDF-01EAB6D9B967}"/>
              </a:ext>
            </a:extLst>
          </p:cNvPr>
          <p:cNvSpPr>
            <a:spLocks noGrp="1"/>
          </p:cNvSpPr>
          <p:nvPr>
            <p:ph type="title"/>
          </p:nvPr>
        </p:nvSpPr>
        <p:spPr/>
        <p:txBody>
          <a:bodyPr/>
          <a:lstStyle/>
          <a:p>
            <a:r>
              <a:rPr lang="en-GB" dirty="0"/>
              <a:t>How to draw a Use Case diagram in UML?</a:t>
            </a:r>
            <a:endParaRPr lang="en-US" dirty="0"/>
          </a:p>
        </p:txBody>
      </p:sp>
      <p:sp>
        <p:nvSpPr>
          <p:cNvPr id="3" name="Content Placeholder 2">
            <a:extLst>
              <a:ext uri="{FF2B5EF4-FFF2-40B4-BE49-F238E27FC236}">
                <a16:creationId xmlns:a16="http://schemas.microsoft.com/office/drawing/2014/main" id="{6B7C6060-2F7C-AE95-E279-C061D1B0F361}"/>
              </a:ext>
            </a:extLst>
          </p:cNvPr>
          <p:cNvSpPr>
            <a:spLocks noGrp="1"/>
          </p:cNvSpPr>
          <p:nvPr>
            <p:ph idx="1"/>
          </p:nvPr>
        </p:nvSpPr>
        <p:spPr/>
        <p:txBody>
          <a:bodyPr>
            <a:normAutofit lnSpcReduction="10000"/>
          </a:bodyPr>
          <a:lstStyle/>
          <a:p>
            <a:pPr algn="just"/>
            <a:r>
              <a:rPr lang="en-US" dirty="0"/>
              <a:t>Step 1: Identify Actors</a:t>
            </a:r>
          </a:p>
          <a:p>
            <a:pPr algn="just"/>
            <a:r>
              <a:rPr lang="en-GB" dirty="0"/>
              <a:t>Step 2: Identify the main functionalities or actions the actors must perform using the system. These are your use cases.</a:t>
            </a:r>
          </a:p>
          <a:p>
            <a:pPr algn="just"/>
            <a:r>
              <a:rPr lang="en-GB" dirty="0"/>
              <a:t>Step 3: Specify requirements, pre and post conditions</a:t>
            </a:r>
          </a:p>
          <a:p>
            <a:pPr algn="just"/>
            <a:r>
              <a:rPr lang="en-GB" dirty="0"/>
              <a:t>Step 4: Connect Actors and Use Cases</a:t>
            </a:r>
          </a:p>
          <a:p>
            <a:pPr algn="just"/>
            <a:r>
              <a:rPr lang="en-GB" dirty="0"/>
              <a:t>Step 5: Add System Boundary</a:t>
            </a:r>
          </a:p>
          <a:p>
            <a:pPr algn="just"/>
            <a:r>
              <a:rPr lang="en-GB" dirty="0"/>
              <a:t>Step 6: Define Relationships</a:t>
            </a:r>
          </a:p>
          <a:p>
            <a:pPr algn="just"/>
            <a:r>
              <a:rPr lang="en-GB" dirty="0"/>
              <a:t>Step 7: Review and Refine</a:t>
            </a:r>
          </a:p>
          <a:p>
            <a:pPr algn="just"/>
            <a:r>
              <a:rPr lang="en-GB" dirty="0"/>
              <a:t>Step 8: Validate</a:t>
            </a:r>
          </a:p>
        </p:txBody>
      </p:sp>
    </p:spTree>
    <p:extLst>
      <p:ext uri="{BB962C8B-B14F-4D97-AF65-F5344CB8AC3E}">
        <p14:creationId xmlns:p14="http://schemas.microsoft.com/office/powerpoint/2010/main" val="10134087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42F14-F405-F6AD-FC51-5B7EF95064E0}"/>
              </a:ext>
            </a:extLst>
          </p:cNvPr>
          <p:cNvSpPr>
            <a:spLocks noGrp="1"/>
          </p:cNvSpPr>
          <p:nvPr>
            <p:ph type="title"/>
          </p:nvPr>
        </p:nvSpPr>
        <p:spPr/>
        <p:txBody>
          <a:bodyPr/>
          <a:lstStyle/>
          <a:p>
            <a:r>
              <a:rPr lang="en-GB" dirty="0"/>
              <a:t>Use Case Diagram for Online Shopping System</a:t>
            </a:r>
            <a:endParaRPr lang="en-US" dirty="0"/>
          </a:p>
        </p:txBody>
      </p:sp>
      <p:sp>
        <p:nvSpPr>
          <p:cNvPr id="3" name="Content Placeholder 2">
            <a:extLst>
              <a:ext uri="{FF2B5EF4-FFF2-40B4-BE49-F238E27FC236}">
                <a16:creationId xmlns:a16="http://schemas.microsoft.com/office/drawing/2014/main" id="{B7A27509-03AE-9C75-EF19-27E5F7918CE4}"/>
              </a:ext>
            </a:extLst>
          </p:cNvPr>
          <p:cNvSpPr>
            <a:spLocks noGrp="1"/>
          </p:cNvSpPr>
          <p:nvPr>
            <p:ph idx="1"/>
          </p:nvPr>
        </p:nvSpPr>
        <p:spPr/>
        <p:txBody>
          <a:bodyPr>
            <a:normAutofit fontScale="92500"/>
          </a:bodyPr>
          <a:lstStyle/>
          <a:p>
            <a:r>
              <a:rPr lang="en-US" dirty="0"/>
              <a:t>Actors:</a:t>
            </a:r>
          </a:p>
          <a:p>
            <a:pPr lvl="1"/>
            <a:r>
              <a:rPr lang="en-US" dirty="0"/>
              <a:t>Customer</a:t>
            </a:r>
          </a:p>
          <a:p>
            <a:pPr lvl="1"/>
            <a:r>
              <a:rPr lang="en-US" dirty="0"/>
              <a:t>Admin</a:t>
            </a:r>
          </a:p>
          <a:p>
            <a:r>
              <a:rPr lang="en-GB" dirty="0"/>
              <a:t>Use Cases:</a:t>
            </a:r>
          </a:p>
          <a:p>
            <a:pPr lvl="1"/>
            <a:r>
              <a:rPr lang="en-GB" dirty="0"/>
              <a:t>Browse Products</a:t>
            </a:r>
          </a:p>
          <a:p>
            <a:pPr lvl="1"/>
            <a:r>
              <a:rPr lang="en-GB" dirty="0"/>
              <a:t>Add to Cart</a:t>
            </a:r>
          </a:p>
          <a:p>
            <a:pPr lvl="1"/>
            <a:r>
              <a:rPr lang="en-GB" dirty="0"/>
              <a:t>Checkout</a:t>
            </a:r>
          </a:p>
          <a:p>
            <a:pPr lvl="1"/>
            <a:r>
              <a:rPr lang="en-GB" dirty="0"/>
              <a:t>Manage Inventory (Admin)</a:t>
            </a:r>
          </a:p>
          <a:p>
            <a:r>
              <a:rPr lang="en-GB" dirty="0"/>
              <a:t>Requirements:</a:t>
            </a:r>
          </a:p>
          <a:p>
            <a:pPr lvl="1"/>
            <a:r>
              <a:rPr lang="en-GB" dirty="0"/>
              <a:t>The Customer can browse products, add to the cart, and complete the checkout</a:t>
            </a:r>
          </a:p>
          <a:p>
            <a:pPr lvl="1"/>
            <a:r>
              <a:rPr lang="en-GB" dirty="0"/>
              <a:t>The Admin can manage the inventory</a:t>
            </a:r>
            <a:endParaRPr lang="en-US" dirty="0"/>
          </a:p>
        </p:txBody>
      </p:sp>
    </p:spTree>
    <p:extLst>
      <p:ext uri="{BB962C8B-B14F-4D97-AF65-F5344CB8AC3E}">
        <p14:creationId xmlns:p14="http://schemas.microsoft.com/office/powerpoint/2010/main" val="18997109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2F65B-00C4-B110-C500-D2A8E6B1038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6998F15-2A40-D03F-EA9C-CC34BE806F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55725" y="1943894"/>
            <a:ext cx="9480550" cy="4114800"/>
          </a:xfrm>
        </p:spPr>
      </p:pic>
    </p:spTree>
    <p:extLst>
      <p:ext uri="{BB962C8B-B14F-4D97-AF65-F5344CB8AC3E}">
        <p14:creationId xmlns:p14="http://schemas.microsoft.com/office/powerpoint/2010/main" val="7536809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25BD7-80FD-49CF-7F7F-01742A7D64D9}"/>
              </a:ext>
            </a:extLst>
          </p:cNvPr>
          <p:cNvSpPr>
            <a:spLocks noGrp="1"/>
          </p:cNvSpPr>
          <p:nvPr>
            <p:ph type="title"/>
          </p:nvPr>
        </p:nvSpPr>
        <p:spPr/>
        <p:txBody>
          <a:bodyPr/>
          <a:lstStyle/>
          <a:p>
            <a:r>
              <a:rPr lang="en-US" dirty="0"/>
              <a:t>Use Case Diagram Tools</a:t>
            </a:r>
          </a:p>
        </p:txBody>
      </p:sp>
      <p:sp>
        <p:nvSpPr>
          <p:cNvPr id="3" name="Content Placeholder 2">
            <a:extLst>
              <a:ext uri="{FF2B5EF4-FFF2-40B4-BE49-F238E27FC236}">
                <a16:creationId xmlns:a16="http://schemas.microsoft.com/office/drawing/2014/main" id="{9D31E397-A8CA-014C-A3EB-01CECAFCAE03}"/>
              </a:ext>
            </a:extLst>
          </p:cNvPr>
          <p:cNvSpPr>
            <a:spLocks noGrp="1"/>
          </p:cNvSpPr>
          <p:nvPr>
            <p:ph idx="1"/>
          </p:nvPr>
        </p:nvSpPr>
        <p:spPr/>
        <p:txBody>
          <a:bodyPr/>
          <a:lstStyle/>
          <a:p>
            <a:r>
              <a:rPr lang="en-US" dirty="0"/>
              <a:t>draw.io</a:t>
            </a:r>
          </a:p>
          <a:p>
            <a:r>
              <a:rPr lang="en-US" dirty="0"/>
              <a:t>Microsoft Visio</a:t>
            </a:r>
          </a:p>
        </p:txBody>
      </p:sp>
    </p:spTree>
    <p:extLst>
      <p:ext uri="{BB962C8B-B14F-4D97-AF65-F5344CB8AC3E}">
        <p14:creationId xmlns:p14="http://schemas.microsoft.com/office/powerpoint/2010/main" val="27716150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DDA9D-1017-BA76-E82A-23407199C0FB}"/>
              </a:ext>
            </a:extLst>
          </p:cNvPr>
          <p:cNvSpPr>
            <a:spLocks noGrp="1"/>
          </p:cNvSpPr>
          <p:nvPr>
            <p:ph type="title"/>
          </p:nvPr>
        </p:nvSpPr>
        <p:spPr/>
        <p:txBody>
          <a:bodyPr/>
          <a:lstStyle/>
          <a:p>
            <a:r>
              <a:rPr lang="en-GB" dirty="0"/>
              <a:t>Case Study: A Career Guidance Portal</a:t>
            </a:r>
            <a:endParaRPr lang="en-US" dirty="0"/>
          </a:p>
        </p:txBody>
      </p:sp>
      <p:pic>
        <p:nvPicPr>
          <p:cNvPr id="5" name="Content Placeholder 4">
            <a:extLst>
              <a:ext uri="{FF2B5EF4-FFF2-40B4-BE49-F238E27FC236}">
                <a16:creationId xmlns:a16="http://schemas.microsoft.com/office/drawing/2014/main" id="{51572D7F-7396-E58C-541E-69D05FAA77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0229" y="1784963"/>
            <a:ext cx="10515600" cy="2014151"/>
          </a:xfrm>
        </p:spPr>
      </p:pic>
    </p:spTree>
    <p:extLst>
      <p:ext uri="{BB962C8B-B14F-4D97-AF65-F5344CB8AC3E}">
        <p14:creationId xmlns:p14="http://schemas.microsoft.com/office/powerpoint/2010/main" val="281941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EEAF2-9879-F92E-ADB3-D5000FC9B3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355719-E233-D1F0-F35E-88F44DAEEBAB}"/>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EC9DCFC7-A3D9-899F-EE46-A839E17583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8372" y="1690688"/>
            <a:ext cx="10871200" cy="4394200"/>
          </a:xfrm>
          <a:prstGeom prst="rect">
            <a:avLst/>
          </a:prstGeom>
        </p:spPr>
      </p:pic>
    </p:spTree>
    <p:extLst>
      <p:ext uri="{BB962C8B-B14F-4D97-AF65-F5344CB8AC3E}">
        <p14:creationId xmlns:p14="http://schemas.microsoft.com/office/powerpoint/2010/main" val="32363441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88E05-062D-9904-1AEF-B211D03733D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F481602-E5DF-57CB-AE37-E73CD2BE49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349829"/>
            <a:ext cx="10657114" cy="4976359"/>
          </a:xfrm>
        </p:spPr>
      </p:pic>
    </p:spTree>
    <p:extLst>
      <p:ext uri="{BB962C8B-B14F-4D97-AF65-F5344CB8AC3E}">
        <p14:creationId xmlns:p14="http://schemas.microsoft.com/office/powerpoint/2010/main" val="4129643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B78AA-185E-D8BA-D886-5A91388F7BB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097FDFF-B0BE-509B-7837-C893807DA3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5318" y="1503476"/>
            <a:ext cx="11448596" cy="3689350"/>
          </a:xfrm>
        </p:spPr>
      </p:pic>
    </p:spTree>
    <p:extLst>
      <p:ext uri="{BB962C8B-B14F-4D97-AF65-F5344CB8AC3E}">
        <p14:creationId xmlns:p14="http://schemas.microsoft.com/office/powerpoint/2010/main" val="22281751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F6723-E81E-D0A1-E1CE-540CE1A50823}"/>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65B9C57-8062-16E4-1D3B-5D65B439F8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81943" y="152400"/>
            <a:ext cx="7837714" cy="6340475"/>
          </a:xfrm>
        </p:spPr>
      </p:pic>
    </p:spTree>
    <p:extLst>
      <p:ext uri="{BB962C8B-B14F-4D97-AF65-F5344CB8AC3E}">
        <p14:creationId xmlns:p14="http://schemas.microsoft.com/office/powerpoint/2010/main" val="38429941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8E4A9-4E76-9457-ECCB-3F91B29D346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89E407-713E-EFCB-0672-2DB375488D9F}"/>
              </a:ext>
            </a:extLst>
          </p:cNvPr>
          <p:cNvSpPr>
            <a:spLocks noGrp="1"/>
          </p:cNvSpPr>
          <p:nvPr>
            <p:ph idx="1"/>
          </p:nvPr>
        </p:nvSpPr>
        <p:spPr/>
        <p:txBody>
          <a:bodyPr/>
          <a:lstStyle/>
          <a:p>
            <a:endParaRPr lang="en-US"/>
          </a:p>
        </p:txBody>
      </p:sp>
      <p:pic>
        <p:nvPicPr>
          <p:cNvPr id="4" name="Content Placeholder 3" descr="1vq1V.png">
            <a:extLst>
              <a:ext uri="{FF2B5EF4-FFF2-40B4-BE49-F238E27FC236}">
                <a16:creationId xmlns:a16="http://schemas.microsoft.com/office/drawing/2014/main" id="{50B3F4CC-B063-D7A0-ABB2-51B64AD2A633}"/>
              </a:ext>
            </a:extLst>
          </p:cNvPr>
          <p:cNvPicPr>
            <a:picLocks noChangeAspect="1"/>
          </p:cNvPicPr>
          <p:nvPr/>
        </p:nvPicPr>
        <p:blipFill>
          <a:blip r:embed="rId2" cstate="print"/>
          <a:stretch>
            <a:fillRect/>
          </a:stretch>
        </p:blipFill>
        <p:spPr>
          <a:xfrm>
            <a:off x="3802846" y="1437595"/>
            <a:ext cx="4586308" cy="4525962"/>
          </a:xfrm>
          <a:prstGeom prst="rect">
            <a:avLst/>
          </a:prstGeom>
        </p:spPr>
      </p:pic>
    </p:spTree>
    <p:extLst>
      <p:ext uri="{BB962C8B-B14F-4D97-AF65-F5344CB8AC3E}">
        <p14:creationId xmlns:p14="http://schemas.microsoft.com/office/powerpoint/2010/main" val="41725149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5080</TotalTime>
  <Words>1055</Words>
  <Application>Microsoft Office PowerPoint</Application>
  <PresentationFormat>Widescreen</PresentationFormat>
  <Paragraphs>98</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Times New Roman</vt:lpstr>
      <vt:lpstr>Office Theme</vt:lpstr>
      <vt:lpstr>Software Engineering</vt:lpstr>
      <vt:lpstr>Why we model?</vt:lpstr>
      <vt:lpstr>PowerPoint Presentation</vt:lpstr>
      <vt:lpstr>What is a Model?</vt:lpstr>
      <vt:lpstr>Benefits of Model</vt:lpstr>
      <vt:lpstr>Limitation of Human Ability</vt:lpstr>
      <vt:lpstr>Principles of Modeling – 1st</vt:lpstr>
      <vt:lpstr>Principles of Modeling – 2nd</vt:lpstr>
      <vt:lpstr>Principles of Modeling – 3rd</vt:lpstr>
      <vt:lpstr>Principles of Modeling – 4th</vt:lpstr>
      <vt:lpstr>Requirement Modeling</vt:lpstr>
      <vt:lpstr>PowerPoint Presentation</vt:lpstr>
      <vt:lpstr>Scenario-based Modeling</vt:lpstr>
      <vt:lpstr>UML</vt:lpstr>
      <vt:lpstr>UML is a Language for Visualizing</vt:lpstr>
      <vt:lpstr>Goals of UML</vt:lpstr>
      <vt:lpstr>Use Case Modeling</vt:lpstr>
      <vt:lpstr>PowerPoint Presentation</vt:lpstr>
      <vt:lpstr>Actors and Use Cases</vt:lpstr>
      <vt:lpstr>PowerPoint Presentation</vt:lpstr>
      <vt:lpstr>Use Case Relationships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draw a Use Case diagram in UML?</vt:lpstr>
      <vt:lpstr>Use Case Diagram for Online Shopping System</vt:lpstr>
      <vt:lpstr>PowerPoint Presentation</vt:lpstr>
      <vt:lpstr>Use Case Diagram Tools</vt:lpstr>
      <vt:lpstr>Case Study: A Career Guidance Portal</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Nasim Adnan</dc:creator>
  <cp:lastModifiedBy>Md. Nasim Adnan</cp:lastModifiedBy>
  <cp:revision>38</cp:revision>
  <dcterms:created xsi:type="dcterms:W3CDTF">2025-03-09T05:54:20Z</dcterms:created>
  <dcterms:modified xsi:type="dcterms:W3CDTF">2025-05-17T09:50:38Z</dcterms:modified>
</cp:coreProperties>
</file>