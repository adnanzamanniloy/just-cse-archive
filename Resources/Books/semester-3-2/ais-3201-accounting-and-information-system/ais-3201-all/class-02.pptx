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66" r:id="rId4"/>
    <p:sldId id="267" r:id="rId5"/>
    <p:sldId id="257" r:id="rId6"/>
    <p:sldId id="258" r:id="rId7"/>
    <p:sldId id="261" r:id="rId8"/>
    <p:sldId id="268" r:id="rId9"/>
    <p:sldId id="269" r:id="rId10"/>
    <p:sldId id="271" r:id="rId11"/>
    <p:sldId id="272" r:id="rId12"/>
    <p:sldId id="270" r:id="rId13"/>
    <p:sldId id="262" r:id="rId14"/>
    <p:sldId id="263" r:id="rId15"/>
    <p:sldId id="259" r:id="rId16"/>
    <p:sldId id="260"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The Information Environment </a:t>
            </a:r>
          </a:p>
        </p:txBody>
      </p:sp>
      <p:sp>
        <p:nvSpPr>
          <p:cNvPr id="3" name="Content Placeholder 2"/>
          <p:cNvSpPr>
            <a:spLocks noGrp="1"/>
          </p:cNvSpPr>
          <p:nvPr>
            <p:ph idx="1"/>
          </p:nvPr>
        </p:nvSpPr>
        <p:spPr>
          <a:xfrm>
            <a:off x="457200" y="1371600"/>
            <a:ext cx="8229600" cy="4754563"/>
          </a:xfrm>
        </p:spPr>
        <p:txBody>
          <a:bodyPr>
            <a:normAutofit fontScale="92500" lnSpcReduction="10000"/>
          </a:bodyPr>
          <a:lstStyle/>
          <a:p>
            <a:pPr marL="0" indent="0" algn="just">
              <a:buNone/>
            </a:pPr>
            <a:r>
              <a:rPr lang="en-US" dirty="0"/>
              <a:t>Like other business resources (e.g. raw materials, capital, and labor), information is vital for the survival of a business organization. In this regard, we have to recognize information as a business resource. Every business day, vast quantities of information flow to decision makers and other users to meet a variety of internal needs. In addition, information flows out from the organization to external users, such as customers, suppliers, and stakeholders who have an interest in the firm. </a:t>
            </a:r>
          </a:p>
        </p:txBody>
      </p:sp>
    </p:spTree>
    <p:extLst>
      <p:ext uri="{BB962C8B-B14F-4D97-AF65-F5344CB8AC3E}">
        <p14:creationId xmlns:p14="http://schemas.microsoft.com/office/powerpoint/2010/main" val="3584980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Information </a:t>
            </a:r>
            <a:r>
              <a:rPr lang="en-US" dirty="0"/>
              <a:t>flows.</a:t>
            </a:r>
          </a:p>
        </p:txBody>
      </p:sp>
      <p:pic>
        <p:nvPicPr>
          <p:cNvPr id="1026" name="Picture 2" descr="C:\Users\user\Downloads\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7467600" cy="4648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5810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Data versus Information</a:t>
            </a:r>
          </a:p>
        </p:txBody>
      </p:sp>
      <p:sp>
        <p:nvSpPr>
          <p:cNvPr id="3" name="Content Placeholder 2"/>
          <p:cNvSpPr>
            <a:spLocks noGrp="1"/>
          </p:cNvSpPr>
          <p:nvPr>
            <p:ph idx="1"/>
          </p:nvPr>
        </p:nvSpPr>
        <p:spPr>
          <a:xfrm>
            <a:off x="228600" y="990600"/>
            <a:ext cx="8686800" cy="5715000"/>
          </a:xfrm>
        </p:spPr>
        <p:txBody>
          <a:bodyPr>
            <a:noAutofit/>
          </a:bodyPr>
          <a:lstStyle/>
          <a:p>
            <a:pPr marL="0" indent="0" algn="just">
              <a:buNone/>
            </a:pPr>
            <a:r>
              <a:rPr lang="en-US" sz="3050" dirty="0">
                <a:latin typeface="Times New Roman" pitchFamily="18" charset="0"/>
                <a:cs typeface="Times New Roman" pitchFamily="18" charset="0"/>
              </a:rPr>
              <a:t>Data are facts, which may or may not be processed (edited, summarized, or refined) and have no direct effect on the user. By contrast, information causes the user to take an action that he or she otherwise could not, or would not, have taken. Information is often defined simply as processed data. This is an inadequate definition. Information is determined by the effect it has on the user, not by its physical form. Thus, information is not just a set of processed facts arranged in a formal report. Information allows users to take action to resolve conflicts, reduce uncertainty, and make decisions.</a:t>
            </a:r>
          </a:p>
        </p:txBody>
      </p:sp>
    </p:spTree>
    <p:extLst>
      <p:ext uri="{BB962C8B-B14F-4D97-AF65-F5344CB8AC3E}">
        <p14:creationId xmlns:p14="http://schemas.microsoft.com/office/powerpoint/2010/main" val="3984713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user\Downloads\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143000"/>
            <a:ext cx="7162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267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solidFill>
                  <a:srgbClr val="0070C0"/>
                </a:solidFill>
              </a:rPr>
              <a:t>A General Model for AIS</a:t>
            </a:r>
          </a:p>
        </p:txBody>
      </p:sp>
      <p:sp>
        <p:nvSpPr>
          <p:cNvPr id="3" name="Content Placeholder 2"/>
          <p:cNvSpPr>
            <a:spLocks noGrp="1"/>
          </p:cNvSpPr>
          <p:nvPr>
            <p:ph idx="1"/>
          </p:nvPr>
        </p:nvSpPr>
        <p:spPr>
          <a:xfrm>
            <a:off x="457200" y="1371600"/>
            <a:ext cx="8229600" cy="5181600"/>
          </a:xfrm>
        </p:spPr>
        <p:txBody>
          <a:bodyPr>
            <a:noAutofit/>
          </a:bodyPr>
          <a:lstStyle/>
          <a:p>
            <a:pPr marL="0" indent="0" algn="just">
              <a:buNone/>
            </a:pPr>
            <a:r>
              <a:rPr lang="en-US" sz="3600" dirty="0" smtClean="0">
                <a:latin typeface="Times New Roman" pitchFamily="18" charset="0"/>
                <a:cs typeface="Times New Roman" pitchFamily="18" charset="0"/>
              </a:rPr>
              <a:t>An </a:t>
            </a:r>
            <a:r>
              <a:rPr lang="en-US" sz="3600" dirty="0">
                <a:latin typeface="Times New Roman" pitchFamily="18" charset="0"/>
                <a:cs typeface="Times New Roman" pitchFamily="18" charset="0"/>
              </a:rPr>
              <a:t>AIS can be a </a:t>
            </a:r>
            <a:r>
              <a:rPr lang="en-US" sz="3600" dirty="0">
                <a:solidFill>
                  <a:srgbClr val="FF0000"/>
                </a:solidFill>
                <a:latin typeface="Times New Roman" pitchFamily="18" charset="0"/>
                <a:cs typeface="Times New Roman" pitchFamily="18" charset="0"/>
              </a:rPr>
              <a:t>paper-and-pencil</a:t>
            </a:r>
            <a:r>
              <a:rPr lang="en-US" sz="3600" dirty="0">
                <a:latin typeface="Times New Roman" pitchFamily="18" charset="0"/>
                <a:cs typeface="Times New Roman" pitchFamily="18" charset="0"/>
              </a:rPr>
              <a:t> manual system, a complex system using the latest in IT, or something in between. Regardless of the approach taken, the process is the same. The AIS must collect, enter, process, store, and report data and information. The paper and pencil or the computer hardware and software are merely the tools used to produce the information. </a:t>
            </a:r>
          </a:p>
        </p:txBody>
      </p:sp>
    </p:spTree>
    <p:extLst>
      <p:ext uri="{BB962C8B-B14F-4D97-AF65-F5344CB8AC3E}">
        <p14:creationId xmlns:p14="http://schemas.microsoft.com/office/powerpoint/2010/main" val="3266586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pPr algn="just"/>
            <a:r>
              <a:rPr lang="en-GB" b="1" dirty="0"/>
              <a:t>Framework of AIS and various subsystems</a:t>
            </a:r>
            <a:endParaRPr lang="en-US" dirty="0"/>
          </a:p>
        </p:txBody>
      </p:sp>
      <p:sp>
        <p:nvSpPr>
          <p:cNvPr id="3" name="Content Placeholder 2"/>
          <p:cNvSpPr>
            <a:spLocks noGrp="1"/>
          </p:cNvSpPr>
          <p:nvPr>
            <p:ph idx="1"/>
          </p:nvPr>
        </p:nvSpPr>
        <p:spPr>
          <a:xfrm>
            <a:off x="457200" y="1371600"/>
            <a:ext cx="8229600" cy="4754563"/>
          </a:xfrm>
        </p:spPr>
        <p:txBody>
          <a:bodyPr>
            <a:normAutofit fontScale="85000" lnSpcReduction="20000"/>
          </a:bodyPr>
          <a:lstStyle/>
          <a:p>
            <a:pPr marL="0" indent="0" algn="just">
              <a:buNone/>
            </a:pPr>
            <a:r>
              <a:rPr lang="en-US" dirty="0">
                <a:latin typeface="Times New Roman" pitchFamily="18" charset="0"/>
                <a:cs typeface="Times New Roman" pitchFamily="18" charset="0"/>
              </a:rPr>
              <a:t>There are six components of an AIS: </a:t>
            </a:r>
            <a:endParaRPr lang="en-US" dirty="0" smtClean="0">
              <a:latin typeface="Times New Roman" pitchFamily="18" charset="0"/>
              <a:cs typeface="Times New Roman" pitchFamily="18" charset="0"/>
            </a:endParaRPr>
          </a:p>
          <a:p>
            <a:pPr marL="514350" indent="-514350" algn="just">
              <a:buAutoNum type="arabicParenR"/>
            </a:pPr>
            <a:r>
              <a:rPr lang="en-US" dirty="0" smtClean="0">
                <a:latin typeface="Times New Roman" pitchFamily="18" charset="0"/>
                <a:cs typeface="Times New Roman" pitchFamily="18" charset="0"/>
              </a:rPr>
              <a:t>The </a:t>
            </a:r>
            <a:r>
              <a:rPr lang="en-US" dirty="0">
                <a:solidFill>
                  <a:srgbClr val="FF0000"/>
                </a:solidFill>
                <a:latin typeface="Times New Roman" pitchFamily="18" charset="0"/>
                <a:cs typeface="Times New Roman" pitchFamily="18" charset="0"/>
              </a:rPr>
              <a:t>people </a:t>
            </a:r>
            <a:r>
              <a:rPr lang="en-US" dirty="0">
                <a:latin typeface="Times New Roman" pitchFamily="18" charset="0"/>
                <a:cs typeface="Times New Roman" pitchFamily="18" charset="0"/>
              </a:rPr>
              <a:t>who use the system </a:t>
            </a:r>
            <a:endParaRPr lang="en-US" dirty="0" smtClean="0">
              <a:latin typeface="Times New Roman" pitchFamily="18" charset="0"/>
              <a:cs typeface="Times New Roman" pitchFamily="18" charset="0"/>
            </a:endParaRPr>
          </a:p>
          <a:p>
            <a:pPr marL="514350" indent="-514350" algn="just">
              <a:buAutoNum type="arabicParenR"/>
            </a:pP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The </a:t>
            </a:r>
            <a:r>
              <a:rPr lang="en-US" dirty="0">
                <a:solidFill>
                  <a:srgbClr val="FF0000"/>
                </a:solidFill>
                <a:latin typeface="Times New Roman" pitchFamily="18" charset="0"/>
                <a:cs typeface="Times New Roman" pitchFamily="18" charset="0"/>
              </a:rPr>
              <a:t>procedures and instructions </a:t>
            </a:r>
            <a:r>
              <a:rPr lang="en-US" dirty="0">
                <a:latin typeface="Times New Roman" pitchFamily="18" charset="0"/>
                <a:cs typeface="Times New Roman" pitchFamily="18" charset="0"/>
              </a:rPr>
              <a:t>used to collect, process, and store data </a:t>
            </a:r>
            <a:endParaRPr lang="en-US" dirty="0" smtClean="0">
              <a:latin typeface="Times New Roman" pitchFamily="18" charset="0"/>
              <a:cs typeface="Times New Roman" pitchFamily="18" charset="0"/>
            </a:endParaRPr>
          </a:p>
          <a:p>
            <a:pPr marL="514350" indent="-514350" algn="just">
              <a:buAutoNum type="arabicParenR"/>
            </a:pPr>
            <a:r>
              <a:rPr lang="en-US" dirty="0" smtClean="0">
                <a:latin typeface="Times New Roman" pitchFamily="18" charset="0"/>
                <a:cs typeface="Times New Roman" pitchFamily="18" charset="0"/>
              </a:rPr>
              <a:t>The </a:t>
            </a:r>
            <a:r>
              <a:rPr lang="en-US" dirty="0">
                <a:solidFill>
                  <a:srgbClr val="FF0000"/>
                </a:solidFill>
                <a:latin typeface="Times New Roman" pitchFamily="18" charset="0"/>
                <a:cs typeface="Times New Roman" pitchFamily="18" charset="0"/>
              </a:rPr>
              <a:t>data</a:t>
            </a:r>
            <a:r>
              <a:rPr lang="en-US" dirty="0">
                <a:latin typeface="Times New Roman" pitchFamily="18" charset="0"/>
                <a:cs typeface="Times New Roman" pitchFamily="18" charset="0"/>
              </a:rPr>
              <a:t> about the organization and its business activities </a:t>
            </a:r>
            <a:endParaRPr lang="en-US" dirty="0" smtClean="0">
              <a:latin typeface="Times New Roman" pitchFamily="18" charset="0"/>
              <a:cs typeface="Times New Roman" pitchFamily="18" charset="0"/>
            </a:endParaRPr>
          </a:p>
          <a:p>
            <a:pPr marL="514350" indent="-514350" algn="just">
              <a:buAutoNum type="arabicParenR"/>
            </a:pPr>
            <a:r>
              <a:rPr lang="en-US" dirty="0" smtClean="0">
                <a:latin typeface="Times New Roman" pitchFamily="18" charset="0"/>
                <a:cs typeface="Times New Roman" pitchFamily="18" charset="0"/>
              </a:rPr>
              <a:t>The </a:t>
            </a:r>
            <a:r>
              <a:rPr lang="en-US" dirty="0">
                <a:solidFill>
                  <a:srgbClr val="FF0000"/>
                </a:solidFill>
                <a:latin typeface="Times New Roman" pitchFamily="18" charset="0"/>
                <a:cs typeface="Times New Roman" pitchFamily="18" charset="0"/>
              </a:rPr>
              <a:t>software</a:t>
            </a:r>
            <a:r>
              <a:rPr lang="en-US" dirty="0">
                <a:latin typeface="Times New Roman" pitchFamily="18" charset="0"/>
                <a:cs typeface="Times New Roman" pitchFamily="18" charset="0"/>
              </a:rPr>
              <a:t> used to process the data </a:t>
            </a:r>
            <a:endParaRPr lang="en-US" dirty="0" smtClean="0">
              <a:latin typeface="Times New Roman" pitchFamily="18" charset="0"/>
              <a:cs typeface="Times New Roman" pitchFamily="18" charset="0"/>
            </a:endParaRPr>
          </a:p>
          <a:p>
            <a:pPr marL="514350" indent="-514350" algn="just">
              <a:buAutoNum type="arabicParenR"/>
            </a:pPr>
            <a:r>
              <a:rPr lang="en-US" dirty="0" smtClean="0">
                <a:latin typeface="Times New Roman" pitchFamily="18" charset="0"/>
                <a:cs typeface="Times New Roman" pitchFamily="18" charset="0"/>
              </a:rPr>
              <a:t>The </a:t>
            </a:r>
            <a:r>
              <a:rPr lang="en-US" dirty="0">
                <a:solidFill>
                  <a:srgbClr val="FF0000"/>
                </a:solidFill>
                <a:latin typeface="Times New Roman" pitchFamily="18" charset="0"/>
                <a:cs typeface="Times New Roman" pitchFamily="18" charset="0"/>
              </a:rPr>
              <a:t>information technology infrastructure</a:t>
            </a:r>
            <a:r>
              <a:rPr lang="en-US" dirty="0">
                <a:latin typeface="Times New Roman" pitchFamily="18" charset="0"/>
                <a:cs typeface="Times New Roman" pitchFamily="18" charset="0"/>
              </a:rPr>
              <a:t>, including the computers, peripheral devices, and network communications devices used in the AIS </a:t>
            </a:r>
            <a:endParaRPr lang="en-US" dirty="0" smtClean="0">
              <a:latin typeface="Times New Roman" pitchFamily="18" charset="0"/>
              <a:cs typeface="Times New Roman" pitchFamily="18" charset="0"/>
            </a:endParaRPr>
          </a:p>
          <a:p>
            <a:pPr marL="514350" indent="-514350" algn="just">
              <a:buAutoNum type="arabicParenR"/>
            </a:pP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The </a:t>
            </a:r>
            <a:r>
              <a:rPr lang="en-US" dirty="0">
                <a:solidFill>
                  <a:srgbClr val="FF0000"/>
                </a:solidFill>
                <a:latin typeface="Times New Roman" pitchFamily="18" charset="0"/>
                <a:cs typeface="Times New Roman" pitchFamily="18" charset="0"/>
              </a:rPr>
              <a:t>internal controls and security </a:t>
            </a:r>
            <a:r>
              <a:rPr lang="en-US" dirty="0">
                <a:latin typeface="Times New Roman" pitchFamily="18" charset="0"/>
                <a:cs typeface="Times New Roman" pitchFamily="18" charset="0"/>
              </a:rPr>
              <a:t>measures that safeguard AIS data.</a:t>
            </a:r>
          </a:p>
        </p:txBody>
      </p:sp>
    </p:spTree>
    <p:extLst>
      <p:ext uri="{BB962C8B-B14F-4D97-AF65-F5344CB8AC3E}">
        <p14:creationId xmlns:p14="http://schemas.microsoft.com/office/powerpoint/2010/main" val="1688501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89038"/>
          </a:xfrm>
        </p:spPr>
        <p:txBody>
          <a:bodyPr>
            <a:normAutofit fontScale="90000"/>
          </a:bodyPr>
          <a:lstStyle/>
          <a:p>
            <a:r>
              <a:rPr lang="en-GB" b="1" dirty="0"/>
              <a:t>Framework of </a:t>
            </a:r>
            <a:r>
              <a:rPr lang="en-GB" b="1" dirty="0" smtClean="0"/>
              <a:t>AIS </a:t>
            </a:r>
            <a:r>
              <a:rPr lang="en-GB" b="1" dirty="0"/>
              <a:t>and various subsystems</a:t>
            </a: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157944" y="1847517"/>
            <a:ext cx="6828112" cy="4172283"/>
          </a:xfrm>
          <a:prstGeom prst="rect">
            <a:avLst/>
          </a:prstGeom>
        </p:spPr>
      </p:pic>
    </p:spTree>
    <p:extLst>
      <p:ext uri="{BB962C8B-B14F-4D97-AF65-F5344CB8AC3E}">
        <p14:creationId xmlns:p14="http://schemas.microsoft.com/office/powerpoint/2010/main" val="801414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AIS subsystems</a:t>
            </a:r>
          </a:p>
        </p:txBody>
      </p:sp>
      <p:sp>
        <p:nvSpPr>
          <p:cNvPr id="3" name="Content Placeholder 2"/>
          <p:cNvSpPr>
            <a:spLocks noGrp="1"/>
          </p:cNvSpPr>
          <p:nvPr>
            <p:ph idx="1"/>
          </p:nvPr>
        </p:nvSpPr>
        <p:spPr>
          <a:xfrm>
            <a:off x="457200" y="1219200"/>
            <a:ext cx="8229600" cy="4906963"/>
          </a:xfrm>
        </p:spPr>
        <p:txBody>
          <a:bodyPr>
            <a:normAutofit lnSpcReduction="10000"/>
          </a:bodyPr>
          <a:lstStyle/>
          <a:p>
            <a:pPr marL="0" indent="0">
              <a:buNone/>
            </a:pPr>
            <a:r>
              <a:rPr lang="en-US" dirty="0"/>
              <a:t>In order to explain how accounting </a:t>
            </a:r>
            <a:r>
              <a:rPr lang="en-US" dirty="0" smtClean="0"/>
              <a:t>information </a:t>
            </a:r>
            <a:r>
              <a:rPr lang="en-US" dirty="0"/>
              <a:t>system could achieve the </a:t>
            </a:r>
            <a:r>
              <a:rPr lang="en-US" dirty="0" smtClean="0"/>
              <a:t>goals</a:t>
            </a:r>
            <a:r>
              <a:rPr lang="en-US" dirty="0"/>
              <a:t>, it is needed to classify organizations’ activities into five main cycles which are the subsystems of AIS</a:t>
            </a:r>
            <a:r>
              <a:rPr lang="en-US" dirty="0" smtClean="0"/>
              <a:t>:</a:t>
            </a:r>
          </a:p>
          <a:p>
            <a:pPr marL="514350" indent="-514350">
              <a:buFont typeface="+mj-lt"/>
              <a:buAutoNum type="arabicPeriod"/>
            </a:pPr>
            <a:r>
              <a:rPr lang="en-US" dirty="0"/>
              <a:t> Expenditure </a:t>
            </a:r>
            <a:r>
              <a:rPr lang="en-US" dirty="0" smtClean="0"/>
              <a:t>cycle</a:t>
            </a:r>
          </a:p>
          <a:p>
            <a:pPr marL="514350" indent="-514350">
              <a:buFont typeface="+mj-lt"/>
              <a:buAutoNum type="arabicPeriod"/>
            </a:pPr>
            <a:r>
              <a:rPr lang="en-US" dirty="0"/>
              <a:t> Production cycle </a:t>
            </a:r>
            <a:endParaRPr lang="en-US" dirty="0" smtClean="0"/>
          </a:p>
          <a:p>
            <a:pPr marL="514350" indent="-514350">
              <a:buFont typeface="+mj-lt"/>
              <a:buAutoNum type="arabicPeriod"/>
            </a:pPr>
            <a:r>
              <a:rPr lang="en-US" dirty="0"/>
              <a:t> Human resources </a:t>
            </a:r>
            <a:r>
              <a:rPr lang="en-US" dirty="0" smtClean="0"/>
              <a:t>cycle</a:t>
            </a:r>
          </a:p>
          <a:p>
            <a:pPr marL="514350" indent="-514350">
              <a:buFont typeface="+mj-lt"/>
              <a:buAutoNum type="arabicPeriod"/>
            </a:pPr>
            <a:r>
              <a:rPr lang="en-US" dirty="0"/>
              <a:t> Revenue </a:t>
            </a:r>
            <a:r>
              <a:rPr lang="en-US" dirty="0" smtClean="0"/>
              <a:t>cycle</a:t>
            </a:r>
          </a:p>
          <a:p>
            <a:pPr marL="514350" indent="-514350">
              <a:buFont typeface="+mj-lt"/>
              <a:buAutoNum type="arabicPeriod"/>
            </a:pPr>
            <a:r>
              <a:rPr lang="en-US" dirty="0"/>
              <a:t> Financing cycle</a:t>
            </a:r>
          </a:p>
        </p:txBody>
      </p:sp>
    </p:spTree>
    <p:extLst>
      <p:ext uri="{BB962C8B-B14F-4D97-AF65-F5344CB8AC3E}">
        <p14:creationId xmlns:p14="http://schemas.microsoft.com/office/powerpoint/2010/main" val="3398761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user\Downloads\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990600"/>
            <a:ext cx="6781800"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4409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user\Downloads\5.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1" y="762000"/>
            <a:ext cx="7848600" cy="5257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102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user\Downloads\4.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533400"/>
            <a:ext cx="8000999" cy="5468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190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Factors Influencing </a:t>
            </a:r>
            <a:r>
              <a:rPr lang="en-GB" b="1" dirty="0" smtClean="0"/>
              <a:t>of </a:t>
            </a:r>
            <a:r>
              <a:rPr lang="en-GB" b="1" dirty="0"/>
              <a:t>AIS</a:t>
            </a:r>
            <a:endParaRPr lang="en-US" dirty="0"/>
          </a:p>
        </p:txBody>
      </p:sp>
      <p:sp>
        <p:nvSpPr>
          <p:cNvPr id="3" name="Content Placeholder 2"/>
          <p:cNvSpPr>
            <a:spLocks noGrp="1"/>
          </p:cNvSpPr>
          <p:nvPr>
            <p:ph idx="1"/>
          </p:nvPr>
        </p:nvSpPr>
        <p:spPr/>
        <p:txBody>
          <a:bodyPr/>
          <a:lstStyle/>
          <a:p>
            <a:pPr marL="0" indent="0">
              <a:buNone/>
            </a:pPr>
            <a:r>
              <a:rPr lang="en-US" dirty="0" smtClean="0"/>
              <a:t>  </a:t>
            </a:r>
          </a:p>
          <a:p>
            <a:pPr marL="0" indent="0" algn="just">
              <a:buNone/>
            </a:pPr>
            <a:r>
              <a:rPr lang="en-US" dirty="0" smtClean="0">
                <a:latin typeface="Times New Roman" pitchFamily="18" charset="0"/>
                <a:cs typeface="Times New Roman" pitchFamily="18" charset="0"/>
              </a:rPr>
              <a:t>There </a:t>
            </a:r>
            <a:r>
              <a:rPr lang="en-US" dirty="0">
                <a:latin typeface="Times New Roman" pitchFamily="18" charset="0"/>
                <a:cs typeface="Times New Roman" pitchFamily="18" charset="0"/>
              </a:rPr>
              <a:t>are three areas that specifically influence AIS; </a:t>
            </a:r>
            <a:endParaRPr lang="en-US" dirty="0" smtClean="0">
              <a:latin typeface="Times New Roman" pitchFamily="18" charset="0"/>
              <a:cs typeface="Times New Roman" pitchFamily="18" charset="0"/>
            </a:endParaRPr>
          </a:p>
          <a:p>
            <a:pPr marL="0" indent="0" algn="just">
              <a:buNone/>
            </a:pPr>
            <a:endParaRPr lang="en-US" dirty="0" smtClean="0">
              <a:latin typeface="Times New Roman" pitchFamily="18" charset="0"/>
              <a:cs typeface="Times New Roman" pitchFamily="18" charset="0"/>
            </a:endParaRPr>
          </a:p>
          <a:p>
            <a:pPr algn="just">
              <a:buFont typeface="Wingdings" pitchFamily="2" charset="2"/>
              <a:buChar char="Ø"/>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Behavioral </a:t>
            </a:r>
            <a:r>
              <a:rPr lang="en-US" dirty="0">
                <a:latin typeface="Times New Roman" pitchFamily="18" charset="0"/>
                <a:cs typeface="Times New Roman" pitchFamily="18" charset="0"/>
              </a:rPr>
              <a:t>Analysis, </a:t>
            </a:r>
            <a:endParaRPr lang="en-US" dirty="0" smtClean="0">
              <a:latin typeface="Times New Roman" pitchFamily="18" charset="0"/>
              <a:cs typeface="Times New Roman" pitchFamily="18" charset="0"/>
            </a:endParaRPr>
          </a:p>
          <a:p>
            <a:pPr algn="just">
              <a:buFont typeface="Wingdings" pitchFamily="2" charset="2"/>
              <a:buChar char="Ø"/>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Quantitative </a:t>
            </a:r>
            <a:r>
              <a:rPr lang="en-US" dirty="0">
                <a:latin typeface="Times New Roman" pitchFamily="18" charset="0"/>
                <a:cs typeface="Times New Roman" pitchFamily="18" charset="0"/>
              </a:rPr>
              <a:t>Methods and </a:t>
            </a:r>
            <a:endParaRPr lang="en-US" dirty="0" smtClean="0">
              <a:latin typeface="Times New Roman" pitchFamily="18" charset="0"/>
              <a:cs typeface="Times New Roman" pitchFamily="18" charset="0"/>
            </a:endParaRPr>
          </a:p>
          <a:p>
            <a:pPr algn="just">
              <a:buFont typeface="Wingdings" pitchFamily="2" charset="2"/>
              <a:buChar char="Ø"/>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Contemporary </a:t>
            </a:r>
            <a:r>
              <a:rPr lang="en-US" dirty="0">
                <a:latin typeface="Times New Roman" pitchFamily="18" charset="0"/>
                <a:cs typeface="Times New Roman" pitchFamily="18" charset="0"/>
              </a:rPr>
              <a:t>Management Concepts.</a:t>
            </a:r>
          </a:p>
        </p:txBody>
      </p:sp>
    </p:spTree>
    <p:extLst>
      <p:ext uri="{BB962C8B-B14F-4D97-AF65-F5344CB8AC3E}">
        <p14:creationId xmlns:p14="http://schemas.microsoft.com/office/powerpoint/2010/main" val="3147329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Factors Influencing Design </a:t>
            </a:r>
            <a:r>
              <a:rPr lang="en-GB" b="1" dirty="0" smtClean="0"/>
              <a:t>of AIS</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ü"/>
            </a:pPr>
            <a:r>
              <a:rPr lang="en-US" dirty="0" smtClean="0"/>
              <a:t> </a:t>
            </a:r>
            <a:r>
              <a:rPr lang="en-GB" b="1" dirty="0"/>
              <a:t>Financial reporting </a:t>
            </a:r>
            <a:r>
              <a:rPr lang="en-GB" b="1" dirty="0" smtClean="0"/>
              <a:t>standard</a:t>
            </a:r>
          </a:p>
          <a:p>
            <a:pPr>
              <a:buFont typeface="Wingdings" pitchFamily="2" charset="2"/>
              <a:buChar char="ü"/>
            </a:pPr>
            <a:r>
              <a:rPr lang="en-GB" b="1" dirty="0"/>
              <a:t> </a:t>
            </a:r>
            <a:r>
              <a:rPr lang="en-GB" b="1" dirty="0"/>
              <a:t>Institutional </a:t>
            </a:r>
            <a:r>
              <a:rPr lang="en-GB" b="1" dirty="0" smtClean="0"/>
              <a:t>accounting</a:t>
            </a:r>
          </a:p>
          <a:p>
            <a:pPr>
              <a:buFont typeface="Wingdings" pitchFamily="2" charset="2"/>
              <a:buChar char="ü"/>
            </a:pPr>
            <a:r>
              <a:rPr lang="en-GB" b="1" dirty="0"/>
              <a:t> </a:t>
            </a:r>
            <a:r>
              <a:rPr lang="en-GB" b="1" dirty="0"/>
              <a:t>Infrastructure and technology management </a:t>
            </a:r>
            <a:r>
              <a:rPr lang="en-GB" b="1" dirty="0" smtClean="0"/>
              <a:t>commitment</a:t>
            </a:r>
          </a:p>
          <a:p>
            <a:pPr>
              <a:buFont typeface="Wingdings" pitchFamily="2" charset="2"/>
              <a:buChar char="ü"/>
            </a:pPr>
            <a:r>
              <a:rPr lang="en-GB" b="1" dirty="0"/>
              <a:t> </a:t>
            </a:r>
            <a:r>
              <a:rPr lang="en-GB" b="1" dirty="0"/>
              <a:t>Data and information </a:t>
            </a:r>
            <a:r>
              <a:rPr lang="en-GB" b="1" dirty="0" smtClean="0"/>
              <a:t>quality</a:t>
            </a:r>
          </a:p>
          <a:p>
            <a:pPr>
              <a:buFont typeface="Wingdings" pitchFamily="2" charset="2"/>
              <a:buChar char="ü"/>
            </a:pPr>
            <a:r>
              <a:rPr lang="en-GB" b="1" dirty="0"/>
              <a:t> </a:t>
            </a:r>
            <a:r>
              <a:rPr lang="en-GB" b="1" dirty="0"/>
              <a:t>Employee attitude and </a:t>
            </a:r>
            <a:r>
              <a:rPr lang="en-GB" b="1" dirty="0" smtClean="0"/>
              <a:t>willingness</a:t>
            </a:r>
          </a:p>
          <a:p>
            <a:pPr>
              <a:buFont typeface="Wingdings" pitchFamily="2" charset="2"/>
              <a:buChar char="ü"/>
            </a:pPr>
            <a:r>
              <a:rPr lang="en-GB" b="1" dirty="0"/>
              <a:t> </a:t>
            </a:r>
            <a:r>
              <a:rPr lang="en-GB" b="1" dirty="0"/>
              <a:t>System </a:t>
            </a:r>
            <a:r>
              <a:rPr lang="en-GB" b="1" dirty="0" smtClean="0"/>
              <a:t>complexity</a:t>
            </a:r>
          </a:p>
          <a:p>
            <a:pPr>
              <a:buFont typeface="Wingdings" pitchFamily="2" charset="2"/>
              <a:buChar char="ü"/>
            </a:pPr>
            <a:r>
              <a:rPr lang="en-GB" b="1" dirty="0"/>
              <a:t> </a:t>
            </a:r>
            <a:r>
              <a:rPr lang="en-GB" b="1" dirty="0"/>
              <a:t>Organizational culture</a:t>
            </a:r>
            <a:endParaRPr lang="en-US" dirty="0"/>
          </a:p>
        </p:txBody>
      </p:sp>
    </p:spTree>
    <p:extLst>
      <p:ext uri="{BB962C8B-B14F-4D97-AF65-F5344CB8AC3E}">
        <p14:creationId xmlns:p14="http://schemas.microsoft.com/office/powerpoint/2010/main" val="798374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r>
              <a:rPr lang="en-GB" b="1" dirty="0"/>
              <a:t>Components of Accounting Information System</a:t>
            </a: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smtClean="0"/>
              <a:t>  </a:t>
            </a:r>
            <a:r>
              <a:rPr lang="en-GB" b="1" dirty="0"/>
              <a:t>General Ledger System </a:t>
            </a:r>
            <a:endParaRPr lang="en-US" dirty="0"/>
          </a:p>
          <a:p>
            <a:pPr lvl="0">
              <a:buFont typeface="Wingdings" pitchFamily="2" charset="2"/>
              <a:buChar char="Ø"/>
            </a:pPr>
            <a:r>
              <a:rPr lang="en-US" dirty="0" smtClean="0"/>
              <a:t>  </a:t>
            </a:r>
            <a:r>
              <a:rPr lang="en-GB" b="1" dirty="0"/>
              <a:t>Asset Management</a:t>
            </a:r>
            <a:endParaRPr lang="en-US" dirty="0"/>
          </a:p>
          <a:p>
            <a:pPr lvl="0">
              <a:buFont typeface="Wingdings" pitchFamily="2" charset="2"/>
              <a:buChar char="Ø"/>
            </a:pPr>
            <a:r>
              <a:rPr lang="en-US" dirty="0" smtClean="0"/>
              <a:t>  </a:t>
            </a:r>
            <a:r>
              <a:rPr lang="en-GB" b="1" dirty="0"/>
              <a:t>Order-entry System </a:t>
            </a:r>
            <a:endParaRPr lang="en-US" dirty="0"/>
          </a:p>
          <a:p>
            <a:pPr lvl="0">
              <a:buFont typeface="Wingdings" pitchFamily="2" charset="2"/>
              <a:buChar char="Ø"/>
            </a:pPr>
            <a:r>
              <a:rPr lang="en-US" dirty="0" smtClean="0"/>
              <a:t>  </a:t>
            </a:r>
            <a:r>
              <a:rPr lang="en-GB" b="1" dirty="0"/>
              <a:t>Inventory Control System</a:t>
            </a:r>
            <a:endParaRPr lang="en-US" dirty="0"/>
          </a:p>
          <a:p>
            <a:pPr lvl="0">
              <a:buFont typeface="Wingdings" pitchFamily="2" charset="2"/>
              <a:buChar char="Ø"/>
            </a:pPr>
            <a:r>
              <a:rPr lang="en-US" dirty="0" smtClean="0"/>
              <a:t>  </a:t>
            </a:r>
            <a:r>
              <a:rPr lang="en-GB" b="1" dirty="0"/>
              <a:t>Payroll System </a:t>
            </a:r>
            <a:endParaRPr lang="en-US" dirty="0"/>
          </a:p>
          <a:p>
            <a:pPr lvl="0">
              <a:buFont typeface="Wingdings" pitchFamily="2" charset="2"/>
              <a:buChar char="Ø"/>
            </a:pPr>
            <a:r>
              <a:rPr lang="en-US" dirty="0" smtClean="0"/>
              <a:t>  </a:t>
            </a:r>
            <a:r>
              <a:rPr lang="en-GB" b="1" dirty="0"/>
              <a:t>Cash </a:t>
            </a:r>
            <a:r>
              <a:rPr lang="en-GB" b="1" dirty="0" smtClean="0"/>
              <a:t>Management</a:t>
            </a:r>
            <a:endParaRPr lang="en-US" dirty="0"/>
          </a:p>
        </p:txBody>
      </p:sp>
    </p:spTree>
    <p:extLst>
      <p:ext uri="{BB962C8B-B14F-4D97-AF65-F5344CB8AC3E}">
        <p14:creationId xmlns:p14="http://schemas.microsoft.com/office/powerpoint/2010/main" val="892290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r>
              <a:rPr lang="en-US" b="1" dirty="0"/>
              <a:t>How an AIS Can Add Value to an Organization </a:t>
            </a:r>
          </a:p>
        </p:txBody>
      </p:sp>
      <p:sp>
        <p:nvSpPr>
          <p:cNvPr id="3" name="Content Placeholder 2"/>
          <p:cNvSpPr>
            <a:spLocks noGrp="1"/>
          </p:cNvSpPr>
          <p:nvPr>
            <p:ph idx="1"/>
          </p:nvPr>
        </p:nvSpPr>
        <p:spPr>
          <a:xfrm>
            <a:off x="457200" y="1600200"/>
            <a:ext cx="8229600" cy="4525963"/>
          </a:xfrm>
        </p:spPr>
        <p:txBody>
          <a:bodyPr>
            <a:normAutofit fontScale="92500" lnSpcReduction="20000"/>
          </a:bodyPr>
          <a:lstStyle/>
          <a:p>
            <a:pPr marL="0" indent="0">
              <a:buNone/>
            </a:pPr>
            <a:r>
              <a:rPr lang="en-US" dirty="0"/>
              <a:t>A well designed AIS can add value to an organization by: </a:t>
            </a:r>
            <a:endParaRPr lang="en-US" dirty="0" smtClean="0"/>
          </a:p>
          <a:p>
            <a:pPr>
              <a:buFont typeface="Wingdings" pitchFamily="2" charset="2"/>
              <a:buChar char="§"/>
            </a:pPr>
            <a:r>
              <a:rPr lang="en-US" dirty="0"/>
              <a:t> Improving the quality and reducing the costs of products or </a:t>
            </a:r>
            <a:r>
              <a:rPr lang="en-US" dirty="0" smtClean="0"/>
              <a:t>services</a:t>
            </a:r>
          </a:p>
          <a:p>
            <a:pPr>
              <a:buFont typeface="Wingdings" pitchFamily="2" charset="2"/>
              <a:buChar char="§"/>
            </a:pPr>
            <a:r>
              <a:rPr lang="en-US" dirty="0"/>
              <a:t> Improving </a:t>
            </a:r>
            <a:r>
              <a:rPr lang="en-US" dirty="0" smtClean="0"/>
              <a:t>efficiency</a:t>
            </a:r>
          </a:p>
          <a:p>
            <a:pPr>
              <a:buFont typeface="Wingdings" pitchFamily="2" charset="2"/>
              <a:buChar char="§"/>
            </a:pPr>
            <a:r>
              <a:rPr lang="en-US" dirty="0"/>
              <a:t> Sharing </a:t>
            </a:r>
            <a:r>
              <a:rPr lang="en-US" dirty="0" smtClean="0"/>
              <a:t>knowledge</a:t>
            </a:r>
          </a:p>
          <a:p>
            <a:pPr>
              <a:buFont typeface="Wingdings" pitchFamily="2" charset="2"/>
              <a:buChar char="§"/>
            </a:pPr>
            <a:r>
              <a:rPr lang="en-US" dirty="0"/>
              <a:t> Improving the efficiency and effectiveness of its supply </a:t>
            </a:r>
            <a:r>
              <a:rPr lang="en-US" dirty="0" smtClean="0"/>
              <a:t>chain</a:t>
            </a:r>
          </a:p>
          <a:p>
            <a:pPr>
              <a:buFont typeface="Wingdings" pitchFamily="2" charset="2"/>
              <a:buChar char="§"/>
            </a:pPr>
            <a:r>
              <a:rPr lang="en-US" dirty="0"/>
              <a:t> Improving the internal control </a:t>
            </a:r>
            <a:r>
              <a:rPr lang="en-US" dirty="0" smtClean="0"/>
              <a:t>structure</a:t>
            </a:r>
          </a:p>
          <a:p>
            <a:pPr>
              <a:buFont typeface="Wingdings" pitchFamily="2" charset="2"/>
              <a:buChar char="§"/>
            </a:pPr>
            <a:r>
              <a:rPr lang="en-US" dirty="0"/>
              <a:t> Improving decision making</a:t>
            </a:r>
          </a:p>
        </p:txBody>
      </p:sp>
    </p:spTree>
    <p:extLst>
      <p:ext uri="{BB962C8B-B14F-4D97-AF65-F5344CB8AC3E}">
        <p14:creationId xmlns:p14="http://schemas.microsoft.com/office/powerpoint/2010/main" val="2996855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Goal </a:t>
            </a:r>
            <a:r>
              <a:rPr lang="en-GB" b="1" dirty="0" smtClean="0"/>
              <a:t>conflict vs. </a:t>
            </a:r>
            <a:r>
              <a:rPr lang="en-GB" b="1" dirty="0"/>
              <a:t>Goal congruence</a:t>
            </a:r>
            <a:r>
              <a:rPr lang="en-GB" dirty="0"/>
              <a:t> </a:t>
            </a:r>
            <a:endParaRPr lang="en-US" dirty="0"/>
          </a:p>
        </p:txBody>
      </p:sp>
      <p:sp>
        <p:nvSpPr>
          <p:cNvPr id="3" name="Content Placeholder 2"/>
          <p:cNvSpPr>
            <a:spLocks noGrp="1"/>
          </p:cNvSpPr>
          <p:nvPr>
            <p:ph idx="1"/>
          </p:nvPr>
        </p:nvSpPr>
        <p:spPr/>
        <p:txBody>
          <a:bodyPr/>
          <a:lstStyle/>
          <a:p>
            <a:pPr marL="0" indent="0" algn="just">
              <a:buNone/>
            </a:pPr>
            <a:r>
              <a:rPr lang="en-GB" b="1" dirty="0"/>
              <a:t>Goal conflict</a:t>
            </a:r>
            <a:r>
              <a:rPr lang="en-GB" dirty="0"/>
              <a:t> occurs when a subsystem’s goals are inconsistent with the goals of another subsystem or with the system as a whole. </a:t>
            </a:r>
            <a:r>
              <a:rPr lang="en-GB" b="1" dirty="0"/>
              <a:t>Goal congruence</a:t>
            </a:r>
            <a:r>
              <a:rPr lang="en-GB" dirty="0"/>
              <a:t> occurs when a subsystem achieves its goals while contributing to the organization’s overall goal. The larger the organization and the more complicated the system, the more difficult it is to achieve goal congruence.</a:t>
            </a:r>
            <a:endParaRPr lang="en-US" dirty="0"/>
          </a:p>
        </p:txBody>
      </p:sp>
    </p:spTree>
    <p:extLst>
      <p:ext uri="{BB962C8B-B14F-4D97-AF65-F5344CB8AC3E}">
        <p14:creationId xmlns:p14="http://schemas.microsoft.com/office/powerpoint/2010/main" val="2089290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649</Words>
  <Application>Microsoft Office PowerPoint</Application>
  <PresentationFormat>On-screen Show (4:3)</PresentationFormat>
  <Paragraphs>55</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The Information Environment </vt:lpstr>
      <vt:lpstr>Information flows.</vt:lpstr>
      <vt:lpstr>Data versus Information</vt:lpstr>
      <vt:lpstr>PowerPoint Presentation</vt:lpstr>
      <vt:lpstr>A General Model for AIS</vt:lpstr>
      <vt:lpstr>Framework of AIS and various subsystems</vt:lpstr>
      <vt:lpstr>Framework of AIS and various subsystems</vt:lpstr>
      <vt:lpstr>AIS subsystems</vt:lpstr>
      <vt:lpstr>PowerPoint Presentation</vt:lpstr>
      <vt:lpstr>PowerPoint Presentation</vt:lpstr>
      <vt:lpstr>PowerPoint Presentation</vt:lpstr>
      <vt:lpstr>Factors Influencing of AIS</vt:lpstr>
      <vt:lpstr>Factors Influencing Design of AIS</vt:lpstr>
      <vt:lpstr>Components of Accounting Information System</vt:lpstr>
      <vt:lpstr>How an AIS Can Add Value to an Organization </vt:lpstr>
      <vt:lpstr>Goal conflict vs. Goal congruence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General Model for AIS</dc:title>
  <dc:creator>user</dc:creator>
  <cp:lastModifiedBy>user</cp:lastModifiedBy>
  <cp:revision>8</cp:revision>
  <dcterms:created xsi:type="dcterms:W3CDTF">2006-08-16T00:00:00Z</dcterms:created>
  <dcterms:modified xsi:type="dcterms:W3CDTF">2024-09-06T13:07:54Z</dcterms:modified>
</cp:coreProperties>
</file>