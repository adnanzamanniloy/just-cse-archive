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38"/>
  </p:notesMasterIdLst>
  <p:sldIdLst>
    <p:sldId id="256" r:id="rId2"/>
    <p:sldId id="318" r:id="rId3"/>
    <p:sldId id="319" r:id="rId4"/>
    <p:sldId id="320" r:id="rId5"/>
    <p:sldId id="321" r:id="rId6"/>
    <p:sldId id="352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5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0" r:id="rId37"/>
  </p:sldIdLst>
  <p:sldSz cx="9144000" cy="5143500" type="screen16x9"/>
  <p:notesSz cx="6858000" cy="9144000"/>
  <p:embeddedFontLst>
    <p:embeddedFont>
      <p:font typeface="Roboto Slab" panose="020B0604020202020204" charset="0"/>
      <p:regular r:id="rId39"/>
      <p:bold r:id="rId40"/>
    </p:embeddedFont>
    <p:embeddedFont>
      <p:font typeface="ＭＳ Ｐゴシック" panose="020B0600070205080204" pitchFamily="34" charset="-128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Source Sans Pro" panose="020B0604020202020204" charset="0"/>
      <p:regular r:id="rId46"/>
      <p:bold r:id="rId47"/>
      <p:italic r:id="rId48"/>
      <p:boldItalic r:id="rId49"/>
    </p:embeddedFont>
    <p:embeddedFont>
      <p:font typeface="ＭＳ Ｐゴシック" panose="020B0600070205080204" pitchFamily="34" charset="-128"/>
      <p:regular r:id="rId41"/>
    </p:embeddedFont>
    <p:embeddedFont>
      <p:font typeface="Gill Sans MT" panose="020B0502020104020203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61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2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9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51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27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86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75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50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796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80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07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13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79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968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19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496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767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387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502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824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98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33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31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02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482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151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461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704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6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359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77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24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183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0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483231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20966" y="1832522"/>
            <a:ext cx="656405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smtClean="0"/>
              <a:t/>
            </a:r>
            <a:br>
              <a:rPr lang="en" sz="2800" dirty="0" smtClean="0"/>
            </a:br>
            <a:endParaRPr sz="1800" dirty="0"/>
          </a:p>
        </p:txBody>
      </p:sp>
      <p:sp>
        <p:nvSpPr>
          <p:cNvPr id="3" name="Google Shape;70;p12"/>
          <p:cNvSpPr txBox="1">
            <a:spLocks/>
          </p:cNvSpPr>
          <p:nvPr/>
        </p:nvSpPr>
        <p:spPr>
          <a:xfrm>
            <a:off x="1720966" y="2177283"/>
            <a:ext cx="6564052" cy="470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3600" dirty="0" smtClean="0"/>
              <a:t>Computer Networking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0629" y="2965612"/>
            <a:ext cx="3800557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44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26">
            <a:extLst>
              <a:ext uri="{FF2B5EF4-FFF2-40B4-BE49-F238E27FC236}">
                <a16:creationId xmlns:a16="http://schemas.microsoft.com/office/drawing/2014/main" id="{792C422C-E0B3-284D-90D1-78EE41CE1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4529" y="3447538"/>
            <a:ext cx="1450181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FCCB386-E080-BE4D-86AE-B67CDC4394C0}"/>
              </a:ext>
            </a:extLst>
          </p:cNvPr>
          <p:cNvGrpSpPr/>
          <p:nvPr/>
        </p:nvGrpSpPr>
        <p:grpSpPr>
          <a:xfrm>
            <a:off x="3438662" y="3139639"/>
            <a:ext cx="1133514" cy="647753"/>
            <a:chOff x="7493876" y="2774731"/>
            <a:chExt cx="1481958" cy="894622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9DD18B2-282C-6549-A49E-60E3E19F2A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1031821-CCEB-7F4A-B58F-080033E04E6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6105421-33A8-6C4D-8961-627026B91B4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952442E-1885-3E49-AB68-416A3E2001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E05D2B3E-D3BE-6540-9837-84ECB6B5E3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C4191C4F-5CEE-5B4B-881D-8241D7AE9EA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0AD58D69-0B48-324F-A1A4-01181A17EF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How do packet loss and delay occur?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4527315-9237-DF4C-A233-1FDCF6AF614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18950" y="911356"/>
            <a:ext cx="7763050" cy="1356276"/>
          </a:xfrm>
        </p:spPr>
        <p:txBody>
          <a:bodyPr/>
          <a:lstStyle/>
          <a:p>
            <a:pPr indent="-221456">
              <a:buNone/>
              <a:defRPr/>
            </a:pPr>
            <a:r>
              <a:rPr lang="en-US" sz="1800" dirty="0"/>
              <a:t>packets </a:t>
            </a:r>
            <a:r>
              <a:rPr lang="en-US" sz="1800" i="1" dirty="0"/>
              <a:t>queue</a:t>
            </a:r>
            <a:r>
              <a:rPr lang="en-US" sz="1800" dirty="0"/>
              <a:t> in router buffers </a:t>
            </a:r>
          </a:p>
          <a:p>
            <a:pPr marL="305991" indent="-208360">
              <a:buFont typeface="Wingdings" charset="2"/>
              <a:buChar char="§"/>
              <a:defRPr/>
            </a:pPr>
            <a:r>
              <a:rPr lang="en-US" sz="1800" dirty="0"/>
              <a:t>packets queue, wait for turn</a:t>
            </a:r>
          </a:p>
          <a:p>
            <a:pPr marL="305991" indent="-208360">
              <a:buFont typeface="Wingdings" charset="2"/>
              <a:buChar char="§"/>
              <a:defRPr/>
            </a:pPr>
            <a:r>
              <a:rPr lang="en-US" sz="1800" dirty="0">
                <a:solidFill>
                  <a:srgbClr val="CC0000"/>
                </a:solidFill>
              </a:rPr>
              <a:t>arrival rate to link (temporarily) exceeds output link capacity: packet loss</a:t>
            </a:r>
          </a:p>
        </p:txBody>
      </p:sp>
      <p:sp>
        <p:nvSpPr>
          <p:cNvPr id="8" name="Line 24">
            <a:extLst>
              <a:ext uri="{FF2B5EF4-FFF2-40B4-BE49-F238E27FC236}">
                <a16:creationId xmlns:a16="http://schemas.microsoft.com/office/drawing/2014/main" id="{98D5C74F-DBE1-C34C-8A85-F480C540B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1491" y="3133213"/>
            <a:ext cx="55602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9614611-AD9E-6646-B638-622773F00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4497" y="3351097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1" name="Rectangle 31">
            <a:extLst>
              <a:ext uri="{FF2B5EF4-FFF2-40B4-BE49-F238E27FC236}">
                <a16:creationId xmlns:a16="http://schemas.microsoft.com/office/drawing/2014/main" id="{A39734E3-ED9A-EC49-B73C-34CBE5CBF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179" y="3351097"/>
            <a:ext cx="110728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3AF0224D-49F6-7745-96F9-78A841403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381" y="3304663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58B9B601-E851-654F-AA2B-143A70BEF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0300" y="3538025"/>
            <a:ext cx="551260" cy="4131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47088DD-46B7-8A40-B3C8-FF97968F5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5112" y="3276088"/>
            <a:ext cx="110729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77696821-8A04-3945-AF9E-0065C2861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8204" y="3228463"/>
            <a:ext cx="15835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B6154A2C-EC19-F34F-ACCE-9E5D93782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258" y="2896278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solidFill>
                  <a:srgbClr val="000000"/>
                </a:solidFill>
                <a:latin typeface="+mn-lt"/>
              </a:rPr>
              <a:t>A</a:t>
            </a: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995F56C7-414D-8A48-884F-85A203498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990" y="3610653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latin typeface="+mn-lt"/>
              </a:rPr>
              <a:t>B</a:t>
            </a:r>
          </a:p>
        </p:txBody>
      </p:sp>
      <p:grpSp>
        <p:nvGrpSpPr>
          <p:cNvPr id="28" name="Group 66">
            <a:extLst>
              <a:ext uri="{FF2B5EF4-FFF2-40B4-BE49-F238E27FC236}">
                <a16:creationId xmlns:a16="http://schemas.microsoft.com/office/drawing/2014/main" id="{F052C581-6C44-5947-B232-97223D315667}"/>
              </a:ext>
            </a:extLst>
          </p:cNvPr>
          <p:cNvGrpSpPr>
            <a:grpSpLocks/>
          </p:cNvGrpSpPr>
          <p:nvPr/>
        </p:nvGrpSpPr>
        <p:grpSpPr bwMode="auto">
          <a:xfrm>
            <a:off x="2346184" y="2896278"/>
            <a:ext cx="584597" cy="509588"/>
            <a:chOff x="-44" y="1473"/>
            <a:chExt cx="981" cy="1105"/>
          </a:xfrm>
        </p:grpSpPr>
        <p:pic>
          <p:nvPicPr>
            <p:cNvPr id="29" name="Picture 67" descr="desktop_computer_stylized_medium">
              <a:extLst>
                <a:ext uri="{FF2B5EF4-FFF2-40B4-BE49-F238E27FC236}">
                  <a16:creationId xmlns:a16="http://schemas.microsoft.com/office/drawing/2014/main" id="{BB04112D-992F-1B48-BF73-2AE172AB4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B442F163-2B26-9C41-A4DA-56CB0408A2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pic>
        <p:nvPicPr>
          <p:cNvPr id="32" name="Picture 70" descr="desktop_computer_stylized_medium">
            <a:extLst>
              <a:ext uri="{FF2B5EF4-FFF2-40B4-BE49-F238E27FC236}">
                <a16:creationId xmlns:a16="http://schemas.microsoft.com/office/drawing/2014/main" id="{281B4469-5924-7847-99B5-6CF657E9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17467" y="3651134"/>
            <a:ext cx="58459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71">
            <a:extLst>
              <a:ext uri="{FF2B5EF4-FFF2-40B4-BE49-F238E27FC236}">
                <a16:creationId xmlns:a16="http://schemas.microsoft.com/office/drawing/2014/main" id="{B1E6742A-3259-B348-BD9F-24C231CD73DB}"/>
              </a:ext>
            </a:extLst>
          </p:cNvPr>
          <p:cNvSpPr>
            <a:spLocks/>
          </p:cNvSpPr>
          <p:nvPr/>
        </p:nvSpPr>
        <p:spPr bwMode="auto">
          <a:xfrm flipH="1">
            <a:off x="2666562" y="3700018"/>
            <a:ext cx="284253" cy="233350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endParaRPr lang="en-US" sz="1500"/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E17EDB94-A18A-5345-B878-1F5CDE4C6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691" y="3767815"/>
            <a:ext cx="104775" cy="139304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5" name="Line 33">
            <a:extLst>
              <a:ext uri="{FF2B5EF4-FFF2-40B4-BE49-F238E27FC236}">
                <a16:creationId xmlns:a16="http://schemas.microsoft.com/office/drawing/2014/main" id="{72EE0D2E-3A6D-224A-A965-4A3CAB0E0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8659" y="3745194"/>
            <a:ext cx="165497" cy="1214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B8BAB5F9-E33D-6D40-AF1F-A688FE37C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197" y="3352288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" name="Rectangle 89">
            <a:extLst>
              <a:ext uri="{FF2B5EF4-FFF2-40B4-BE49-F238E27FC236}">
                <a16:creationId xmlns:a16="http://schemas.microsoft.com/office/drawing/2014/main" id="{3A81C53A-7389-0940-8B19-188881DD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8279" y="3351097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" name="Rectangle 89">
            <a:extLst>
              <a:ext uri="{FF2B5EF4-FFF2-40B4-BE49-F238E27FC236}">
                <a16:creationId xmlns:a16="http://schemas.microsoft.com/office/drawing/2014/main" id="{55739AFA-3D6C-274F-AF45-B98657A1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979" y="3353478"/>
            <a:ext cx="110728" cy="15001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49" name="Group 93">
            <a:extLst>
              <a:ext uri="{FF2B5EF4-FFF2-40B4-BE49-F238E27FC236}">
                <a16:creationId xmlns:a16="http://schemas.microsoft.com/office/drawing/2014/main" id="{99FB082D-48A3-DB4E-B785-79F493984667}"/>
              </a:ext>
            </a:extLst>
          </p:cNvPr>
          <p:cNvGrpSpPr>
            <a:grpSpLocks/>
          </p:cNvGrpSpPr>
          <p:nvPr/>
        </p:nvGrpSpPr>
        <p:grpSpPr bwMode="auto">
          <a:xfrm>
            <a:off x="4375010" y="2379549"/>
            <a:ext cx="4630342" cy="903685"/>
            <a:chOff x="2259" y="2247"/>
            <a:chExt cx="3889" cy="759"/>
          </a:xfrm>
        </p:grpSpPr>
        <p:sp>
          <p:nvSpPr>
            <p:cNvPr id="50" name="Text Box 66">
              <a:extLst>
                <a:ext uri="{FF2B5EF4-FFF2-40B4-BE49-F238E27FC236}">
                  <a16:creationId xmlns:a16="http://schemas.microsoft.com/office/drawing/2014/main" id="{15E16EFE-9699-4F4E-BFC6-79048066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" y="2247"/>
              <a:ext cx="3623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600" dirty="0">
                  <a:solidFill>
                    <a:srgbClr val="000000"/>
                  </a:solidFill>
                  <a:latin typeface="+mn-lt"/>
                </a:rPr>
                <a:t>packet being transmitted </a:t>
              </a:r>
              <a:r>
                <a:rPr lang="en-US" altLang="en-US" sz="1600" dirty="0">
                  <a:solidFill>
                    <a:srgbClr val="CC0000"/>
                  </a:solidFill>
                  <a:latin typeface="+mn-lt"/>
                </a:rPr>
                <a:t>(transmission delay)</a:t>
              </a:r>
            </a:p>
          </p:txBody>
        </p:sp>
        <p:sp>
          <p:nvSpPr>
            <p:cNvPr id="51" name="Line 67">
              <a:extLst>
                <a:ext uri="{FF2B5EF4-FFF2-40B4-BE49-F238E27FC236}">
                  <a16:creationId xmlns:a16="http://schemas.microsoft.com/office/drawing/2014/main" id="{13FF81C3-546D-F344-9FE2-4D72EFA0CD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462"/>
              <a:ext cx="83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500"/>
            </a:p>
          </p:txBody>
        </p:sp>
      </p:grpSp>
      <p:grpSp>
        <p:nvGrpSpPr>
          <p:cNvPr id="52" name="Group 94">
            <a:extLst>
              <a:ext uri="{FF2B5EF4-FFF2-40B4-BE49-F238E27FC236}">
                <a16:creationId xmlns:a16="http://schemas.microsoft.com/office/drawing/2014/main" id="{26EEA1DE-D9F0-2D47-AABB-733C528B384F}"/>
              </a:ext>
            </a:extLst>
          </p:cNvPr>
          <p:cNvGrpSpPr>
            <a:grpSpLocks/>
          </p:cNvGrpSpPr>
          <p:nvPr/>
        </p:nvGrpSpPr>
        <p:grpSpPr bwMode="auto">
          <a:xfrm>
            <a:off x="4163080" y="3557071"/>
            <a:ext cx="4283874" cy="697705"/>
            <a:chOff x="2103" y="3214"/>
            <a:chExt cx="3598" cy="586"/>
          </a:xfrm>
        </p:grpSpPr>
        <p:sp>
          <p:nvSpPr>
            <p:cNvPr id="53" name="Text Box 72">
              <a:extLst>
                <a:ext uri="{FF2B5EF4-FFF2-40B4-BE49-F238E27FC236}">
                  <a16:creationId xmlns:a16="http://schemas.microsoft.com/office/drawing/2014/main" id="{674A1D43-19A1-AA41-9CBF-545C92FF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3171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packets in buffers</a:t>
              </a: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 </a:t>
              </a:r>
              <a:r>
                <a:rPr lang="en-US" altLang="en-US" sz="1800" dirty="0">
                  <a:solidFill>
                    <a:srgbClr val="CC0000"/>
                  </a:solidFill>
                  <a:latin typeface="+mn-lt"/>
                </a:rPr>
                <a:t>(queueing delay)</a:t>
              </a:r>
            </a:p>
          </p:txBody>
        </p:sp>
        <p:sp>
          <p:nvSpPr>
            <p:cNvPr id="54" name="Line 73">
              <a:extLst>
                <a:ext uri="{FF2B5EF4-FFF2-40B4-BE49-F238E27FC236}">
                  <a16:creationId xmlns:a16="http://schemas.microsoft.com/office/drawing/2014/main" id="{CDBE935F-08EE-9646-85EA-B0063869E7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500"/>
            </a:p>
          </p:txBody>
        </p:sp>
      </p:grpSp>
      <p:grpSp>
        <p:nvGrpSpPr>
          <p:cNvPr id="55" name="Group 95">
            <a:extLst>
              <a:ext uri="{FF2B5EF4-FFF2-40B4-BE49-F238E27FC236}">
                <a16:creationId xmlns:a16="http://schemas.microsoft.com/office/drawing/2014/main" id="{BB37FD35-03D6-7647-8A50-07C919E6BBD2}"/>
              </a:ext>
            </a:extLst>
          </p:cNvPr>
          <p:cNvGrpSpPr>
            <a:grpSpLocks/>
          </p:cNvGrpSpPr>
          <p:nvPr/>
        </p:nvGrpSpPr>
        <p:grpSpPr bwMode="auto">
          <a:xfrm>
            <a:off x="3351071" y="3528504"/>
            <a:ext cx="4541045" cy="1341836"/>
            <a:chOff x="1421" y="3190"/>
            <a:chExt cx="3814" cy="1127"/>
          </a:xfrm>
        </p:grpSpPr>
        <p:sp>
          <p:nvSpPr>
            <p:cNvPr id="56" name="Line 91">
              <a:extLst>
                <a:ext uri="{FF2B5EF4-FFF2-40B4-BE49-F238E27FC236}">
                  <a16:creationId xmlns:a16="http://schemas.microsoft.com/office/drawing/2014/main" id="{A5A2CA5C-95AA-1E49-AE10-3C2A0148D7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3" y="3190"/>
              <a:ext cx="11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500"/>
            </a:p>
          </p:txBody>
        </p:sp>
        <p:sp>
          <p:nvSpPr>
            <p:cNvPr id="57" name="Text Box 92">
              <a:extLst>
                <a:ext uri="{FF2B5EF4-FFF2-40B4-BE49-F238E27FC236}">
                  <a16:creationId xmlns:a16="http://schemas.microsoft.com/office/drawing/2014/main" id="{90578129-76D6-DA4C-AF38-D254E1E2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3774"/>
              <a:ext cx="381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free (available) buffers: arriving packets </a:t>
              </a:r>
            </a:p>
            <a:p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dropped (</a:t>
              </a:r>
              <a:r>
                <a:rPr lang="en-US" altLang="en-US" sz="1800" dirty="0">
                  <a:solidFill>
                    <a:srgbClr val="CC0000"/>
                  </a:solidFill>
                  <a:latin typeface="+mn-lt"/>
                </a:rPr>
                <a:t>loss</a:t>
              </a: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) if no free buffers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0A30BE-4517-024C-8E13-70C75C60C9A9}"/>
              </a:ext>
            </a:extLst>
          </p:cNvPr>
          <p:cNvGrpSpPr/>
          <p:nvPr/>
        </p:nvGrpSpPr>
        <p:grpSpPr>
          <a:xfrm>
            <a:off x="5792259" y="3168470"/>
            <a:ext cx="1133514" cy="647753"/>
            <a:chOff x="7493876" y="2774731"/>
            <a:chExt cx="1481958" cy="894622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7769EBE-F27C-654D-9E70-D2F8F0CA4B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4D58D-15F7-4148-BD77-06281777455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DB434E-DC0A-064F-BFB7-51AD3253C15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1906A403-4D02-E745-9F12-A4DD0B4A4D9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EA9A27B-E199-2342-BF59-3743FE2428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3E302C75-BA44-2547-9BE3-5EE9C07B302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0B5EF7E-8EDB-5946-B230-2EAE3B474B0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5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73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2523323" y="1325717"/>
            <a:ext cx="1133514" cy="647753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Packet delay: four sources</a:t>
            </a:r>
            <a:endParaRPr lang="en-US" dirty="0"/>
          </a:p>
        </p:txBody>
      </p:sp>
      <p:sp>
        <p:nvSpPr>
          <p:cNvPr id="58" name="Rectangle 4">
            <a:extLst>
              <a:ext uri="{FF2B5EF4-FFF2-40B4-BE49-F238E27FC236}">
                <a16:creationId xmlns:a16="http://schemas.microsoft.com/office/drawing/2014/main" id="{AC2D03E9-7C61-0A43-A247-276B596B9942}"/>
              </a:ext>
            </a:extLst>
          </p:cNvPr>
          <p:cNvSpPr txBox="1">
            <a:spLocks noChangeArrowheads="1"/>
          </p:cNvSpPr>
          <p:nvPr/>
        </p:nvSpPr>
        <p:spPr>
          <a:xfrm>
            <a:off x="873550" y="3392858"/>
            <a:ext cx="3051465" cy="13796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1456">
              <a:spcBef>
                <a:spcPts val="450"/>
              </a:spcBef>
              <a:buNone/>
              <a:defRPr/>
            </a:pPr>
            <a:r>
              <a:rPr lang="en-US" sz="2100" i="1" dirty="0" err="1">
                <a:solidFill>
                  <a:srgbClr val="CC0000"/>
                </a:solidFill>
              </a:rPr>
              <a:t>d</a:t>
            </a:r>
            <a:r>
              <a:rPr lang="en-US" sz="2100" baseline="-25000" dirty="0" err="1">
                <a:solidFill>
                  <a:srgbClr val="CC0000"/>
                </a:solidFill>
              </a:rPr>
              <a:t>proc</a:t>
            </a:r>
            <a:r>
              <a:rPr lang="en-US" sz="2100" dirty="0">
                <a:solidFill>
                  <a:srgbClr val="CC0000"/>
                </a:solidFill>
              </a:rPr>
              <a:t>: nodal processing</a:t>
            </a:r>
            <a:r>
              <a:rPr lang="en-US" sz="2100" dirty="0"/>
              <a:t> </a:t>
            </a:r>
          </a:p>
          <a:p>
            <a:pPr marL="261938" indent="-175022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/>
              <a:t>check bit errors</a:t>
            </a:r>
          </a:p>
          <a:p>
            <a:pPr marL="261938" indent="-175022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/>
              <a:t>determine output link</a:t>
            </a:r>
          </a:p>
          <a:p>
            <a:pPr marL="261938" indent="-175022">
              <a:spcBef>
                <a:spcPts val="450"/>
              </a:spcBef>
              <a:buFont typeface="Wingdings" charset="0"/>
              <a:buChar char="§"/>
              <a:defRPr/>
            </a:pPr>
            <a:r>
              <a:rPr lang="en-US" sz="1800" dirty="0"/>
              <a:t>typically &lt; </a:t>
            </a:r>
            <a:r>
              <a:rPr lang="en-US" sz="1800" dirty="0" err="1"/>
              <a:t>msec</a:t>
            </a:r>
            <a:endParaRPr lang="en-US" sz="1800" dirty="0"/>
          </a:p>
        </p:txBody>
      </p:sp>
      <p:sp>
        <p:nvSpPr>
          <p:cNvPr id="75" name="Rectangle 58">
            <a:extLst>
              <a:ext uri="{FF2B5EF4-FFF2-40B4-BE49-F238E27FC236}">
                <a16:creationId xmlns:a16="http://schemas.microsoft.com/office/drawing/2014/main" id="{9033E5DB-6EA3-CE4C-B1A8-C9C804BD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5016" y="3402079"/>
            <a:ext cx="4708775" cy="104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8366" indent="-258366">
              <a:lnSpc>
                <a:spcPct val="90000"/>
              </a:lnSpc>
              <a:spcBef>
                <a:spcPts val="450"/>
              </a:spcBef>
              <a:buClr>
                <a:srgbClr val="3333CC"/>
              </a:buClr>
              <a:buSzPct val="85000"/>
              <a:defRPr/>
            </a:pPr>
            <a:r>
              <a:rPr lang="en-US" sz="1500" dirty="0">
                <a:solidFill>
                  <a:srgbClr val="FF000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21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queue</a:t>
            </a:r>
            <a:r>
              <a:rPr lang="en-US" sz="21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: queueing delay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dirty="0">
                <a:ea typeface="ＭＳ Ｐゴシック" charset="0"/>
                <a:cs typeface="ＭＳ Ｐゴシック" charset="0"/>
              </a:rPr>
              <a:t>time waiting at output link for transmission 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dirty="0">
                <a:ea typeface="ＭＳ Ｐゴシック" charset="0"/>
                <a:cs typeface="ＭＳ Ｐゴシック" charset="0"/>
              </a:rPr>
              <a:t>depends on congestion level of router</a:t>
            </a:r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759" y="1337726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283" y="1502033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830" y="1555611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81" y="1555611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546" y="1375313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726" y="1509177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040" y="1190909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propagation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05353" y="1373332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7" name="Text Box 43">
            <a:extLst>
              <a:ext uri="{FF2B5EF4-FFF2-40B4-BE49-F238E27FC236}">
                <a16:creationId xmlns:a16="http://schemas.microsoft.com/office/drawing/2014/main" id="{867387BA-39EC-9E4E-8BB0-480BC442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2047339"/>
            <a:ext cx="1354221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nodal</a:t>
            </a:r>
          </a:p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processing</a:t>
            </a:r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CDB7B374-4A7A-E246-8D88-69216785D71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22656" y="2047493"/>
            <a:ext cx="625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140969" y="1902083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977" y="2218098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queueing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62419" y="1902082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305" y="2689296"/>
            <a:ext cx="4894875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nodal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=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proc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trans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prop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4348" y="1742539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401" y="1480602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491" y="1432976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1" y="1100792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68" y="1815167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latin typeface="+mn-lt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1442544" y="1100792"/>
            <a:ext cx="584629" cy="509588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1435650" y="1856018"/>
            <a:ext cx="584630" cy="509588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859471"/>
            <a:ext cx="1479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29044" y="1082933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31" y="1972701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3328" y="1949914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3660437" y="1678919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5993263" y="1333693"/>
            <a:ext cx="1133514" cy="647753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52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74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2523323" y="1325717"/>
            <a:ext cx="1133514" cy="647753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Packet delay: four sources</a:t>
            </a:r>
            <a:endParaRPr lang="en-US" dirty="0"/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759" y="1337726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283" y="1502033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830" y="1555611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81" y="1555611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546" y="1375313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726" y="1509177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040" y="1190909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propagation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05353" y="1373332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7" name="Text Box 43">
            <a:extLst>
              <a:ext uri="{FF2B5EF4-FFF2-40B4-BE49-F238E27FC236}">
                <a16:creationId xmlns:a16="http://schemas.microsoft.com/office/drawing/2014/main" id="{867387BA-39EC-9E4E-8BB0-480BC442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830" y="2047339"/>
            <a:ext cx="130035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nodal</a:t>
            </a:r>
          </a:p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processing</a:t>
            </a:r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CDB7B374-4A7A-E246-8D88-69216785D71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22656" y="2047493"/>
            <a:ext cx="625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140969" y="1902083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977" y="2218098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queueing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62419" y="1902082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305" y="2689296"/>
            <a:ext cx="4908343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nodal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=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proc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trans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prop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4348" y="1742539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401" y="1480602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491" y="1432976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1" y="1100792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68" y="1815167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latin typeface="+mn-lt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1442544" y="1100792"/>
            <a:ext cx="584629" cy="509588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1435650" y="1856018"/>
            <a:ext cx="584630" cy="509588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859471"/>
            <a:ext cx="1479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29044" y="1082933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31" y="1972701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3328" y="1949914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3660437" y="1678919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5993263" y="1333693"/>
            <a:ext cx="1133514" cy="647753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52" name="Rectangle 3">
            <a:extLst>
              <a:ext uri="{FF2B5EF4-FFF2-40B4-BE49-F238E27FC236}">
                <a16:creationId xmlns:a16="http://schemas.microsoft.com/office/drawing/2014/main" id="{A295C9C7-DA39-ED42-847F-83EE93D0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809" y="3222795"/>
            <a:ext cx="3532603" cy="155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trans</a:t>
            </a:r>
            <a:r>
              <a:rPr lang="en-US" sz="21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: transmission delay: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ea typeface="ＭＳ Ｐゴシック" charset="0"/>
                <a:cs typeface="ＭＳ Ｐゴシック" charset="0"/>
              </a:rPr>
              <a:t>L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: packet length (bits) 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: link </a:t>
            </a:r>
            <a:r>
              <a:rPr lang="en-US" sz="1800" i="1" dirty="0">
                <a:ea typeface="ＭＳ Ｐゴシック" charset="0"/>
                <a:cs typeface="ＭＳ Ｐゴシック" charset="0"/>
              </a:rPr>
              <a:t>transmission rate (bps)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</a:t>
            </a:r>
            <a:r>
              <a:rPr lang="en-US" sz="1800" i="1" baseline="-250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trans</a:t>
            </a:r>
            <a:r>
              <a:rPr lang="en-US" sz="18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ea typeface="ＭＳ Ｐゴシック" charset="0"/>
                <a:cs typeface="ＭＳ Ｐゴシック" charset="0"/>
              </a:rPr>
              <a:t>= L/R</a:t>
            </a:r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4367B5FB-6961-314F-9C99-C943E30E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257" y="3228006"/>
            <a:ext cx="4195734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defRPr/>
            </a:pPr>
            <a:r>
              <a:rPr lang="en-US" sz="21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</a:t>
            </a:r>
            <a:r>
              <a:rPr lang="en-US" sz="2100" baseline="-250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prop</a:t>
            </a:r>
            <a:r>
              <a:rPr lang="en-US" sz="21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: propagation delay:</a:t>
            </a:r>
            <a:endParaRPr lang="en-US" sz="1050" dirty="0">
              <a:solidFill>
                <a:srgbClr val="CC0000"/>
              </a:solidFill>
              <a:ea typeface="ＭＳ Ｐゴシック" charset="0"/>
              <a:cs typeface="ＭＳ Ｐゴシック" charset="0"/>
            </a:endParaRP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ea typeface="ＭＳ Ｐゴシック" charset="0"/>
                <a:cs typeface="ＭＳ Ｐゴシック" charset="0"/>
              </a:rPr>
              <a:t>d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: length of physical link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ea typeface="ＭＳ Ｐゴシック" charset="0"/>
                <a:cs typeface="ＭＳ Ｐゴシック" charset="0"/>
              </a:rPr>
              <a:t>s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: propagation speed (~2x10</a:t>
            </a:r>
            <a:r>
              <a:rPr lang="en-US" sz="1800" baseline="30000" dirty="0">
                <a:ea typeface="ＭＳ Ｐゴシック" charset="0"/>
                <a:cs typeface="ＭＳ Ｐゴシック" charset="0"/>
              </a:rPr>
              <a:t>8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 m/sec)</a:t>
            </a:r>
          </a:p>
          <a:p>
            <a:pPr marL="173831" indent="-173831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Font typeface="Wingdings" charset="0"/>
              <a:buChar char="§"/>
              <a:defRPr/>
            </a:pPr>
            <a:r>
              <a:rPr lang="en-US" sz="1800" i="1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d</a:t>
            </a:r>
            <a:r>
              <a:rPr lang="en-US" sz="1800" baseline="-25000" dirty="0">
                <a:solidFill>
                  <a:srgbClr val="CC0000"/>
                </a:solidFill>
                <a:ea typeface="ＭＳ Ｐゴシック" charset="0"/>
                <a:cs typeface="ＭＳ Ｐゴシック" charset="0"/>
              </a:rPr>
              <a:t>prop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 = </a:t>
            </a:r>
            <a:r>
              <a:rPr lang="en-US" sz="1800" i="1" dirty="0">
                <a:ea typeface="ＭＳ Ｐゴシック" charset="0"/>
                <a:cs typeface="ＭＳ Ｐゴシック" charset="0"/>
              </a:rPr>
              <a:t>d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/</a:t>
            </a:r>
            <a:r>
              <a:rPr lang="en-US" sz="1800" i="1" dirty="0">
                <a:ea typeface="ＭＳ Ｐゴシック" charset="0"/>
                <a:cs typeface="ＭＳ Ｐゴシック" charset="0"/>
              </a:rPr>
              <a:t>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B7FA8-F9A7-FB4D-B8FF-0FBB7086AF05}"/>
              </a:ext>
            </a:extLst>
          </p:cNvPr>
          <p:cNvGrpSpPr/>
          <p:nvPr/>
        </p:nvGrpSpPr>
        <p:grpSpPr>
          <a:xfrm>
            <a:off x="908338" y="4120731"/>
            <a:ext cx="5307311" cy="868579"/>
            <a:chOff x="1211117" y="5568048"/>
            <a:chExt cx="7076415" cy="1158105"/>
          </a:xfrm>
        </p:grpSpPr>
        <p:sp>
          <p:nvSpPr>
            <p:cNvPr id="55" name="Text Box 62">
              <a:extLst>
                <a:ext uri="{FF2B5EF4-FFF2-40B4-BE49-F238E27FC236}">
                  <a16:creationId xmlns:a16="http://schemas.microsoft.com/office/drawing/2014/main" id="{D2984E3F-88C6-FF46-A32F-B96D5A684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662" y="5864379"/>
              <a:ext cx="2105221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800" i="1" dirty="0" err="1">
                  <a:solidFill>
                    <a:srgbClr val="C00000"/>
                  </a:solidFill>
                  <a:latin typeface="+mn-lt"/>
                </a:rPr>
                <a:t>d</a:t>
              </a:r>
              <a:r>
                <a:rPr lang="en-US" altLang="en-US" sz="1800" baseline="-25000" dirty="0" err="1">
                  <a:solidFill>
                    <a:srgbClr val="C00000"/>
                  </a:solidFill>
                  <a:latin typeface="+mn-lt"/>
                </a:rPr>
                <a:t>trans</a:t>
              </a:r>
              <a:r>
                <a:rPr lang="en-US" altLang="en-US" sz="1500" baseline="-25000" dirty="0">
                  <a:solidFill>
                    <a:srgbClr val="C00000"/>
                  </a:solidFill>
                  <a:latin typeface="+mn-lt"/>
                </a:rPr>
                <a:t> </a:t>
              </a:r>
              <a:r>
                <a:rPr lang="en-US" altLang="en-US" sz="1500" dirty="0">
                  <a:latin typeface="+mn-lt"/>
                </a:rPr>
                <a:t>and </a:t>
              </a:r>
              <a:r>
                <a:rPr lang="en-US" altLang="en-US" sz="1800" i="1" dirty="0" err="1">
                  <a:solidFill>
                    <a:srgbClr val="C00000"/>
                  </a:solidFill>
                  <a:latin typeface="+mn-lt"/>
                </a:rPr>
                <a:t>d</a:t>
              </a:r>
              <a:r>
                <a:rPr lang="en-US" altLang="en-US" sz="1800" baseline="-25000" dirty="0" err="1">
                  <a:solidFill>
                    <a:srgbClr val="C00000"/>
                  </a:solidFill>
                  <a:latin typeface="+mn-lt"/>
                </a:rPr>
                <a:t>prop</a:t>
              </a:r>
              <a:endParaRPr lang="en-US" altLang="en-US" sz="1800" baseline="-25000" dirty="0">
                <a:solidFill>
                  <a:srgbClr val="C00000"/>
                </a:solidFill>
                <a:latin typeface="+mn-lt"/>
              </a:endParaRPr>
            </a:p>
            <a:p>
              <a:pPr algn="ctr"/>
              <a:r>
                <a:rPr lang="en-US" altLang="en-US" sz="1800" i="1" dirty="0">
                  <a:latin typeface="+mn-lt"/>
                </a:rPr>
                <a:t>very </a:t>
              </a:r>
              <a:r>
                <a:rPr lang="en-US" altLang="en-US" sz="1800" dirty="0">
                  <a:latin typeface="+mn-lt"/>
                </a:rPr>
                <a:t>different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9F10034-6D54-554A-832D-40D2FC72B086}"/>
                </a:ext>
              </a:extLst>
            </p:cNvPr>
            <p:cNvSpPr/>
            <p:nvPr/>
          </p:nvSpPr>
          <p:spPr>
            <a:xfrm>
              <a:off x="1211117" y="5568048"/>
              <a:ext cx="1869375" cy="50063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0899A13-D659-FD40-BB86-F6944FFF8700}"/>
                </a:ext>
              </a:extLst>
            </p:cNvPr>
            <p:cNvSpPr/>
            <p:nvPr/>
          </p:nvSpPr>
          <p:spPr>
            <a:xfrm>
              <a:off x="6418157" y="5570209"/>
              <a:ext cx="1869375" cy="500634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4BA02AB-689E-8049-956E-12333C1B2FBE}"/>
                </a:ext>
              </a:extLst>
            </p:cNvPr>
            <p:cNvCxnSpPr>
              <a:stCxn id="63" idx="2"/>
            </p:cNvCxnSpPr>
            <p:nvPr/>
          </p:nvCxnSpPr>
          <p:spPr>
            <a:xfrm flipH="1">
              <a:off x="5392908" y="5820526"/>
              <a:ext cx="1025249" cy="248156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590E35C-F605-954E-9F43-19D0575FECCD}"/>
                </a:ext>
              </a:extLst>
            </p:cNvPr>
            <p:cNvCxnSpPr>
              <a:cxnSpLocks/>
            </p:cNvCxnSpPr>
            <p:nvPr/>
          </p:nvCxnSpPr>
          <p:spPr>
            <a:xfrm>
              <a:off x="3097924" y="5820526"/>
              <a:ext cx="940801" cy="248156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1">
            <a:extLst>
              <a:ext uri="{FF2B5EF4-FFF2-40B4-BE49-F238E27FC236}">
                <a16:creationId xmlns:a16="http://schemas.microsoft.com/office/drawing/2014/main" id="{998D4A0D-64F1-0C49-9BBF-FB735A3F9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932" y="4469242"/>
            <a:ext cx="23459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* Check out the online interactive exercises:   h</a:t>
            </a:r>
            <a:r>
              <a:rPr lang="en-US" altLang="en-US" sz="825" dirty="0">
                <a:latin typeface="Calibri" panose="020F0502020204030204" pitchFamily="34" charset="0"/>
                <a:cs typeface="Calibri" panose="020F0502020204030204" pitchFamily="34" charset="0"/>
              </a:rPr>
              <a:t>ttp://gaia.cs.umass.edu/</a:t>
            </a:r>
            <a:r>
              <a:rPr lang="en-US" altLang="en-US" sz="825" dirty="0" err="1">
                <a:latin typeface="Calibri" panose="020F0502020204030204" pitchFamily="34" charset="0"/>
                <a:cs typeface="Calibri" panose="020F0502020204030204" pitchFamily="34" charset="0"/>
              </a:rPr>
              <a:t>kurose_ross</a:t>
            </a:r>
            <a:endParaRPr lang="en-US" altLang="en-US" sz="82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67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2523323" y="1325717"/>
            <a:ext cx="1133514" cy="647753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Packet delay: four sources</a:t>
            </a:r>
            <a:endParaRPr lang="en-US" dirty="0"/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5759" y="1337726"/>
            <a:ext cx="556052" cy="266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283" y="1502033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8830" y="1555611"/>
            <a:ext cx="110734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0281" y="1555611"/>
            <a:ext cx="110734" cy="150019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81546" y="1375313"/>
            <a:ext cx="27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726" y="1509177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8040" y="1190909"/>
            <a:ext cx="14029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propagation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805353" y="1373332"/>
            <a:ext cx="2393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7" name="Text Box 43">
            <a:extLst>
              <a:ext uri="{FF2B5EF4-FFF2-40B4-BE49-F238E27FC236}">
                <a16:creationId xmlns:a16="http://schemas.microsoft.com/office/drawing/2014/main" id="{867387BA-39EC-9E4E-8BB0-480BC442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830" y="2047339"/>
            <a:ext cx="130035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nodal</a:t>
            </a:r>
          </a:p>
          <a:p>
            <a:pPr algn="ctr">
              <a:lnSpc>
                <a:spcPct val="80000"/>
              </a:lnSpc>
            </a:pPr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processing</a:t>
            </a:r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CDB7B374-4A7A-E246-8D88-69216785D71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22656" y="2047493"/>
            <a:ext cx="625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3140969" y="1902083"/>
            <a:ext cx="2893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977" y="2218098"/>
            <a:ext cx="11336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queueing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262419" y="1902082"/>
            <a:ext cx="446510" cy="414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305" y="2689296"/>
            <a:ext cx="4908343" cy="41552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nodal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=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proc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trans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 +  </a:t>
            </a:r>
            <a:r>
              <a:rPr lang="en-US" altLang="en-US" i="1" dirty="0" err="1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prop</a:t>
            </a:r>
            <a:endParaRPr lang="en-US" altLang="en-US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64348" y="1742539"/>
            <a:ext cx="551510" cy="4124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401" y="1480602"/>
            <a:ext cx="110735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491" y="1432976"/>
            <a:ext cx="158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611" y="1100792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168" y="1815167"/>
            <a:ext cx="36420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>
                <a:latin typeface="+mn-lt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1442544" y="1100792"/>
            <a:ext cx="584629" cy="509588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1435650" y="1856018"/>
            <a:ext cx="584630" cy="509588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500"/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965" y="859471"/>
            <a:ext cx="14798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solidFill>
                  <a:srgbClr val="CC0000"/>
                </a:solidFill>
                <a:latin typeface="+mn-lt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3029044" y="1082933"/>
            <a:ext cx="39650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831" y="1972701"/>
            <a:ext cx="104830" cy="13889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3328" y="1949914"/>
            <a:ext cx="164760" cy="121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5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3660437" y="1678919"/>
            <a:ext cx="25417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5993263" y="1333693"/>
            <a:ext cx="1133514" cy="647753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6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864" y="3220500"/>
            <a:ext cx="810978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Suppose </a:t>
            </a:r>
            <a:r>
              <a:rPr lang="en-US" b="1" dirty="0"/>
              <a:t>Computer A</a:t>
            </a:r>
            <a:r>
              <a:rPr lang="en-US" dirty="0"/>
              <a:t> sends a message to a server: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router</a:t>
            </a:r>
            <a:r>
              <a:rPr lang="en-US" dirty="0"/>
              <a:t> receives the packet → checks the header → takes a few microseconds (</a:t>
            </a:r>
            <a:r>
              <a:rPr lang="en-US" b="1" dirty="0"/>
              <a:t>processing delay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If other packets are waiting to be sent, the packet </a:t>
            </a:r>
            <a:r>
              <a:rPr lang="en-US" b="1" dirty="0"/>
              <a:t>waits in queue</a:t>
            </a:r>
            <a:r>
              <a:rPr lang="en-US" dirty="0"/>
              <a:t> for some time (</a:t>
            </a:r>
            <a:r>
              <a:rPr lang="en-US" b="1" dirty="0"/>
              <a:t>queueing delay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Then, the packet is </a:t>
            </a:r>
            <a:r>
              <a:rPr lang="en-US" b="1" dirty="0"/>
              <a:t>transmitted bit-by-bit</a:t>
            </a:r>
            <a:r>
              <a:rPr lang="en-US" dirty="0"/>
              <a:t> over the cable (</a:t>
            </a:r>
            <a:r>
              <a:rPr lang="en-US" b="1" dirty="0"/>
              <a:t>transmission delay</a:t>
            </a:r>
            <a:r>
              <a:rPr lang="en-US" dirty="0"/>
              <a:t>).</a:t>
            </a:r>
          </a:p>
          <a:p>
            <a:pPr>
              <a:buFont typeface="+mj-lt"/>
              <a:buAutoNum type="arabicPeriod"/>
            </a:pPr>
            <a:r>
              <a:rPr lang="en-US" dirty="0"/>
              <a:t>Finally, it </a:t>
            </a:r>
            <a:r>
              <a:rPr lang="en-US" b="1" dirty="0"/>
              <a:t>travels physically</a:t>
            </a:r>
            <a:r>
              <a:rPr lang="en-US" dirty="0"/>
              <a:t> across the network to the destination (</a:t>
            </a:r>
            <a:r>
              <a:rPr lang="en-US" b="1" dirty="0"/>
              <a:t>propagation delay</a:t>
            </a:r>
            <a:r>
              <a:rPr lang="en-US" dirty="0"/>
              <a:t>).</a:t>
            </a:r>
          </a:p>
          <a:p>
            <a:r>
              <a:rPr lang="en-US" dirty="0"/>
              <a:t>Each delay adds up to the total time it takes for the packet to go from A to B.</a:t>
            </a:r>
          </a:p>
        </p:txBody>
      </p:sp>
    </p:spTree>
    <p:extLst>
      <p:ext uri="{BB962C8B-B14F-4D97-AF65-F5344CB8AC3E}">
        <p14:creationId xmlns:p14="http://schemas.microsoft.com/office/powerpoint/2010/main" val="388436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/>
      <p:bldP spid="86" grpId="0" animBg="1"/>
      <p:bldP spid="87" grpId="0"/>
      <p:bldP spid="88" grpId="0" animBg="1"/>
      <p:bldP spid="89" grpId="0" animBg="1"/>
      <p:bldP spid="90" grpId="0"/>
      <p:bldP spid="91" grpId="0" animBg="1"/>
      <p:bldP spid="92" grpId="0"/>
      <p:bldP spid="93" grpId="0" animBg="1"/>
      <p:bldP spid="94" grpId="0" animBg="1"/>
      <p:bldP spid="95" grpId="0" animBg="1"/>
      <p:bldP spid="96" grpId="0"/>
      <p:bldP spid="97" grpId="0"/>
      <p:bldP spid="100" grpId="0"/>
      <p:bldP spid="101" grpId="0" animBg="1"/>
      <p:bldP spid="103" grpId="0" animBg="1"/>
      <p:bldP spid="10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Caravan analogy</a:t>
            </a:r>
            <a:endParaRPr lang="en-US" dirty="0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41B12F5C-6331-1347-85AF-E2E9F4F4F811}"/>
              </a:ext>
            </a:extLst>
          </p:cNvPr>
          <p:cNvSpPr txBox="1">
            <a:spLocks noChangeArrowheads="1"/>
          </p:cNvSpPr>
          <p:nvPr/>
        </p:nvSpPr>
        <p:spPr>
          <a:xfrm>
            <a:off x="371061" y="2244204"/>
            <a:ext cx="4598504" cy="248840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cars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propagate” at  100 km/</a:t>
            </a:r>
            <a:r>
              <a:rPr lang="en-US" altLang="ja-JP" sz="2100" dirty="0" err="1">
                <a:ea typeface="ＭＳ Ｐゴシック" panose="020B0600070205080204" pitchFamily="34" charset="-128"/>
              </a:rPr>
              <a:t>hr</a:t>
            </a:r>
            <a:endParaRPr lang="en-US" altLang="ja-JP" sz="2100" dirty="0">
              <a:ea typeface="ＭＳ Ｐゴシック" panose="020B0600070205080204" pitchFamily="34" charset="-128"/>
            </a:endParaRPr>
          </a:p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toll booth takes 12 sec to service car (bit transmission time)</a:t>
            </a:r>
          </a:p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car ~ bit; caravan ~ packet</a:t>
            </a:r>
          </a:p>
          <a:p>
            <a:pPr marL="215504" indent="-215504"/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How long until caravan is lined up before 2nd toll booth?</a:t>
            </a:r>
          </a:p>
          <a:p>
            <a:pPr marL="215504" indent="-215504">
              <a:buNone/>
            </a:pPr>
            <a:endParaRPr lang="en-US" altLang="en-US" sz="18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761B03B4-E470-8748-91D1-0F853F7B927D}"/>
              </a:ext>
            </a:extLst>
          </p:cNvPr>
          <p:cNvSpPr txBox="1">
            <a:spLocks noChangeArrowheads="1"/>
          </p:cNvSpPr>
          <p:nvPr/>
        </p:nvSpPr>
        <p:spPr>
          <a:xfrm>
            <a:off x="5082163" y="2254919"/>
            <a:ext cx="3969071" cy="252412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time to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push” entire caravan through toll booth onto highway = 12*10 = 120 sec</a:t>
            </a:r>
          </a:p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time for last car to propagate from 1st to 2nd toll both: 100km/(100km/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hr</a:t>
            </a:r>
            <a:r>
              <a:rPr lang="en-US" altLang="en-US" sz="2100" dirty="0">
                <a:ea typeface="ＭＳ Ｐゴシック" panose="020B0600070205080204" pitchFamily="34" charset="-128"/>
              </a:rPr>
              <a:t>) = 1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hr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215504" indent="-215504"/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A:</a:t>
            </a:r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62 minutes</a:t>
            </a:r>
          </a:p>
        </p:txBody>
      </p:sp>
      <p:grpSp>
        <p:nvGrpSpPr>
          <p:cNvPr id="62" name="Group 43">
            <a:extLst>
              <a:ext uri="{FF2B5EF4-FFF2-40B4-BE49-F238E27FC236}">
                <a16:creationId xmlns:a16="http://schemas.microsoft.com/office/drawing/2014/main" id="{A680721C-C41B-034D-A8A4-9579FCA6E54B}"/>
              </a:ext>
            </a:extLst>
          </p:cNvPr>
          <p:cNvGrpSpPr>
            <a:grpSpLocks/>
          </p:cNvGrpSpPr>
          <p:nvPr/>
        </p:nvGrpSpPr>
        <p:grpSpPr bwMode="auto">
          <a:xfrm>
            <a:off x="5369123" y="1065179"/>
            <a:ext cx="1595438" cy="796528"/>
            <a:chOff x="1190" y="938"/>
            <a:chExt cx="1340" cy="669"/>
          </a:xfrm>
        </p:grpSpPr>
        <p:sp>
          <p:nvSpPr>
            <p:cNvPr id="118" name="Rectangle 44">
              <a:extLst>
                <a:ext uri="{FF2B5EF4-FFF2-40B4-BE49-F238E27FC236}">
                  <a16:creationId xmlns:a16="http://schemas.microsoft.com/office/drawing/2014/main" id="{0075AD55-9B7E-3845-84B9-5FC47820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119" name="Text Box 45">
              <a:extLst>
                <a:ext uri="{FF2B5EF4-FFF2-40B4-BE49-F238E27FC236}">
                  <a16:creationId xmlns:a16="http://schemas.microsoft.com/office/drawing/2014/main" id="{A5BF8F48-588A-9542-B2DC-B2F53BE28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355"/>
              <a:ext cx="1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350" dirty="0">
                  <a:latin typeface="+mn-lt"/>
                </a:rPr>
                <a:t>toll booth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1E0845E3-4965-264F-85B3-251A72857D5C}"/>
              </a:ext>
            </a:extLst>
          </p:cNvPr>
          <p:cNvGrpSpPr>
            <a:grpSpLocks/>
          </p:cNvGrpSpPr>
          <p:nvPr/>
        </p:nvGrpSpPr>
        <p:grpSpPr bwMode="auto">
          <a:xfrm>
            <a:off x="3125986" y="1065180"/>
            <a:ext cx="1757363" cy="1050133"/>
            <a:chOff x="1103" y="938"/>
            <a:chExt cx="1476" cy="882"/>
          </a:xfrm>
        </p:grpSpPr>
        <p:sp>
          <p:nvSpPr>
            <p:cNvPr id="112" name="Rectangle 47">
              <a:extLst>
                <a:ext uri="{FF2B5EF4-FFF2-40B4-BE49-F238E27FC236}">
                  <a16:creationId xmlns:a16="http://schemas.microsoft.com/office/drawing/2014/main" id="{26085591-8185-6B44-97FE-F1C550916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113" name="Text Box 48">
              <a:extLst>
                <a:ext uri="{FF2B5EF4-FFF2-40B4-BE49-F238E27FC236}">
                  <a16:creationId xmlns:a16="http://schemas.microsoft.com/office/drawing/2014/main" id="{538D52FE-8983-DE48-A549-A9D77BEDF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1355"/>
              <a:ext cx="147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500" dirty="0">
                  <a:latin typeface="+mn-lt"/>
                </a:rPr>
                <a:t>toll  booth</a:t>
              </a:r>
            </a:p>
            <a:p>
              <a:pPr algn="ctr"/>
              <a:r>
                <a:rPr lang="en-US" altLang="en-US" sz="1500" dirty="0">
                  <a:latin typeface="+mn-lt"/>
                </a:rPr>
                <a:t>(aka router)</a:t>
              </a:r>
              <a:endParaRPr lang="en-US" altLang="en-US" sz="1350" dirty="0">
                <a:latin typeface="+mn-lt"/>
              </a:endParaRPr>
            </a:p>
          </p:txBody>
        </p:sp>
      </p:grpSp>
      <p:sp>
        <p:nvSpPr>
          <p:cNvPr id="67" name="Text Box 50">
            <a:extLst>
              <a:ext uri="{FF2B5EF4-FFF2-40B4-BE49-F238E27FC236}">
                <a16:creationId xmlns:a16="http://schemas.microsoft.com/office/drawing/2014/main" id="{6DCA78D0-71A5-3D48-8C60-11F6F751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173" y="1559289"/>
            <a:ext cx="181601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latin typeface="+mn-lt"/>
              </a:rPr>
              <a:t>ten-car caravan</a:t>
            </a:r>
          </a:p>
          <a:p>
            <a:r>
              <a:rPr lang="en-US" altLang="en-US" sz="1500" dirty="0">
                <a:latin typeface="+mn-lt"/>
              </a:rPr>
              <a:t>(aka 10-bit packet)</a:t>
            </a:r>
          </a:p>
        </p:txBody>
      </p:sp>
      <p:sp>
        <p:nvSpPr>
          <p:cNvPr id="68" name="Line 51">
            <a:extLst>
              <a:ext uri="{FF2B5EF4-FFF2-40B4-BE49-F238E27FC236}">
                <a16:creationId xmlns:a16="http://schemas.microsoft.com/office/drawing/2014/main" id="{031381B0-A607-BB42-A9DA-33BCE08F52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9411" y="1297352"/>
            <a:ext cx="4941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0" name="Text Box 52">
            <a:extLst>
              <a:ext uri="{FF2B5EF4-FFF2-40B4-BE49-F238E27FC236}">
                <a16:creationId xmlns:a16="http://schemas.microsoft.com/office/drawing/2014/main" id="{1547177C-C201-3046-8515-06AE257E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520" y="114733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>
                <a:latin typeface="+mn-lt"/>
              </a:rPr>
              <a:t>100 km</a:t>
            </a:r>
          </a:p>
        </p:txBody>
      </p:sp>
      <p:sp>
        <p:nvSpPr>
          <p:cNvPr id="71" name="Line 53">
            <a:extLst>
              <a:ext uri="{FF2B5EF4-FFF2-40B4-BE49-F238E27FC236}">
                <a16:creationId xmlns:a16="http://schemas.microsoft.com/office/drawing/2014/main" id="{E0D9E0AD-E82D-CF4F-8D2E-4728AAE394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03739" y="1296161"/>
            <a:ext cx="46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2" name="Text Box 54">
            <a:extLst>
              <a:ext uri="{FF2B5EF4-FFF2-40B4-BE49-F238E27FC236}">
                <a16:creationId xmlns:a16="http://schemas.microsoft.com/office/drawing/2014/main" id="{9CD8914C-2542-8F4E-AF73-59E7EC661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464" y="114733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>
                <a:latin typeface="+mn-lt"/>
              </a:rPr>
              <a:t>100 km</a:t>
            </a:r>
          </a:p>
        </p:txBody>
      </p:sp>
      <p:sp>
        <p:nvSpPr>
          <p:cNvPr id="73" name="Line 55">
            <a:extLst>
              <a:ext uri="{FF2B5EF4-FFF2-40B4-BE49-F238E27FC236}">
                <a16:creationId xmlns:a16="http://schemas.microsoft.com/office/drawing/2014/main" id="{169E470E-C0E6-F24E-B1E7-18A05B976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2534" y="1296161"/>
            <a:ext cx="3521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4" name="Oval 56">
            <a:extLst>
              <a:ext uri="{FF2B5EF4-FFF2-40B4-BE49-F238E27FC236}">
                <a16:creationId xmlns:a16="http://schemas.microsoft.com/office/drawing/2014/main" id="{F868A4D3-B48D-C848-B37D-F3B07B765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533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sp>
        <p:nvSpPr>
          <p:cNvPr id="75" name="Oval 57">
            <a:extLst>
              <a:ext uri="{FF2B5EF4-FFF2-40B4-BE49-F238E27FC236}">
                <a16:creationId xmlns:a16="http://schemas.microsoft.com/office/drawing/2014/main" id="{56EAFA29-975D-474A-97BF-AFC41E8AC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833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sp>
        <p:nvSpPr>
          <p:cNvPr id="76" name="Oval 58">
            <a:extLst>
              <a:ext uri="{FF2B5EF4-FFF2-40B4-BE49-F238E27FC236}">
                <a16:creationId xmlns:a16="http://schemas.microsoft.com/office/drawing/2014/main" id="{0E771CCE-C6A6-1E4D-A15A-E66651C3A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711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pic>
        <p:nvPicPr>
          <p:cNvPr id="78" name="Picture 59" descr="MCj03985170000[1]">
            <a:extLst>
              <a:ext uri="{FF2B5EF4-FFF2-40B4-BE49-F238E27FC236}">
                <a16:creationId xmlns:a16="http://schemas.microsoft.com/office/drawing/2014/main" id="{9CEB139B-515D-B54C-9C5C-AEB0E8CB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30673" y="1230677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0" descr="MCj03985170000[1]">
            <a:extLst>
              <a:ext uri="{FF2B5EF4-FFF2-40B4-BE49-F238E27FC236}">
                <a16:creationId xmlns:a16="http://schemas.microsoft.com/office/drawing/2014/main" id="{6ACBF8D8-9A26-364E-A17B-BFCD2AA9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80555" y="122710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 61">
            <a:extLst>
              <a:ext uri="{FF2B5EF4-FFF2-40B4-BE49-F238E27FC236}">
                <a16:creationId xmlns:a16="http://schemas.microsoft.com/office/drawing/2014/main" id="{A95B855D-1C6D-414B-9F22-7729104A5F20}"/>
              </a:ext>
            </a:extLst>
          </p:cNvPr>
          <p:cNvGrpSpPr>
            <a:grpSpLocks/>
          </p:cNvGrpSpPr>
          <p:nvPr/>
        </p:nvGrpSpPr>
        <p:grpSpPr bwMode="auto">
          <a:xfrm>
            <a:off x="3520082" y="998505"/>
            <a:ext cx="344091" cy="583406"/>
            <a:chOff x="2365" y="1352"/>
            <a:chExt cx="1022" cy="1616"/>
          </a:xfrm>
        </p:grpSpPr>
        <p:pic>
          <p:nvPicPr>
            <p:cNvPr id="110" name="Picture 62">
              <a:extLst>
                <a:ext uri="{FF2B5EF4-FFF2-40B4-BE49-F238E27FC236}">
                  <a16:creationId xmlns:a16="http://schemas.microsoft.com/office/drawing/2014/main" id="{EB674B22-7E46-2C44-AF9F-1E555966B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Rectangle 63">
              <a:extLst>
                <a:ext uri="{FF2B5EF4-FFF2-40B4-BE49-F238E27FC236}">
                  <a16:creationId xmlns:a16="http://schemas.microsoft.com/office/drawing/2014/main" id="{F01353DF-CFF9-1647-A044-1F49D6785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</p:grpSp>
      <p:pic>
        <p:nvPicPr>
          <p:cNvPr id="105" name="Picture 64" descr="MCj03985170000[1]">
            <a:extLst>
              <a:ext uri="{FF2B5EF4-FFF2-40B4-BE49-F238E27FC236}">
                <a16:creationId xmlns:a16="http://schemas.microsoft.com/office/drawing/2014/main" id="{2A0D7193-16A0-CF44-BE21-F6AC69F7B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03364" y="124615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" name="Group 65">
            <a:extLst>
              <a:ext uri="{FF2B5EF4-FFF2-40B4-BE49-F238E27FC236}">
                <a16:creationId xmlns:a16="http://schemas.microsoft.com/office/drawing/2014/main" id="{164B693F-1E0D-484C-BAAB-59C095BE0057}"/>
              </a:ext>
            </a:extLst>
          </p:cNvPr>
          <p:cNvGrpSpPr>
            <a:grpSpLocks/>
          </p:cNvGrpSpPr>
          <p:nvPr/>
        </p:nvGrpSpPr>
        <p:grpSpPr bwMode="auto">
          <a:xfrm>
            <a:off x="5712023" y="1019936"/>
            <a:ext cx="344091" cy="583406"/>
            <a:chOff x="2365" y="1352"/>
            <a:chExt cx="1022" cy="1616"/>
          </a:xfrm>
        </p:grpSpPr>
        <p:pic>
          <p:nvPicPr>
            <p:cNvPr id="108" name="Picture 66">
              <a:extLst>
                <a:ext uri="{FF2B5EF4-FFF2-40B4-BE49-F238E27FC236}">
                  <a16:creationId xmlns:a16="http://schemas.microsoft.com/office/drawing/2014/main" id="{3F538F10-B988-2C46-8412-F65118307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Rectangle 67">
              <a:extLst>
                <a:ext uri="{FF2B5EF4-FFF2-40B4-BE49-F238E27FC236}">
                  <a16:creationId xmlns:a16="http://schemas.microsoft.com/office/drawing/2014/main" id="{DDC87F5E-7874-804E-8DFC-06A9845A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</p:grpSp>
      <p:sp>
        <p:nvSpPr>
          <p:cNvPr id="107" name="Line 68">
            <a:extLst>
              <a:ext uri="{FF2B5EF4-FFF2-40B4-BE49-F238E27FC236}">
                <a16:creationId xmlns:a16="http://schemas.microsoft.com/office/drawing/2014/main" id="{0CAD04D0-792F-5E49-A514-B73659DD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3145" y="1296161"/>
            <a:ext cx="650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551CFE6-10AE-1342-89E5-DB20C72CDEB2}"/>
              </a:ext>
            </a:extLst>
          </p:cNvPr>
          <p:cNvSpPr/>
          <p:nvPr/>
        </p:nvSpPr>
        <p:spPr>
          <a:xfrm rot="5400000">
            <a:off x="2532483" y="610933"/>
            <a:ext cx="80915" cy="189428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2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7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Caravan analogy</a:t>
            </a:r>
            <a:endParaRPr lang="en-US" dirty="0"/>
          </a:p>
        </p:txBody>
      </p:sp>
      <p:grpSp>
        <p:nvGrpSpPr>
          <p:cNvPr id="62" name="Group 43">
            <a:extLst>
              <a:ext uri="{FF2B5EF4-FFF2-40B4-BE49-F238E27FC236}">
                <a16:creationId xmlns:a16="http://schemas.microsoft.com/office/drawing/2014/main" id="{A680721C-C41B-034D-A8A4-9579FCA6E54B}"/>
              </a:ext>
            </a:extLst>
          </p:cNvPr>
          <p:cNvGrpSpPr>
            <a:grpSpLocks/>
          </p:cNvGrpSpPr>
          <p:nvPr/>
        </p:nvGrpSpPr>
        <p:grpSpPr bwMode="auto">
          <a:xfrm>
            <a:off x="5369123" y="1065179"/>
            <a:ext cx="1595438" cy="796528"/>
            <a:chOff x="1190" y="938"/>
            <a:chExt cx="1340" cy="669"/>
          </a:xfrm>
        </p:grpSpPr>
        <p:sp>
          <p:nvSpPr>
            <p:cNvPr id="118" name="Rectangle 44">
              <a:extLst>
                <a:ext uri="{FF2B5EF4-FFF2-40B4-BE49-F238E27FC236}">
                  <a16:creationId xmlns:a16="http://schemas.microsoft.com/office/drawing/2014/main" id="{0075AD55-9B7E-3845-84B9-5FC47820E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119" name="Text Box 45">
              <a:extLst>
                <a:ext uri="{FF2B5EF4-FFF2-40B4-BE49-F238E27FC236}">
                  <a16:creationId xmlns:a16="http://schemas.microsoft.com/office/drawing/2014/main" id="{A5BF8F48-588A-9542-B2DC-B2F53BE28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0" y="1355"/>
              <a:ext cx="1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350" dirty="0">
                  <a:latin typeface="+mn-lt"/>
                </a:rPr>
                <a:t>toll booth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1E0845E3-4965-264F-85B3-251A72857D5C}"/>
              </a:ext>
            </a:extLst>
          </p:cNvPr>
          <p:cNvGrpSpPr>
            <a:grpSpLocks/>
          </p:cNvGrpSpPr>
          <p:nvPr/>
        </p:nvGrpSpPr>
        <p:grpSpPr bwMode="auto">
          <a:xfrm>
            <a:off x="3125986" y="1065180"/>
            <a:ext cx="1757363" cy="1050133"/>
            <a:chOff x="1103" y="938"/>
            <a:chExt cx="1476" cy="882"/>
          </a:xfrm>
        </p:grpSpPr>
        <p:sp>
          <p:nvSpPr>
            <p:cNvPr id="112" name="Rectangle 47">
              <a:extLst>
                <a:ext uri="{FF2B5EF4-FFF2-40B4-BE49-F238E27FC236}">
                  <a16:creationId xmlns:a16="http://schemas.microsoft.com/office/drawing/2014/main" id="{26085591-8185-6B44-97FE-F1C550916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" y="938"/>
              <a:ext cx="47" cy="42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  <p:sp>
          <p:nvSpPr>
            <p:cNvPr id="113" name="Text Box 48">
              <a:extLst>
                <a:ext uri="{FF2B5EF4-FFF2-40B4-BE49-F238E27FC236}">
                  <a16:creationId xmlns:a16="http://schemas.microsoft.com/office/drawing/2014/main" id="{538D52FE-8983-DE48-A549-A9D77BEDF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1355"/>
              <a:ext cx="147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500" dirty="0">
                  <a:latin typeface="+mn-lt"/>
                </a:rPr>
                <a:t>toll  booth</a:t>
              </a:r>
            </a:p>
            <a:p>
              <a:pPr algn="ctr"/>
              <a:r>
                <a:rPr lang="en-US" altLang="en-US" sz="1500" dirty="0">
                  <a:latin typeface="+mn-lt"/>
                </a:rPr>
                <a:t>(aka router)</a:t>
              </a:r>
              <a:endParaRPr lang="en-US" altLang="en-US" sz="1350" dirty="0">
                <a:latin typeface="+mn-lt"/>
              </a:endParaRPr>
            </a:p>
          </p:txBody>
        </p:sp>
      </p:grpSp>
      <p:sp>
        <p:nvSpPr>
          <p:cNvPr id="67" name="Text Box 50">
            <a:extLst>
              <a:ext uri="{FF2B5EF4-FFF2-40B4-BE49-F238E27FC236}">
                <a16:creationId xmlns:a16="http://schemas.microsoft.com/office/drawing/2014/main" id="{6DCA78D0-71A5-3D48-8C60-11F6F7514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773" y="1559289"/>
            <a:ext cx="1587416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latin typeface="+mn-lt"/>
              </a:rPr>
              <a:t>ten-car caravan</a:t>
            </a:r>
          </a:p>
          <a:p>
            <a:r>
              <a:rPr lang="en-US" altLang="en-US" sz="1500" dirty="0">
                <a:latin typeface="+mn-lt"/>
              </a:rPr>
              <a:t>(aka 10-bit packet)</a:t>
            </a:r>
          </a:p>
        </p:txBody>
      </p:sp>
      <p:sp>
        <p:nvSpPr>
          <p:cNvPr id="68" name="Line 51">
            <a:extLst>
              <a:ext uri="{FF2B5EF4-FFF2-40B4-BE49-F238E27FC236}">
                <a16:creationId xmlns:a16="http://schemas.microsoft.com/office/drawing/2014/main" id="{031381B0-A607-BB42-A9DA-33BCE08F52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9411" y="1297352"/>
            <a:ext cx="4941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0" name="Text Box 52">
            <a:extLst>
              <a:ext uri="{FF2B5EF4-FFF2-40B4-BE49-F238E27FC236}">
                <a16:creationId xmlns:a16="http://schemas.microsoft.com/office/drawing/2014/main" id="{1547177C-C201-3046-8515-06AE257E4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3520" y="114733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>
                <a:latin typeface="+mn-lt"/>
              </a:rPr>
              <a:t>100 km</a:t>
            </a:r>
          </a:p>
        </p:txBody>
      </p:sp>
      <p:sp>
        <p:nvSpPr>
          <p:cNvPr id="71" name="Line 53">
            <a:extLst>
              <a:ext uri="{FF2B5EF4-FFF2-40B4-BE49-F238E27FC236}">
                <a16:creationId xmlns:a16="http://schemas.microsoft.com/office/drawing/2014/main" id="{E0D9E0AD-E82D-CF4F-8D2E-4728AAE394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03739" y="1296161"/>
            <a:ext cx="466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2" name="Text Box 54">
            <a:extLst>
              <a:ext uri="{FF2B5EF4-FFF2-40B4-BE49-F238E27FC236}">
                <a16:creationId xmlns:a16="http://schemas.microsoft.com/office/drawing/2014/main" id="{9CD8914C-2542-8F4E-AF73-59E7EC661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464" y="1147333"/>
            <a:ext cx="809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>
                <a:latin typeface="+mn-lt"/>
              </a:rPr>
              <a:t>100 km</a:t>
            </a:r>
          </a:p>
        </p:txBody>
      </p:sp>
      <p:sp>
        <p:nvSpPr>
          <p:cNvPr id="73" name="Line 55">
            <a:extLst>
              <a:ext uri="{FF2B5EF4-FFF2-40B4-BE49-F238E27FC236}">
                <a16:creationId xmlns:a16="http://schemas.microsoft.com/office/drawing/2014/main" id="{169E470E-C0E6-F24E-B1E7-18A05B9767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2534" y="1296161"/>
            <a:ext cx="35216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4" name="Oval 56">
            <a:extLst>
              <a:ext uri="{FF2B5EF4-FFF2-40B4-BE49-F238E27FC236}">
                <a16:creationId xmlns:a16="http://schemas.microsoft.com/office/drawing/2014/main" id="{F868A4D3-B48D-C848-B37D-F3B07B765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533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sp>
        <p:nvSpPr>
          <p:cNvPr id="75" name="Oval 57">
            <a:extLst>
              <a:ext uri="{FF2B5EF4-FFF2-40B4-BE49-F238E27FC236}">
                <a16:creationId xmlns:a16="http://schemas.microsoft.com/office/drawing/2014/main" id="{56EAFA29-975D-474A-97BF-AFC41E8AC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833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sp>
        <p:nvSpPr>
          <p:cNvPr id="76" name="Oval 58">
            <a:extLst>
              <a:ext uri="{FF2B5EF4-FFF2-40B4-BE49-F238E27FC236}">
                <a16:creationId xmlns:a16="http://schemas.microsoft.com/office/drawing/2014/main" id="{0E771CCE-C6A6-1E4D-A15A-E66651C3A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711" y="1297352"/>
            <a:ext cx="55960" cy="5596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+mn-lt"/>
            </a:endParaRPr>
          </a:p>
        </p:txBody>
      </p:sp>
      <p:pic>
        <p:nvPicPr>
          <p:cNvPr id="78" name="Picture 59" descr="MCj03985170000[1]">
            <a:extLst>
              <a:ext uri="{FF2B5EF4-FFF2-40B4-BE49-F238E27FC236}">
                <a16:creationId xmlns:a16="http://schemas.microsoft.com/office/drawing/2014/main" id="{9CEB139B-515D-B54C-9C5C-AEB0E8CB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30673" y="1230677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0" descr="MCj03985170000[1]">
            <a:extLst>
              <a:ext uri="{FF2B5EF4-FFF2-40B4-BE49-F238E27FC236}">
                <a16:creationId xmlns:a16="http://schemas.microsoft.com/office/drawing/2014/main" id="{6ACBF8D8-9A26-364E-A17B-BFCD2AA9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80555" y="122710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" name="Group 61">
            <a:extLst>
              <a:ext uri="{FF2B5EF4-FFF2-40B4-BE49-F238E27FC236}">
                <a16:creationId xmlns:a16="http://schemas.microsoft.com/office/drawing/2014/main" id="{A95B855D-1C6D-414B-9F22-7729104A5F20}"/>
              </a:ext>
            </a:extLst>
          </p:cNvPr>
          <p:cNvGrpSpPr>
            <a:grpSpLocks/>
          </p:cNvGrpSpPr>
          <p:nvPr/>
        </p:nvGrpSpPr>
        <p:grpSpPr bwMode="auto">
          <a:xfrm>
            <a:off x="3520082" y="998505"/>
            <a:ext cx="344091" cy="583406"/>
            <a:chOff x="2365" y="1352"/>
            <a:chExt cx="1022" cy="1616"/>
          </a:xfrm>
        </p:grpSpPr>
        <p:pic>
          <p:nvPicPr>
            <p:cNvPr id="110" name="Picture 62">
              <a:extLst>
                <a:ext uri="{FF2B5EF4-FFF2-40B4-BE49-F238E27FC236}">
                  <a16:creationId xmlns:a16="http://schemas.microsoft.com/office/drawing/2014/main" id="{EB674B22-7E46-2C44-AF9F-1E555966B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1" name="Rectangle 63">
              <a:extLst>
                <a:ext uri="{FF2B5EF4-FFF2-40B4-BE49-F238E27FC236}">
                  <a16:creationId xmlns:a16="http://schemas.microsoft.com/office/drawing/2014/main" id="{F01353DF-CFF9-1647-A044-1F49D6785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</p:grpSp>
      <p:pic>
        <p:nvPicPr>
          <p:cNvPr id="105" name="Picture 64" descr="MCj03985170000[1]">
            <a:extLst>
              <a:ext uri="{FF2B5EF4-FFF2-40B4-BE49-F238E27FC236}">
                <a16:creationId xmlns:a16="http://schemas.microsoft.com/office/drawing/2014/main" id="{2A0D7193-16A0-CF44-BE21-F6AC69F7B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03364" y="1246155"/>
            <a:ext cx="561975" cy="164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6" name="Group 65">
            <a:extLst>
              <a:ext uri="{FF2B5EF4-FFF2-40B4-BE49-F238E27FC236}">
                <a16:creationId xmlns:a16="http://schemas.microsoft.com/office/drawing/2014/main" id="{164B693F-1E0D-484C-BAAB-59C095BE0057}"/>
              </a:ext>
            </a:extLst>
          </p:cNvPr>
          <p:cNvGrpSpPr>
            <a:grpSpLocks/>
          </p:cNvGrpSpPr>
          <p:nvPr/>
        </p:nvGrpSpPr>
        <p:grpSpPr bwMode="auto">
          <a:xfrm>
            <a:off x="5712023" y="1019936"/>
            <a:ext cx="344091" cy="583406"/>
            <a:chOff x="2365" y="1352"/>
            <a:chExt cx="1022" cy="1616"/>
          </a:xfrm>
        </p:grpSpPr>
        <p:pic>
          <p:nvPicPr>
            <p:cNvPr id="108" name="Picture 66">
              <a:extLst>
                <a:ext uri="{FF2B5EF4-FFF2-40B4-BE49-F238E27FC236}">
                  <a16:creationId xmlns:a16="http://schemas.microsoft.com/office/drawing/2014/main" id="{3F538F10-B988-2C46-8412-F651183076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3" y="1352"/>
              <a:ext cx="1014" cy="1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9" name="Rectangle 67">
              <a:extLst>
                <a:ext uri="{FF2B5EF4-FFF2-40B4-BE49-F238E27FC236}">
                  <a16:creationId xmlns:a16="http://schemas.microsoft.com/office/drawing/2014/main" id="{DDC87F5E-7874-804E-8DFC-06A9845A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5" y="2129"/>
              <a:ext cx="367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>
                <a:latin typeface="+mn-lt"/>
              </a:endParaRPr>
            </a:p>
          </p:txBody>
        </p:sp>
      </p:grpSp>
      <p:sp>
        <p:nvSpPr>
          <p:cNvPr id="107" name="Line 68">
            <a:extLst>
              <a:ext uri="{FF2B5EF4-FFF2-40B4-BE49-F238E27FC236}">
                <a16:creationId xmlns:a16="http://schemas.microsoft.com/office/drawing/2014/main" id="{0CAD04D0-792F-5E49-A514-B73659DD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3145" y="1296161"/>
            <a:ext cx="65008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551CFE6-10AE-1342-89E5-DB20C72CDEB2}"/>
              </a:ext>
            </a:extLst>
          </p:cNvPr>
          <p:cNvSpPr/>
          <p:nvPr/>
        </p:nvSpPr>
        <p:spPr>
          <a:xfrm rot="5400000">
            <a:off x="2532483" y="610933"/>
            <a:ext cx="80915" cy="189428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E0A20531-724F-544A-A148-70EAC3D3CAB0}"/>
              </a:ext>
            </a:extLst>
          </p:cNvPr>
          <p:cNvSpPr txBox="1">
            <a:spLocks noChangeArrowheads="1"/>
          </p:cNvSpPr>
          <p:nvPr/>
        </p:nvSpPr>
        <p:spPr>
          <a:xfrm>
            <a:off x="618950" y="2510830"/>
            <a:ext cx="7886700" cy="1241261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suppose cars now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propagate” at 1000 km/</a:t>
            </a:r>
            <a:r>
              <a:rPr lang="en-US" altLang="ja-JP" sz="2100" dirty="0" err="1">
                <a:ea typeface="ＭＳ Ｐゴシック" panose="020B0600070205080204" pitchFamily="34" charset="-128"/>
              </a:rPr>
              <a:t>hr</a:t>
            </a:r>
            <a:endParaRPr lang="en-US" altLang="ja-JP" sz="2100" dirty="0">
              <a:ea typeface="ＭＳ Ｐゴシック" panose="020B0600070205080204" pitchFamily="34" charset="-128"/>
            </a:endParaRPr>
          </a:p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and suppose toll booth now takes one min to service a car</a:t>
            </a:r>
            <a:endParaRPr lang="en-US" altLang="en-US" sz="2100" dirty="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 marL="215504" indent="-215504"/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Will cars arrive to 2nd booth before all cars serviced at first booth?</a:t>
            </a:r>
          </a:p>
          <a:p>
            <a:pPr marL="215504" indent="-215504">
              <a:buNone/>
            </a:pPr>
            <a:endParaRPr lang="en-US" altLang="en-US" sz="240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17691AC2-D326-384F-9424-A457AB12E339}"/>
              </a:ext>
            </a:extLst>
          </p:cNvPr>
          <p:cNvSpPr txBox="1">
            <a:spLocks noChangeArrowheads="1"/>
          </p:cNvSpPr>
          <p:nvPr/>
        </p:nvSpPr>
        <p:spPr>
          <a:xfrm>
            <a:off x="845632" y="3661081"/>
            <a:ext cx="7986944" cy="110056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1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A: Yes!</a:t>
            </a:r>
            <a:r>
              <a:rPr lang="en-US" altLang="en-US" sz="2100" dirty="0">
                <a:ea typeface="ＭＳ Ｐゴシック" panose="020B0600070205080204" pitchFamily="34" charset="-128"/>
              </a:rPr>
              <a:t>  after 7 min, first car arrives at second booth; three cars still at first booth</a:t>
            </a:r>
          </a:p>
        </p:txBody>
      </p:sp>
      <p:sp>
        <p:nvSpPr>
          <p:cNvPr id="3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25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Packet queueing delay (revisited)</a:t>
            </a:r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8FB6AB4-1235-1542-AA41-4826D9F4BEA2}"/>
              </a:ext>
            </a:extLst>
          </p:cNvPr>
          <p:cNvSpPr txBox="1">
            <a:spLocks noChangeArrowheads="1"/>
          </p:cNvSpPr>
          <p:nvPr/>
        </p:nvSpPr>
        <p:spPr>
          <a:xfrm>
            <a:off x="657225" y="1354932"/>
            <a:ext cx="4585826" cy="133588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/>
            <a:r>
              <a:rPr lang="en-US" altLang="en-US" sz="2100" i="1" dirty="0">
                <a:ea typeface="ＭＳ Ｐゴシック" panose="020B0600070205080204" pitchFamily="34" charset="-128"/>
              </a:rPr>
              <a:t>R:</a:t>
            </a:r>
            <a:r>
              <a:rPr lang="en-US" altLang="en-US" sz="2100" dirty="0">
                <a:ea typeface="ＭＳ Ｐゴシック" panose="020B0600070205080204" pitchFamily="34" charset="-128"/>
              </a:rPr>
              <a:t> link bandwidth (bps)</a:t>
            </a:r>
          </a:p>
          <a:p>
            <a:pPr marL="173831" indent="-173831"/>
            <a:r>
              <a:rPr lang="en-US" altLang="en-US" sz="2100" i="1" dirty="0">
                <a:ea typeface="ＭＳ Ｐゴシック" panose="020B0600070205080204" pitchFamily="34" charset="-128"/>
              </a:rPr>
              <a:t>L:</a:t>
            </a:r>
            <a:r>
              <a:rPr lang="en-US" altLang="en-US" sz="2100" dirty="0">
                <a:ea typeface="ＭＳ Ｐゴシック" panose="020B0600070205080204" pitchFamily="34" charset="-128"/>
              </a:rPr>
              <a:t> packet length (bits)</a:t>
            </a:r>
          </a:p>
          <a:p>
            <a:pPr marL="173831" indent="-173831"/>
            <a:r>
              <a:rPr lang="en-US" altLang="en-US" sz="2100" i="1" dirty="0">
                <a:ea typeface="ＭＳ Ｐゴシック" panose="020B0600070205080204" pitchFamily="34" charset="-128"/>
              </a:rPr>
              <a:t>a: </a:t>
            </a:r>
            <a:r>
              <a:rPr lang="en-US" altLang="en-US" sz="2100" dirty="0">
                <a:ea typeface="ＭＳ Ｐゴシック" panose="020B0600070205080204" pitchFamily="34" charset="-128"/>
              </a:rPr>
              <a:t>average packet arrival rate</a:t>
            </a:r>
          </a:p>
        </p:txBody>
      </p:sp>
      <p:sp>
        <p:nvSpPr>
          <p:cNvPr id="36" name="Rectangle 62">
            <a:extLst>
              <a:ext uri="{FF2B5EF4-FFF2-40B4-BE49-F238E27FC236}">
                <a16:creationId xmlns:a16="http://schemas.microsoft.com/office/drawing/2014/main" id="{A8C042B3-2BC8-9D42-8821-9A5ACDA9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2827454"/>
            <a:ext cx="5136152" cy="1450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latin typeface="+mn-lt"/>
              </a:rPr>
              <a:t>La/R</a:t>
            </a:r>
            <a:r>
              <a:rPr lang="en-US" altLang="en-US" sz="2100" dirty="0">
                <a:latin typeface="+mn-lt"/>
              </a:rPr>
              <a:t> ~ 0: avg. queueing delay small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latin typeface="+mn-lt"/>
              </a:rPr>
              <a:t>La/R </a:t>
            </a:r>
            <a:r>
              <a:rPr lang="en-US" altLang="en-US" sz="2100" dirty="0">
                <a:latin typeface="+mn-lt"/>
              </a:rPr>
              <a:t>-&gt; 1: avg. queueing delay large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100" i="1" dirty="0">
                <a:latin typeface="+mn-lt"/>
              </a:rPr>
              <a:t>La/R </a:t>
            </a:r>
            <a:r>
              <a:rPr lang="en-US" altLang="en-US" sz="2100" dirty="0">
                <a:latin typeface="+mn-lt"/>
              </a:rPr>
              <a:t>&gt; 1: more “</a:t>
            </a:r>
            <a:r>
              <a:rPr lang="en-US" altLang="ja-JP" sz="2100" dirty="0">
                <a:latin typeface="+mn-lt"/>
              </a:rPr>
              <a:t>work” arriving  is more </a:t>
            </a:r>
            <a:r>
              <a:rPr lang="en-US" altLang="en-US" sz="2100" dirty="0">
                <a:latin typeface="+mn-lt"/>
              </a:rPr>
              <a:t>than can be serviced -  average delay infinite!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960A8A-B0F3-FD4C-B50A-E891A58C0AC4}"/>
              </a:ext>
            </a:extLst>
          </p:cNvPr>
          <p:cNvGrpSpPr/>
          <p:nvPr/>
        </p:nvGrpSpPr>
        <p:grpSpPr>
          <a:xfrm>
            <a:off x="6305375" y="3275546"/>
            <a:ext cx="2087166" cy="1719028"/>
            <a:chOff x="8407167" y="4367394"/>
            <a:chExt cx="2782888" cy="2292036"/>
          </a:xfrm>
        </p:grpSpPr>
        <p:pic>
          <p:nvPicPr>
            <p:cNvPr id="38" name="Picture 13">
              <a:extLst>
                <a:ext uri="{FF2B5EF4-FFF2-40B4-BE49-F238E27FC236}">
                  <a16:creationId xmlns:a16="http://schemas.microsoft.com/office/drawing/2014/main" id="{B1A5FAD0-089C-3344-A046-DF1A7F274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4">
              <a:extLst>
                <a:ext uri="{FF2B5EF4-FFF2-40B4-BE49-F238E27FC236}">
                  <a16:creationId xmlns:a16="http://schemas.microsoft.com/office/drawing/2014/main" id="{15A78139-2E6F-1241-B632-699E1D391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15">
              <a:extLst>
                <a:ext uri="{FF2B5EF4-FFF2-40B4-BE49-F238E27FC236}">
                  <a16:creationId xmlns:a16="http://schemas.microsoft.com/office/drawing/2014/main" id="{2773BEED-18F1-E045-9842-B0961DCCE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9087" y="4367394"/>
              <a:ext cx="112466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350" i="1" dirty="0">
                  <a:latin typeface="+mn-lt"/>
                </a:rPr>
                <a:t>La/R </a:t>
              </a:r>
              <a:r>
                <a:rPr lang="en-US" altLang="en-US" sz="1350" dirty="0">
                  <a:latin typeface="+mn-lt"/>
                </a:rPr>
                <a:t>~ 0</a:t>
              </a:r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1431E193-344C-D942-A74A-5CEEDF81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3830" y="6259321"/>
              <a:ext cx="1201612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350" i="1" dirty="0">
                  <a:latin typeface="+mn-lt"/>
                </a:rPr>
                <a:t>La/R -&gt; 1</a:t>
              </a:r>
            </a:p>
          </p:txBody>
        </p:sp>
      </p:grpSp>
      <p:sp>
        <p:nvSpPr>
          <p:cNvPr id="43" name="Rectangle 61">
            <a:extLst>
              <a:ext uri="{FF2B5EF4-FFF2-40B4-BE49-F238E27FC236}">
                <a16:creationId xmlns:a16="http://schemas.microsoft.com/office/drawing/2014/main" id="{73B85C70-6AD3-A74E-B899-2CAB2E6D8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5777" y="2704078"/>
            <a:ext cx="2183267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sz="1500" dirty="0">
                <a:solidFill>
                  <a:srgbClr val="000099"/>
                </a:solidFill>
                <a:latin typeface="+mn-lt"/>
              </a:rPr>
              <a:t>traffic intensity = </a:t>
            </a:r>
            <a:r>
              <a:rPr lang="en-US" altLang="en-US" sz="1500" i="1" dirty="0">
                <a:solidFill>
                  <a:srgbClr val="000099"/>
                </a:solidFill>
                <a:latin typeface="+mn-lt"/>
              </a:rPr>
              <a:t>La/R</a:t>
            </a:r>
          </a:p>
        </p:txBody>
      </p:sp>
      <p:sp>
        <p:nvSpPr>
          <p:cNvPr id="44" name="Rectangle 61">
            <a:extLst>
              <a:ext uri="{FF2B5EF4-FFF2-40B4-BE49-F238E27FC236}">
                <a16:creationId xmlns:a16="http://schemas.microsoft.com/office/drawing/2014/main" id="{D565FA6F-EE7F-1947-B171-B184CC64684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431578" y="1711372"/>
            <a:ext cx="2364030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sz="1500" dirty="0">
                <a:solidFill>
                  <a:srgbClr val="000099"/>
                </a:solidFill>
                <a:latin typeface="+mn-lt"/>
              </a:rPr>
              <a:t>average  queueing delay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0ADD9BD-AAA5-0A4C-A989-80C8555AF5C9}"/>
              </a:ext>
            </a:extLst>
          </p:cNvPr>
          <p:cNvCxnSpPr/>
          <p:nvPr/>
        </p:nvCxnSpPr>
        <p:spPr>
          <a:xfrm>
            <a:off x="5712090" y="2655075"/>
            <a:ext cx="25396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92D706D-5B93-BF40-B02A-097828633F63}"/>
              </a:ext>
            </a:extLst>
          </p:cNvPr>
          <p:cNvCxnSpPr>
            <a:cxnSpLocks/>
          </p:cNvCxnSpPr>
          <p:nvPr/>
        </p:nvCxnSpPr>
        <p:spPr>
          <a:xfrm flipV="1">
            <a:off x="5701029" y="780828"/>
            <a:ext cx="0" cy="1879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>
            <a:extLst>
              <a:ext uri="{FF2B5EF4-FFF2-40B4-BE49-F238E27FC236}">
                <a16:creationId xmlns:a16="http://schemas.microsoft.com/office/drawing/2014/main" id="{60D82080-1EB0-1D48-9322-5FD97E7CB228}"/>
              </a:ext>
            </a:extLst>
          </p:cNvPr>
          <p:cNvSpPr/>
          <p:nvPr/>
        </p:nvSpPr>
        <p:spPr>
          <a:xfrm>
            <a:off x="5712090" y="531226"/>
            <a:ext cx="2057400" cy="2112707"/>
          </a:xfrm>
          <a:custGeom>
            <a:avLst/>
            <a:gdLst>
              <a:gd name="connsiteX0" fmla="*/ 0 w 2743200"/>
              <a:gd name="connsiteY0" fmla="*/ 2816942 h 2824866"/>
              <a:gd name="connsiteX1" fmla="*/ 663677 w 2743200"/>
              <a:gd name="connsiteY1" fmla="*/ 2802193 h 2824866"/>
              <a:gd name="connsiteX2" fmla="*/ 1976284 w 2743200"/>
              <a:gd name="connsiteY2" fmla="*/ 2625212 h 2824866"/>
              <a:gd name="connsiteX3" fmla="*/ 2551471 w 2743200"/>
              <a:gd name="connsiteY3" fmla="*/ 1946787 h 2824866"/>
              <a:gd name="connsiteX4" fmla="*/ 2743200 w 2743200"/>
              <a:gd name="connsiteY4" fmla="*/ 0 h 2824866"/>
              <a:gd name="connsiteX0" fmla="*/ 0 w 2743200"/>
              <a:gd name="connsiteY0" fmla="*/ 2816942 h 2821238"/>
              <a:gd name="connsiteX1" fmla="*/ 663677 w 2743200"/>
              <a:gd name="connsiteY1" fmla="*/ 2802193 h 2821238"/>
              <a:gd name="connsiteX2" fmla="*/ 1976284 w 2743200"/>
              <a:gd name="connsiteY2" fmla="*/ 2625212 h 2821238"/>
              <a:gd name="connsiteX3" fmla="*/ 2551471 w 2743200"/>
              <a:gd name="connsiteY3" fmla="*/ 1946787 h 2821238"/>
              <a:gd name="connsiteX4" fmla="*/ 2743200 w 2743200"/>
              <a:gd name="connsiteY4" fmla="*/ 0 h 2821238"/>
              <a:gd name="connsiteX0" fmla="*/ 0 w 2743200"/>
              <a:gd name="connsiteY0" fmla="*/ 2816942 h 2816942"/>
              <a:gd name="connsiteX1" fmla="*/ 663677 w 2743200"/>
              <a:gd name="connsiteY1" fmla="*/ 2802193 h 2816942"/>
              <a:gd name="connsiteX2" fmla="*/ 1976284 w 2743200"/>
              <a:gd name="connsiteY2" fmla="*/ 2625212 h 2816942"/>
              <a:gd name="connsiteX3" fmla="*/ 2551471 w 2743200"/>
              <a:gd name="connsiteY3" fmla="*/ 1946787 h 2816942"/>
              <a:gd name="connsiteX4" fmla="*/ 2743200 w 2743200"/>
              <a:gd name="connsiteY4" fmla="*/ 0 h 2816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816942">
                <a:moveTo>
                  <a:pt x="0" y="2816942"/>
                </a:moveTo>
                <a:cubicBezTo>
                  <a:pt x="363998" y="2816020"/>
                  <a:pt x="477171" y="2811923"/>
                  <a:pt x="663677" y="2802193"/>
                </a:cubicBezTo>
                <a:cubicBezTo>
                  <a:pt x="850183" y="2792463"/>
                  <a:pt x="1661652" y="2767780"/>
                  <a:pt x="1976284" y="2625212"/>
                </a:cubicBezTo>
                <a:cubicBezTo>
                  <a:pt x="2290916" y="2482644"/>
                  <a:pt x="2423652" y="2384322"/>
                  <a:pt x="2551471" y="1946787"/>
                </a:cubicBezTo>
                <a:cubicBezTo>
                  <a:pt x="2679290" y="1509252"/>
                  <a:pt x="2711245" y="754626"/>
                  <a:pt x="2743200" y="0"/>
                </a:cubicBez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D56710D-BCD1-D24F-A4F9-77096E20A72E}"/>
              </a:ext>
            </a:extLst>
          </p:cNvPr>
          <p:cNvCxnSpPr>
            <a:cxnSpLocks/>
          </p:cNvCxnSpPr>
          <p:nvPr/>
        </p:nvCxnSpPr>
        <p:spPr>
          <a:xfrm flipV="1">
            <a:off x="7831919" y="775627"/>
            <a:ext cx="0" cy="18794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61">
            <a:extLst>
              <a:ext uri="{FF2B5EF4-FFF2-40B4-BE49-F238E27FC236}">
                <a16:creationId xmlns:a16="http://schemas.microsoft.com/office/drawing/2014/main" id="{0FBDF69D-B808-184B-8874-313F4C390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730" y="2704233"/>
            <a:ext cx="382190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sz="1500" dirty="0">
                <a:latin typeface="+mn-lt"/>
              </a:rPr>
              <a:t>1</a:t>
            </a:r>
            <a:endParaRPr lang="en-US" altLang="en-US" sz="1500" i="1" dirty="0">
              <a:latin typeface="+mn-lt"/>
            </a:endParaRPr>
          </a:p>
        </p:txBody>
      </p:sp>
      <p:sp>
        <p:nvSpPr>
          <p:cNvPr id="1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42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38">
            <a:extLst>
              <a:ext uri="{FF2B5EF4-FFF2-40B4-BE49-F238E27FC236}">
                <a16:creationId xmlns:a16="http://schemas.microsoft.com/office/drawing/2014/main" id="{54E266FC-2C53-E845-810D-72800D812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3555" y="4024714"/>
            <a:ext cx="351858" cy="23662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9" name="Line 105">
            <a:extLst>
              <a:ext uri="{FF2B5EF4-FFF2-40B4-BE49-F238E27FC236}">
                <a16:creationId xmlns:a16="http://schemas.microsoft.com/office/drawing/2014/main" id="{BF1773B1-5019-2B4A-BE6A-B8195D8981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68484" y="4100601"/>
            <a:ext cx="479932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49EA779-C782-D646-A376-27962D2DE8E5}"/>
              </a:ext>
            </a:extLst>
          </p:cNvPr>
          <p:cNvGrpSpPr/>
          <p:nvPr/>
        </p:nvGrpSpPr>
        <p:grpSpPr>
          <a:xfrm>
            <a:off x="2331791" y="4135702"/>
            <a:ext cx="645469" cy="298883"/>
            <a:chOff x="7493876" y="2774731"/>
            <a:chExt cx="1481958" cy="894622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51DA911-6679-5545-AC55-97B68D0A590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B387723-AD5A-6B40-86DC-4E06378B6C3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AEAA504-561F-934C-865A-D764D9D4B58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39429AE-64BE-C648-B108-3B471FFD1A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09B151A-13E2-DE44-ACE5-AC68DBD136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EF70FD4D-FD10-ED44-BB61-DD85162EEA3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F03C20EC-4A97-134D-9A10-FFE3DDFF03F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0" name="Line 106">
            <a:extLst>
              <a:ext uri="{FF2B5EF4-FFF2-40B4-BE49-F238E27FC236}">
                <a16:creationId xmlns:a16="http://schemas.microsoft.com/office/drawing/2014/main" id="{254FEBFF-881B-E94A-B5B4-5A077C547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9762" y="4088695"/>
            <a:ext cx="508163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1" name="Line 108">
            <a:extLst>
              <a:ext uri="{FF2B5EF4-FFF2-40B4-BE49-F238E27FC236}">
                <a16:creationId xmlns:a16="http://schemas.microsoft.com/office/drawing/2014/main" id="{524659AB-C458-864A-B318-E8190017E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91167" y="3796991"/>
            <a:ext cx="495917" cy="204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5" name="Line 291">
            <a:extLst>
              <a:ext uri="{FF2B5EF4-FFF2-40B4-BE49-F238E27FC236}">
                <a16:creationId xmlns:a16="http://schemas.microsoft.com/office/drawing/2014/main" id="{EB8F889A-4D2D-1B4E-8BFD-EC217EFF6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7356" y="4187516"/>
            <a:ext cx="239135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A77B42D-EF91-9343-B8AA-7F791CA6173D}"/>
              </a:ext>
            </a:extLst>
          </p:cNvPr>
          <p:cNvGrpSpPr/>
          <p:nvPr/>
        </p:nvGrpSpPr>
        <p:grpSpPr>
          <a:xfrm>
            <a:off x="2967801" y="3902695"/>
            <a:ext cx="645469" cy="298883"/>
            <a:chOff x="7493876" y="2774731"/>
            <a:chExt cx="1481958" cy="894622"/>
          </a:xfrm>
        </p:grpSpPr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17B3640-CBA8-9D4D-B10E-118D837582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DF87D0C-16B9-0242-9434-F058BACF6AF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75F2C4B-EC99-0546-B8BC-E6ABDA1C57C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7AB43264-5575-584F-8FE6-D1C2C13E1C3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99D8A414-A25C-5C43-9BC9-95C40A420E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B398E537-2A8D-B343-AFFC-0C206FB72B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8F5B5F4D-A081-8041-8446-B98FF777149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2" name="Line 113">
            <a:extLst>
              <a:ext uri="{FF2B5EF4-FFF2-40B4-BE49-F238E27FC236}">
                <a16:creationId xmlns:a16="http://schemas.microsoft.com/office/drawing/2014/main" id="{EEC03E85-460E-344B-B658-EA55A9271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1996" y="4133938"/>
            <a:ext cx="649319" cy="10834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7" name="Line 294">
            <a:extLst>
              <a:ext uri="{FF2B5EF4-FFF2-40B4-BE49-F238E27FC236}">
                <a16:creationId xmlns:a16="http://schemas.microsoft.com/office/drawing/2014/main" id="{6AFF4B42-51C0-8447-92BB-FCA57D50B6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48367" y="4330391"/>
            <a:ext cx="365346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EAC493A-EEEF-7C4F-AA98-1801621812D4}"/>
              </a:ext>
            </a:extLst>
          </p:cNvPr>
          <p:cNvGrpSpPr/>
          <p:nvPr/>
        </p:nvGrpSpPr>
        <p:grpSpPr>
          <a:xfrm>
            <a:off x="3739041" y="4157910"/>
            <a:ext cx="645469" cy="298883"/>
            <a:chOff x="7493876" y="2774731"/>
            <a:chExt cx="1481958" cy="894622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7C772A01-ED51-DF4C-9654-6B6278386C2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003DFE7-C366-8140-9629-CD63DF215ED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5F84292C-45D7-D245-AF05-1049328026B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672ECA71-4ED1-A742-8D27-C7DD78E8129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AB422B19-1B67-F744-AB96-3C00EBB25F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64DBC56A-851B-1045-8E18-0E1AE5828A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687D1E8F-A9D2-414E-B37C-C2A41CFCDB2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“Real” Internet delays and routes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35135" y="993384"/>
            <a:ext cx="7757123" cy="141404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400" dirty="0">
                <a:ea typeface="ＭＳ Ｐゴシック" panose="020B0600070205080204" pitchFamily="34" charset="-128"/>
              </a:rPr>
              <a:t>what do 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real” Internet delay &amp; loss look like? </a:t>
            </a:r>
          </a:p>
          <a:p>
            <a:pPr marL="215504" indent="-215504"/>
            <a:r>
              <a:rPr lang="en-US" altLang="en-US" sz="2100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traceroute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program: provides delay measurement from source to router along end-end Internet path towards destination.  For all 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i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23" name="Line 260">
            <a:extLst>
              <a:ext uri="{FF2B5EF4-FFF2-40B4-BE49-F238E27FC236}">
                <a16:creationId xmlns:a16="http://schemas.microsoft.com/office/drawing/2014/main" id="{146ED7EC-5957-5A4D-8C10-71CB9EFF9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387" y="4107745"/>
            <a:ext cx="508163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4" name="Line 261">
            <a:extLst>
              <a:ext uri="{FF2B5EF4-FFF2-40B4-BE49-F238E27FC236}">
                <a16:creationId xmlns:a16="http://schemas.microsoft.com/office/drawing/2014/main" id="{7F082344-D846-A442-8098-3870FBC04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5046" y="4067264"/>
            <a:ext cx="582893" cy="20835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6" name="Line 292">
            <a:extLst>
              <a:ext uri="{FF2B5EF4-FFF2-40B4-BE49-F238E27FC236}">
                <a16:creationId xmlns:a16="http://schemas.microsoft.com/office/drawing/2014/main" id="{F2A2632A-A659-1B45-9C0A-17E3A7312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0394" y="3877954"/>
            <a:ext cx="239135" cy="233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8" name="Line 295">
            <a:extLst>
              <a:ext uri="{FF2B5EF4-FFF2-40B4-BE49-F238E27FC236}">
                <a16:creationId xmlns:a16="http://schemas.microsoft.com/office/drawing/2014/main" id="{69CE8977-5EAF-2D48-AB87-ABB232029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6195" y="3958105"/>
            <a:ext cx="6643" cy="1952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9" name="Text Box 300">
            <a:extLst>
              <a:ext uri="{FF2B5EF4-FFF2-40B4-BE49-F238E27FC236}">
                <a16:creationId xmlns:a16="http://schemas.microsoft.com/office/drawing/2014/main" id="{A650D718-81E6-C34A-AA06-669C8384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71" y="3851760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50">
                <a:solidFill>
                  <a:srgbClr val="FF0000"/>
                </a:solidFill>
                <a:latin typeface="+mn-lt"/>
              </a:rPr>
              <a:t>3 probes</a:t>
            </a:r>
          </a:p>
        </p:txBody>
      </p:sp>
      <p:sp>
        <p:nvSpPr>
          <p:cNvPr id="30" name="Text Box 302">
            <a:extLst>
              <a:ext uri="{FF2B5EF4-FFF2-40B4-BE49-F238E27FC236}">
                <a16:creationId xmlns:a16="http://schemas.microsoft.com/office/drawing/2014/main" id="{8C2F6269-CD63-DC47-AA5A-D6F6AD85E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144" y="4272051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50">
                <a:solidFill>
                  <a:srgbClr val="FF0000"/>
                </a:solidFill>
                <a:latin typeface="+mn-lt"/>
              </a:rPr>
              <a:t>3 probes</a:t>
            </a:r>
          </a:p>
        </p:txBody>
      </p:sp>
      <p:sp>
        <p:nvSpPr>
          <p:cNvPr id="31" name="Text Box 304">
            <a:extLst>
              <a:ext uri="{FF2B5EF4-FFF2-40B4-BE49-F238E27FC236}">
                <a16:creationId xmlns:a16="http://schemas.microsoft.com/office/drawing/2014/main" id="{43A2AD3C-9D79-9140-BB67-1BE3BD42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2026" y="3783117"/>
            <a:ext cx="10478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50" dirty="0">
                <a:solidFill>
                  <a:srgbClr val="FF0000"/>
                </a:solidFill>
                <a:latin typeface="+mn-lt"/>
              </a:rPr>
              <a:t>3 probes</a:t>
            </a:r>
          </a:p>
        </p:txBody>
      </p:sp>
      <p:grpSp>
        <p:nvGrpSpPr>
          <p:cNvPr id="32" name="Group 100">
            <a:extLst>
              <a:ext uri="{FF2B5EF4-FFF2-40B4-BE49-F238E27FC236}">
                <a16:creationId xmlns:a16="http://schemas.microsoft.com/office/drawing/2014/main" id="{1BEC51D1-0886-F14D-B99F-4CA3879860C9}"/>
              </a:ext>
            </a:extLst>
          </p:cNvPr>
          <p:cNvGrpSpPr>
            <a:grpSpLocks/>
          </p:cNvGrpSpPr>
          <p:nvPr/>
        </p:nvGrpSpPr>
        <p:grpSpPr bwMode="auto">
          <a:xfrm>
            <a:off x="1451046" y="3804136"/>
            <a:ext cx="770311" cy="516731"/>
            <a:chOff x="-44" y="1473"/>
            <a:chExt cx="981" cy="1105"/>
          </a:xfrm>
        </p:grpSpPr>
        <p:pic>
          <p:nvPicPr>
            <p:cNvPr id="33" name="Picture 101" descr="desktop_computer_stylized_medium">
              <a:extLst>
                <a:ext uri="{FF2B5EF4-FFF2-40B4-BE49-F238E27FC236}">
                  <a16:creationId xmlns:a16="http://schemas.microsoft.com/office/drawing/2014/main" id="{C4436358-53EB-1341-B2F7-BBA9BFD86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02">
              <a:extLst>
                <a:ext uri="{FF2B5EF4-FFF2-40B4-BE49-F238E27FC236}">
                  <a16:creationId xmlns:a16="http://schemas.microsoft.com/office/drawing/2014/main" id="{4813CA23-213B-0C4B-B526-D05F84EB96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37" name="Group 103">
            <a:extLst>
              <a:ext uri="{FF2B5EF4-FFF2-40B4-BE49-F238E27FC236}">
                <a16:creationId xmlns:a16="http://schemas.microsoft.com/office/drawing/2014/main" id="{838A2555-9382-2A43-A8D2-3F77BF649C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33189" y="3832710"/>
            <a:ext cx="788816" cy="502444"/>
            <a:chOff x="-44" y="1473"/>
            <a:chExt cx="981" cy="1105"/>
          </a:xfrm>
        </p:grpSpPr>
        <p:pic>
          <p:nvPicPr>
            <p:cNvPr id="42" name="Picture 104" descr="desktop_computer_stylized_medium">
              <a:extLst>
                <a:ext uri="{FF2B5EF4-FFF2-40B4-BE49-F238E27FC236}">
                  <a16:creationId xmlns:a16="http://schemas.microsoft.com/office/drawing/2014/main" id="{99E32CCD-2CED-C441-BCF6-83FBBB7A2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1DE64A0C-778E-0542-AF02-9D5203B331A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144" name="Freeform 303">
            <a:extLst>
              <a:ext uri="{FF2B5EF4-FFF2-40B4-BE49-F238E27FC236}">
                <a16:creationId xmlns:a16="http://schemas.microsoft.com/office/drawing/2014/main" id="{D57CFF59-F6AE-0444-8D13-D8E49817EC92}"/>
              </a:ext>
            </a:extLst>
          </p:cNvPr>
          <p:cNvSpPr>
            <a:spLocks/>
          </p:cNvSpPr>
          <p:nvPr/>
        </p:nvSpPr>
        <p:spPr bwMode="auto">
          <a:xfrm>
            <a:off x="2151740" y="4017258"/>
            <a:ext cx="2351498" cy="302419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45" name="Freeform 299">
            <a:extLst>
              <a:ext uri="{FF2B5EF4-FFF2-40B4-BE49-F238E27FC236}">
                <a16:creationId xmlns:a16="http://schemas.microsoft.com/office/drawing/2014/main" id="{106F45C5-44D3-EB44-A1DD-18F6304B9226}"/>
              </a:ext>
            </a:extLst>
          </p:cNvPr>
          <p:cNvSpPr>
            <a:spLocks/>
          </p:cNvSpPr>
          <p:nvPr/>
        </p:nvSpPr>
        <p:spPr bwMode="auto">
          <a:xfrm>
            <a:off x="2175552" y="4044641"/>
            <a:ext cx="438415" cy="314325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46" name="Freeform 301">
            <a:extLst>
              <a:ext uri="{FF2B5EF4-FFF2-40B4-BE49-F238E27FC236}">
                <a16:creationId xmlns:a16="http://schemas.microsoft.com/office/drawing/2014/main" id="{B0DADD8E-881D-B14F-BA59-384DC3B918B6}"/>
              </a:ext>
            </a:extLst>
          </p:cNvPr>
          <p:cNvSpPr>
            <a:spLocks/>
          </p:cNvSpPr>
          <p:nvPr/>
        </p:nvSpPr>
        <p:spPr bwMode="auto">
          <a:xfrm>
            <a:off x="2170790" y="3980348"/>
            <a:ext cx="1408242" cy="355997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E1CD52-668E-2940-80F2-B10C4C902272}"/>
              </a:ext>
            </a:extLst>
          </p:cNvPr>
          <p:cNvGrpSpPr/>
          <p:nvPr/>
        </p:nvGrpSpPr>
        <p:grpSpPr>
          <a:xfrm>
            <a:off x="4572000" y="3922249"/>
            <a:ext cx="645469" cy="298883"/>
            <a:chOff x="7493876" y="2774731"/>
            <a:chExt cx="1481958" cy="894622"/>
          </a:xfrm>
        </p:grpSpPr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524447EB-AF2A-A041-9AAF-22AE80BEBB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2DFC5C8-0F07-0646-B191-3F36D49C23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9560971-B62C-2E4C-935A-836B55269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E2E046A7-F455-5A48-9F2B-58FE95A5E2B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411AFE3-7C43-B447-9404-B41B6AD175D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149A557C-1B39-D44A-ABCE-44F29E0A3D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C47C4949-2773-9643-AB8D-C5F0FC9CD57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C45704CB-2C2D-E04A-BF4B-17BB274AE2EB}"/>
              </a:ext>
            </a:extLst>
          </p:cNvPr>
          <p:cNvSpPr txBox="1">
            <a:spLocks noChangeArrowheads="1"/>
          </p:cNvSpPr>
          <p:nvPr/>
        </p:nvSpPr>
        <p:spPr>
          <a:xfrm>
            <a:off x="682449" y="2300524"/>
            <a:ext cx="8270635" cy="1292739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sends three packets that will reach router </a:t>
            </a:r>
            <a:r>
              <a:rPr lang="en-US" altLang="en-US" sz="2100" i="1" dirty="0" err="1">
                <a:ea typeface="Arial" panose="020B0604020202020204" pitchFamily="34" charset="0"/>
              </a:rPr>
              <a:t>i</a:t>
            </a:r>
            <a:r>
              <a:rPr lang="en-US" altLang="en-US" sz="2100" dirty="0">
                <a:ea typeface="Arial" panose="020B0604020202020204" pitchFamily="34" charset="0"/>
              </a:rPr>
              <a:t> on path towards destination (with time-to-live field value of </a:t>
            </a:r>
            <a:r>
              <a:rPr lang="en-US" altLang="en-US" sz="2100" i="1" dirty="0" err="1">
                <a:ea typeface="Arial" panose="020B0604020202020204" pitchFamily="34" charset="0"/>
              </a:rPr>
              <a:t>i</a:t>
            </a:r>
            <a:r>
              <a:rPr lang="en-US" altLang="en-US" sz="2100" dirty="0">
                <a:ea typeface="Arial" panose="020B0604020202020204" pitchFamily="34" charset="0"/>
              </a:rPr>
              <a:t>)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router </a:t>
            </a:r>
            <a:r>
              <a:rPr lang="en-US" altLang="en-US" sz="2100" i="1" dirty="0" err="1">
                <a:ea typeface="Arial" panose="020B0604020202020204" pitchFamily="34" charset="0"/>
              </a:rPr>
              <a:t>i</a:t>
            </a:r>
            <a:r>
              <a:rPr lang="en-US" altLang="en-US" sz="2100" dirty="0">
                <a:ea typeface="Arial" panose="020B0604020202020204" pitchFamily="34" charset="0"/>
              </a:rPr>
              <a:t> will return packets to sender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sender measures time interval between transmission and reply</a:t>
            </a:r>
            <a:endParaRPr lang="en-US" altLang="en-US" dirty="0">
              <a:ea typeface="Arial" panose="020B0604020202020204" pitchFamily="34" charset="0"/>
            </a:endParaRPr>
          </a:p>
        </p:txBody>
      </p:sp>
      <p:sp>
        <p:nvSpPr>
          <p:cNvPr id="6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82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Real Internet delays and routes</a:t>
            </a:r>
            <a:endParaRPr lang="en-US" dirty="0"/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7892B7DA-887D-4048-94A0-6C1A0FF2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621" y="1712233"/>
            <a:ext cx="6172200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200" dirty="0"/>
              <a:t>1  cs-</a:t>
            </a:r>
            <a:r>
              <a:rPr lang="en-US" altLang="en-US" sz="1200" dirty="0" err="1"/>
              <a:t>gw</a:t>
            </a:r>
            <a:r>
              <a:rPr lang="en-US" altLang="en-US" sz="1200" dirty="0"/>
              <a:t> (128.119.240.254)  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2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2  border1-rt-fa5-1-0.gw.umass.edu (128.119.3.145)  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2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3  </a:t>
            </a:r>
            <a:r>
              <a:rPr lang="en-US" altLang="en-US" sz="1200" dirty="0" err="1"/>
              <a:t>cht-vbns.gw.umass.edu</a:t>
            </a:r>
            <a:r>
              <a:rPr lang="en-US" altLang="en-US" sz="1200" dirty="0"/>
              <a:t> (128.119.3.130)  6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5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5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4  jn1-at1-0-0-19.wor.vbns.net (204.147.132.129)  16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13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200" dirty="0"/>
              <a:t>5  jn1-so7-0-0-0.wae.vbns.net (204.147.136.136)  21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1200" dirty="0"/>
              <a:t>6  </a:t>
            </a:r>
            <a:r>
              <a:rPr lang="en-US" altLang="en-US" sz="1200" dirty="0" err="1"/>
              <a:t>abilene-vbns.abilene.ucaid.edu</a:t>
            </a:r>
            <a:r>
              <a:rPr lang="en-US" altLang="en-US" sz="1200" dirty="0"/>
              <a:t> (198.32.11.9)  22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22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7  </a:t>
            </a:r>
            <a:r>
              <a:rPr lang="en-US" altLang="en-US" sz="1200" dirty="0" err="1"/>
              <a:t>nycm-wash.abilene.ucaid.edu</a:t>
            </a:r>
            <a:r>
              <a:rPr lang="en-US" altLang="en-US" sz="1200" dirty="0"/>
              <a:t> (198.32.8.46)  22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22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22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8  62.40.103.253 (62.40.103.253)  104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109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106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9  de2-1.de1.de.geant.net (62.40.96.129)  109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102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104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10  de.fr1.fr.geant.net (62.40.96.50)  113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121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114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11  renater-gw.fr1.fr.geant.net (62.40.103.54)  112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114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112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12  nio-n2.cssi.renater.fr (193.51.206.13)  111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114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116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13  </a:t>
            </a:r>
            <a:r>
              <a:rPr lang="en-US" altLang="en-US" sz="1200" dirty="0" err="1"/>
              <a:t>nice.cssi.renater.fr</a:t>
            </a:r>
            <a:r>
              <a:rPr lang="en-US" altLang="en-US" sz="1200" dirty="0"/>
              <a:t> (195.220.98.102)  123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125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124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14  r3t2-nice.cssi.renater.fr (195.220.98.110)  126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126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124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15  eurecom-valbonne.r3t2.ft.net (193.48.50.54)  135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133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16  194.214.211.25 (194.214.211.25)  126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126 </a:t>
            </a:r>
            <a:r>
              <a:rPr lang="en-US" altLang="en-US" sz="1200" dirty="0" err="1"/>
              <a:t>ms</a:t>
            </a:r>
            <a:endParaRPr lang="en-US" altLang="en-US" sz="1200" dirty="0"/>
          </a:p>
          <a:p>
            <a:pPr>
              <a:lnSpc>
                <a:spcPct val="80000"/>
              </a:lnSpc>
            </a:pPr>
            <a:r>
              <a:rPr lang="en-US" altLang="en-US" sz="1200" dirty="0"/>
              <a:t>17  * * *</a:t>
            </a:r>
          </a:p>
          <a:p>
            <a:pPr>
              <a:lnSpc>
                <a:spcPct val="80000"/>
              </a:lnSpc>
            </a:pPr>
            <a:r>
              <a:rPr lang="en-US" altLang="en-US" sz="1200" dirty="0"/>
              <a:t>18  * * *</a:t>
            </a:r>
          </a:p>
          <a:p>
            <a:pPr>
              <a:lnSpc>
                <a:spcPct val="80000"/>
              </a:lnSpc>
            </a:pPr>
            <a:r>
              <a:rPr lang="en-US" altLang="en-US" sz="1200" dirty="0"/>
              <a:t>19  </a:t>
            </a:r>
            <a:r>
              <a:rPr lang="en-US" altLang="en-US" sz="1200" dirty="0" err="1"/>
              <a:t>fantasia.eurecom.fr</a:t>
            </a:r>
            <a:r>
              <a:rPr lang="en-US" altLang="en-US" sz="1200" dirty="0"/>
              <a:t> (193.55.113.142)  132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128 </a:t>
            </a:r>
            <a:r>
              <a:rPr lang="en-US" altLang="en-US" sz="1200" dirty="0" err="1"/>
              <a:t>ms</a:t>
            </a:r>
            <a:r>
              <a:rPr lang="en-US" altLang="en-US" sz="1200" dirty="0"/>
              <a:t>  136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200" dirty="0" err="1">
                <a:latin typeface="Times New Roman" panose="02020603050405020304" pitchFamily="18" charset="0"/>
              </a:rPr>
              <a:t>ms</a:t>
            </a:r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9" name="Text Box 5">
            <a:extLst>
              <a:ext uri="{FF2B5EF4-FFF2-40B4-BE49-F238E27FC236}">
                <a16:creationId xmlns:a16="http://schemas.microsoft.com/office/drawing/2014/main" id="{6BA8008D-6458-AA4E-BF53-C2EE121DA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100" y="818383"/>
            <a:ext cx="614481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CC0000"/>
                </a:solidFill>
                <a:latin typeface="+mn-lt"/>
              </a:rPr>
              <a:t>traceroute:</a:t>
            </a:r>
            <a:r>
              <a:rPr lang="en-US" altLang="en-US" sz="2100" dirty="0">
                <a:latin typeface="+mn-lt"/>
              </a:rPr>
              <a:t> </a:t>
            </a:r>
            <a:r>
              <a:rPr lang="en-US" altLang="en-US" sz="2100" dirty="0" err="1">
                <a:latin typeface="+mn-lt"/>
              </a:rPr>
              <a:t>gaia.cs.umass.edu</a:t>
            </a:r>
            <a:r>
              <a:rPr lang="en-US" altLang="en-US" sz="2100" dirty="0">
                <a:latin typeface="+mn-lt"/>
              </a:rPr>
              <a:t> to </a:t>
            </a:r>
            <a:r>
              <a:rPr lang="en-US" altLang="en-US" sz="2100" dirty="0" err="1">
                <a:latin typeface="+mn-lt"/>
              </a:rPr>
              <a:t>www.eurecom.fr</a:t>
            </a:r>
            <a:endParaRPr lang="en-US" altLang="en-US" sz="2100" dirty="0">
              <a:latin typeface="+mn-lt"/>
            </a:endParaRPr>
          </a:p>
        </p:txBody>
      </p:sp>
      <p:sp>
        <p:nvSpPr>
          <p:cNvPr id="71" name="Text Box 7">
            <a:extLst>
              <a:ext uri="{FF2B5EF4-FFF2-40B4-BE49-F238E27FC236}">
                <a16:creationId xmlns:a16="http://schemas.microsoft.com/office/drawing/2014/main" id="{7FD28BA9-B712-134B-86AC-CFCC39EB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4871" y="1197458"/>
            <a:ext cx="4452938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3 delay measurements from </a:t>
            </a:r>
          </a:p>
          <a:p>
            <a:pPr>
              <a:lnSpc>
                <a:spcPct val="85000"/>
              </a:lnSpc>
            </a:pPr>
            <a:r>
              <a:rPr lang="en-US" altLang="en-US" sz="1350" dirty="0" err="1">
                <a:solidFill>
                  <a:srgbClr val="CC0000"/>
                </a:solidFill>
                <a:latin typeface="+mn-lt"/>
              </a:rPr>
              <a:t>gaia.cs.umass.edu</a:t>
            </a:r>
            <a:r>
              <a:rPr lang="en-US" altLang="en-US" sz="1350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to </a:t>
            </a:r>
            <a:r>
              <a:rPr lang="en-US" altLang="en-US" sz="1350" dirty="0">
                <a:solidFill>
                  <a:srgbClr val="CC0000"/>
                </a:solidFill>
                <a:latin typeface="+mn-lt"/>
              </a:rPr>
              <a:t>cs-</a:t>
            </a:r>
            <a:r>
              <a:rPr lang="en-US" altLang="en-US" sz="1350" dirty="0" err="1">
                <a:solidFill>
                  <a:srgbClr val="CC0000"/>
                </a:solidFill>
                <a:latin typeface="+mn-lt"/>
              </a:rPr>
              <a:t>gw.cs.umass.edu</a:t>
            </a:r>
            <a:r>
              <a:rPr lang="en-US" altLang="en-US" sz="1350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sp>
        <p:nvSpPr>
          <p:cNvPr id="72" name="Line 8">
            <a:extLst>
              <a:ext uri="{FF2B5EF4-FFF2-40B4-BE49-F238E27FC236}">
                <a16:creationId xmlns:a16="http://schemas.microsoft.com/office/drawing/2014/main" id="{F1026D73-2E6E-CF45-8EF3-ADEA186C5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2881" y="1432436"/>
            <a:ext cx="503634" cy="3095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3" name="Line 9">
            <a:extLst>
              <a:ext uri="{FF2B5EF4-FFF2-40B4-BE49-F238E27FC236}">
                <a16:creationId xmlns:a16="http://schemas.microsoft.com/office/drawing/2014/main" id="{2DB0FD1B-3421-FB44-A67B-6CAF879C89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7694" y="1424102"/>
            <a:ext cx="104775" cy="303609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4" name="Line 10">
            <a:extLst>
              <a:ext uri="{FF2B5EF4-FFF2-40B4-BE49-F238E27FC236}">
                <a16:creationId xmlns:a16="http://schemas.microsoft.com/office/drawing/2014/main" id="{B675A34D-78B1-1642-8329-2219BE4346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8897" y="1431246"/>
            <a:ext cx="275035" cy="292894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76" name="Text Box 12">
            <a:extLst>
              <a:ext uri="{FF2B5EF4-FFF2-40B4-BE49-F238E27FC236}">
                <a16:creationId xmlns:a16="http://schemas.microsoft.com/office/drawing/2014/main" id="{417C0065-CF59-F04B-A2B4-24B98D2D9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52" y="4098401"/>
            <a:ext cx="471487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* means no response (probe lost, router not replying)</a:t>
            </a:r>
          </a:p>
        </p:txBody>
      </p:sp>
      <p:sp>
        <p:nvSpPr>
          <p:cNvPr id="77" name="Freeform 14">
            <a:extLst>
              <a:ext uri="{FF2B5EF4-FFF2-40B4-BE49-F238E27FC236}">
                <a16:creationId xmlns:a16="http://schemas.microsoft.com/office/drawing/2014/main" id="{D3347813-BBD3-9B4D-B4C4-CAF563726A82}"/>
              </a:ext>
            </a:extLst>
          </p:cNvPr>
          <p:cNvSpPr>
            <a:spLocks/>
          </p:cNvSpPr>
          <p:nvPr/>
        </p:nvSpPr>
        <p:spPr bwMode="auto">
          <a:xfrm>
            <a:off x="5288603" y="2696881"/>
            <a:ext cx="759619" cy="184547"/>
          </a:xfrm>
          <a:custGeom>
            <a:avLst/>
            <a:gdLst>
              <a:gd name="T0" fmla="*/ 2147483647 w 638"/>
              <a:gd name="T1" fmla="*/ 0 h 155"/>
              <a:gd name="T2" fmla="*/ 2147483647 w 638"/>
              <a:gd name="T3" fmla="*/ 2147483647 h 155"/>
              <a:gd name="T4" fmla="*/ 2147483647 w 638"/>
              <a:gd name="T5" fmla="*/ 2147483647 h 155"/>
              <a:gd name="T6" fmla="*/ 2147483647 w 638"/>
              <a:gd name="T7" fmla="*/ 2147483647 h 155"/>
              <a:gd name="T8" fmla="*/ 0 w 638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78" name="Text Box 15">
            <a:extLst>
              <a:ext uri="{FF2B5EF4-FFF2-40B4-BE49-F238E27FC236}">
                <a16:creationId xmlns:a16="http://schemas.microsoft.com/office/drawing/2014/main" id="{36225CEE-E8B5-D342-87EF-CF5AADE6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034" y="2536146"/>
            <a:ext cx="20574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trans-oceanic link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B7BE9BA-BD29-2540-9F9F-541887F3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578" y="4694749"/>
            <a:ext cx="529183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350" dirty="0">
                <a:latin typeface="+mn-lt"/>
              </a:rPr>
              <a:t>* Do some traceroutes from exotic countries at </a:t>
            </a:r>
            <a:r>
              <a:rPr lang="en-US" altLang="en-US" sz="1350" dirty="0" err="1">
                <a:latin typeface="+mn-lt"/>
              </a:rPr>
              <a:t>www.traceroute.org</a:t>
            </a:r>
            <a:endParaRPr lang="en-US" altLang="en-US" sz="1350" dirty="0">
              <a:latin typeface="+mn-lt"/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461E9B9B-D89F-E045-903F-E4B91E6B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8284" y="3066329"/>
            <a:ext cx="2057400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looks like delays </a:t>
            </a:r>
            <a:r>
              <a:rPr lang="en-US" altLang="en-US" sz="1500" i="1" dirty="0">
                <a:solidFill>
                  <a:srgbClr val="CC0000"/>
                </a:solidFill>
                <a:latin typeface="+mn-lt"/>
              </a:rPr>
              <a:t>decrease</a:t>
            </a: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! Why?</a:t>
            </a:r>
          </a:p>
        </p:txBody>
      </p:sp>
      <p:sp>
        <p:nvSpPr>
          <p:cNvPr id="19" name="Text Box 7">
            <a:extLst>
              <a:ext uri="{FF2B5EF4-FFF2-40B4-BE49-F238E27FC236}">
                <a16:creationId xmlns:a16="http://schemas.microsoft.com/office/drawing/2014/main" id="{3C3101AA-04AC-604D-B1DD-586ADCDA2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675" y="1729124"/>
            <a:ext cx="3064569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3 delay measurements</a:t>
            </a:r>
          </a:p>
          <a:p>
            <a:pPr>
              <a:lnSpc>
                <a:spcPct val="85000"/>
              </a:lnSpc>
            </a:pPr>
            <a:r>
              <a:rPr lang="en-US" altLang="en-US" sz="1500" dirty="0">
                <a:solidFill>
                  <a:srgbClr val="CC0000"/>
                </a:solidFill>
                <a:latin typeface="+mn-lt"/>
              </a:rPr>
              <a:t>to </a:t>
            </a:r>
            <a:r>
              <a:rPr lang="en-US" altLang="en-US" sz="1350" dirty="0">
                <a:solidFill>
                  <a:srgbClr val="CC0000"/>
                </a:solidFill>
                <a:latin typeface="+mn-lt"/>
              </a:rPr>
              <a:t>border1-rt-fa5-1-0.gw.umass.edu </a:t>
            </a:r>
            <a:endParaRPr lang="en-US" altLang="en-US" sz="1500" dirty="0">
              <a:solidFill>
                <a:srgbClr val="CC0000"/>
              </a:solidFill>
              <a:latin typeface="+mn-lt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144341-821E-C445-8967-E53F584FFF2F}"/>
              </a:ext>
            </a:extLst>
          </p:cNvPr>
          <p:cNvCxnSpPr/>
          <p:nvPr/>
        </p:nvCxnSpPr>
        <p:spPr>
          <a:xfrm flipH="1">
            <a:off x="6102105" y="1943821"/>
            <a:ext cx="55422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545969-F2B6-3640-A5C7-754982F63617}"/>
              </a:ext>
            </a:extLst>
          </p:cNvPr>
          <p:cNvCxnSpPr/>
          <p:nvPr/>
        </p:nvCxnSpPr>
        <p:spPr>
          <a:xfrm flipH="1">
            <a:off x="6102105" y="3286284"/>
            <a:ext cx="554220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2945742-6EAA-EB4A-8286-39E218644BBB}"/>
              </a:ext>
            </a:extLst>
          </p:cNvPr>
          <p:cNvCxnSpPr>
            <a:cxnSpLocks/>
          </p:cNvCxnSpPr>
          <p:nvPr/>
        </p:nvCxnSpPr>
        <p:spPr>
          <a:xfrm flipH="1">
            <a:off x="1848157" y="4193137"/>
            <a:ext cx="755396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6CE76B-0913-694C-A88F-94E62A67C5D4}"/>
              </a:ext>
            </a:extLst>
          </p:cNvPr>
          <p:cNvCxnSpPr>
            <a:cxnSpLocks/>
          </p:cNvCxnSpPr>
          <p:nvPr/>
        </p:nvCxnSpPr>
        <p:spPr>
          <a:xfrm flipH="1">
            <a:off x="3826515" y="1431246"/>
            <a:ext cx="384009" cy="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1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DE51A5F-3BFD-AA45-9015-FA67A9068CEF}"/>
              </a:ext>
            </a:extLst>
          </p:cNvPr>
          <p:cNvGrpSpPr/>
          <p:nvPr/>
        </p:nvGrpSpPr>
        <p:grpSpPr>
          <a:xfrm>
            <a:off x="3413603" y="3177377"/>
            <a:ext cx="1097703" cy="552930"/>
            <a:chOff x="7493876" y="2774731"/>
            <a:chExt cx="1481958" cy="894622"/>
          </a:xfrm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5FA248B-2934-6745-9856-5AF3D55755E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4C2270C-F816-EB48-8C45-11D133A7515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2D75490-DBD7-CD4E-9507-13309C8F3DF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908415A0-8A5C-1A4E-8070-093DC0E972F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53DC1CB9-E35D-8A47-96B9-69E6D0AB98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FB05914E-C150-9A4F-87FB-EFF6CABA3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3C399649-B712-6449-9877-189E4033C11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Packet loss</a:t>
            </a:r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266CA32C-7D96-1F42-88EE-0CD26A415F37}"/>
              </a:ext>
            </a:extLst>
          </p:cNvPr>
          <p:cNvSpPr txBox="1">
            <a:spLocks noChangeArrowheads="1"/>
          </p:cNvSpPr>
          <p:nvPr/>
        </p:nvSpPr>
        <p:spPr>
          <a:xfrm>
            <a:off x="731714" y="1043595"/>
            <a:ext cx="8173747" cy="53950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queue (aka buffer) preceding link in buffer has finite capacity</a:t>
            </a: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56569F92-5AAD-9F40-A054-24753CD82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9007" y="3364315"/>
            <a:ext cx="898922" cy="197644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80" name="Line 23">
            <a:extLst>
              <a:ext uri="{FF2B5EF4-FFF2-40B4-BE49-F238E27FC236}">
                <a16:creationId xmlns:a16="http://schemas.microsoft.com/office/drawing/2014/main" id="{18F6CFB2-B4C3-FF4C-8EBD-C6BA5187D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894" y="3189293"/>
            <a:ext cx="523875" cy="25003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1" name="Line 24">
            <a:extLst>
              <a:ext uri="{FF2B5EF4-FFF2-40B4-BE49-F238E27FC236}">
                <a16:creationId xmlns:a16="http://schemas.microsoft.com/office/drawing/2014/main" id="{F58C5444-79DC-A048-A0CF-7240C0E242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6588" y="3484568"/>
            <a:ext cx="308372" cy="39409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2" name="Line 25">
            <a:extLst>
              <a:ext uri="{FF2B5EF4-FFF2-40B4-BE49-F238E27FC236}">
                <a16:creationId xmlns:a16="http://schemas.microsoft.com/office/drawing/2014/main" id="{EFEEAE34-B698-3F47-9A0D-006ECF3EC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4357" y="3486949"/>
            <a:ext cx="1450181" cy="714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3" name="Rectangle 28">
            <a:extLst>
              <a:ext uri="{FF2B5EF4-FFF2-40B4-BE49-F238E27FC236}">
                <a16:creationId xmlns:a16="http://schemas.microsoft.com/office/drawing/2014/main" id="{AE188F1E-1184-A64B-B5F3-5F151D659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729" y="3336930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84" name="Rectangle 29">
            <a:extLst>
              <a:ext uri="{FF2B5EF4-FFF2-40B4-BE49-F238E27FC236}">
                <a16:creationId xmlns:a16="http://schemas.microsoft.com/office/drawing/2014/main" id="{F30C236D-7EC4-B04F-8EB6-339D16864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4325" y="3390509"/>
            <a:ext cx="110729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85" name="Rectangle 30">
            <a:extLst>
              <a:ext uri="{FF2B5EF4-FFF2-40B4-BE49-F238E27FC236}">
                <a16:creationId xmlns:a16="http://schemas.microsoft.com/office/drawing/2014/main" id="{B7406385-23A2-9C4F-8A53-96A85929A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5769" y="3390509"/>
            <a:ext cx="110729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88" name="Text Box 35">
            <a:extLst>
              <a:ext uri="{FF2B5EF4-FFF2-40B4-BE49-F238E27FC236}">
                <a16:creationId xmlns:a16="http://schemas.microsoft.com/office/drawing/2014/main" id="{C833E180-F225-A549-A822-0F0480D88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2897" y="283567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6600"/>
                </a:solidFill>
                <a:latin typeface="+mn-lt"/>
              </a:rPr>
              <a:t>A</a:t>
            </a:r>
          </a:p>
        </p:txBody>
      </p:sp>
      <p:sp>
        <p:nvSpPr>
          <p:cNvPr id="89" name="Text Box 36">
            <a:extLst>
              <a:ext uri="{FF2B5EF4-FFF2-40B4-BE49-F238E27FC236}">
                <a16:creationId xmlns:a16="http://schemas.microsoft.com/office/drawing/2014/main" id="{C9D7A519-A3AA-6647-941B-B03611148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403" y="3575055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99"/>
                </a:solidFill>
                <a:latin typeface="+mn-lt"/>
              </a:rPr>
              <a:t>B</a:t>
            </a:r>
          </a:p>
        </p:txBody>
      </p:sp>
      <p:sp>
        <p:nvSpPr>
          <p:cNvPr id="90" name="Text Box 40">
            <a:extLst>
              <a:ext uri="{FF2B5EF4-FFF2-40B4-BE49-F238E27FC236}">
                <a16:creationId xmlns:a16="http://schemas.microsoft.com/office/drawing/2014/main" id="{57B3723E-06BE-9E4B-B5FD-DB428178A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2767812"/>
            <a:ext cx="214994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packet being transmitted</a:t>
            </a:r>
          </a:p>
        </p:txBody>
      </p:sp>
      <p:sp>
        <p:nvSpPr>
          <p:cNvPr id="91" name="Line 41">
            <a:extLst>
              <a:ext uri="{FF2B5EF4-FFF2-40B4-BE49-F238E27FC236}">
                <a16:creationId xmlns:a16="http://schemas.microsoft.com/office/drawing/2014/main" id="{B860767E-6CC8-4645-AC66-7ECC72234871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406504" y="2986886"/>
            <a:ext cx="510778" cy="4238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2" name="Rectangle 56">
            <a:extLst>
              <a:ext uri="{FF2B5EF4-FFF2-40B4-BE49-F238E27FC236}">
                <a16:creationId xmlns:a16="http://schemas.microsoft.com/office/drawing/2014/main" id="{E3AED2F6-EFE4-C14B-9BB5-4F182D4B0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691" y="3389318"/>
            <a:ext cx="110728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93" name="Rectangle 57">
            <a:extLst>
              <a:ext uri="{FF2B5EF4-FFF2-40B4-BE49-F238E27FC236}">
                <a16:creationId xmlns:a16="http://schemas.microsoft.com/office/drawing/2014/main" id="{29DF6AAC-1EDB-6E49-9208-EAB393D33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248" y="3391699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94" name="Rectangle 58">
            <a:extLst>
              <a:ext uri="{FF2B5EF4-FFF2-40B4-BE49-F238E27FC236}">
                <a16:creationId xmlns:a16="http://schemas.microsoft.com/office/drawing/2014/main" id="{07A9771F-08E4-EC45-A210-A58888CED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6423" y="3389318"/>
            <a:ext cx="110728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95" name="Rectangle 59">
            <a:extLst>
              <a:ext uri="{FF2B5EF4-FFF2-40B4-BE49-F238E27FC236}">
                <a16:creationId xmlns:a16="http://schemas.microsoft.com/office/drawing/2014/main" id="{086BD240-8D3B-8946-8C05-8A6C5C278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7" y="3389318"/>
            <a:ext cx="110729" cy="150019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96" name="Rectangle 61">
            <a:extLst>
              <a:ext uri="{FF2B5EF4-FFF2-40B4-BE49-F238E27FC236}">
                <a16:creationId xmlns:a16="http://schemas.microsoft.com/office/drawing/2014/main" id="{84D69E10-50C6-F34A-B4EE-565277C45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9962" y="3390509"/>
            <a:ext cx="110729" cy="150019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97" name="Rectangle 62">
            <a:extLst>
              <a:ext uri="{FF2B5EF4-FFF2-40B4-BE49-F238E27FC236}">
                <a16:creationId xmlns:a16="http://schemas.microsoft.com/office/drawing/2014/main" id="{75F2BC7C-9881-3742-BAF2-C9ADF04CD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8532" y="3372649"/>
            <a:ext cx="878681" cy="1821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CC0000"/>
              </a:solidFill>
            </a:endParaRPr>
          </a:p>
        </p:txBody>
      </p:sp>
      <p:sp>
        <p:nvSpPr>
          <p:cNvPr id="100" name="Text Box 65">
            <a:extLst>
              <a:ext uri="{FF2B5EF4-FFF2-40B4-BE49-F238E27FC236}">
                <a16:creationId xmlns:a16="http://schemas.microsoft.com/office/drawing/2014/main" id="{2FE5E5BD-F2D9-044C-AF8E-8A3AB1A66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087" y="2632080"/>
            <a:ext cx="12634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buffer </a:t>
            </a:r>
          </a:p>
          <a:p>
            <a:pPr algn="ctr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(waiting area)</a:t>
            </a:r>
          </a:p>
        </p:txBody>
      </p:sp>
      <p:sp>
        <p:nvSpPr>
          <p:cNvPr id="101" name="Line 66">
            <a:extLst>
              <a:ext uri="{FF2B5EF4-FFF2-40B4-BE49-F238E27FC236}">
                <a16:creationId xmlns:a16="http://schemas.microsoft.com/office/drawing/2014/main" id="{F4810747-BBCA-F145-AF10-7157860AA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8544" y="3088090"/>
            <a:ext cx="0" cy="25003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102" name="Group 48">
            <a:extLst>
              <a:ext uri="{FF2B5EF4-FFF2-40B4-BE49-F238E27FC236}">
                <a16:creationId xmlns:a16="http://schemas.microsoft.com/office/drawing/2014/main" id="{ABFCEC87-7465-524D-A5DC-C75187D44BB1}"/>
              </a:ext>
            </a:extLst>
          </p:cNvPr>
          <p:cNvGrpSpPr>
            <a:grpSpLocks/>
          </p:cNvGrpSpPr>
          <p:nvPr/>
        </p:nvGrpSpPr>
        <p:grpSpPr bwMode="auto">
          <a:xfrm>
            <a:off x="2355056" y="2851156"/>
            <a:ext cx="615554" cy="516731"/>
            <a:chOff x="-44" y="1473"/>
            <a:chExt cx="981" cy="1105"/>
          </a:xfrm>
        </p:grpSpPr>
        <p:pic>
          <p:nvPicPr>
            <p:cNvPr id="103" name="Picture 49" descr="desktop_computer_stylized_medium">
              <a:extLst>
                <a:ext uri="{FF2B5EF4-FFF2-40B4-BE49-F238E27FC236}">
                  <a16:creationId xmlns:a16="http://schemas.microsoft.com/office/drawing/2014/main" id="{8250C605-2170-E94B-8DB9-90219930DE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4" name="Freeform 50">
              <a:extLst>
                <a:ext uri="{FF2B5EF4-FFF2-40B4-BE49-F238E27FC236}">
                  <a16:creationId xmlns:a16="http://schemas.microsoft.com/office/drawing/2014/main" id="{B861D779-BA88-6649-AECC-FC09FC3CAD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05" name="Group 51">
            <a:extLst>
              <a:ext uri="{FF2B5EF4-FFF2-40B4-BE49-F238E27FC236}">
                <a16:creationId xmlns:a16="http://schemas.microsoft.com/office/drawing/2014/main" id="{C2F7650A-DE11-CA4D-8362-974E3036A08A}"/>
              </a:ext>
            </a:extLst>
          </p:cNvPr>
          <p:cNvGrpSpPr>
            <a:grpSpLocks/>
          </p:cNvGrpSpPr>
          <p:nvPr/>
        </p:nvGrpSpPr>
        <p:grpSpPr bwMode="auto">
          <a:xfrm>
            <a:off x="2601516" y="3594106"/>
            <a:ext cx="615553" cy="516731"/>
            <a:chOff x="-44" y="1473"/>
            <a:chExt cx="981" cy="1105"/>
          </a:xfrm>
        </p:grpSpPr>
        <p:pic>
          <p:nvPicPr>
            <p:cNvPr id="106" name="Picture 52" descr="desktop_computer_stylized_medium">
              <a:extLst>
                <a:ext uri="{FF2B5EF4-FFF2-40B4-BE49-F238E27FC236}">
                  <a16:creationId xmlns:a16="http://schemas.microsoft.com/office/drawing/2014/main" id="{31AB66C4-A2A2-4F4D-B6A5-CBADCEEE67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53">
              <a:extLst>
                <a:ext uri="{FF2B5EF4-FFF2-40B4-BE49-F238E27FC236}">
                  <a16:creationId xmlns:a16="http://schemas.microsoft.com/office/drawing/2014/main" id="{8CFBA43E-78F2-5846-9CDF-6F8E882EA5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108" name="TextBox 1">
            <a:extLst>
              <a:ext uri="{FF2B5EF4-FFF2-40B4-BE49-F238E27FC236}">
                <a16:creationId xmlns:a16="http://schemas.microsoft.com/office/drawing/2014/main" id="{23257655-BFAB-7E4B-9721-E40633712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606" y="4585709"/>
            <a:ext cx="602280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dirty="0">
                <a:solidFill>
                  <a:srgbClr val="000000"/>
                </a:solidFill>
                <a:latin typeface="+mn-lt"/>
              </a:rPr>
              <a:t>* Check out the Java applet for an interactive animation on queuing and loss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93C1C6-6FFC-4542-8569-381842BD5BB2}"/>
              </a:ext>
            </a:extLst>
          </p:cNvPr>
          <p:cNvGrpSpPr/>
          <p:nvPr/>
        </p:nvGrpSpPr>
        <p:grpSpPr>
          <a:xfrm>
            <a:off x="728992" y="1400305"/>
            <a:ext cx="7661173" cy="2922165"/>
            <a:chOff x="971989" y="1867073"/>
            <a:chExt cx="10214897" cy="389622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7FB3ADB-070D-EA41-8E10-638DD4679B17}"/>
                </a:ext>
              </a:extLst>
            </p:cNvPr>
            <p:cNvGrpSpPr/>
            <p:nvPr/>
          </p:nvGrpSpPr>
          <p:grpSpPr>
            <a:xfrm>
              <a:off x="4381500" y="4714353"/>
              <a:ext cx="2977873" cy="1048940"/>
              <a:chOff x="4381500" y="4714353"/>
              <a:chExt cx="2977873" cy="1048940"/>
            </a:xfrm>
          </p:grpSpPr>
          <p:sp>
            <p:nvSpPr>
              <p:cNvPr id="86" name="Rectangle 31">
                <a:extLst>
                  <a:ext uri="{FF2B5EF4-FFF2-40B4-BE49-F238E27FC236}">
                    <a16:creationId xmlns:a16="http://schemas.microsoft.com/office/drawing/2014/main" id="{E5168849-CF99-FD4F-B6DF-2D06EA64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1663" y="4868340"/>
                <a:ext cx="147637" cy="200025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CC0000"/>
                  </a:solidFill>
                </a:endParaRPr>
              </a:p>
            </p:txBody>
          </p:sp>
          <p:sp>
            <p:nvSpPr>
              <p:cNvPr id="87" name="Line 33">
                <a:extLst>
                  <a:ext uri="{FF2B5EF4-FFF2-40B4-BE49-F238E27FC236}">
                    <a16:creationId xmlns:a16="http://schemas.microsoft.com/office/drawing/2014/main" id="{6D0E3F69-DD55-B34E-B881-C7D2F1D6A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1500" y="4714353"/>
                <a:ext cx="106363" cy="1460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8" name="Line 63">
                <a:extLst>
                  <a:ext uri="{FF2B5EF4-FFF2-40B4-BE49-F238E27FC236}">
                    <a16:creationId xmlns:a16="http://schemas.microsoft.com/office/drawing/2014/main" id="{FD41187D-B5D0-F44B-B4AF-7556A07DC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4638675" y="4988990"/>
                <a:ext cx="687388" cy="33178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800"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99" name="Text Box 64">
                <a:extLst>
                  <a:ext uri="{FF2B5EF4-FFF2-40B4-BE49-F238E27FC236}">
                    <a16:creationId xmlns:a16="http://schemas.microsoft.com/office/drawing/2014/main" id="{F2BB1DAE-AB56-8246-A3D6-8E5A69B8FF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4625" y="5147740"/>
                <a:ext cx="2104748" cy="615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500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packet arriving to</a:t>
                </a:r>
              </a:p>
              <a:p>
                <a:pPr eaLnBrk="0" fontAlgn="base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500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full buffer is </a:t>
                </a:r>
                <a:r>
                  <a:rPr lang="en-US" altLang="en-US" sz="1500" i="1" dirty="0">
                    <a:solidFill>
                      <a:srgbClr val="CC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lost</a:t>
                </a:r>
              </a:p>
            </p:txBody>
          </p:sp>
        </p:grp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54211E9D-8A8E-BF41-BDEC-889453887B7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1989" y="1867073"/>
              <a:ext cx="10214897" cy="2117981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5504" indent="-215504"/>
              <a:r>
                <a:rPr lang="en-US" altLang="en-US" sz="2100" dirty="0">
                  <a:ea typeface="ＭＳ Ｐゴシック" panose="020B0600070205080204" pitchFamily="34" charset="-128"/>
                </a:rPr>
                <a:t>packet arriving to full queue dropped (aka lost)</a:t>
              </a:r>
            </a:p>
            <a:p>
              <a:pPr marL="215504" indent="-215504"/>
              <a:r>
                <a:rPr lang="en-US" altLang="en-US" sz="2100" dirty="0">
                  <a:ea typeface="ＭＳ Ｐゴシック" panose="020B0600070205080204" pitchFamily="34" charset="-128"/>
                </a:rPr>
                <a:t>lost packet may be retransmitted by previous node, by source end system, or not at all</a:t>
              </a:r>
            </a:p>
          </p:txBody>
        </p:sp>
      </p:grpSp>
      <p:sp>
        <p:nvSpPr>
          <p:cNvPr id="4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7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Line 321">
            <a:extLst>
              <a:ext uri="{FF2B5EF4-FFF2-40B4-BE49-F238E27FC236}">
                <a16:creationId xmlns:a16="http://schemas.microsoft.com/office/drawing/2014/main" id="{3126CBA0-B637-EA43-AF7F-E011318DF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585" y="3360472"/>
            <a:ext cx="473749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9E117FAC-DD71-2841-B7A4-CC7377DD9672}"/>
              </a:ext>
            </a:extLst>
          </p:cNvPr>
          <p:cNvGrpSpPr/>
          <p:nvPr/>
        </p:nvGrpSpPr>
        <p:grpSpPr>
          <a:xfrm>
            <a:off x="3413603" y="3077828"/>
            <a:ext cx="1097703" cy="552930"/>
            <a:chOff x="7493876" y="2774731"/>
            <a:chExt cx="1481958" cy="894622"/>
          </a:xfrm>
        </p:grpSpPr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8BB48DB0-8C5D-004F-B9CE-3206F91F8A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ED05AE36-8F36-F942-94A6-2BA819CD30A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A4729A4-A1F6-DF49-A60A-44BF1ECD735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40897A26-02AE-B342-8B9D-CC1606C29E3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5AD51D90-0DBF-5941-A195-23707A53FCE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C2FFDCAB-1FB6-B14D-887A-093D9A7A5E7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7D1F7198-65E3-1B44-8C17-E6AF9ECF4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Throughput</a:t>
            </a:r>
            <a:endParaRPr lang="en-US" dirty="0"/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494751C5-3228-E445-BD01-72428A7EAB59}"/>
              </a:ext>
            </a:extLst>
          </p:cNvPr>
          <p:cNvSpPr txBox="1">
            <a:spLocks noChangeArrowheads="1"/>
          </p:cNvSpPr>
          <p:nvPr/>
        </p:nvSpPr>
        <p:spPr>
          <a:xfrm>
            <a:off x="741760" y="1019471"/>
            <a:ext cx="8230353" cy="1334691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throughput:</a:t>
            </a:r>
            <a:r>
              <a:rPr lang="en-US" altLang="en-US" sz="2100" dirty="0">
                <a:ea typeface="ＭＳ Ｐゴシック" panose="020B0600070205080204" pitchFamily="34" charset="-128"/>
              </a:rPr>
              <a:t> rate (bits/time unit) at which bits are being sent from sender to receiver</a:t>
            </a:r>
          </a:p>
          <a:p>
            <a:pPr marL="511969" lvl="1" indent="-169069"/>
            <a:r>
              <a:rPr lang="en-US" altLang="en-US" sz="2100" i="1" dirty="0">
                <a:solidFill>
                  <a:srgbClr val="CC0000"/>
                </a:solidFill>
                <a:ea typeface="Arial" panose="020B0604020202020204" pitchFamily="34" charset="0"/>
              </a:rPr>
              <a:t>instantaneous:</a:t>
            </a:r>
            <a:r>
              <a:rPr lang="en-US" altLang="en-US" sz="2100" dirty="0">
                <a:ea typeface="Arial" panose="020B0604020202020204" pitchFamily="34" charset="0"/>
              </a:rPr>
              <a:t> rate at given point in time</a:t>
            </a:r>
          </a:p>
          <a:p>
            <a:pPr marL="511969" lvl="1" indent="-169069"/>
            <a:r>
              <a:rPr lang="en-US" altLang="en-US" sz="2100" i="1" dirty="0">
                <a:solidFill>
                  <a:srgbClr val="CC0000"/>
                </a:solidFill>
                <a:ea typeface="Arial" panose="020B0604020202020204" pitchFamily="34" charset="0"/>
              </a:rPr>
              <a:t>average:</a:t>
            </a:r>
            <a:r>
              <a:rPr lang="en-US" altLang="en-US" sz="2100" dirty="0">
                <a:ea typeface="Arial" panose="020B0604020202020204" pitchFamily="34" charset="0"/>
              </a:rPr>
              <a:t> rate over longer period of time</a:t>
            </a:r>
          </a:p>
        </p:txBody>
      </p:sp>
      <p:sp>
        <p:nvSpPr>
          <p:cNvPr id="232" name="AutoShape 327">
            <a:extLst>
              <a:ext uri="{FF2B5EF4-FFF2-40B4-BE49-F238E27FC236}">
                <a16:creationId xmlns:a16="http://schemas.microsoft.com/office/drawing/2014/main" id="{5F173245-5658-9842-84FB-CB60E39B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003" y="2711337"/>
            <a:ext cx="375047" cy="435769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3" name="Group 64">
            <a:extLst>
              <a:ext uri="{FF2B5EF4-FFF2-40B4-BE49-F238E27FC236}">
                <a16:creationId xmlns:a16="http://schemas.microsoft.com/office/drawing/2014/main" id="{67159F46-3967-E744-8DC9-4BF77234442F}"/>
              </a:ext>
            </a:extLst>
          </p:cNvPr>
          <p:cNvGrpSpPr>
            <a:grpSpLocks/>
          </p:cNvGrpSpPr>
          <p:nvPr/>
        </p:nvGrpSpPr>
        <p:grpSpPr bwMode="auto">
          <a:xfrm>
            <a:off x="1903541" y="3016382"/>
            <a:ext cx="264319" cy="657225"/>
            <a:chOff x="4140" y="429"/>
            <a:chExt cx="1425" cy="2396"/>
          </a:xfrm>
        </p:grpSpPr>
        <p:sp>
          <p:nvSpPr>
            <p:cNvPr id="234" name="Freeform 65">
              <a:extLst>
                <a:ext uri="{FF2B5EF4-FFF2-40B4-BE49-F238E27FC236}">
                  <a16:creationId xmlns:a16="http://schemas.microsoft.com/office/drawing/2014/main" id="{18E23374-8E41-5441-B267-3B9BBC53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5" name="Rectangle 66">
              <a:extLst>
                <a:ext uri="{FF2B5EF4-FFF2-40B4-BE49-F238E27FC236}">
                  <a16:creationId xmlns:a16="http://schemas.microsoft.com/office/drawing/2014/main" id="{27E4969F-608F-ED4F-8638-18FB214A4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36" name="Freeform 67">
              <a:extLst>
                <a:ext uri="{FF2B5EF4-FFF2-40B4-BE49-F238E27FC236}">
                  <a16:creationId xmlns:a16="http://schemas.microsoft.com/office/drawing/2014/main" id="{846F4A49-2AF9-7341-80F3-DC7E3F141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7" name="Freeform 68">
              <a:extLst>
                <a:ext uri="{FF2B5EF4-FFF2-40B4-BE49-F238E27FC236}">
                  <a16:creationId xmlns:a16="http://schemas.microsoft.com/office/drawing/2014/main" id="{EC71E4BE-7627-F340-B915-B49710245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38" name="Rectangle 69">
              <a:extLst>
                <a:ext uri="{FF2B5EF4-FFF2-40B4-BE49-F238E27FC236}">
                  <a16:creationId xmlns:a16="http://schemas.microsoft.com/office/drawing/2014/main" id="{39BFB098-B374-994B-AE99-4F9D17A4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239" name="Group 70">
              <a:extLst>
                <a:ext uri="{FF2B5EF4-FFF2-40B4-BE49-F238E27FC236}">
                  <a16:creationId xmlns:a16="http://schemas.microsoft.com/office/drawing/2014/main" id="{71537DBF-21A3-7C4A-9E72-AADF2D0ED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4" name="AutoShape 71">
                <a:extLst>
                  <a:ext uri="{FF2B5EF4-FFF2-40B4-BE49-F238E27FC236}">
                    <a16:creationId xmlns:a16="http://schemas.microsoft.com/office/drawing/2014/main" id="{66BF3AD7-2A1F-894F-AB3E-2B0CE27C8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5" name="AutoShape 72">
                <a:extLst>
                  <a:ext uri="{FF2B5EF4-FFF2-40B4-BE49-F238E27FC236}">
                    <a16:creationId xmlns:a16="http://schemas.microsoft.com/office/drawing/2014/main" id="{B978B677-CCD4-A441-ACE5-4B37776C7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0" name="Rectangle 73">
              <a:extLst>
                <a:ext uri="{FF2B5EF4-FFF2-40B4-BE49-F238E27FC236}">
                  <a16:creationId xmlns:a16="http://schemas.microsoft.com/office/drawing/2014/main" id="{87FAAAA1-868A-A144-AF79-9ADFFCEF3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241" name="Group 74">
              <a:extLst>
                <a:ext uri="{FF2B5EF4-FFF2-40B4-BE49-F238E27FC236}">
                  <a16:creationId xmlns:a16="http://schemas.microsoft.com/office/drawing/2014/main" id="{CDE6DCC7-0A8B-2541-8C76-B2190F25D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2" name="AutoShape 75">
                <a:extLst>
                  <a:ext uri="{FF2B5EF4-FFF2-40B4-BE49-F238E27FC236}">
                    <a16:creationId xmlns:a16="http://schemas.microsoft.com/office/drawing/2014/main" id="{6D9E7A58-B5A8-C440-B788-66B957245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3" name="AutoShape 76">
                <a:extLst>
                  <a:ext uri="{FF2B5EF4-FFF2-40B4-BE49-F238E27FC236}">
                    <a16:creationId xmlns:a16="http://schemas.microsoft.com/office/drawing/2014/main" id="{81AE3D1A-686F-644D-9B4E-3E1E85407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2" name="Rectangle 77">
              <a:extLst>
                <a:ext uri="{FF2B5EF4-FFF2-40B4-BE49-F238E27FC236}">
                  <a16:creationId xmlns:a16="http://schemas.microsoft.com/office/drawing/2014/main" id="{C9C2D902-8035-BE42-B27B-AB7485B0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43" name="Rectangle 78">
              <a:extLst>
                <a:ext uri="{FF2B5EF4-FFF2-40B4-BE49-F238E27FC236}">
                  <a16:creationId xmlns:a16="http://schemas.microsoft.com/office/drawing/2014/main" id="{5A1C3FEB-4927-F742-8C1F-5CF5556DE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244" name="Group 79">
              <a:extLst>
                <a:ext uri="{FF2B5EF4-FFF2-40B4-BE49-F238E27FC236}">
                  <a16:creationId xmlns:a16="http://schemas.microsoft.com/office/drawing/2014/main" id="{D2A72B02-ADAB-FE44-9468-3B43E6DB3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0" name="AutoShape 80">
                <a:extLst>
                  <a:ext uri="{FF2B5EF4-FFF2-40B4-BE49-F238E27FC236}">
                    <a16:creationId xmlns:a16="http://schemas.microsoft.com/office/drawing/2014/main" id="{A1A29232-9E86-634B-8831-8B3719318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61" name="AutoShape 81">
                <a:extLst>
                  <a:ext uri="{FF2B5EF4-FFF2-40B4-BE49-F238E27FC236}">
                    <a16:creationId xmlns:a16="http://schemas.microsoft.com/office/drawing/2014/main" id="{138F9F1B-5A09-C54A-8F38-4FBA6FFE4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5" name="Freeform 82">
              <a:extLst>
                <a:ext uri="{FF2B5EF4-FFF2-40B4-BE49-F238E27FC236}">
                  <a16:creationId xmlns:a16="http://schemas.microsoft.com/office/drawing/2014/main" id="{EDD21BCA-4123-324D-B71B-475B7D03C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246" name="Group 83">
              <a:extLst>
                <a:ext uri="{FF2B5EF4-FFF2-40B4-BE49-F238E27FC236}">
                  <a16:creationId xmlns:a16="http://schemas.microsoft.com/office/drawing/2014/main" id="{791D1F13-E15D-3C4F-AB67-56D2965D4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8" name="AutoShape 84">
                <a:extLst>
                  <a:ext uri="{FF2B5EF4-FFF2-40B4-BE49-F238E27FC236}">
                    <a16:creationId xmlns:a16="http://schemas.microsoft.com/office/drawing/2014/main" id="{13423582-B530-6D49-927C-1307226E7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259" name="AutoShape 85">
                <a:extLst>
                  <a:ext uri="{FF2B5EF4-FFF2-40B4-BE49-F238E27FC236}">
                    <a16:creationId xmlns:a16="http://schemas.microsoft.com/office/drawing/2014/main" id="{CC15074F-1F06-4B4F-9C77-C1CA17ACA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7" name="Rectangle 86">
              <a:extLst>
                <a:ext uri="{FF2B5EF4-FFF2-40B4-BE49-F238E27FC236}">
                  <a16:creationId xmlns:a16="http://schemas.microsoft.com/office/drawing/2014/main" id="{81BB7800-4ED5-D84D-B257-C94B51DF5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48" name="Freeform 87">
              <a:extLst>
                <a:ext uri="{FF2B5EF4-FFF2-40B4-BE49-F238E27FC236}">
                  <a16:creationId xmlns:a16="http://schemas.microsoft.com/office/drawing/2014/main" id="{AF9C8EDC-F5CE-1A46-A494-23925A5A7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9" name="Freeform 88">
              <a:extLst>
                <a:ext uri="{FF2B5EF4-FFF2-40B4-BE49-F238E27FC236}">
                  <a16:creationId xmlns:a16="http://schemas.microsoft.com/office/drawing/2014/main" id="{0663E233-F771-A246-84D6-36A0AA5C7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0" name="Oval 89">
              <a:extLst>
                <a:ext uri="{FF2B5EF4-FFF2-40B4-BE49-F238E27FC236}">
                  <a16:creationId xmlns:a16="http://schemas.microsoft.com/office/drawing/2014/main" id="{3F5ABDC5-D954-4D4D-A3B4-7A133CD71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51" name="Freeform 90">
              <a:extLst>
                <a:ext uri="{FF2B5EF4-FFF2-40B4-BE49-F238E27FC236}">
                  <a16:creationId xmlns:a16="http://schemas.microsoft.com/office/drawing/2014/main" id="{B976B037-AAAD-864E-94BA-6AFFD4E96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2" name="AutoShape 91">
              <a:extLst>
                <a:ext uri="{FF2B5EF4-FFF2-40B4-BE49-F238E27FC236}">
                  <a16:creationId xmlns:a16="http://schemas.microsoft.com/office/drawing/2014/main" id="{F4F4A156-282A-314C-8FCF-EB151E922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53" name="AutoShape 92">
              <a:extLst>
                <a:ext uri="{FF2B5EF4-FFF2-40B4-BE49-F238E27FC236}">
                  <a16:creationId xmlns:a16="http://schemas.microsoft.com/office/drawing/2014/main" id="{80AE788A-CE80-7741-B4E5-F6C880916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54" name="Oval 93">
              <a:extLst>
                <a:ext uri="{FF2B5EF4-FFF2-40B4-BE49-F238E27FC236}">
                  <a16:creationId xmlns:a16="http://schemas.microsoft.com/office/drawing/2014/main" id="{BB81643B-3A3A-0C41-86BE-809F30A17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55" name="Oval 94">
              <a:extLst>
                <a:ext uri="{FF2B5EF4-FFF2-40B4-BE49-F238E27FC236}">
                  <a16:creationId xmlns:a16="http://schemas.microsoft.com/office/drawing/2014/main" id="{0A2F6572-0039-324D-A51E-D01D404A5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256" name="Oval 95">
              <a:extLst>
                <a:ext uri="{FF2B5EF4-FFF2-40B4-BE49-F238E27FC236}">
                  <a16:creationId xmlns:a16="http://schemas.microsoft.com/office/drawing/2014/main" id="{43600795-A6CA-4C4B-9800-07AB28F89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257" name="Rectangle 96">
              <a:extLst>
                <a:ext uri="{FF2B5EF4-FFF2-40B4-BE49-F238E27FC236}">
                  <a16:creationId xmlns:a16="http://schemas.microsoft.com/office/drawing/2014/main" id="{32CFBA4E-295B-BF40-8717-00CE1511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grpSp>
        <p:nvGrpSpPr>
          <p:cNvPr id="266" name="Group 61">
            <a:extLst>
              <a:ext uri="{FF2B5EF4-FFF2-40B4-BE49-F238E27FC236}">
                <a16:creationId xmlns:a16="http://schemas.microsoft.com/office/drawing/2014/main" id="{2E0D8697-E30E-C84C-9F0E-29142F2D4E6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82432" y="3062816"/>
            <a:ext cx="894159" cy="878681"/>
            <a:chOff x="-44" y="1473"/>
            <a:chExt cx="981" cy="1105"/>
          </a:xfrm>
        </p:grpSpPr>
        <p:pic>
          <p:nvPicPr>
            <p:cNvPr id="267" name="Picture 62" descr="desktop_computer_stylized_medium">
              <a:extLst>
                <a:ext uri="{FF2B5EF4-FFF2-40B4-BE49-F238E27FC236}">
                  <a16:creationId xmlns:a16="http://schemas.microsoft.com/office/drawing/2014/main" id="{85154182-D3D3-494A-8DEB-F001E6EB4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" name="Freeform 63">
              <a:extLst>
                <a:ext uri="{FF2B5EF4-FFF2-40B4-BE49-F238E27FC236}">
                  <a16:creationId xmlns:a16="http://schemas.microsoft.com/office/drawing/2014/main" id="{E36B34F6-C549-9143-AA71-C07DF7E0B17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269" name="Text Box 325">
            <a:extLst>
              <a:ext uri="{FF2B5EF4-FFF2-40B4-BE49-F238E27FC236}">
                <a16:creationId xmlns:a16="http://schemas.microsoft.com/office/drawing/2014/main" id="{2685AEBC-A012-9B46-B78A-88C2A3D51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178" y="4137403"/>
            <a:ext cx="1800494" cy="798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server, with</a:t>
            </a:r>
          </a:p>
          <a:p>
            <a:pPr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file of F bits </a:t>
            </a:r>
          </a:p>
          <a:p>
            <a:pPr algn="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to send to client</a:t>
            </a:r>
          </a:p>
        </p:txBody>
      </p:sp>
      <p:sp>
        <p:nvSpPr>
          <p:cNvPr id="270" name="Text Box 328">
            <a:extLst>
              <a:ext uri="{FF2B5EF4-FFF2-40B4-BE49-F238E27FC236}">
                <a16:creationId xmlns:a16="http://schemas.microsoft.com/office/drawing/2014/main" id="{99E6BFD3-F62C-B043-9B11-0DBFC35AC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8704" y="3702009"/>
            <a:ext cx="1441421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link capacity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 R</a:t>
            </a:r>
            <a:r>
              <a:rPr lang="en-US" altLang="en-US" baseline="-250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altLang="en-US" sz="1800" baseline="-25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bits/sec</a:t>
            </a:r>
          </a:p>
        </p:txBody>
      </p:sp>
      <p:sp>
        <p:nvSpPr>
          <p:cNvPr id="271" name="Text Box 329">
            <a:extLst>
              <a:ext uri="{FF2B5EF4-FFF2-40B4-BE49-F238E27FC236}">
                <a16:creationId xmlns:a16="http://schemas.microsoft.com/office/drawing/2014/main" id="{A5259771-F5CC-2A4E-B736-3B818B7F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8589" y="3704372"/>
            <a:ext cx="1441421" cy="563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link capacity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1800" dirty="0" err="1">
                <a:solidFill>
                  <a:srgbClr val="000000"/>
                </a:solidFill>
                <a:latin typeface="+mn-lt"/>
              </a:rPr>
              <a:t>R</a:t>
            </a:r>
            <a:r>
              <a:rPr lang="en-US" altLang="en-US" baseline="-25000" dirty="0" err="1">
                <a:solidFill>
                  <a:srgbClr val="000000"/>
                </a:solidFill>
                <a:latin typeface="+mn-lt"/>
              </a:rPr>
              <a:t>c</a:t>
            </a:r>
            <a:r>
              <a:rPr lang="en-US" altLang="en-US" sz="1800" baseline="-25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bits/sec</a:t>
            </a:r>
          </a:p>
        </p:txBody>
      </p:sp>
      <p:grpSp>
        <p:nvGrpSpPr>
          <p:cNvPr id="301" name="Group 99">
            <a:extLst>
              <a:ext uri="{FF2B5EF4-FFF2-40B4-BE49-F238E27FC236}">
                <a16:creationId xmlns:a16="http://schemas.microsoft.com/office/drawing/2014/main" id="{4B6F3DA1-2A9C-2E4C-B823-1CEA5B30C4A7}"/>
              </a:ext>
            </a:extLst>
          </p:cNvPr>
          <p:cNvGrpSpPr>
            <a:grpSpLocks/>
          </p:cNvGrpSpPr>
          <p:nvPr/>
        </p:nvGrpSpPr>
        <p:grpSpPr bwMode="auto">
          <a:xfrm>
            <a:off x="193050" y="3732466"/>
            <a:ext cx="7078267" cy="1203722"/>
            <a:chOff x="-579" y="3658"/>
            <a:chExt cx="5945" cy="1011"/>
          </a:xfrm>
        </p:grpSpPr>
        <p:sp>
          <p:nvSpPr>
            <p:cNvPr id="302" name="Text Box 353">
              <a:extLst>
                <a:ext uri="{FF2B5EF4-FFF2-40B4-BE49-F238E27FC236}">
                  <a16:creationId xmlns:a16="http://schemas.microsoft.com/office/drawing/2014/main" id="{07E7AB23-0BD9-F14F-9990-6EF08491E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79" y="3998"/>
              <a:ext cx="1853" cy="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server sends bits 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(fluid) into pipe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 dirty="0">
                <a:solidFill>
                  <a:srgbClr val="000000"/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303" name="Text Box 336">
              <a:extLst>
                <a:ext uri="{FF2B5EF4-FFF2-40B4-BE49-F238E27FC236}">
                  <a16:creationId xmlns:a16="http://schemas.microsoft.com/office/drawing/2014/main" id="{22B4F102-0AE6-894B-9FDB-169832FE1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3661"/>
              <a:ext cx="1769" cy="8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Gill Sans MT" panose="020B0502020104020203" pitchFamily="34" charset="77"/>
                </a:rPr>
                <a:t> </a:t>
              </a: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pipe that can carry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fluid at rate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 (</a:t>
              </a:r>
              <a:r>
                <a:rPr lang="en-US" altLang="en-US" sz="1800" i="1" dirty="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i="1" baseline="-25000" dirty="0">
                  <a:solidFill>
                    <a:srgbClr val="000000"/>
                  </a:solidFill>
                  <a:latin typeface="+mn-lt"/>
                </a:rPr>
                <a:t>s</a:t>
              </a:r>
              <a:r>
                <a:rPr lang="en-US" altLang="en-US" sz="1800" i="1" baseline="-250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bits/sec)</a:t>
              </a:r>
            </a:p>
          </p:txBody>
        </p:sp>
        <p:sp>
          <p:nvSpPr>
            <p:cNvPr id="304" name="Text Box 346">
              <a:extLst>
                <a:ext uri="{FF2B5EF4-FFF2-40B4-BE49-F238E27FC236}">
                  <a16:creationId xmlns:a16="http://schemas.microsoft.com/office/drawing/2014/main" id="{99C94E9C-7B58-B945-A1E2-8510D3FF8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3658"/>
              <a:ext cx="1860" cy="67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 pipe that can carry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fluid at rate</a:t>
              </a:r>
            </a:p>
            <a:p>
              <a:pPr algn="ctr"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800" i="1" dirty="0">
                  <a:solidFill>
                    <a:srgbClr val="000000"/>
                  </a:solidFill>
                  <a:latin typeface="+mn-lt"/>
                </a:rPr>
                <a:t> (</a:t>
              </a:r>
              <a:r>
                <a:rPr lang="en-US" altLang="en-US" sz="1800" i="1" dirty="0" err="1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i="1" baseline="-25000" dirty="0" err="1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en-US" altLang="en-US" sz="1800" i="1" baseline="-250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bits/sec)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92D340-73A9-4F49-8534-B5C904B778B4}"/>
              </a:ext>
            </a:extLst>
          </p:cNvPr>
          <p:cNvGrpSpPr/>
          <p:nvPr/>
        </p:nvGrpSpPr>
        <p:grpSpPr>
          <a:xfrm>
            <a:off x="1553497" y="3010428"/>
            <a:ext cx="5869987" cy="572748"/>
            <a:chOff x="2071329" y="4013904"/>
            <a:chExt cx="7826649" cy="763664"/>
          </a:xfrm>
        </p:grpSpPr>
        <p:sp>
          <p:nvSpPr>
            <p:cNvPr id="290" name="AutoShape 350">
              <a:extLst>
                <a:ext uri="{FF2B5EF4-FFF2-40B4-BE49-F238E27FC236}">
                  <a16:creationId xmlns:a16="http://schemas.microsoft.com/office/drawing/2014/main" id="{3D33AE23-1C65-834A-A5D5-8D03E4720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8978" y="4275842"/>
              <a:ext cx="889000" cy="485775"/>
            </a:xfrm>
            <a:prstGeom prst="rightArrow">
              <a:avLst>
                <a:gd name="adj1" fmla="val 50000"/>
                <a:gd name="adj2" fmla="val 45752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91" name="Group 335">
              <a:extLst>
                <a:ext uri="{FF2B5EF4-FFF2-40B4-BE49-F238E27FC236}">
                  <a16:creationId xmlns:a16="http://schemas.microsoft.com/office/drawing/2014/main" id="{1AB0D837-8757-A24A-AA3E-5914390BD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292" name="Oval 333">
                <a:extLst>
                  <a:ext uri="{FF2B5EF4-FFF2-40B4-BE49-F238E27FC236}">
                    <a16:creationId xmlns:a16="http://schemas.microsoft.com/office/drawing/2014/main" id="{6E6EF4F3-E324-EE41-857E-2F00CC4C3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3" name="Rectangle 332">
                <a:extLst>
                  <a:ext uri="{FF2B5EF4-FFF2-40B4-BE49-F238E27FC236}">
                    <a16:creationId xmlns:a16="http://schemas.microsoft.com/office/drawing/2014/main" id="{B2682ADB-A65B-D047-86A5-56687D6DF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4" name="Oval 331">
                <a:extLst>
                  <a:ext uri="{FF2B5EF4-FFF2-40B4-BE49-F238E27FC236}">
                    <a16:creationId xmlns:a16="http://schemas.microsoft.com/office/drawing/2014/main" id="{C101BC4D-17C9-324C-82E8-C4AAA13D8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" name="Rectangle 334">
                <a:extLst>
                  <a:ext uri="{FF2B5EF4-FFF2-40B4-BE49-F238E27FC236}">
                    <a16:creationId xmlns:a16="http://schemas.microsoft.com/office/drawing/2014/main" id="{4A8174FB-A99D-5C4E-ADC6-1958FC2B1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96" name="Group 341">
              <a:extLst>
                <a:ext uri="{FF2B5EF4-FFF2-40B4-BE49-F238E27FC236}">
                  <a16:creationId xmlns:a16="http://schemas.microsoft.com/office/drawing/2014/main" id="{0EB2E33F-C4E3-1644-9D50-3FCE1862D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297" name="Oval 342">
                <a:extLst>
                  <a:ext uri="{FF2B5EF4-FFF2-40B4-BE49-F238E27FC236}">
                    <a16:creationId xmlns:a16="http://schemas.microsoft.com/office/drawing/2014/main" id="{8B0433EF-9C73-5648-874B-82F2F6B3F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8" name="Rectangle 343">
                <a:extLst>
                  <a:ext uri="{FF2B5EF4-FFF2-40B4-BE49-F238E27FC236}">
                    <a16:creationId xmlns:a16="http://schemas.microsoft.com/office/drawing/2014/main" id="{4E0FBD5F-0BE8-F549-8413-D4068F104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9" name="Oval 344">
                <a:extLst>
                  <a:ext uri="{FF2B5EF4-FFF2-40B4-BE49-F238E27FC236}">
                    <a16:creationId xmlns:a16="http://schemas.microsoft.com/office/drawing/2014/main" id="{48CAF989-114C-CC4C-8DBF-A27BA3216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" name="Rectangle 345">
                <a:extLst>
                  <a:ext uri="{FF2B5EF4-FFF2-40B4-BE49-F238E27FC236}">
                    <a16:creationId xmlns:a16="http://schemas.microsoft.com/office/drawing/2014/main" id="{C659DCD3-540C-0146-BAAD-7DBA3AC0F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5" name="AutoShape 351">
              <a:extLst>
                <a:ext uri="{FF2B5EF4-FFF2-40B4-BE49-F238E27FC236}">
                  <a16:creationId xmlns:a16="http://schemas.microsoft.com/office/drawing/2014/main" id="{371DACA7-8356-6549-B395-6F1207E7F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542" y="4258379"/>
              <a:ext cx="1279525" cy="485775"/>
            </a:xfrm>
            <a:prstGeom prst="rightArrow">
              <a:avLst>
                <a:gd name="adj1" fmla="val 50000"/>
                <a:gd name="adj2" fmla="val 6585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" name="AutoShape 349">
              <a:extLst>
                <a:ext uri="{FF2B5EF4-FFF2-40B4-BE49-F238E27FC236}">
                  <a16:creationId xmlns:a16="http://schemas.microsoft.com/office/drawing/2014/main" id="{DAF93F8F-35E4-524B-97A1-6252C154B9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71329" y="4013904"/>
              <a:ext cx="974725" cy="720725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1116CC-72E2-1E41-B441-B2A46728B7B8}"/>
              </a:ext>
            </a:extLst>
          </p:cNvPr>
          <p:cNvCxnSpPr/>
          <p:nvPr/>
        </p:nvCxnSpPr>
        <p:spPr>
          <a:xfrm>
            <a:off x="1997583" y="3717123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240B1B8-8762-A749-A5D9-196239F727C6}"/>
              </a:ext>
            </a:extLst>
          </p:cNvPr>
          <p:cNvCxnSpPr/>
          <p:nvPr/>
        </p:nvCxnSpPr>
        <p:spPr>
          <a:xfrm>
            <a:off x="2753438" y="3428506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8FDF4627-F3A2-F640-9920-1210DF3A14EE}"/>
              </a:ext>
            </a:extLst>
          </p:cNvPr>
          <p:cNvCxnSpPr/>
          <p:nvPr/>
        </p:nvCxnSpPr>
        <p:spPr>
          <a:xfrm>
            <a:off x="5829878" y="3431164"/>
            <a:ext cx="0" cy="37444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4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Throughput</a:t>
            </a:r>
            <a:endParaRPr lang="en-US" dirty="0"/>
          </a:p>
        </p:txBody>
      </p:sp>
      <p:grpSp>
        <p:nvGrpSpPr>
          <p:cNvPr id="429" name="Group 347">
            <a:extLst>
              <a:ext uri="{FF2B5EF4-FFF2-40B4-BE49-F238E27FC236}">
                <a16:creationId xmlns:a16="http://schemas.microsoft.com/office/drawing/2014/main" id="{29540C2D-9FA0-BB45-BE5F-03C752C3783C}"/>
              </a:ext>
            </a:extLst>
          </p:cNvPr>
          <p:cNvGrpSpPr>
            <a:grpSpLocks/>
          </p:cNvGrpSpPr>
          <p:nvPr/>
        </p:nvGrpSpPr>
        <p:grpSpPr bwMode="auto">
          <a:xfrm>
            <a:off x="3737795" y="3184302"/>
            <a:ext cx="684610" cy="311944"/>
            <a:chOff x="1871277" y="1576300"/>
            <a:chExt cx="1128371" cy="437861"/>
          </a:xfrm>
        </p:grpSpPr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D91E1173-2CC1-804A-8A29-AD5A2B05C5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D26B5CB1-EFDC-AA4A-94A5-91F1F7893EBE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852CB226-E8E6-CA45-95E4-3E2F740D0C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2F42ECA3-62AC-C34A-9330-F31499A994CD}"/>
                </a:ext>
              </a:extLst>
            </p:cNvPr>
            <p:cNvSpPr/>
            <p:nvPr/>
          </p:nvSpPr>
          <p:spPr bwMode="auto">
            <a:xfrm>
              <a:off x="2159748" y="1673231"/>
              <a:ext cx="547504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7DAD661B-B797-0E4F-A7A2-EECB211B3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6D956B9B-0BF1-184A-8A16-0E56F0D92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0CBF6073-15EC-8540-96C4-D4D3FCB6D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F655FBD6-0B65-C943-BD0C-04C522A429F3}"/>
                </a:ext>
              </a:extLst>
            </p:cNvPr>
            <p:cNvCxnSpPr>
              <a:cxnSpLocks noChangeShapeType="1"/>
              <a:endCxn id="43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8319B3C6-5722-1C44-A611-D2468A7B37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39" name="Group 347">
            <a:extLst>
              <a:ext uri="{FF2B5EF4-FFF2-40B4-BE49-F238E27FC236}">
                <a16:creationId xmlns:a16="http://schemas.microsoft.com/office/drawing/2014/main" id="{C4D1F210-8217-DF40-A30E-B4D781BD1617}"/>
              </a:ext>
            </a:extLst>
          </p:cNvPr>
          <p:cNvGrpSpPr>
            <a:grpSpLocks/>
          </p:cNvGrpSpPr>
          <p:nvPr/>
        </p:nvGrpSpPr>
        <p:grpSpPr bwMode="auto">
          <a:xfrm>
            <a:off x="3703267" y="1738692"/>
            <a:ext cx="683419" cy="311944"/>
            <a:chOff x="1871277" y="1576300"/>
            <a:chExt cx="1128371" cy="437861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6C6425EA-486B-F643-943D-D7089FD884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72094855-C429-6140-9FC0-17D4134E8759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940E8085-E288-C843-8449-2EE8442917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E37F0E56-213E-8545-B9F2-BC5003B587C6}"/>
                </a:ext>
              </a:extLst>
            </p:cNvPr>
            <p:cNvSpPr/>
            <p:nvPr/>
          </p:nvSpPr>
          <p:spPr bwMode="auto">
            <a:xfrm>
              <a:off x="2160249" y="1673231"/>
              <a:ext cx="548460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solidFill>
                  <a:srgbClr val="FFFFFF"/>
                </a:solidFill>
                <a:ea typeface="+mn-ea"/>
              </a:endParaRPr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57514748-4829-0749-95C6-8FF0B1CB4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81C91DDC-B728-614D-83D3-517272E01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94DD4D4E-9421-A140-AFBD-C2D8D5F7F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44BB3CF6-D387-034B-A66F-B0DB1B8D3A4B}"/>
                </a:ext>
              </a:extLst>
            </p:cNvPr>
            <p:cNvCxnSpPr>
              <a:cxnSpLocks noChangeShapeType="1"/>
              <a:endCxn id="44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7248A1BD-6434-A24C-A1C8-CB863A313A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9" name="Group 140">
            <a:extLst>
              <a:ext uri="{FF2B5EF4-FFF2-40B4-BE49-F238E27FC236}">
                <a16:creationId xmlns:a16="http://schemas.microsoft.com/office/drawing/2014/main" id="{76E7BFD5-92F6-BB41-9E7A-389CECC7F12A}"/>
              </a:ext>
            </a:extLst>
          </p:cNvPr>
          <p:cNvGrpSpPr>
            <a:grpSpLocks/>
          </p:cNvGrpSpPr>
          <p:nvPr/>
        </p:nvGrpSpPr>
        <p:grpSpPr bwMode="auto">
          <a:xfrm>
            <a:off x="1719686" y="1493423"/>
            <a:ext cx="264319" cy="657225"/>
            <a:chOff x="4140" y="429"/>
            <a:chExt cx="1425" cy="2396"/>
          </a:xfrm>
        </p:grpSpPr>
        <p:sp>
          <p:nvSpPr>
            <p:cNvPr id="450" name="Freeform 141">
              <a:extLst>
                <a:ext uri="{FF2B5EF4-FFF2-40B4-BE49-F238E27FC236}">
                  <a16:creationId xmlns:a16="http://schemas.microsoft.com/office/drawing/2014/main" id="{76A5EB39-9919-2444-BBB8-371FCDAF9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51" name="Rectangle 142">
              <a:extLst>
                <a:ext uri="{FF2B5EF4-FFF2-40B4-BE49-F238E27FC236}">
                  <a16:creationId xmlns:a16="http://schemas.microsoft.com/office/drawing/2014/main" id="{60EBDD34-6142-6945-9C14-B79C55F43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52" name="Freeform 143">
              <a:extLst>
                <a:ext uri="{FF2B5EF4-FFF2-40B4-BE49-F238E27FC236}">
                  <a16:creationId xmlns:a16="http://schemas.microsoft.com/office/drawing/2014/main" id="{B8A9862D-8A64-8A4B-AD3D-3D060A37F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53" name="Freeform 144">
              <a:extLst>
                <a:ext uri="{FF2B5EF4-FFF2-40B4-BE49-F238E27FC236}">
                  <a16:creationId xmlns:a16="http://schemas.microsoft.com/office/drawing/2014/main" id="{F1CBBF09-E39A-294C-817A-9DCD90223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54" name="Rectangle 145">
              <a:extLst>
                <a:ext uri="{FF2B5EF4-FFF2-40B4-BE49-F238E27FC236}">
                  <a16:creationId xmlns:a16="http://schemas.microsoft.com/office/drawing/2014/main" id="{0B890F94-5FF7-B74D-888E-B02AA2F69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455" name="Group 146">
              <a:extLst>
                <a:ext uri="{FF2B5EF4-FFF2-40B4-BE49-F238E27FC236}">
                  <a16:creationId xmlns:a16="http://schemas.microsoft.com/office/drawing/2014/main" id="{84C8FF9A-1DFE-5443-B94F-09F2CF137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80" name="AutoShape 147">
                <a:extLst>
                  <a:ext uri="{FF2B5EF4-FFF2-40B4-BE49-F238E27FC236}">
                    <a16:creationId xmlns:a16="http://schemas.microsoft.com/office/drawing/2014/main" id="{82A932A3-A2B5-9E4C-A00D-8314C870E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81" name="AutoShape 148">
                <a:extLst>
                  <a:ext uri="{FF2B5EF4-FFF2-40B4-BE49-F238E27FC236}">
                    <a16:creationId xmlns:a16="http://schemas.microsoft.com/office/drawing/2014/main" id="{7341616C-DDDB-6D4B-8BC1-1DE0014BB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456" name="Rectangle 149">
              <a:extLst>
                <a:ext uri="{FF2B5EF4-FFF2-40B4-BE49-F238E27FC236}">
                  <a16:creationId xmlns:a16="http://schemas.microsoft.com/office/drawing/2014/main" id="{3016CB06-5ED2-8E44-8314-CF9B8D929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457" name="Group 150">
              <a:extLst>
                <a:ext uri="{FF2B5EF4-FFF2-40B4-BE49-F238E27FC236}">
                  <a16:creationId xmlns:a16="http://schemas.microsoft.com/office/drawing/2014/main" id="{50CD732F-502F-EC4B-9B23-19C3F75FA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78" name="AutoShape 151">
                <a:extLst>
                  <a:ext uri="{FF2B5EF4-FFF2-40B4-BE49-F238E27FC236}">
                    <a16:creationId xmlns:a16="http://schemas.microsoft.com/office/drawing/2014/main" id="{A5BF82DD-4D73-B841-9282-B6B444B47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79" name="AutoShape 152">
                <a:extLst>
                  <a:ext uri="{FF2B5EF4-FFF2-40B4-BE49-F238E27FC236}">
                    <a16:creationId xmlns:a16="http://schemas.microsoft.com/office/drawing/2014/main" id="{507A60A5-AB7C-DA4B-BE79-74DC6F926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458" name="Rectangle 153">
              <a:extLst>
                <a:ext uri="{FF2B5EF4-FFF2-40B4-BE49-F238E27FC236}">
                  <a16:creationId xmlns:a16="http://schemas.microsoft.com/office/drawing/2014/main" id="{5585EA19-FC9A-834A-B1AA-AF0C3E6E4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59" name="Rectangle 154">
              <a:extLst>
                <a:ext uri="{FF2B5EF4-FFF2-40B4-BE49-F238E27FC236}">
                  <a16:creationId xmlns:a16="http://schemas.microsoft.com/office/drawing/2014/main" id="{770A4D2E-58C2-9F43-84EA-96616AE78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460" name="Group 155">
              <a:extLst>
                <a:ext uri="{FF2B5EF4-FFF2-40B4-BE49-F238E27FC236}">
                  <a16:creationId xmlns:a16="http://schemas.microsoft.com/office/drawing/2014/main" id="{602A4FA5-6127-4C42-9200-FC441714E0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6" name="AutoShape 156">
                <a:extLst>
                  <a:ext uri="{FF2B5EF4-FFF2-40B4-BE49-F238E27FC236}">
                    <a16:creationId xmlns:a16="http://schemas.microsoft.com/office/drawing/2014/main" id="{73B43881-7B88-5847-AA15-A459E12B9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77" name="AutoShape 157">
                <a:extLst>
                  <a:ext uri="{FF2B5EF4-FFF2-40B4-BE49-F238E27FC236}">
                    <a16:creationId xmlns:a16="http://schemas.microsoft.com/office/drawing/2014/main" id="{37DBC077-A3AE-D44B-9982-D763ECC92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461" name="Freeform 158">
              <a:extLst>
                <a:ext uri="{FF2B5EF4-FFF2-40B4-BE49-F238E27FC236}">
                  <a16:creationId xmlns:a16="http://schemas.microsoft.com/office/drawing/2014/main" id="{0AEC409A-A2D1-D245-802C-A7B4A1016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grpSp>
          <p:nvGrpSpPr>
            <p:cNvPr id="462" name="Group 159">
              <a:extLst>
                <a:ext uri="{FF2B5EF4-FFF2-40B4-BE49-F238E27FC236}">
                  <a16:creationId xmlns:a16="http://schemas.microsoft.com/office/drawing/2014/main" id="{E58988BF-BC15-CF49-B8AB-9F97656C22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74" name="AutoShape 160">
                <a:extLst>
                  <a:ext uri="{FF2B5EF4-FFF2-40B4-BE49-F238E27FC236}">
                    <a16:creationId xmlns:a16="http://schemas.microsoft.com/office/drawing/2014/main" id="{553DFEC9-BE4E-F94F-936E-C02FFF6CA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75" name="AutoShape 161">
                <a:extLst>
                  <a:ext uri="{FF2B5EF4-FFF2-40B4-BE49-F238E27FC236}">
                    <a16:creationId xmlns:a16="http://schemas.microsoft.com/office/drawing/2014/main" id="{43F743B0-ACF4-3044-851A-E1B9884FB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463" name="Rectangle 162">
              <a:extLst>
                <a:ext uri="{FF2B5EF4-FFF2-40B4-BE49-F238E27FC236}">
                  <a16:creationId xmlns:a16="http://schemas.microsoft.com/office/drawing/2014/main" id="{D8E8B7E8-6654-B141-80DA-2835D0B6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64" name="Freeform 163">
              <a:extLst>
                <a:ext uri="{FF2B5EF4-FFF2-40B4-BE49-F238E27FC236}">
                  <a16:creationId xmlns:a16="http://schemas.microsoft.com/office/drawing/2014/main" id="{D47EC0CE-C9B0-544A-9F08-C5F74F5F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65" name="Freeform 164">
              <a:extLst>
                <a:ext uri="{FF2B5EF4-FFF2-40B4-BE49-F238E27FC236}">
                  <a16:creationId xmlns:a16="http://schemas.microsoft.com/office/drawing/2014/main" id="{B6D47BE6-5EDC-5F46-927F-15C18BEEF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66" name="Oval 165">
              <a:extLst>
                <a:ext uri="{FF2B5EF4-FFF2-40B4-BE49-F238E27FC236}">
                  <a16:creationId xmlns:a16="http://schemas.microsoft.com/office/drawing/2014/main" id="{8699D5C3-5E2F-5247-88B1-8F7A5068C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67" name="Freeform 166">
              <a:extLst>
                <a:ext uri="{FF2B5EF4-FFF2-40B4-BE49-F238E27FC236}">
                  <a16:creationId xmlns:a16="http://schemas.microsoft.com/office/drawing/2014/main" id="{BFDFB342-1B41-3C40-90B5-38F87DB8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sp>
          <p:nvSpPr>
            <p:cNvPr id="468" name="AutoShape 167">
              <a:extLst>
                <a:ext uri="{FF2B5EF4-FFF2-40B4-BE49-F238E27FC236}">
                  <a16:creationId xmlns:a16="http://schemas.microsoft.com/office/drawing/2014/main" id="{31EB1D99-2A1B-554C-9D92-24AAEE38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69" name="AutoShape 168">
              <a:extLst>
                <a:ext uri="{FF2B5EF4-FFF2-40B4-BE49-F238E27FC236}">
                  <a16:creationId xmlns:a16="http://schemas.microsoft.com/office/drawing/2014/main" id="{8C5166EA-4FF3-CA4A-89EF-1C89946C1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70" name="Oval 169">
              <a:extLst>
                <a:ext uri="{FF2B5EF4-FFF2-40B4-BE49-F238E27FC236}">
                  <a16:creationId xmlns:a16="http://schemas.microsoft.com/office/drawing/2014/main" id="{45C4253F-C6AA-8F41-9A95-B86147446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71" name="Oval 170">
              <a:extLst>
                <a:ext uri="{FF2B5EF4-FFF2-40B4-BE49-F238E27FC236}">
                  <a16:creationId xmlns:a16="http://schemas.microsoft.com/office/drawing/2014/main" id="{99937982-831E-014F-8011-31A38BC3F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35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472" name="Oval 171">
              <a:extLst>
                <a:ext uri="{FF2B5EF4-FFF2-40B4-BE49-F238E27FC236}">
                  <a16:creationId xmlns:a16="http://schemas.microsoft.com/office/drawing/2014/main" id="{CB852665-8191-CD47-9BBA-1BC8D1E83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73" name="Rectangle 172">
              <a:extLst>
                <a:ext uri="{FF2B5EF4-FFF2-40B4-BE49-F238E27FC236}">
                  <a16:creationId xmlns:a16="http://schemas.microsoft.com/office/drawing/2014/main" id="{A5B541A2-F634-3F4C-920F-8FEB757F7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</p:grpSp>
      <p:sp>
        <p:nvSpPr>
          <p:cNvPr id="482" name="Rectangle 4">
            <a:extLst>
              <a:ext uri="{FF2B5EF4-FFF2-40B4-BE49-F238E27FC236}">
                <a16:creationId xmlns:a16="http://schemas.microsoft.com/office/drawing/2014/main" id="{885A2C98-F0C5-4F48-973F-FB58C481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155" y="1021317"/>
            <a:ext cx="6112669" cy="41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en-US" sz="2100" i="1" baseline="-250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US" sz="21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&lt; </a:t>
            </a:r>
            <a:r>
              <a:rPr lang="en-US" altLang="en-US" sz="2100" i="1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R</a:t>
            </a:r>
            <a:r>
              <a:rPr lang="en-US" altLang="en-US" sz="2100" i="1" baseline="-25000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c</a:t>
            </a:r>
            <a:r>
              <a:rPr lang="en-US" altLang="en-US" sz="2100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en-US" sz="2100" dirty="0">
                <a:ea typeface="ＭＳ Ｐゴシック" panose="020B0600070205080204" pitchFamily="34" charset="-128"/>
              </a:rPr>
              <a:t>What is average end-end throughput?</a:t>
            </a:r>
          </a:p>
        </p:txBody>
      </p:sp>
      <p:grpSp>
        <p:nvGrpSpPr>
          <p:cNvPr id="483" name="Group 34">
            <a:extLst>
              <a:ext uri="{FF2B5EF4-FFF2-40B4-BE49-F238E27FC236}">
                <a16:creationId xmlns:a16="http://schemas.microsoft.com/office/drawing/2014/main" id="{1D7513B2-BA27-CA43-AABC-A66648BC2AFF}"/>
              </a:ext>
            </a:extLst>
          </p:cNvPr>
          <p:cNvGrpSpPr>
            <a:grpSpLocks/>
          </p:cNvGrpSpPr>
          <p:nvPr/>
        </p:nvGrpSpPr>
        <p:grpSpPr bwMode="auto">
          <a:xfrm>
            <a:off x="2059014" y="1757742"/>
            <a:ext cx="1602581" cy="230981"/>
            <a:chOff x="2249" y="3430"/>
            <a:chExt cx="1389" cy="256"/>
          </a:xfrm>
        </p:grpSpPr>
        <p:sp>
          <p:nvSpPr>
            <p:cNvPr id="484" name="Oval 35">
              <a:extLst>
                <a:ext uri="{FF2B5EF4-FFF2-40B4-BE49-F238E27FC236}">
                  <a16:creationId xmlns:a16="http://schemas.microsoft.com/office/drawing/2014/main" id="{5340CEA1-5B2B-9B46-9AAF-4147EFCAE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5" name="Rectangle 36">
              <a:extLst>
                <a:ext uri="{FF2B5EF4-FFF2-40B4-BE49-F238E27FC236}">
                  <a16:creationId xmlns:a16="http://schemas.microsoft.com/office/drawing/2014/main" id="{18778160-DBBA-3B4C-9F3C-5804D0719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6" name="Oval 37">
              <a:extLst>
                <a:ext uri="{FF2B5EF4-FFF2-40B4-BE49-F238E27FC236}">
                  <a16:creationId xmlns:a16="http://schemas.microsoft.com/office/drawing/2014/main" id="{8BF0591E-F2E4-8A4C-A92C-C81344F40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487" name="Rectangle 38">
              <a:extLst>
                <a:ext uri="{FF2B5EF4-FFF2-40B4-BE49-F238E27FC236}">
                  <a16:creationId xmlns:a16="http://schemas.microsoft.com/office/drawing/2014/main" id="{E207FABE-8267-D846-9F45-80EB05CCD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 dirty="0"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88" name="Text Box 39">
            <a:extLst>
              <a:ext uri="{FF2B5EF4-FFF2-40B4-BE49-F238E27FC236}">
                <a16:creationId xmlns:a16="http://schemas.microsoft.com/office/drawing/2014/main" id="{957E7C76-675E-574B-8ACD-614388DA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661" y="1703056"/>
            <a:ext cx="19395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000000"/>
                </a:solidFill>
                <a:latin typeface="+mn-lt"/>
              </a:rPr>
              <a:t>  R</a:t>
            </a:r>
            <a:r>
              <a:rPr lang="en-US" altLang="en-US" sz="2100" baseline="-250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altLang="en-US" sz="1500" baseline="-25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en-US" sz="1500" dirty="0">
                <a:solidFill>
                  <a:srgbClr val="000000"/>
                </a:solidFill>
                <a:latin typeface="+mn-lt"/>
              </a:rPr>
              <a:t>bits/sec</a:t>
            </a:r>
          </a:p>
        </p:txBody>
      </p:sp>
      <p:sp>
        <p:nvSpPr>
          <p:cNvPr id="489" name="AutoShape 42">
            <a:extLst>
              <a:ext uri="{FF2B5EF4-FFF2-40B4-BE49-F238E27FC236}">
                <a16:creationId xmlns:a16="http://schemas.microsoft.com/office/drawing/2014/main" id="{8A9CF8E3-1601-CD45-8200-B1516EA3BB3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50604" y="1583910"/>
            <a:ext cx="671513" cy="4238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ea typeface="ＭＳ Ｐゴシック" panose="020B0600070205080204" pitchFamily="34" charset="-128"/>
            </a:endParaRPr>
          </a:p>
        </p:txBody>
      </p:sp>
      <p:sp>
        <p:nvSpPr>
          <p:cNvPr id="490" name="AutoShape 43">
            <a:extLst>
              <a:ext uri="{FF2B5EF4-FFF2-40B4-BE49-F238E27FC236}">
                <a16:creationId xmlns:a16="http://schemas.microsoft.com/office/drawing/2014/main" id="{ED879A95-B645-8B4D-89AF-6D1789AF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188" y="1738692"/>
            <a:ext cx="706218" cy="284560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491" name="Group 54">
            <a:extLst>
              <a:ext uri="{FF2B5EF4-FFF2-40B4-BE49-F238E27FC236}">
                <a16:creationId xmlns:a16="http://schemas.microsoft.com/office/drawing/2014/main" id="{5C873AA0-FFD9-7542-BED1-8B7A71AB1C1E}"/>
              </a:ext>
            </a:extLst>
          </p:cNvPr>
          <p:cNvGrpSpPr>
            <a:grpSpLocks/>
          </p:cNvGrpSpPr>
          <p:nvPr/>
        </p:nvGrpSpPr>
        <p:grpSpPr bwMode="auto">
          <a:xfrm>
            <a:off x="4589093" y="1657729"/>
            <a:ext cx="1933205" cy="427435"/>
            <a:chOff x="3130" y="3069"/>
            <a:chExt cx="1765" cy="366"/>
          </a:xfrm>
        </p:grpSpPr>
        <p:grpSp>
          <p:nvGrpSpPr>
            <p:cNvPr id="492" name="Group 45">
              <a:extLst>
                <a:ext uri="{FF2B5EF4-FFF2-40B4-BE49-F238E27FC236}">
                  <a16:creationId xmlns:a16="http://schemas.microsoft.com/office/drawing/2014/main" id="{97D274BB-C29B-ED4E-859A-927860A3F5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494" name="Oval 46">
                <a:extLst>
                  <a:ext uri="{FF2B5EF4-FFF2-40B4-BE49-F238E27FC236}">
                    <a16:creationId xmlns:a16="http://schemas.microsoft.com/office/drawing/2014/main" id="{2EC17BEE-E58A-6140-B989-B0CDD1C1A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95" name="Rectangle 47">
                <a:extLst>
                  <a:ext uri="{FF2B5EF4-FFF2-40B4-BE49-F238E27FC236}">
                    <a16:creationId xmlns:a16="http://schemas.microsoft.com/office/drawing/2014/main" id="{AD336F13-B720-7341-B116-DA4D9171B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96" name="Oval 48">
                <a:extLst>
                  <a:ext uri="{FF2B5EF4-FFF2-40B4-BE49-F238E27FC236}">
                    <a16:creationId xmlns:a16="http://schemas.microsoft.com/office/drawing/2014/main" id="{4B7EF7CF-26D6-F04C-A388-9C2DE746E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497" name="Rectangle 49">
                <a:extLst>
                  <a:ext uri="{FF2B5EF4-FFF2-40B4-BE49-F238E27FC236}">
                    <a16:creationId xmlns:a16="http://schemas.microsoft.com/office/drawing/2014/main" id="{604E850F-FAD3-D34F-8D0B-B1F5F12A4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93" name="Text Box 50">
              <a:extLst>
                <a:ext uri="{FF2B5EF4-FFF2-40B4-BE49-F238E27FC236}">
                  <a16:creationId xmlns:a16="http://schemas.microsoft.com/office/drawing/2014/main" id="{48FDD660-FDC1-BC4D-AF14-61D75C0EB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3135"/>
              <a:ext cx="1702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5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sz="2100" baseline="-25000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en-US" altLang="en-US" sz="1500" baseline="-2500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500">
                  <a:solidFill>
                    <a:srgbClr val="000000"/>
                  </a:solidFill>
                  <a:latin typeface="+mn-lt"/>
                </a:rPr>
                <a:t>bits/sec</a:t>
              </a:r>
            </a:p>
          </p:txBody>
        </p:sp>
      </p:grpSp>
      <p:sp>
        <p:nvSpPr>
          <p:cNvPr id="498" name="Rectangle 56">
            <a:extLst>
              <a:ext uri="{FF2B5EF4-FFF2-40B4-BE49-F238E27FC236}">
                <a16:creationId xmlns:a16="http://schemas.microsoft.com/office/drawing/2014/main" id="{A7FBBFF4-7CCE-3745-9DBF-448559E7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39" y="2378093"/>
            <a:ext cx="6047185" cy="415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</a:pPr>
            <a:r>
              <a:rPr lang="en-US" altLang="en-US" sz="2100" i="1" dirty="0">
                <a:solidFill>
                  <a:srgbClr val="CC0000"/>
                </a:solidFill>
                <a:latin typeface="+mn-lt"/>
              </a:rPr>
              <a:t>R</a:t>
            </a:r>
            <a:r>
              <a:rPr lang="en-US" altLang="en-US" sz="2100" i="1" baseline="-25000" dirty="0">
                <a:solidFill>
                  <a:srgbClr val="CC0000"/>
                </a:solidFill>
                <a:latin typeface="+mn-lt"/>
              </a:rPr>
              <a:t>s</a:t>
            </a:r>
            <a:r>
              <a:rPr lang="en-US" altLang="en-US" sz="2100" i="1" dirty="0">
                <a:solidFill>
                  <a:srgbClr val="CC0000"/>
                </a:solidFill>
                <a:latin typeface="+mn-lt"/>
              </a:rPr>
              <a:t> &gt; </a:t>
            </a:r>
            <a:r>
              <a:rPr lang="en-US" altLang="en-US" sz="2100" i="1" dirty="0" err="1">
                <a:solidFill>
                  <a:srgbClr val="CC0000"/>
                </a:solidFill>
                <a:latin typeface="+mn-lt"/>
              </a:rPr>
              <a:t>R</a:t>
            </a:r>
            <a:r>
              <a:rPr lang="en-US" altLang="en-US" sz="2100" i="1" baseline="-25000" dirty="0" err="1">
                <a:solidFill>
                  <a:srgbClr val="CC0000"/>
                </a:solidFill>
                <a:latin typeface="+mn-lt"/>
              </a:rPr>
              <a:t>c</a:t>
            </a:r>
            <a:r>
              <a:rPr lang="en-US" altLang="en-US" sz="2100" i="1" dirty="0">
                <a:solidFill>
                  <a:srgbClr val="FF3300"/>
                </a:solidFill>
                <a:latin typeface="+mn-lt"/>
              </a:rPr>
              <a:t>  </a:t>
            </a:r>
            <a:r>
              <a:rPr lang="en-US" altLang="en-US" sz="2100" dirty="0">
                <a:solidFill>
                  <a:srgbClr val="000000"/>
                </a:solidFill>
                <a:latin typeface="+mn-lt"/>
              </a:rPr>
              <a:t>What is average end-end throughput?</a:t>
            </a:r>
          </a:p>
        </p:txBody>
      </p:sp>
      <p:grpSp>
        <p:nvGrpSpPr>
          <p:cNvPr id="499" name="Group 209">
            <a:extLst>
              <a:ext uri="{FF2B5EF4-FFF2-40B4-BE49-F238E27FC236}">
                <a16:creationId xmlns:a16="http://schemas.microsoft.com/office/drawing/2014/main" id="{79A28CBF-CC98-364E-9CA1-5406DF2D3C3F}"/>
              </a:ext>
            </a:extLst>
          </p:cNvPr>
          <p:cNvGrpSpPr>
            <a:grpSpLocks/>
          </p:cNvGrpSpPr>
          <p:nvPr/>
        </p:nvGrpSpPr>
        <p:grpSpPr bwMode="auto">
          <a:xfrm>
            <a:off x="995744" y="3833428"/>
            <a:ext cx="7200964" cy="1141812"/>
            <a:chOff x="186" y="3246"/>
            <a:chExt cx="5573" cy="959"/>
          </a:xfrm>
        </p:grpSpPr>
        <p:sp>
          <p:nvSpPr>
            <p:cNvPr id="500" name="Rectangle 102">
              <a:extLst>
                <a:ext uri="{FF2B5EF4-FFF2-40B4-BE49-F238E27FC236}">
                  <a16:creationId xmlns:a16="http://schemas.microsoft.com/office/drawing/2014/main" id="{A6EA76B5-34A9-BA4F-919C-79EC2F39D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01" name="Text Box 101">
              <a:extLst>
                <a:ext uri="{FF2B5EF4-FFF2-40B4-BE49-F238E27FC236}">
                  <a16:creationId xmlns:a16="http://schemas.microsoft.com/office/drawing/2014/main" id="{EC6D6C58-6370-D841-9FF4-E86B32210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" y="3585"/>
              <a:ext cx="5521" cy="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2100" dirty="0">
                  <a:solidFill>
                    <a:srgbClr val="000000"/>
                  </a:solidFill>
                  <a:latin typeface="+mn-lt"/>
                </a:rPr>
                <a:t>link on end-end path that constrains  end-end throughput</a:t>
              </a:r>
            </a:p>
          </p:txBody>
        </p:sp>
        <p:sp>
          <p:nvSpPr>
            <p:cNvPr id="502" name="Text Box 104">
              <a:extLst>
                <a:ext uri="{FF2B5EF4-FFF2-40B4-BE49-F238E27FC236}">
                  <a16:creationId xmlns:a16="http://schemas.microsoft.com/office/drawing/2014/main" id="{999DDB29-B5E4-4144-8D94-861082F6D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3246"/>
              <a:ext cx="1629" cy="3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2100" i="1" dirty="0">
                  <a:solidFill>
                    <a:srgbClr val="CC0000"/>
                  </a:solidFill>
                  <a:latin typeface="+mn-lt"/>
                </a:rPr>
                <a:t>bottleneck link</a:t>
              </a:r>
            </a:p>
          </p:txBody>
        </p:sp>
      </p:grpSp>
      <p:sp>
        <p:nvSpPr>
          <p:cNvPr id="503" name="AutoShape 51">
            <a:extLst>
              <a:ext uri="{FF2B5EF4-FFF2-40B4-BE49-F238E27FC236}">
                <a16:creationId xmlns:a16="http://schemas.microsoft.com/office/drawing/2014/main" id="{ADA15BF7-93C3-524C-B9B7-716C2BEB0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785" y="1733929"/>
            <a:ext cx="1023938" cy="28575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504" name="Group 132">
            <a:extLst>
              <a:ext uri="{FF2B5EF4-FFF2-40B4-BE49-F238E27FC236}">
                <a16:creationId xmlns:a16="http://schemas.microsoft.com/office/drawing/2014/main" id="{B3F5B0C7-9CEB-E049-B0C3-0F00703C408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94011" y="1618439"/>
            <a:ext cx="653654" cy="664369"/>
            <a:chOff x="-44" y="1473"/>
            <a:chExt cx="981" cy="1105"/>
          </a:xfrm>
        </p:grpSpPr>
        <p:pic>
          <p:nvPicPr>
            <p:cNvPr id="505" name="Picture 133" descr="desktop_computer_stylized_medium">
              <a:extLst>
                <a:ext uri="{FF2B5EF4-FFF2-40B4-BE49-F238E27FC236}">
                  <a16:creationId xmlns:a16="http://schemas.microsoft.com/office/drawing/2014/main" id="{9D7414AB-58AD-7D46-95D7-2D5B55309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6" name="Freeform 134">
              <a:extLst>
                <a:ext uri="{FF2B5EF4-FFF2-40B4-BE49-F238E27FC236}">
                  <a16:creationId xmlns:a16="http://schemas.microsoft.com/office/drawing/2014/main" id="{D5C4B243-FAF4-7842-9BC1-63CB23F731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507" name="AutoShape 327">
            <a:extLst>
              <a:ext uri="{FF2B5EF4-FFF2-40B4-BE49-F238E27FC236}">
                <a16:creationId xmlns:a16="http://schemas.microsoft.com/office/drawing/2014/main" id="{2F56CE5E-CD88-F243-A5D6-997F5D7E1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120" y="1391029"/>
            <a:ext cx="305991" cy="32385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altLang="en-US" sz="18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508" name="Group 206">
            <a:extLst>
              <a:ext uri="{FF2B5EF4-FFF2-40B4-BE49-F238E27FC236}">
                <a16:creationId xmlns:a16="http://schemas.microsoft.com/office/drawing/2014/main" id="{DC9267E1-3EDB-E748-8467-2A9B485898A2}"/>
              </a:ext>
            </a:extLst>
          </p:cNvPr>
          <p:cNvGrpSpPr>
            <a:grpSpLocks/>
          </p:cNvGrpSpPr>
          <p:nvPr/>
        </p:nvGrpSpPr>
        <p:grpSpPr bwMode="auto">
          <a:xfrm>
            <a:off x="1431554" y="2792586"/>
            <a:ext cx="6094809" cy="875110"/>
            <a:chOff x="775" y="2474"/>
            <a:chExt cx="5119" cy="735"/>
          </a:xfrm>
        </p:grpSpPr>
        <p:grpSp>
          <p:nvGrpSpPr>
            <p:cNvPr id="509" name="Group 173">
              <a:extLst>
                <a:ext uri="{FF2B5EF4-FFF2-40B4-BE49-F238E27FC236}">
                  <a16:creationId xmlns:a16="http://schemas.microsoft.com/office/drawing/2014/main" id="{017DEB16-2C42-DB4F-AC8D-2F24A202D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540" name="Freeform 174">
                <a:extLst>
                  <a:ext uri="{FF2B5EF4-FFF2-40B4-BE49-F238E27FC236}">
                    <a16:creationId xmlns:a16="http://schemas.microsoft.com/office/drawing/2014/main" id="{7071AEAE-A73F-D243-B123-B7B1D9BDF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1" name="Rectangle 175">
                <a:extLst>
                  <a:ext uri="{FF2B5EF4-FFF2-40B4-BE49-F238E27FC236}">
                    <a16:creationId xmlns:a16="http://schemas.microsoft.com/office/drawing/2014/main" id="{70DE3468-CF53-0346-8D80-E9385C7F7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42" name="Freeform 176">
                <a:extLst>
                  <a:ext uri="{FF2B5EF4-FFF2-40B4-BE49-F238E27FC236}">
                    <a16:creationId xmlns:a16="http://schemas.microsoft.com/office/drawing/2014/main" id="{ED311748-A5CC-494E-90AD-11746C8AC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3" name="Freeform 177">
                <a:extLst>
                  <a:ext uri="{FF2B5EF4-FFF2-40B4-BE49-F238E27FC236}">
                    <a16:creationId xmlns:a16="http://schemas.microsoft.com/office/drawing/2014/main" id="{8C78D907-80B8-AF4A-AB8A-5919F960D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4" name="Rectangle 178">
                <a:extLst>
                  <a:ext uri="{FF2B5EF4-FFF2-40B4-BE49-F238E27FC236}">
                    <a16:creationId xmlns:a16="http://schemas.microsoft.com/office/drawing/2014/main" id="{894B83D8-FCC8-084F-9660-A8CED18F9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545" name="Group 179">
                <a:extLst>
                  <a:ext uri="{FF2B5EF4-FFF2-40B4-BE49-F238E27FC236}">
                    <a16:creationId xmlns:a16="http://schemas.microsoft.com/office/drawing/2014/main" id="{FA4C49FB-332B-1C42-B0C2-F3D370F081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70" name="AutoShape 180">
                  <a:extLst>
                    <a:ext uri="{FF2B5EF4-FFF2-40B4-BE49-F238E27FC236}">
                      <a16:creationId xmlns:a16="http://schemas.microsoft.com/office/drawing/2014/main" id="{6BD6D33C-E791-F149-8310-5B3D390F6C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571" name="AutoShape 181">
                  <a:extLst>
                    <a:ext uri="{FF2B5EF4-FFF2-40B4-BE49-F238E27FC236}">
                      <a16:creationId xmlns:a16="http://schemas.microsoft.com/office/drawing/2014/main" id="{5E71277F-C04C-3142-838B-6EE506CB21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546" name="Rectangle 182">
                <a:extLst>
                  <a:ext uri="{FF2B5EF4-FFF2-40B4-BE49-F238E27FC236}">
                    <a16:creationId xmlns:a16="http://schemas.microsoft.com/office/drawing/2014/main" id="{24A16DC6-2460-DC4F-994B-EF8DC5F2A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547" name="Group 183">
                <a:extLst>
                  <a:ext uri="{FF2B5EF4-FFF2-40B4-BE49-F238E27FC236}">
                    <a16:creationId xmlns:a16="http://schemas.microsoft.com/office/drawing/2014/main" id="{98E7E366-D731-D346-83EB-43C23A31E5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68" name="AutoShape 184">
                  <a:extLst>
                    <a:ext uri="{FF2B5EF4-FFF2-40B4-BE49-F238E27FC236}">
                      <a16:creationId xmlns:a16="http://schemas.microsoft.com/office/drawing/2014/main" id="{12E76A99-F292-4942-B7EA-16F260F71E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569" name="AutoShape 185">
                  <a:extLst>
                    <a:ext uri="{FF2B5EF4-FFF2-40B4-BE49-F238E27FC236}">
                      <a16:creationId xmlns:a16="http://schemas.microsoft.com/office/drawing/2014/main" id="{981E5C21-5C45-464D-B45B-155529C9BC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548" name="Rectangle 186">
                <a:extLst>
                  <a:ext uri="{FF2B5EF4-FFF2-40B4-BE49-F238E27FC236}">
                    <a16:creationId xmlns:a16="http://schemas.microsoft.com/office/drawing/2014/main" id="{464DC274-CDF8-6E47-9806-008A0A6CC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49" name="Rectangle 187">
                <a:extLst>
                  <a:ext uri="{FF2B5EF4-FFF2-40B4-BE49-F238E27FC236}">
                    <a16:creationId xmlns:a16="http://schemas.microsoft.com/office/drawing/2014/main" id="{98AC22BF-B25F-6142-87DB-E850C47D1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550" name="Group 188">
                <a:extLst>
                  <a:ext uri="{FF2B5EF4-FFF2-40B4-BE49-F238E27FC236}">
                    <a16:creationId xmlns:a16="http://schemas.microsoft.com/office/drawing/2014/main" id="{7D330731-B2DD-FA40-90B0-9AF6F55A2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6" name="AutoShape 189">
                  <a:extLst>
                    <a:ext uri="{FF2B5EF4-FFF2-40B4-BE49-F238E27FC236}">
                      <a16:creationId xmlns:a16="http://schemas.microsoft.com/office/drawing/2014/main" id="{9DE72B9D-63C0-864A-8FD9-1B399D8E81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567" name="AutoShape 190">
                  <a:extLst>
                    <a:ext uri="{FF2B5EF4-FFF2-40B4-BE49-F238E27FC236}">
                      <a16:creationId xmlns:a16="http://schemas.microsoft.com/office/drawing/2014/main" id="{E1DF0355-58D1-FF48-A296-D36811A78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551" name="Freeform 191">
                <a:extLst>
                  <a:ext uri="{FF2B5EF4-FFF2-40B4-BE49-F238E27FC236}">
                    <a16:creationId xmlns:a16="http://schemas.microsoft.com/office/drawing/2014/main" id="{0F425FAD-60C7-8D46-AC04-D61CF1C12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552" name="Group 192">
                <a:extLst>
                  <a:ext uri="{FF2B5EF4-FFF2-40B4-BE49-F238E27FC236}">
                    <a16:creationId xmlns:a16="http://schemas.microsoft.com/office/drawing/2014/main" id="{DD061A78-E747-F742-AAA6-0EBB1F0472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64" name="AutoShape 193">
                  <a:extLst>
                    <a:ext uri="{FF2B5EF4-FFF2-40B4-BE49-F238E27FC236}">
                      <a16:creationId xmlns:a16="http://schemas.microsoft.com/office/drawing/2014/main" id="{D1A721C9-09F8-CA49-8768-A4D6045775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565" name="AutoShape 194">
                  <a:extLst>
                    <a:ext uri="{FF2B5EF4-FFF2-40B4-BE49-F238E27FC236}">
                      <a16:creationId xmlns:a16="http://schemas.microsoft.com/office/drawing/2014/main" id="{62ACD839-F2C5-9845-AB4E-C5BA19C2E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18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553" name="Rectangle 195">
                <a:extLst>
                  <a:ext uri="{FF2B5EF4-FFF2-40B4-BE49-F238E27FC236}">
                    <a16:creationId xmlns:a16="http://schemas.microsoft.com/office/drawing/2014/main" id="{372A6132-E5E3-D940-8B20-1C9F499C3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54" name="Freeform 196">
                <a:extLst>
                  <a:ext uri="{FF2B5EF4-FFF2-40B4-BE49-F238E27FC236}">
                    <a16:creationId xmlns:a16="http://schemas.microsoft.com/office/drawing/2014/main" id="{7FB8C692-1BF5-7148-BD0F-82D246066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55" name="Freeform 197">
                <a:extLst>
                  <a:ext uri="{FF2B5EF4-FFF2-40B4-BE49-F238E27FC236}">
                    <a16:creationId xmlns:a16="http://schemas.microsoft.com/office/drawing/2014/main" id="{B0320B70-5119-4C4A-9DDB-B708D3E77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56" name="Oval 198">
                <a:extLst>
                  <a:ext uri="{FF2B5EF4-FFF2-40B4-BE49-F238E27FC236}">
                    <a16:creationId xmlns:a16="http://schemas.microsoft.com/office/drawing/2014/main" id="{29E3337B-80AF-FE42-A33A-1B58F9866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57" name="Freeform 199">
                <a:extLst>
                  <a:ext uri="{FF2B5EF4-FFF2-40B4-BE49-F238E27FC236}">
                    <a16:creationId xmlns:a16="http://schemas.microsoft.com/office/drawing/2014/main" id="{09D40D09-BC4A-744B-BB47-8545C1DE0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58" name="AutoShape 200">
                <a:extLst>
                  <a:ext uri="{FF2B5EF4-FFF2-40B4-BE49-F238E27FC236}">
                    <a16:creationId xmlns:a16="http://schemas.microsoft.com/office/drawing/2014/main" id="{BF852A65-EDBF-594C-9A10-757D0496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59" name="AutoShape 201">
                <a:extLst>
                  <a:ext uri="{FF2B5EF4-FFF2-40B4-BE49-F238E27FC236}">
                    <a16:creationId xmlns:a16="http://schemas.microsoft.com/office/drawing/2014/main" id="{02863060-88F5-664A-BDBC-D1E1E1A55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60" name="Oval 202">
                <a:extLst>
                  <a:ext uri="{FF2B5EF4-FFF2-40B4-BE49-F238E27FC236}">
                    <a16:creationId xmlns:a16="http://schemas.microsoft.com/office/drawing/2014/main" id="{5E04EF61-FED3-3541-ACA1-9693CBB7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61" name="Oval 203">
                <a:extLst>
                  <a:ext uri="{FF2B5EF4-FFF2-40B4-BE49-F238E27FC236}">
                    <a16:creationId xmlns:a16="http://schemas.microsoft.com/office/drawing/2014/main" id="{44A7BC25-D6E5-A44C-855D-AA7C5150A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35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562" name="Oval 204">
                <a:extLst>
                  <a:ext uri="{FF2B5EF4-FFF2-40B4-BE49-F238E27FC236}">
                    <a16:creationId xmlns:a16="http://schemas.microsoft.com/office/drawing/2014/main" id="{14F564A5-40D1-4A43-8039-CF1042677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63" name="Rectangle 205">
                <a:extLst>
                  <a:ext uri="{FF2B5EF4-FFF2-40B4-BE49-F238E27FC236}">
                    <a16:creationId xmlns:a16="http://schemas.microsoft.com/office/drawing/2014/main" id="{1AE270E5-AC06-504B-BF97-435964C8B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sp>
          <p:nvSpPr>
            <p:cNvPr id="510" name="Line 57">
              <a:extLst>
                <a:ext uri="{FF2B5EF4-FFF2-40B4-BE49-F238E27FC236}">
                  <a16:creationId xmlns:a16="http://schemas.microsoft.com/office/drawing/2014/main" id="{E30AFCCA-07F4-A740-BD4B-5B28F2D98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grpSp>
          <p:nvGrpSpPr>
            <p:cNvPr id="511" name="Group 58">
              <a:extLst>
                <a:ext uri="{FF2B5EF4-FFF2-40B4-BE49-F238E27FC236}">
                  <a16:creationId xmlns:a16="http://schemas.microsoft.com/office/drawing/2014/main" id="{C24A23EE-8313-D64E-BD4F-3BFCD778F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2870"/>
              <a:ext cx="607" cy="108"/>
              <a:chOff x="3603" y="243"/>
              <a:chExt cx="357" cy="106"/>
            </a:xfrm>
          </p:grpSpPr>
          <p:sp>
            <p:nvSpPr>
              <p:cNvPr id="531" name="Line 60">
                <a:extLst>
                  <a:ext uri="{FF2B5EF4-FFF2-40B4-BE49-F238E27FC236}">
                    <a16:creationId xmlns:a16="http://schemas.microsoft.com/office/drawing/2014/main" id="{1E8C1397-8F48-5E4D-BC95-2AEEFF432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32" name="Line 61">
                <a:extLst>
                  <a:ext uri="{FF2B5EF4-FFF2-40B4-BE49-F238E27FC236}">
                    <a16:creationId xmlns:a16="http://schemas.microsoft.com/office/drawing/2014/main" id="{A9B3CF61-A592-AA42-AE21-C6F6DDBF0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33" name="Rectangle 62">
                <a:extLst>
                  <a:ext uri="{FF2B5EF4-FFF2-40B4-BE49-F238E27FC236}">
                    <a16:creationId xmlns:a16="http://schemas.microsoft.com/office/drawing/2014/main" id="{BD11C863-452F-AE46-9242-58534859C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534" name="Group 64">
                <a:extLst>
                  <a:ext uri="{FF2B5EF4-FFF2-40B4-BE49-F238E27FC236}">
                    <a16:creationId xmlns:a16="http://schemas.microsoft.com/office/drawing/2014/main" id="{A74AB26D-917E-1C43-8497-203578F54C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9" y="248"/>
                <a:ext cx="119" cy="65"/>
                <a:chOff x="2894" y="850"/>
                <a:chExt cx="94" cy="96"/>
              </a:xfrm>
            </p:grpSpPr>
            <p:sp>
              <p:nvSpPr>
                <p:cNvPr id="538" name="Line 66">
                  <a:extLst>
                    <a:ext uri="{FF2B5EF4-FFF2-40B4-BE49-F238E27FC236}">
                      <a16:creationId xmlns:a16="http://schemas.microsoft.com/office/drawing/2014/main" id="{B0ECEE3F-0D27-9E45-AD59-E3E44736B1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800"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539" name="Line 67">
                  <a:extLst>
                    <a:ext uri="{FF2B5EF4-FFF2-40B4-BE49-F238E27FC236}">
                      <a16:creationId xmlns:a16="http://schemas.microsoft.com/office/drawing/2014/main" id="{EB55E3DC-430D-5347-B8CC-570995919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800">
                    <a:ea typeface="ＭＳ Ｐゴシック" panose="020B0600070205080204" pitchFamily="34" charset="-128"/>
                  </a:endParaRPr>
                </a:p>
              </p:txBody>
            </p:sp>
          </p:grpSp>
          <p:grpSp>
            <p:nvGrpSpPr>
              <p:cNvPr id="535" name="Group 68">
                <a:extLst>
                  <a:ext uri="{FF2B5EF4-FFF2-40B4-BE49-F238E27FC236}">
                    <a16:creationId xmlns:a16="http://schemas.microsoft.com/office/drawing/2014/main" id="{EE23C2BF-5FE2-B644-AFE9-10E650F8E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9" y="243"/>
                <a:ext cx="124" cy="66"/>
                <a:chOff x="2848" y="848"/>
                <a:chExt cx="98" cy="98"/>
              </a:xfrm>
            </p:grpSpPr>
            <p:sp>
              <p:nvSpPr>
                <p:cNvPr id="536" name="Line 69">
                  <a:extLst>
                    <a:ext uri="{FF2B5EF4-FFF2-40B4-BE49-F238E27FC236}">
                      <a16:creationId xmlns:a16="http://schemas.microsoft.com/office/drawing/2014/main" id="{9CEA633F-1910-4F48-AE5F-C3F267226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800"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537" name="Line 71">
                  <a:extLst>
                    <a:ext uri="{FF2B5EF4-FFF2-40B4-BE49-F238E27FC236}">
                      <a16:creationId xmlns:a16="http://schemas.microsoft.com/office/drawing/2014/main" id="{0EEE95F5-28BD-5244-AB61-1D0DDB38D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sz="1800">
                    <a:ea typeface="ＭＳ Ｐゴシック" panose="020B0600070205080204" pitchFamily="34" charset="-128"/>
                  </a:endParaRPr>
                </a:p>
              </p:txBody>
            </p:sp>
          </p:grpSp>
        </p:grpSp>
        <p:sp>
          <p:nvSpPr>
            <p:cNvPr id="512" name="AutoShape 90">
              <a:extLst>
                <a:ext uri="{FF2B5EF4-FFF2-40B4-BE49-F238E27FC236}">
                  <a16:creationId xmlns:a16="http://schemas.microsoft.com/office/drawing/2014/main" id="{FBD38E77-2123-B941-9E3E-28175B8F1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" y="2812"/>
              <a:ext cx="609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grpSp>
          <p:nvGrpSpPr>
            <p:cNvPr id="513" name="Group 92">
              <a:extLst>
                <a:ext uri="{FF2B5EF4-FFF2-40B4-BE49-F238E27FC236}">
                  <a16:creationId xmlns:a16="http://schemas.microsoft.com/office/drawing/2014/main" id="{DDC22D0D-F03A-C14E-9613-D042E5ACF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527" name="Oval 93">
                <a:extLst>
                  <a:ext uri="{FF2B5EF4-FFF2-40B4-BE49-F238E27FC236}">
                    <a16:creationId xmlns:a16="http://schemas.microsoft.com/office/drawing/2014/main" id="{BD69A588-896C-CD4F-AF1D-5590117CB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6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8" name="Rectangle 94">
                <a:extLst>
                  <a:ext uri="{FF2B5EF4-FFF2-40B4-BE49-F238E27FC236}">
                    <a16:creationId xmlns:a16="http://schemas.microsoft.com/office/drawing/2014/main" id="{690BA38E-8C04-7D49-8A4D-F3EBD36EC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59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9" name="Oval 95">
                <a:extLst>
                  <a:ext uri="{FF2B5EF4-FFF2-40B4-BE49-F238E27FC236}">
                    <a16:creationId xmlns:a16="http://schemas.microsoft.com/office/drawing/2014/main" id="{F8BE880C-8629-DB4F-A98D-187B9D0ED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30" name="Rectangle 96">
                <a:extLst>
                  <a:ext uri="{FF2B5EF4-FFF2-40B4-BE49-F238E27FC236}">
                    <a16:creationId xmlns:a16="http://schemas.microsoft.com/office/drawing/2014/main" id="{CEA80494-8D88-874A-A154-9DE5B72CA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62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14" name="Text Box 97">
              <a:extLst>
                <a:ext uri="{FF2B5EF4-FFF2-40B4-BE49-F238E27FC236}">
                  <a16:creationId xmlns:a16="http://schemas.microsoft.com/office/drawing/2014/main" id="{1BBEC08D-B4E9-1244-8AFE-C137F04A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2811"/>
              <a:ext cx="141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sz="2100" baseline="-25000" dirty="0">
                  <a:solidFill>
                    <a:srgbClr val="000000"/>
                  </a:solidFill>
                  <a:latin typeface="+mn-lt"/>
                </a:rPr>
                <a:t>s</a:t>
              </a:r>
              <a:r>
                <a:rPr lang="en-US" altLang="en-US" sz="1500" baseline="-250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500" dirty="0">
                  <a:solidFill>
                    <a:srgbClr val="000000"/>
                  </a:solidFill>
                  <a:latin typeface="+mn-lt"/>
                </a:rPr>
                <a:t>bits/sec</a:t>
              </a:r>
            </a:p>
          </p:txBody>
        </p:sp>
        <p:grpSp>
          <p:nvGrpSpPr>
            <p:cNvPr id="515" name="Group 83">
              <a:extLst>
                <a:ext uri="{FF2B5EF4-FFF2-40B4-BE49-F238E27FC236}">
                  <a16:creationId xmlns:a16="http://schemas.microsoft.com/office/drawing/2014/main" id="{453C8714-A6D0-E346-8A5B-615EFB01A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523" name="Oval 84">
                <a:extLst>
                  <a:ext uri="{FF2B5EF4-FFF2-40B4-BE49-F238E27FC236}">
                    <a16:creationId xmlns:a16="http://schemas.microsoft.com/office/drawing/2014/main" id="{15F82EFE-0228-FC41-A2F8-7597E3503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4" name="Rectangle 85">
                <a:extLst>
                  <a:ext uri="{FF2B5EF4-FFF2-40B4-BE49-F238E27FC236}">
                    <a16:creationId xmlns:a16="http://schemas.microsoft.com/office/drawing/2014/main" id="{771827D6-CDB4-624D-966F-486A8E5AB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5" name="Oval 86">
                <a:extLst>
                  <a:ext uri="{FF2B5EF4-FFF2-40B4-BE49-F238E27FC236}">
                    <a16:creationId xmlns:a16="http://schemas.microsoft.com/office/drawing/2014/main" id="{2C2907FC-8499-0B4E-AA1A-72F4C0958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8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526" name="Rectangle 87">
                <a:extLst>
                  <a:ext uri="{FF2B5EF4-FFF2-40B4-BE49-F238E27FC236}">
                    <a16:creationId xmlns:a16="http://schemas.microsoft.com/office/drawing/2014/main" id="{0460CA79-401A-4C43-9BF8-05BF988CC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 dirty="0"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16" name="Text Box 88">
              <a:extLst>
                <a:ext uri="{FF2B5EF4-FFF2-40B4-BE49-F238E27FC236}">
                  <a16:creationId xmlns:a16="http://schemas.microsoft.com/office/drawing/2014/main" id="{2215F4CA-83FF-2F43-A883-32EAB81F1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780"/>
              <a:ext cx="162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en-US" altLang="en-US" sz="1500" dirty="0">
                  <a:solidFill>
                    <a:srgbClr val="000000"/>
                  </a:solidFill>
                  <a:latin typeface="+mn-lt"/>
                </a:rPr>
                <a:t>  </a:t>
              </a:r>
              <a:r>
                <a:rPr lang="en-US" altLang="en-US" sz="1500" dirty="0" err="1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sz="2100" baseline="-25000" dirty="0" err="1">
                  <a:solidFill>
                    <a:srgbClr val="000000"/>
                  </a:solidFill>
                  <a:latin typeface="+mn-lt"/>
                </a:rPr>
                <a:t>c</a:t>
              </a:r>
              <a:r>
                <a:rPr lang="en-US" altLang="en-US" sz="1500" baseline="-250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500" dirty="0">
                  <a:solidFill>
                    <a:srgbClr val="000000"/>
                  </a:solidFill>
                  <a:latin typeface="+mn-lt"/>
                </a:rPr>
                <a:t>bits/sec</a:t>
              </a:r>
            </a:p>
          </p:txBody>
        </p:sp>
        <p:sp>
          <p:nvSpPr>
            <p:cNvPr id="517" name="AutoShape 98">
              <a:extLst>
                <a:ext uri="{FF2B5EF4-FFF2-40B4-BE49-F238E27FC236}">
                  <a16:creationId xmlns:a16="http://schemas.microsoft.com/office/drawing/2014/main" id="{7823CDE2-367E-FB44-BE34-956568F7C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518" name="AutoShape 89">
              <a:extLst>
                <a:ext uri="{FF2B5EF4-FFF2-40B4-BE49-F238E27FC236}">
                  <a16:creationId xmlns:a16="http://schemas.microsoft.com/office/drawing/2014/main" id="{D3D3E169-3E07-3B4A-A3F9-E35D17B687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1800">
                <a:ea typeface="ＭＳ Ｐゴシック" panose="020B0600070205080204" pitchFamily="34" charset="-128"/>
              </a:endParaRPr>
            </a:p>
          </p:txBody>
        </p:sp>
        <p:grpSp>
          <p:nvGrpSpPr>
            <p:cNvPr id="519" name="Group 135">
              <a:extLst>
                <a:ext uri="{FF2B5EF4-FFF2-40B4-BE49-F238E27FC236}">
                  <a16:creationId xmlns:a16="http://schemas.microsoft.com/office/drawing/2014/main" id="{5A825877-D688-F24C-8395-71DDEA807E2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id="521" name="Picture 136" descr="desktop_computer_stylized_medium">
                <a:extLst>
                  <a:ext uri="{FF2B5EF4-FFF2-40B4-BE49-F238E27FC236}">
                    <a16:creationId xmlns:a16="http://schemas.microsoft.com/office/drawing/2014/main" id="{77517F6B-1BE4-F94A-BBF9-E9549AC02F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" name="Freeform 137">
                <a:extLst>
                  <a:ext uri="{FF2B5EF4-FFF2-40B4-BE49-F238E27FC236}">
                    <a16:creationId xmlns:a16="http://schemas.microsoft.com/office/drawing/2014/main" id="{85644D17-8C0F-0840-B111-635B1B4F10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1800"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520" name="AutoShape 327">
              <a:extLst>
                <a:ext uri="{FF2B5EF4-FFF2-40B4-BE49-F238E27FC236}">
                  <a16:creationId xmlns:a16="http://schemas.microsoft.com/office/drawing/2014/main" id="{26E8FD56-0A05-7348-855A-94527638E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</p:grpSp>
      <p:sp>
        <p:nvSpPr>
          <p:cNvPr id="14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97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Throughput: network scenario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BDC7F4-E0CA-5441-8A92-F3458106F4EB}"/>
              </a:ext>
            </a:extLst>
          </p:cNvPr>
          <p:cNvGrpSpPr/>
          <p:nvPr/>
        </p:nvGrpSpPr>
        <p:grpSpPr>
          <a:xfrm>
            <a:off x="800082" y="977873"/>
            <a:ext cx="3879457" cy="3789581"/>
            <a:chOff x="6095999" y="1390614"/>
            <a:chExt cx="5172609" cy="5052775"/>
          </a:xfrm>
        </p:grpSpPr>
        <p:sp>
          <p:nvSpPr>
            <p:cNvPr id="602" name="Text Box 44">
              <a:extLst>
                <a:ext uri="{FF2B5EF4-FFF2-40B4-BE49-F238E27FC236}">
                  <a16:creationId xmlns:a16="http://schemas.microsoft.com/office/drawing/2014/main" id="{42F82D1E-8ED4-4F44-9C3C-BDFDC8129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5999" y="5581614"/>
              <a:ext cx="5172609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10 connections (fairly) share backbone bottleneck link </a:t>
              </a:r>
              <a:r>
                <a:rPr lang="en-US" altLang="en-US" sz="1800" i="1" dirty="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sz="1800" baseline="-250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altLang="en-US" sz="1800" dirty="0">
                  <a:solidFill>
                    <a:srgbClr val="000000"/>
                  </a:solidFill>
                  <a:latin typeface="+mn-lt"/>
                </a:rPr>
                <a:t>bits/sec</a:t>
              </a:r>
            </a:p>
          </p:txBody>
        </p:sp>
        <p:sp>
          <p:nvSpPr>
            <p:cNvPr id="603" name="Freeform 296">
              <a:extLst>
                <a:ext uri="{FF2B5EF4-FFF2-40B4-BE49-F238E27FC236}">
                  <a16:creationId xmlns:a16="http://schemas.microsoft.com/office/drawing/2014/main" id="{12223E81-DDE4-C440-BABA-D7BC48DB1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2112" y="2666964"/>
              <a:ext cx="3127375" cy="1498600"/>
            </a:xfrm>
            <a:custGeom>
              <a:avLst/>
              <a:gdLst>
                <a:gd name="T0" fmla="*/ 2147483647 w 1877"/>
                <a:gd name="T1" fmla="*/ 2147483647 h 917"/>
                <a:gd name="T2" fmla="*/ 2147483647 w 1877"/>
                <a:gd name="T3" fmla="*/ 2147483647 h 917"/>
                <a:gd name="T4" fmla="*/ 2147483647 w 1877"/>
                <a:gd name="T5" fmla="*/ 2147483647 h 917"/>
                <a:gd name="T6" fmla="*/ 2147483647 w 1877"/>
                <a:gd name="T7" fmla="*/ 2147483647 h 917"/>
                <a:gd name="T8" fmla="*/ 2147483647 w 1877"/>
                <a:gd name="T9" fmla="*/ 2147483647 h 917"/>
                <a:gd name="T10" fmla="*/ 2147483647 w 1877"/>
                <a:gd name="T11" fmla="*/ 2147483647 h 917"/>
                <a:gd name="T12" fmla="*/ 2147483647 w 1877"/>
                <a:gd name="T13" fmla="*/ 2147483647 h 917"/>
                <a:gd name="T14" fmla="*/ 2147483647 w 1877"/>
                <a:gd name="T15" fmla="*/ 2147483647 h 917"/>
                <a:gd name="T16" fmla="*/ 2147483647 w 1877"/>
                <a:gd name="T17" fmla="*/ 2147483647 h 917"/>
                <a:gd name="T18" fmla="*/ 2147483647 w 1877"/>
                <a:gd name="T19" fmla="*/ 2147483647 h 917"/>
                <a:gd name="T20" fmla="*/ 2147483647 w 1877"/>
                <a:gd name="T21" fmla="*/ 2147483647 h 917"/>
                <a:gd name="T22" fmla="*/ 2147483647 w 1877"/>
                <a:gd name="T23" fmla="*/ 2147483647 h 917"/>
                <a:gd name="T24" fmla="*/ 2147483647 w 1877"/>
                <a:gd name="T25" fmla="*/ 2147483647 h 917"/>
                <a:gd name="T26" fmla="*/ 2147483647 w 1877"/>
                <a:gd name="T27" fmla="*/ 2147483647 h 917"/>
                <a:gd name="T28" fmla="*/ 2147483647 w 1877"/>
                <a:gd name="T29" fmla="*/ 2147483647 h 917"/>
                <a:gd name="T30" fmla="*/ 2147483647 w 1877"/>
                <a:gd name="T31" fmla="*/ 2147483647 h 91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77"/>
                <a:gd name="T49" fmla="*/ 0 h 917"/>
                <a:gd name="T50" fmla="*/ 1877 w 1877"/>
                <a:gd name="T51" fmla="*/ 917 h 91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77" h="91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04" name="Text Box 35">
              <a:extLst>
                <a:ext uri="{FF2B5EF4-FFF2-40B4-BE49-F238E27FC236}">
                  <a16:creationId xmlns:a16="http://schemas.microsoft.com/office/drawing/2014/main" id="{8E3A2589-33AD-0948-8AAD-49FBF531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587" y="2290727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+mn-lt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05" name="Oval 40">
              <a:extLst>
                <a:ext uri="{FF2B5EF4-FFF2-40B4-BE49-F238E27FC236}">
                  <a16:creationId xmlns:a16="http://schemas.microsoft.com/office/drawing/2014/main" id="{8D4D9D6D-6FB5-AA4B-B509-A8973E6C8A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0106" y="3718683"/>
              <a:ext cx="50800" cy="52546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6" name="Rectangle 41">
              <a:extLst>
                <a:ext uri="{FF2B5EF4-FFF2-40B4-BE49-F238E27FC236}">
                  <a16:creationId xmlns:a16="http://schemas.microsoft.com/office/drawing/2014/main" id="{557406FF-659D-D646-B73D-12838ED2BD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03381" y="3224971"/>
              <a:ext cx="984250" cy="52546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7" name="Oval 42">
              <a:extLst>
                <a:ext uri="{FF2B5EF4-FFF2-40B4-BE49-F238E27FC236}">
                  <a16:creationId xmlns:a16="http://schemas.microsoft.com/office/drawing/2014/main" id="{0A481A93-ECB7-E246-837A-F6BC6402D6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08" name="Rectangle 43">
              <a:extLst>
                <a:ext uri="{FF2B5EF4-FFF2-40B4-BE49-F238E27FC236}">
                  <a16:creationId xmlns:a16="http://schemas.microsoft.com/office/drawing/2014/main" id="{A6B95B4A-EADA-2646-8C69-44AD71FF2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3711539"/>
              <a:ext cx="31750" cy="5111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9" name="Oval 31">
              <a:extLst>
                <a:ext uri="{FF2B5EF4-FFF2-40B4-BE49-F238E27FC236}">
                  <a16:creationId xmlns:a16="http://schemas.microsoft.com/office/drawing/2014/main" id="{D34D4E69-9BEB-E84C-9C95-F587DC39C7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80300" y="2614577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0" name="Rectangle 32">
              <a:extLst>
                <a:ext uri="{FF2B5EF4-FFF2-40B4-BE49-F238E27FC236}">
                  <a16:creationId xmlns:a16="http://schemas.microsoft.com/office/drawing/2014/main" id="{AF4F01BC-E0BA-6145-9A94-C368A9DCD9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15137" y="2411377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1" name="Oval 33">
              <a:extLst>
                <a:ext uri="{FF2B5EF4-FFF2-40B4-BE49-F238E27FC236}">
                  <a16:creationId xmlns:a16="http://schemas.microsoft.com/office/drawing/2014/main" id="{0FB3506E-741A-1449-B57D-DCE4E8B681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12" name="Rectangle 34">
              <a:extLst>
                <a:ext uri="{FF2B5EF4-FFF2-40B4-BE49-F238E27FC236}">
                  <a16:creationId xmlns:a16="http://schemas.microsoft.com/office/drawing/2014/main" id="{323C4318-B148-DC47-ABE2-1E709105E9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77125" y="2611402"/>
              <a:ext cx="23812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3" name="Line 456">
              <a:extLst>
                <a:ext uri="{FF2B5EF4-FFF2-40B4-BE49-F238E27FC236}">
                  <a16:creationId xmlns:a16="http://schemas.microsoft.com/office/drawing/2014/main" id="{8173438F-0B9B-B64F-A181-BAB4D0B2F0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6686550" y="2482814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14" name="Oval 469">
              <a:extLst>
                <a:ext uri="{FF2B5EF4-FFF2-40B4-BE49-F238E27FC236}">
                  <a16:creationId xmlns:a16="http://schemas.microsoft.com/office/drawing/2014/main" id="{7E85E8A1-86AF-324B-8460-F6A7D5EAC0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17752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5" name="Rectangle 470">
              <a:extLst>
                <a:ext uri="{FF2B5EF4-FFF2-40B4-BE49-F238E27FC236}">
                  <a16:creationId xmlns:a16="http://schemas.microsoft.com/office/drawing/2014/main" id="{55557922-2CFC-1B45-B737-1FBBBEAE26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268369" y="2285170"/>
              <a:ext cx="915988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6" name="Oval 471">
              <a:extLst>
                <a:ext uri="{FF2B5EF4-FFF2-40B4-BE49-F238E27FC236}">
                  <a16:creationId xmlns:a16="http://schemas.microsoft.com/office/drawing/2014/main" id="{5D3F57BE-8666-1D44-A006-F78419384E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17" name="Rectangle 472">
              <a:extLst>
                <a:ext uri="{FF2B5EF4-FFF2-40B4-BE49-F238E27FC236}">
                  <a16:creationId xmlns:a16="http://schemas.microsoft.com/office/drawing/2014/main" id="{64C792DE-6968-B34C-9D1B-D2467DCDD7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09814"/>
              <a:ext cx="30163" cy="13811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8" name="Line 473">
              <a:extLst>
                <a:ext uri="{FF2B5EF4-FFF2-40B4-BE49-F238E27FC236}">
                  <a16:creationId xmlns:a16="http://schemas.microsoft.com/office/drawing/2014/main" id="{51F1769C-1A62-EC4E-B22E-FFF40B43E7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68172">
              <a:off x="7111999" y="2341527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19" name="Oval 476">
              <a:extLst>
                <a:ext uri="{FF2B5EF4-FFF2-40B4-BE49-F238E27FC236}">
                  <a16:creationId xmlns:a16="http://schemas.microsoft.com/office/drawing/2014/main" id="{551553F9-6760-6E44-947E-2E2826C455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43725" y="4467189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0" name="Rectangle 477">
              <a:extLst>
                <a:ext uri="{FF2B5EF4-FFF2-40B4-BE49-F238E27FC236}">
                  <a16:creationId xmlns:a16="http://schemas.microsoft.com/office/drawing/2014/main" id="{424063E3-158A-984A-BFC8-01ECC77182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16737" y="4263989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1" name="Oval 478">
              <a:extLst>
                <a:ext uri="{FF2B5EF4-FFF2-40B4-BE49-F238E27FC236}">
                  <a16:creationId xmlns:a16="http://schemas.microsoft.com/office/drawing/2014/main" id="{E5AD8F86-97E2-7648-BE88-A4ABC6A350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22" name="Rectangle 479">
              <a:extLst>
                <a:ext uri="{FF2B5EF4-FFF2-40B4-BE49-F238E27FC236}">
                  <a16:creationId xmlns:a16="http://schemas.microsoft.com/office/drawing/2014/main" id="{598EC6E7-BD77-134B-A756-3D43B04CC7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59600" y="4464014"/>
              <a:ext cx="23812" cy="153988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3" name="Line 480">
              <a:extLst>
                <a:ext uri="{FF2B5EF4-FFF2-40B4-BE49-F238E27FC236}">
                  <a16:creationId xmlns:a16="http://schemas.microsoft.com/office/drawing/2014/main" id="{AFDCBA44-8593-C94C-9FA7-FED9DC63A5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6821487" y="4335427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24" name="Oval 483">
              <a:extLst>
                <a:ext uri="{FF2B5EF4-FFF2-40B4-BE49-F238E27FC236}">
                  <a16:creationId xmlns:a16="http://schemas.microsoft.com/office/drawing/2014/main" id="{9B669AE7-0EE8-EC41-9DC1-37D185E643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0177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5" name="Rectangle 484">
              <a:extLst>
                <a:ext uri="{FF2B5EF4-FFF2-40B4-BE49-F238E27FC236}">
                  <a16:creationId xmlns:a16="http://schemas.microsoft.com/office/drawing/2014/main" id="{C65A0801-59C0-0744-8000-2F197C940E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475537" y="4571964"/>
              <a:ext cx="917575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6" name="Oval 485">
              <a:extLst>
                <a:ext uri="{FF2B5EF4-FFF2-40B4-BE49-F238E27FC236}">
                  <a16:creationId xmlns:a16="http://schemas.microsoft.com/office/drawing/2014/main" id="{618A0B18-5A9F-C940-A80E-7B06B49B60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27" name="Rectangle 486">
              <a:extLst>
                <a:ext uri="{FF2B5EF4-FFF2-40B4-BE49-F238E27FC236}">
                  <a16:creationId xmlns:a16="http://schemas.microsoft.com/office/drawing/2014/main" id="{0EC6AAEC-D5EF-0B44-AE75-B5161067D3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9702"/>
              <a:ext cx="30162" cy="13811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8" name="Line 487">
              <a:extLst>
                <a:ext uri="{FF2B5EF4-FFF2-40B4-BE49-F238E27FC236}">
                  <a16:creationId xmlns:a16="http://schemas.microsoft.com/office/drawing/2014/main" id="{6C5A899D-7A45-874B-9EBC-4587CF6DE0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831828" flipV="1">
              <a:off x="7319962" y="4657690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29" name="Oval 500">
              <a:extLst>
                <a:ext uri="{FF2B5EF4-FFF2-40B4-BE49-F238E27FC236}">
                  <a16:creationId xmlns:a16="http://schemas.microsoft.com/office/drawing/2014/main" id="{2C1CCE43-DB7D-AE44-BC92-2EC22940EC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50350" y="2586002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0" name="Rectangle 501">
              <a:extLst>
                <a:ext uri="{FF2B5EF4-FFF2-40B4-BE49-F238E27FC236}">
                  <a16:creationId xmlns:a16="http://schemas.microsoft.com/office/drawing/2014/main" id="{40D89921-5710-C74C-85E3-E00C000E60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23362" y="2382802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1" name="Oval 502">
              <a:extLst>
                <a:ext uri="{FF2B5EF4-FFF2-40B4-BE49-F238E27FC236}">
                  <a16:creationId xmlns:a16="http://schemas.microsoft.com/office/drawing/2014/main" id="{04ED2CB6-E629-0044-88FF-DD5D436E58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32" name="Rectangle 503">
              <a:extLst>
                <a:ext uri="{FF2B5EF4-FFF2-40B4-BE49-F238E27FC236}">
                  <a16:creationId xmlns:a16="http://schemas.microsoft.com/office/drawing/2014/main" id="{0D6041B8-7217-4F4F-92D9-8F4D04231E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66225" y="2582827"/>
              <a:ext cx="25400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3" name="Line 504">
              <a:extLst>
                <a:ext uri="{FF2B5EF4-FFF2-40B4-BE49-F238E27FC236}">
                  <a16:creationId xmlns:a16="http://schemas.microsoft.com/office/drawing/2014/main" id="{45C56574-1E78-FA49-9616-971A302E9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9028112" y="2454239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34" name="Oval 507">
              <a:extLst>
                <a:ext uri="{FF2B5EF4-FFF2-40B4-BE49-F238E27FC236}">
                  <a16:creationId xmlns:a16="http://schemas.microsoft.com/office/drawing/2014/main" id="{9F9B82D5-4B1D-6043-BBA5-D051EBBBCA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7587" y="4546564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5" name="Rectangle 508">
              <a:extLst>
                <a:ext uri="{FF2B5EF4-FFF2-40B4-BE49-F238E27FC236}">
                  <a16:creationId xmlns:a16="http://schemas.microsoft.com/office/drawing/2014/main" id="{0C717AD0-EA8E-2246-B4E3-6A0F4C1E9F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40837" y="4341777"/>
              <a:ext cx="731838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6" name="Oval 509">
              <a:extLst>
                <a:ext uri="{FF2B5EF4-FFF2-40B4-BE49-F238E27FC236}">
                  <a16:creationId xmlns:a16="http://schemas.microsoft.com/office/drawing/2014/main" id="{EE3B1AF8-64A0-EC47-B91B-48B11E36D8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altLang="en-US" sz="21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37" name="Rectangle 510">
              <a:extLst>
                <a:ext uri="{FF2B5EF4-FFF2-40B4-BE49-F238E27FC236}">
                  <a16:creationId xmlns:a16="http://schemas.microsoft.com/office/drawing/2014/main" id="{860AFC74-9568-6A49-803C-0B2D79302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2825" y="4543389"/>
              <a:ext cx="25400" cy="1524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endParaRPr lang="en-US" sz="2100" dirty="0"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8" name="Line 511">
              <a:extLst>
                <a:ext uri="{FF2B5EF4-FFF2-40B4-BE49-F238E27FC236}">
                  <a16:creationId xmlns:a16="http://schemas.microsoft.com/office/drawing/2014/main" id="{2B4EDB9F-73F1-C34D-96D9-5CDCB88B21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9102725" y="4441789"/>
              <a:ext cx="1062037" cy="127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39" name="Text Box 513">
              <a:extLst>
                <a:ext uri="{FF2B5EF4-FFF2-40B4-BE49-F238E27FC236}">
                  <a16:creationId xmlns:a16="http://schemas.microsoft.com/office/drawing/2014/main" id="{4778714E-EE95-9947-8879-8B2FE318C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550" y="1849402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+mn-lt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40" name="Text Box 514">
              <a:extLst>
                <a:ext uri="{FF2B5EF4-FFF2-40B4-BE49-F238E27FC236}">
                  <a16:creationId xmlns:a16="http://schemas.microsoft.com/office/drawing/2014/main" id="{60849EC9-A207-4C41-AD9D-A92DEE98B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2762" y="2357402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+mn-lt"/>
                </a:rPr>
                <a:t>s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41" name="Freeform 515">
              <a:extLst>
                <a:ext uri="{FF2B5EF4-FFF2-40B4-BE49-F238E27FC236}">
                  <a16:creationId xmlns:a16="http://schemas.microsoft.com/office/drawing/2014/main" id="{F6112B49-DFF7-4442-8AE0-8CF8CFAA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9200" y="2717764"/>
              <a:ext cx="800100" cy="1381125"/>
            </a:xfrm>
            <a:custGeom>
              <a:avLst/>
              <a:gdLst>
                <a:gd name="T0" fmla="*/ 0 w 504"/>
                <a:gd name="T1" fmla="*/ 0 h 870"/>
                <a:gd name="T2" fmla="*/ 2147483647 w 504"/>
                <a:gd name="T3" fmla="*/ 2147483647 h 870"/>
                <a:gd name="T4" fmla="*/ 2147483647 w 504"/>
                <a:gd name="T5" fmla="*/ 2147483647 h 870"/>
                <a:gd name="T6" fmla="*/ 2147483647 w 504"/>
                <a:gd name="T7" fmla="*/ 2147483647 h 870"/>
                <a:gd name="T8" fmla="*/ 2147483647 w 504"/>
                <a:gd name="T9" fmla="*/ 2147483647 h 870"/>
                <a:gd name="T10" fmla="*/ 2147483647 w 504"/>
                <a:gd name="T11" fmla="*/ 2147483647 h 870"/>
                <a:gd name="T12" fmla="*/ 2147483647 w 504"/>
                <a:gd name="T13" fmla="*/ 2147483647 h 870"/>
                <a:gd name="T14" fmla="*/ 2147483647 w 504"/>
                <a:gd name="T15" fmla="*/ 2147483647 h 870"/>
                <a:gd name="T16" fmla="*/ 2147483647 w 504"/>
                <a:gd name="T17" fmla="*/ 2147483647 h 870"/>
                <a:gd name="T18" fmla="*/ 2147483647 w 504"/>
                <a:gd name="T19" fmla="*/ 2147483647 h 8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04"/>
                <a:gd name="T31" fmla="*/ 0 h 870"/>
                <a:gd name="T32" fmla="*/ 504 w 504"/>
                <a:gd name="T33" fmla="*/ 870 h 87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04" h="870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42" name="Text Box 516">
              <a:extLst>
                <a:ext uri="{FF2B5EF4-FFF2-40B4-BE49-F238E27FC236}">
                  <a16:creationId xmlns:a16="http://schemas.microsoft.com/office/drawing/2014/main" id="{EFC98C88-858D-E34E-9C48-139358543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3363" y="3833062"/>
              <a:ext cx="67468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dirty="0" err="1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 dirty="0" err="1">
                  <a:solidFill>
                    <a:srgbClr val="000000"/>
                  </a:solidFill>
                  <a:latin typeface="+mn-lt"/>
                </a:rPr>
                <a:t>c</a:t>
              </a:r>
              <a:endParaRPr lang="en-US" altLang="en-US" sz="18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43" name="Freeform 517">
              <a:extLst>
                <a:ext uri="{FF2B5EF4-FFF2-40B4-BE49-F238E27FC236}">
                  <a16:creationId xmlns:a16="http://schemas.microsoft.com/office/drawing/2014/main" id="{3FAF4BE0-D787-B34B-BA37-0770AC8BF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50" y="2695539"/>
              <a:ext cx="431800" cy="1570038"/>
            </a:xfrm>
            <a:custGeom>
              <a:avLst/>
              <a:gdLst>
                <a:gd name="T0" fmla="*/ 0 w 272"/>
                <a:gd name="T1" fmla="*/ 0 h 989"/>
                <a:gd name="T2" fmla="*/ 2147483647 w 272"/>
                <a:gd name="T3" fmla="*/ 2147483647 h 989"/>
                <a:gd name="T4" fmla="*/ 2147483647 w 272"/>
                <a:gd name="T5" fmla="*/ 2147483647 h 989"/>
                <a:gd name="T6" fmla="*/ 2147483647 w 272"/>
                <a:gd name="T7" fmla="*/ 2147483647 h 989"/>
                <a:gd name="T8" fmla="*/ 2147483647 w 272"/>
                <a:gd name="T9" fmla="*/ 2147483647 h 989"/>
                <a:gd name="T10" fmla="*/ 2147483647 w 272"/>
                <a:gd name="T11" fmla="*/ 2147483647 h 989"/>
                <a:gd name="T12" fmla="*/ 2147483647 w 272"/>
                <a:gd name="T13" fmla="*/ 2147483647 h 9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989"/>
                <a:gd name="T23" fmla="*/ 272 w 272"/>
                <a:gd name="T24" fmla="*/ 989 h 9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989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44" name="Freeform 518">
              <a:extLst>
                <a:ext uri="{FF2B5EF4-FFF2-40B4-BE49-F238E27FC236}">
                  <a16:creationId xmlns:a16="http://schemas.microsoft.com/office/drawing/2014/main" id="{9EF6A7FC-B534-4346-A5DD-041A4F1C6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6950" y="2679664"/>
              <a:ext cx="638175" cy="1538288"/>
            </a:xfrm>
            <a:custGeom>
              <a:avLst/>
              <a:gdLst>
                <a:gd name="T0" fmla="*/ 2147483647 w 402"/>
                <a:gd name="T1" fmla="*/ 0 h 969"/>
                <a:gd name="T2" fmla="*/ 2147483647 w 402"/>
                <a:gd name="T3" fmla="*/ 2147483647 h 969"/>
                <a:gd name="T4" fmla="*/ 2147483647 w 402"/>
                <a:gd name="T5" fmla="*/ 2147483647 h 969"/>
                <a:gd name="T6" fmla="*/ 2147483647 w 402"/>
                <a:gd name="T7" fmla="*/ 2147483647 h 969"/>
                <a:gd name="T8" fmla="*/ 2147483647 w 402"/>
                <a:gd name="T9" fmla="*/ 2147483647 h 969"/>
                <a:gd name="T10" fmla="*/ 2147483647 w 402"/>
                <a:gd name="T11" fmla="*/ 2147483647 h 969"/>
                <a:gd name="T12" fmla="*/ 2147483647 w 402"/>
                <a:gd name="T13" fmla="*/ 2147483647 h 969"/>
                <a:gd name="T14" fmla="*/ 2147483647 w 402"/>
                <a:gd name="T15" fmla="*/ 2147483647 h 969"/>
                <a:gd name="T16" fmla="*/ 2147483647 w 402"/>
                <a:gd name="T17" fmla="*/ 2147483647 h 9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2"/>
                <a:gd name="T28" fmla="*/ 0 h 969"/>
                <a:gd name="T29" fmla="*/ 402 w 402"/>
                <a:gd name="T30" fmla="*/ 969 h 96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2" h="969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100">
                <a:ea typeface="ＭＳ Ｐゴシック" panose="020B0600070205080204" pitchFamily="34" charset="-128"/>
              </a:endParaRPr>
            </a:p>
          </p:txBody>
        </p:sp>
        <p:sp>
          <p:nvSpPr>
            <p:cNvPr id="645" name="Text Box 519">
              <a:extLst>
                <a:ext uri="{FF2B5EF4-FFF2-40B4-BE49-F238E27FC236}">
                  <a16:creationId xmlns:a16="http://schemas.microsoft.com/office/drawing/2014/main" id="{1E5107AF-4847-B347-A6D3-3304434E8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2250" y="4444964"/>
              <a:ext cx="67627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+mn-lt"/>
                </a:rPr>
                <a:t>c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46" name="Text Box 520">
              <a:extLst>
                <a:ext uri="{FF2B5EF4-FFF2-40B4-BE49-F238E27FC236}">
                  <a16:creationId xmlns:a16="http://schemas.microsoft.com/office/drawing/2014/main" id="{7DD67220-8D5A-6E44-9C8F-8DC54227B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9762" y="3932202"/>
              <a:ext cx="674688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  <a:r>
                <a:rPr lang="en-US" altLang="en-US" baseline="-25000">
                  <a:solidFill>
                    <a:srgbClr val="000000"/>
                  </a:solidFill>
                  <a:latin typeface="+mn-lt"/>
                </a:rPr>
                <a:t>c</a:t>
              </a:r>
              <a:endParaRPr lang="en-US" altLang="en-US" sz="180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647" name="Text Box 521">
              <a:extLst>
                <a:ext uri="{FF2B5EF4-FFF2-40B4-BE49-F238E27FC236}">
                  <a16:creationId xmlns:a16="http://schemas.microsoft.com/office/drawing/2014/main" id="{5252B1FF-D0A1-1D49-8AD4-E08822F2F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8212" y="3303551"/>
              <a:ext cx="67627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>
                  <a:solidFill>
                    <a:srgbClr val="000000"/>
                  </a:solidFill>
                  <a:latin typeface="+mn-lt"/>
                </a:rPr>
                <a:t>R</a:t>
              </a:r>
            </a:p>
          </p:txBody>
        </p:sp>
        <p:grpSp>
          <p:nvGrpSpPr>
            <p:cNvPr id="649" name="Group 81">
              <a:extLst>
                <a:ext uri="{FF2B5EF4-FFF2-40B4-BE49-F238E27FC236}">
                  <a16:creationId xmlns:a16="http://schemas.microsoft.com/office/drawing/2014/main" id="{6FDBF652-A395-234F-BA73-32CC54B4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650" name="Freeform 82">
                <a:extLst>
                  <a:ext uri="{FF2B5EF4-FFF2-40B4-BE49-F238E27FC236}">
                    <a16:creationId xmlns:a16="http://schemas.microsoft.com/office/drawing/2014/main" id="{11ED42DE-3E1B-9B40-9A14-016018BA3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51" name="Rectangle 83">
                <a:extLst>
                  <a:ext uri="{FF2B5EF4-FFF2-40B4-BE49-F238E27FC236}">
                    <a16:creationId xmlns:a16="http://schemas.microsoft.com/office/drawing/2014/main" id="{69066424-99FF-0247-8B01-B3EC332AA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52" name="Freeform 84">
                <a:extLst>
                  <a:ext uri="{FF2B5EF4-FFF2-40B4-BE49-F238E27FC236}">
                    <a16:creationId xmlns:a16="http://schemas.microsoft.com/office/drawing/2014/main" id="{024DB4DC-EB26-FF42-8E20-FFB6C8EFB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53" name="Freeform 85">
                <a:extLst>
                  <a:ext uri="{FF2B5EF4-FFF2-40B4-BE49-F238E27FC236}">
                    <a16:creationId xmlns:a16="http://schemas.microsoft.com/office/drawing/2014/main" id="{E2B0F75E-1C81-FF41-A3F5-E7ADC8B67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54" name="Rectangle 86">
                <a:extLst>
                  <a:ext uri="{FF2B5EF4-FFF2-40B4-BE49-F238E27FC236}">
                    <a16:creationId xmlns:a16="http://schemas.microsoft.com/office/drawing/2014/main" id="{223D30BF-8699-6A44-AEB2-35D0F31FA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55" name="Group 87">
                <a:extLst>
                  <a:ext uri="{FF2B5EF4-FFF2-40B4-BE49-F238E27FC236}">
                    <a16:creationId xmlns:a16="http://schemas.microsoft.com/office/drawing/2014/main" id="{2B7A3D5E-6156-0044-BF32-DFE6857F6F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80" name="AutoShape 88">
                  <a:extLst>
                    <a:ext uri="{FF2B5EF4-FFF2-40B4-BE49-F238E27FC236}">
                      <a16:creationId xmlns:a16="http://schemas.microsoft.com/office/drawing/2014/main" id="{CE04A0BE-092C-E54B-91D3-87501C8CF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681" name="AutoShape 89">
                  <a:extLst>
                    <a:ext uri="{FF2B5EF4-FFF2-40B4-BE49-F238E27FC236}">
                      <a16:creationId xmlns:a16="http://schemas.microsoft.com/office/drawing/2014/main" id="{F5E55A3E-082B-F842-9E07-78A2A99542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56" name="Rectangle 90">
                <a:extLst>
                  <a:ext uri="{FF2B5EF4-FFF2-40B4-BE49-F238E27FC236}">
                    <a16:creationId xmlns:a16="http://schemas.microsoft.com/office/drawing/2014/main" id="{3335A9A0-ABC5-1A45-A4DB-4B8E3B4F0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57" name="Group 91">
                <a:extLst>
                  <a:ext uri="{FF2B5EF4-FFF2-40B4-BE49-F238E27FC236}">
                    <a16:creationId xmlns:a16="http://schemas.microsoft.com/office/drawing/2014/main" id="{6C288698-9C54-614A-9160-55F71D5AE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78" name="AutoShape 92">
                  <a:extLst>
                    <a:ext uri="{FF2B5EF4-FFF2-40B4-BE49-F238E27FC236}">
                      <a16:creationId xmlns:a16="http://schemas.microsoft.com/office/drawing/2014/main" id="{6A0C18A4-1291-7E43-9345-2A91D6A4B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679" name="AutoShape 93">
                  <a:extLst>
                    <a:ext uri="{FF2B5EF4-FFF2-40B4-BE49-F238E27FC236}">
                      <a16:creationId xmlns:a16="http://schemas.microsoft.com/office/drawing/2014/main" id="{AC667623-4334-3148-A595-C268518DA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58" name="Rectangle 94">
                <a:extLst>
                  <a:ext uri="{FF2B5EF4-FFF2-40B4-BE49-F238E27FC236}">
                    <a16:creationId xmlns:a16="http://schemas.microsoft.com/office/drawing/2014/main" id="{80DE7B80-C6BB-8A4D-BED5-F51D9888F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59" name="Rectangle 95">
                <a:extLst>
                  <a:ext uri="{FF2B5EF4-FFF2-40B4-BE49-F238E27FC236}">
                    <a16:creationId xmlns:a16="http://schemas.microsoft.com/office/drawing/2014/main" id="{53B39C8C-A4C0-E44F-A049-598F76D03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60" name="Group 96">
                <a:extLst>
                  <a:ext uri="{FF2B5EF4-FFF2-40B4-BE49-F238E27FC236}">
                    <a16:creationId xmlns:a16="http://schemas.microsoft.com/office/drawing/2014/main" id="{8FAE680F-D5F2-F141-AF0E-EFEDC93174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76" name="AutoShape 97">
                  <a:extLst>
                    <a:ext uri="{FF2B5EF4-FFF2-40B4-BE49-F238E27FC236}">
                      <a16:creationId xmlns:a16="http://schemas.microsoft.com/office/drawing/2014/main" id="{F6E6D6FE-5487-4B45-9CD9-034725C34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677" name="AutoShape 98">
                  <a:extLst>
                    <a:ext uri="{FF2B5EF4-FFF2-40B4-BE49-F238E27FC236}">
                      <a16:creationId xmlns:a16="http://schemas.microsoft.com/office/drawing/2014/main" id="{17E4B9CD-9942-AB49-9DCF-EA4C278CAD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61" name="Freeform 99">
                <a:extLst>
                  <a:ext uri="{FF2B5EF4-FFF2-40B4-BE49-F238E27FC236}">
                    <a16:creationId xmlns:a16="http://schemas.microsoft.com/office/drawing/2014/main" id="{66DBC1AB-D3D3-D54A-97DB-61ACDA498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662" name="Group 100">
                <a:extLst>
                  <a:ext uri="{FF2B5EF4-FFF2-40B4-BE49-F238E27FC236}">
                    <a16:creationId xmlns:a16="http://schemas.microsoft.com/office/drawing/2014/main" id="{0ACCF28A-C12F-C84F-B594-FD3A670B69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74" name="AutoShape 101">
                  <a:extLst>
                    <a:ext uri="{FF2B5EF4-FFF2-40B4-BE49-F238E27FC236}">
                      <a16:creationId xmlns:a16="http://schemas.microsoft.com/office/drawing/2014/main" id="{279BBDF1-57E3-A241-8A44-3F0A3BA124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675" name="AutoShape 102">
                  <a:extLst>
                    <a:ext uri="{FF2B5EF4-FFF2-40B4-BE49-F238E27FC236}">
                      <a16:creationId xmlns:a16="http://schemas.microsoft.com/office/drawing/2014/main" id="{0D4E61D6-1AA1-2940-BBA5-24DFE246E5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63" name="Rectangle 103">
                <a:extLst>
                  <a:ext uri="{FF2B5EF4-FFF2-40B4-BE49-F238E27FC236}">
                    <a16:creationId xmlns:a16="http://schemas.microsoft.com/office/drawing/2014/main" id="{564FBD96-ADF5-5342-92F4-3395008B5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64" name="Freeform 104">
                <a:extLst>
                  <a:ext uri="{FF2B5EF4-FFF2-40B4-BE49-F238E27FC236}">
                    <a16:creationId xmlns:a16="http://schemas.microsoft.com/office/drawing/2014/main" id="{F15B27D1-B45C-7141-AB8B-599571DEF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65" name="Freeform 105">
                <a:extLst>
                  <a:ext uri="{FF2B5EF4-FFF2-40B4-BE49-F238E27FC236}">
                    <a16:creationId xmlns:a16="http://schemas.microsoft.com/office/drawing/2014/main" id="{4DC70B30-DD3F-2740-89CC-C75EDB999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66" name="Oval 106">
                <a:extLst>
                  <a:ext uri="{FF2B5EF4-FFF2-40B4-BE49-F238E27FC236}">
                    <a16:creationId xmlns:a16="http://schemas.microsoft.com/office/drawing/2014/main" id="{A0C40071-87FF-864A-81D4-E4F739BF5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67" name="Freeform 107">
                <a:extLst>
                  <a:ext uri="{FF2B5EF4-FFF2-40B4-BE49-F238E27FC236}">
                    <a16:creationId xmlns:a16="http://schemas.microsoft.com/office/drawing/2014/main" id="{2F33C2FE-86C4-B34F-945A-3F9BDF77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68" name="AutoShape 108">
                <a:extLst>
                  <a:ext uri="{FF2B5EF4-FFF2-40B4-BE49-F238E27FC236}">
                    <a16:creationId xmlns:a16="http://schemas.microsoft.com/office/drawing/2014/main" id="{A771515B-1A0A-B646-9681-C95CE2F66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69" name="AutoShape 109">
                <a:extLst>
                  <a:ext uri="{FF2B5EF4-FFF2-40B4-BE49-F238E27FC236}">
                    <a16:creationId xmlns:a16="http://schemas.microsoft.com/office/drawing/2014/main" id="{8DE21308-0063-2D44-A69A-52DF4BDDD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70" name="Oval 110">
                <a:extLst>
                  <a:ext uri="{FF2B5EF4-FFF2-40B4-BE49-F238E27FC236}">
                    <a16:creationId xmlns:a16="http://schemas.microsoft.com/office/drawing/2014/main" id="{4B5FBC97-4AE7-1140-B25E-7DBB15568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71" name="Oval 111">
                <a:extLst>
                  <a:ext uri="{FF2B5EF4-FFF2-40B4-BE49-F238E27FC236}">
                    <a16:creationId xmlns:a16="http://schemas.microsoft.com/office/drawing/2014/main" id="{E22768CA-2A7E-3243-8775-0A66ECEBD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5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672" name="Oval 112">
                <a:extLst>
                  <a:ext uri="{FF2B5EF4-FFF2-40B4-BE49-F238E27FC236}">
                    <a16:creationId xmlns:a16="http://schemas.microsoft.com/office/drawing/2014/main" id="{D28018C4-A680-2845-A99A-8AA0A8E02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73" name="Rectangle 113">
                <a:extLst>
                  <a:ext uri="{FF2B5EF4-FFF2-40B4-BE49-F238E27FC236}">
                    <a16:creationId xmlns:a16="http://schemas.microsoft.com/office/drawing/2014/main" id="{8FC5897C-9D21-3A46-90EF-445C7839A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grpSp>
          <p:nvGrpSpPr>
            <p:cNvPr id="682" name="Group 114">
              <a:extLst>
                <a:ext uri="{FF2B5EF4-FFF2-40B4-BE49-F238E27FC236}">
                  <a16:creationId xmlns:a16="http://schemas.microsoft.com/office/drawing/2014/main" id="{B83A96A8-659A-C14A-81F1-36FF3203A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683" name="Freeform 115">
                <a:extLst>
                  <a:ext uri="{FF2B5EF4-FFF2-40B4-BE49-F238E27FC236}">
                    <a16:creationId xmlns:a16="http://schemas.microsoft.com/office/drawing/2014/main" id="{51E7F745-188F-2049-8F3D-A9F1E48EA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84" name="Rectangle 116">
                <a:extLst>
                  <a:ext uri="{FF2B5EF4-FFF2-40B4-BE49-F238E27FC236}">
                    <a16:creationId xmlns:a16="http://schemas.microsoft.com/office/drawing/2014/main" id="{3330E9B6-9A70-F341-BB07-3C7E5FBB6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85" name="Freeform 117">
                <a:extLst>
                  <a:ext uri="{FF2B5EF4-FFF2-40B4-BE49-F238E27FC236}">
                    <a16:creationId xmlns:a16="http://schemas.microsoft.com/office/drawing/2014/main" id="{10DD9A9D-A76F-3641-9CE7-9F73150F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86" name="Freeform 118">
                <a:extLst>
                  <a:ext uri="{FF2B5EF4-FFF2-40B4-BE49-F238E27FC236}">
                    <a16:creationId xmlns:a16="http://schemas.microsoft.com/office/drawing/2014/main" id="{1D744195-71CA-F84A-A0EC-B41BAA550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87" name="Rectangle 119">
                <a:extLst>
                  <a:ext uri="{FF2B5EF4-FFF2-40B4-BE49-F238E27FC236}">
                    <a16:creationId xmlns:a16="http://schemas.microsoft.com/office/drawing/2014/main" id="{08B258E9-429B-A04E-9B31-61FC9C0C9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88" name="Group 120">
                <a:extLst>
                  <a:ext uri="{FF2B5EF4-FFF2-40B4-BE49-F238E27FC236}">
                    <a16:creationId xmlns:a16="http://schemas.microsoft.com/office/drawing/2014/main" id="{052466FA-382D-B34A-B153-D2714C449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713" name="AutoShape 121">
                  <a:extLst>
                    <a:ext uri="{FF2B5EF4-FFF2-40B4-BE49-F238E27FC236}">
                      <a16:creationId xmlns:a16="http://schemas.microsoft.com/office/drawing/2014/main" id="{A21CDD7A-2555-5B47-9078-A436ACA9B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14" name="AutoShape 122">
                  <a:extLst>
                    <a:ext uri="{FF2B5EF4-FFF2-40B4-BE49-F238E27FC236}">
                      <a16:creationId xmlns:a16="http://schemas.microsoft.com/office/drawing/2014/main" id="{CBF9610B-13CA-D841-A288-8379AC7B4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89" name="Rectangle 123">
                <a:extLst>
                  <a:ext uri="{FF2B5EF4-FFF2-40B4-BE49-F238E27FC236}">
                    <a16:creationId xmlns:a16="http://schemas.microsoft.com/office/drawing/2014/main" id="{CBC048D4-7B3A-6F41-A02E-503359CF5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90" name="Group 124">
                <a:extLst>
                  <a:ext uri="{FF2B5EF4-FFF2-40B4-BE49-F238E27FC236}">
                    <a16:creationId xmlns:a16="http://schemas.microsoft.com/office/drawing/2014/main" id="{4D7B123C-FEF1-E041-894F-F31DD588C3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11" name="AutoShape 125">
                  <a:extLst>
                    <a:ext uri="{FF2B5EF4-FFF2-40B4-BE49-F238E27FC236}">
                      <a16:creationId xmlns:a16="http://schemas.microsoft.com/office/drawing/2014/main" id="{DAEC4BE7-B702-0848-BF3B-82C6FCF0A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12" name="AutoShape 126">
                  <a:extLst>
                    <a:ext uri="{FF2B5EF4-FFF2-40B4-BE49-F238E27FC236}">
                      <a16:creationId xmlns:a16="http://schemas.microsoft.com/office/drawing/2014/main" id="{FBEAEEDC-D373-2043-9097-A4F8AEA4ED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91" name="Rectangle 127">
                <a:extLst>
                  <a:ext uri="{FF2B5EF4-FFF2-40B4-BE49-F238E27FC236}">
                    <a16:creationId xmlns:a16="http://schemas.microsoft.com/office/drawing/2014/main" id="{4DD8CBA3-5EC3-7B48-9BE0-6003CD8A0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92" name="Rectangle 128">
                <a:extLst>
                  <a:ext uri="{FF2B5EF4-FFF2-40B4-BE49-F238E27FC236}">
                    <a16:creationId xmlns:a16="http://schemas.microsoft.com/office/drawing/2014/main" id="{BA5E53EA-3ECC-A847-B148-B8ED1636E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693" name="Group 129">
                <a:extLst>
                  <a:ext uri="{FF2B5EF4-FFF2-40B4-BE49-F238E27FC236}">
                    <a16:creationId xmlns:a16="http://schemas.microsoft.com/office/drawing/2014/main" id="{C816273C-68D1-2045-8CE5-F2A266739E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709" name="AutoShape 130">
                  <a:extLst>
                    <a:ext uri="{FF2B5EF4-FFF2-40B4-BE49-F238E27FC236}">
                      <a16:creationId xmlns:a16="http://schemas.microsoft.com/office/drawing/2014/main" id="{AE043AC3-A076-4449-9CD3-8DA37B0F0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10" name="AutoShape 131">
                  <a:extLst>
                    <a:ext uri="{FF2B5EF4-FFF2-40B4-BE49-F238E27FC236}">
                      <a16:creationId xmlns:a16="http://schemas.microsoft.com/office/drawing/2014/main" id="{E346A75D-7CBE-8A47-B07E-5D39EAB4BE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94" name="Freeform 132">
                <a:extLst>
                  <a:ext uri="{FF2B5EF4-FFF2-40B4-BE49-F238E27FC236}">
                    <a16:creationId xmlns:a16="http://schemas.microsoft.com/office/drawing/2014/main" id="{F00AFCE9-BD33-D444-BA2F-95E356063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695" name="Group 133">
                <a:extLst>
                  <a:ext uri="{FF2B5EF4-FFF2-40B4-BE49-F238E27FC236}">
                    <a16:creationId xmlns:a16="http://schemas.microsoft.com/office/drawing/2014/main" id="{DF061EE0-DC00-D341-ACD4-2D438E4D73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07" name="AutoShape 134">
                  <a:extLst>
                    <a:ext uri="{FF2B5EF4-FFF2-40B4-BE49-F238E27FC236}">
                      <a16:creationId xmlns:a16="http://schemas.microsoft.com/office/drawing/2014/main" id="{8A5DEFF2-82FF-9C4B-B30F-DD02A99BAB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08" name="AutoShape 135">
                  <a:extLst>
                    <a:ext uri="{FF2B5EF4-FFF2-40B4-BE49-F238E27FC236}">
                      <a16:creationId xmlns:a16="http://schemas.microsoft.com/office/drawing/2014/main" id="{9E0A6440-9A0A-834A-BE6A-CB243F8A0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696" name="Rectangle 136">
                <a:extLst>
                  <a:ext uri="{FF2B5EF4-FFF2-40B4-BE49-F238E27FC236}">
                    <a16:creationId xmlns:a16="http://schemas.microsoft.com/office/drawing/2014/main" id="{C3E6428A-F3CA-6646-8504-7A4B8087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697" name="Freeform 137">
                <a:extLst>
                  <a:ext uri="{FF2B5EF4-FFF2-40B4-BE49-F238E27FC236}">
                    <a16:creationId xmlns:a16="http://schemas.microsoft.com/office/drawing/2014/main" id="{36A1B92D-73B3-1E48-9DF6-56C52B1C0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98" name="Freeform 138">
                <a:extLst>
                  <a:ext uri="{FF2B5EF4-FFF2-40B4-BE49-F238E27FC236}">
                    <a16:creationId xmlns:a16="http://schemas.microsoft.com/office/drawing/2014/main" id="{BBCC47D2-9636-8645-A30A-A9FB9FEB7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699" name="Oval 139">
                <a:extLst>
                  <a:ext uri="{FF2B5EF4-FFF2-40B4-BE49-F238E27FC236}">
                    <a16:creationId xmlns:a16="http://schemas.microsoft.com/office/drawing/2014/main" id="{538F95FE-99F4-114C-88F1-20DC65C7D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00" name="Freeform 140">
                <a:extLst>
                  <a:ext uri="{FF2B5EF4-FFF2-40B4-BE49-F238E27FC236}">
                    <a16:creationId xmlns:a16="http://schemas.microsoft.com/office/drawing/2014/main" id="{3A2D7A8F-740E-E44C-8A64-6BF5A90E8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01" name="AutoShape 141">
                <a:extLst>
                  <a:ext uri="{FF2B5EF4-FFF2-40B4-BE49-F238E27FC236}">
                    <a16:creationId xmlns:a16="http://schemas.microsoft.com/office/drawing/2014/main" id="{E95BA8FE-A8C5-0F4B-802A-0FFE3E934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02" name="AutoShape 142">
                <a:extLst>
                  <a:ext uri="{FF2B5EF4-FFF2-40B4-BE49-F238E27FC236}">
                    <a16:creationId xmlns:a16="http://schemas.microsoft.com/office/drawing/2014/main" id="{05E6F7D8-B8C8-534A-8606-ED1588904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03" name="Oval 143">
                <a:extLst>
                  <a:ext uri="{FF2B5EF4-FFF2-40B4-BE49-F238E27FC236}">
                    <a16:creationId xmlns:a16="http://schemas.microsoft.com/office/drawing/2014/main" id="{D7668313-20A1-7840-BCF9-D2778D9E7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04" name="Oval 144">
                <a:extLst>
                  <a:ext uri="{FF2B5EF4-FFF2-40B4-BE49-F238E27FC236}">
                    <a16:creationId xmlns:a16="http://schemas.microsoft.com/office/drawing/2014/main" id="{3152B3AD-E2B7-A045-8DF7-86DF2FE62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5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05" name="Oval 145">
                <a:extLst>
                  <a:ext uri="{FF2B5EF4-FFF2-40B4-BE49-F238E27FC236}">
                    <a16:creationId xmlns:a16="http://schemas.microsoft.com/office/drawing/2014/main" id="{7A3BC98F-1F3C-794E-BD03-4960366B4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06" name="Rectangle 146">
                <a:extLst>
                  <a:ext uri="{FF2B5EF4-FFF2-40B4-BE49-F238E27FC236}">
                    <a16:creationId xmlns:a16="http://schemas.microsoft.com/office/drawing/2014/main" id="{FD2E8B12-7E5B-534C-992F-CC974F01D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grpSp>
          <p:nvGrpSpPr>
            <p:cNvPr id="715" name="Group 147">
              <a:extLst>
                <a:ext uri="{FF2B5EF4-FFF2-40B4-BE49-F238E27FC236}">
                  <a16:creationId xmlns:a16="http://schemas.microsoft.com/office/drawing/2014/main" id="{4942FA46-AAAE-D947-BF1A-4481A34482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716" name="Freeform 148">
                <a:extLst>
                  <a:ext uri="{FF2B5EF4-FFF2-40B4-BE49-F238E27FC236}">
                    <a16:creationId xmlns:a16="http://schemas.microsoft.com/office/drawing/2014/main" id="{CC23ABEE-8791-714B-8A1A-4F7AD8EF3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17" name="Rectangle 149">
                <a:extLst>
                  <a:ext uri="{FF2B5EF4-FFF2-40B4-BE49-F238E27FC236}">
                    <a16:creationId xmlns:a16="http://schemas.microsoft.com/office/drawing/2014/main" id="{2B86FF99-00DB-934B-8BA7-48C64B644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18" name="Freeform 150">
                <a:extLst>
                  <a:ext uri="{FF2B5EF4-FFF2-40B4-BE49-F238E27FC236}">
                    <a16:creationId xmlns:a16="http://schemas.microsoft.com/office/drawing/2014/main" id="{956FBF0C-5170-794A-B33B-82657D571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19" name="Freeform 151">
                <a:extLst>
                  <a:ext uri="{FF2B5EF4-FFF2-40B4-BE49-F238E27FC236}">
                    <a16:creationId xmlns:a16="http://schemas.microsoft.com/office/drawing/2014/main" id="{445CE280-0D0A-6B4F-84F6-532AE1926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20" name="Rectangle 152">
                <a:extLst>
                  <a:ext uri="{FF2B5EF4-FFF2-40B4-BE49-F238E27FC236}">
                    <a16:creationId xmlns:a16="http://schemas.microsoft.com/office/drawing/2014/main" id="{0D6EBFB3-4B17-8B4D-84D1-393E2919B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721" name="Group 153">
                <a:extLst>
                  <a:ext uri="{FF2B5EF4-FFF2-40B4-BE49-F238E27FC236}">
                    <a16:creationId xmlns:a16="http://schemas.microsoft.com/office/drawing/2014/main" id="{68337FBF-F76C-C544-8BA6-563723BD11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746" name="AutoShape 154">
                  <a:extLst>
                    <a:ext uri="{FF2B5EF4-FFF2-40B4-BE49-F238E27FC236}">
                      <a16:creationId xmlns:a16="http://schemas.microsoft.com/office/drawing/2014/main" id="{7983AE2B-9F40-7446-964A-C0D1EC2552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47" name="AutoShape 155">
                  <a:extLst>
                    <a:ext uri="{FF2B5EF4-FFF2-40B4-BE49-F238E27FC236}">
                      <a16:creationId xmlns:a16="http://schemas.microsoft.com/office/drawing/2014/main" id="{ADC46602-CC63-8141-8BF1-5EC8D1824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722" name="Rectangle 156">
                <a:extLst>
                  <a:ext uri="{FF2B5EF4-FFF2-40B4-BE49-F238E27FC236}">
                    <a16:creationId xmlns:a16="http://schemas.microsoft.com/office/drawing/2014/main" id="{0B0E3BE7-5708-A949-85C0-8553CB933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723" name="Group 157">
                <a:extLst>
                  <a:ext uri="{FF2B5EF4-FFF2-40B4-BE49-F238E27FC236}">
                    <a16:creationId xmlns:a16="http://schemas.microsoft.com/office/drawing/2014/main" id="{59EFAC4A-A3D4-9E4D-84E2-5BD8A5D33E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44" name="AutoShape 158">
                  <a:extLst>
                    <a:ext uri="{FF2B5EF4-FFF2-40B4-BE49-F238E27FC236}">
                      <a16:creationId xmlns:a16="http://schemas.microsoft.com/office/drawing/2014/main" id="{B68D7D2F-A4EC-6343-AAA2-E27A5BE91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45" name="AutoShape 159">
                  <a:extLst>
                    <a:ext uri="{FF2B5EF4-FFF2-40B4-BE49-F238E27FC236}">
                      <a16:creationId xmlns:a16="http://schemas.microsoft.com/office/drawing/2014/main" id="{5C8BE6BD-0D6C-BE4F-A7C1-CFA5A3A72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724" name="Rectangle 160">
                <a:extLst>
                  <a:ext uri="{FF2B5EF4-FFF2-40B4-BE49-F238E27FC236}">
                    <a16:creationId xmlns:a16="http://schemas.microsoft.com/office/drawing/2014/main" id="{584E618E-4A1F-8343-97FD-62858B78F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25" name="Rectangle 161">
                <a:extLst>
                  <a:ext uri="{FF2B5EF4-FFF2-40B4-BE49-F238E27FC236}">
                    <a16:creationId xmlns:a16="http://schemas.microsoft.com/office/drawing/2014/main" id="{12F0293A-C413-F449-BF89-9E1C83526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grpSp>
            <p:nvGrpSpPr>
              <p:cNvPr id="726" name="Group 162">
                <a:extLst>
                  <a:ext uri="{FF2B5EF4-FFF2-40B4-BE49-F238E27FC236}">
                    <a16:creationId xmlns:a16="http://schemas.microsoft.com/office/drawing/2014/main" id="{1A6200EB-5E59-2B47-9B1A-EF30A5EAD2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742" name="AutoShape 163">
                  <a:extLst>
                    <a:ext uri="{FF2B5EF4-FFF2-40B4-BE49-F238E27FC236}">
                      <a16:creationId xmlns:a16="http://schemas.microsoft.com/office/drawing/2014/main" id="{B97E9310-11F5-E248-A0DF-E45AE8F9B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43" name="AutoShape 164">
                  <a:extLst>
                    <a:ext uri="{FF2B5EF4-FFF2-40B4-BE49-F238E27FC236}">
                      <a16:creationId xmlns:a16="http://schemas.microsoft.com/office/drawing/2014/main" id="{968E1571-41AC-434C-B887-D8EBC7A3B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727" name="Freeform 165">
                <a:extLst>
                  <a:ext uri="{FF2B5EF4-FFF2-40B4-BE49-F238E27FC236}">
                    <a16:creationId xmlns:a16="http://schemas.microsoft.com/office/drawing/2014/main" id="{BE30363C-DD3A-B943-9269-1BAD5BA36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728" name="Group 166">
                <a:extLst>
                  <a:ext uri="{FF2B5EF4-FFF2-40B4-BE49-F238E27FC236}">
                    <a16:creationId xmlns:a16="http://schemas.microsoft.com/office/drawing/2014/main" id="{38788B69-339D-7F4E-B301-8175DEA9D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40" name="AutoShape 167">
                  <a:extLst>
                    <a:ext uri="{FF2B5EF4-FFF2-40B4-BE49-F238E27FC236}">
                      <a16:creationId xmlns:a16="http://schemas.microsoft.com/office/drawing/2014/main" id="{97B97885-9739-1F45-B789-FBABCFF92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  <p:sp>
              <p:nvSpPr>
                <p:cNvPr id="741" name="AutoShape 168">
                  <a:extLst>
                    <a:ext uri="{FF2B5EF4-FFF2-40B4-BE49-F238E27FC236}">
                      <a16:creationId xmlns:a16="http://schemas.microsoft.com/office/drawing/2014/main" id="{84771018-17F5-D14A-8D8C-59EE601BC2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defRPr/>
                  </a:pPr>
                  <a:endParaRPr lang="en-US" altLang="en-US" sz="2100">
                    <a:solidFill>
                      <a:srgbClr val="000000"/>
                    </a:solidFill>
                    <a:latin typeface="+mn-lt"/>
                  </a:endParaRPr>
                </a:p>
              </p:txBody>
            </p:sp>
          </p:grpSp>
          <p:sp>
            <p:nvSpPr>
              <p:cNvPr id="729" name="Rectangle 169">
                <a:extLst>
                  <a:ext uri="{FF2B5EF4-FFF2-40B4-BE49-F238E27FC236}">
                    <a16:creationId xmlns:a16="http://schemas.microsoft.com/office/drawing/2014/main" id="{7A058DA4-516B-7D41-BD30-6364FF15C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0" name="Freeform 170">
                <a:extLst>
                  <a:ext uri="{FF2B5EF4-FFF2-40B4-BE49-F238E27FC236}">
                    <a16:creationId xmlns:a16="http://schemas.microsoft.com/office/drawing/2014/main" id="{856E246C-1591-CA4F-8ADE-8DDDDAA77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31" name="Freeform 171">
                <a:extLst>
                  <a:ext uri="{FF2B5EF4-FFF2-40B4-BE49-F238E27FC236}">
                    <a16:creationId xmlns:a16="http://schemas.microsoft.com/office/drawing/2014/main" id="{31F0BA80-7560-4D47-A9F7-FD31AEA43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32" name="Oval 172">
                <a:extLst>
                  <a:ext uri="{FF2B5EF4-FFF2-40B4-BE49-F238E27FC236}">
                    <a16:creationId xmlns:a16="http://schemas.microsoft.com/office/drawing/2014/main" id="{0250F674-2E69-7A49-BD4A-7A0B63C62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3" name="Freeform 173">
                <a:extLst>
                  <a:ext uri="{FF2B5EF4-FFF2-40B4-BE49-F238E27FC236}">
                    <a16:creationId xmlns:a16="http://schemas.microsoft.com/office/drawing/2014/main" id="{D9EA6536-474B-D64B-B205-1D6C9BA82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734" name="AutoShape 174">
                <a:extLst>
                  <a:ext uri="{FF2B5EF4-FFF2-40B4-BE49-F238E27FC236}">
                    <a16:creationId xmlns:a16="http://schemas.microsoft.com/office/drawing/2014/main" id="{E488D72C-E2D7-A24F-8921-7455381C5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5" name="AutoShape 175">
                <a:extLst>
                  <a:ext uri="{FF2B5EF4-FFF2-40B4-BE49-F238E27FC236}">
                    <a16:creationId xmlns:a16="http://schemas.microsoft.com/office/drawing/2014/main" id="{912439D6-774F-1547-AA0D-047E22092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6" name="Oval 176">
                <a:extLst>
                  <a:ext uri="{FF2B5EF4-FFF2-40B4-BE49-F238E27FC236}">
                    <a16:creationId xmlns:a16="http://schemas.microsoft.com/office/drawing/2014/main" id="{A2D2898C-A040-C744-8B60-25B92A3ED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7" name="Oval 177">
                <a:extLst>
                  <a:ext uri="{FF2B5EF4-FFF2-40B4-BE49-F238E27FC236}">
                    <a16:creationId xmlns:a16="http://schemas.microsoft.com/office/drawing/2014/main" id="{6D69F5EA-B0E7-DA4A-8B00-86E1B289A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1500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738" name="Oval 178">
                <a:extLst>
                  <a:ext uri="{FF2B5EF4-FFF2-40B4-BE49-F238E27FC236}">
                    <a16:creationId xmlns:a16="http://schemas.microsoft.com/office/drawing/2014/main" id="{CB13C9A5-3005-C744-AAF5-43F081367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  <p:sp>
            <p:nvSpPr>
              <p:cNvPr id="739" name="Rectangle 179">
                <a:extLst>
                  <a:ext uri="{FF2B5EF4-FFF2-40B4-BE49-F238E27FC236}">
                    <a16:creationId xmlns:a16="http://schemas.microsoft.com/office/drawing/2014/main" id="{5E9EBF99-398D-4346-9CCC-C08D38A90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altLang="en-US" sz="2100">
                  <a:solidFill>
                    <a:srgbClr val="000000"/>
                  </a:solidFill>
                  <a:latin typeface="+mn-lt"/>
                </a:endParaRPr>
              </a:p>
            </p:txBody>
          </p:sp>
        </p:grpSp>
        <p:grpSp>
          <p:nvGrpSpPr>
            <p:cNvPr id="748" name="Group 180">
              <a:extLst>
                <a:ext uri="{FF2B5EF4-FFF2-40B4-BE49-F238E27FC236}">
                  <a16:creationId xmlns:a16="http://schemas.microsoft.com/office/drawing/2014/main" id="{68A8F3DD-C4CD-1A4A-A99E-EE08AE2B9AB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id="749" name="Picture 181" descr="desktop_computer_stylized_medium">
                <a:extLst>
                  <a:ext uri="{FF2B5EF4-FFF2-40B4-BE49-F238E27FC236}">
                    <a16:creationId xmlns:a16="http://schemas.microsoft.com/office/drawing/2014/main" id="{FB1222DE-2F29-E94E-BA2E-8430BD1F41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0" name="Freeform 182">
                <a:extLst>
                  <a:ext uri="{FF2B5EF4-FFF2-40B4-BE49-F238E27FC236}">
                    <a16:creationId xmlns:a16="http://schemas.microsoft.com/office/drawing/2014/main" id="{25C576CA-310E-BF45-AEA0-47D91F2AB2B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751" name="Group 183">
              <a:extLst>
                <a:ext uri="{FF2B5EF4-FFF2-40B4-BE49-F238E27FC236}">
                  <a16:creationId xmlns:a16="http://schemas.microsoft.com/office/drawing/2014/main" id="{292C5560-DFC2-574D-8C62-B6F62F2DC8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id="752" name="Picture 184" descr="desktop_computer_stylized_medium">
                <a:extLst>
                  <a:ext uri="{FF2B5EF4-FFF2-40B4-BE49-F238E27FC236}">
                    <a16:creationId xmlns:a16="http://schemas.microsoft.com/office/drawing/2014/main" id="{5ADBABA6-9549-8F45-9CC6-895C1B7130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3" name="Freeform 185">
                <a:extLst>
                  <a:ext uri="{FF2B5EF4-FFF2-40B4-BE49-F238E27FC236}">
                    <a16:creationId xmlns:a16="http://schemas.microsoft.com/office/drawing/2014/main" id="{175C8E0C-2E66-F847-85BF-1DF27F6E9D5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754" name="Group 186">
              <a:extLst>
                <a:ext uri="{FF2B5EF4-FFF2-40B4-BE49-F238E27FC236}">
                  <a16:creationId xmlns:a16="http://schemas.microsoft.com/office/drawing/2014/main" id="{BFA50ABA-EF43-8248-BFEE-B2185F9FF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id="755" name="Picture 187" descr="desktop_computer_stylized_medium">
                <a:extLst>
                  <a:ext uri="{FF2B5EF4-FFF2-40B4-BE49-F238E27FC236}">
                    <a16:creationId xmlns:a16="http://schemas.microsoft.com/office/drawing/2014/main" id="{F7F3CEF1-4AEE-174D-A7EB-35D5923CD4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6" name="Freeform 188">
                <a:extLst>
                  <a:ext uri="{FF2B5EF4-FFF2-40B4-BE49-F238E27FC236}">
                    <a16:creationId xmlns:a16="http://schemas.microsoft.com/office/drawing/2014/main" id="{092BEB98-510F-A54D-8396-7B8E24FE09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defRPr/>
                </a:pPr>
                <a:endParaRPr lang="en-US" sz="2100">
                  <a:ea typeface="ＭＳ Ｐゴシック" panose="020B0600070205080204" pitchFamily="34" charset="-128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E66D11C-2FA6-994B-8F41-1BCDD73182B5}"/>
              </a:ext>
            </a:extLst>
          </p:cNvPr>
          <p:cNvGrpSpPr/>
          <p:nvPr/>
        </p:nvGrpSpPr>
        <p:grpSpPr>
          <a:xfrm>
            <a:off x="4817501" y="1118920"/>
            <a:ext cx="4386133" cy="3086100"/>
            <a:chOff x="877941" y="1593850"/>
            <a:chExt cx="4706682" cy="4114800"/>
          </a:xfrm>
        </p:grpSpPr>
        <p:sp>
          <p:nvSpPr>
            <p:cNvPr id="648" name="Rectangle 523">
              <a:extLst>
                <a:ext uri="{FF2B5EF4-FFF2-40B4-BE49-F238E27FC236}">
                  <a16:creationId xmlns:a16="http://schemas.microsoft.com/office/drawing/2014/main" id="{17573379-BEF3-6842-92C8-C7C11E0F12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941" y="1593850"/>
              <a:ext cx="4522733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SzPct val="100000"/>
                <a:buFont typeface="Wingdings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Comic Sans MS" pitchFamily="66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imes New Roman" pitchFamily="18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dirty="0">
                  <a:ea typeface="ＭＳ Ｐゴシック" panose="020B0600070205080204" pitchFamily="34" charset="-128"/>
                </a:rPr>
                <a:t>per-connection end-end throughput: </a:t>
              </a:r>
              <a:r>
                <a:rPr lang="en-US" altLang="en-US" sz="2400" i="1" dirty="0">
                  <a:ea typeface="ＭＳ Ｐゴシック" panose="020B0600070205080204" pitchFamily="34" charset="-128"/>
                </a:rPr>
                <a:t>min(</a:t>
              </a:r>
              <a:r>
                <a:rPr lang="en-US" altLang="en-US" sz="2400" i="1" dirty="0" err="1"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baseline="-25000" dirty="0" err="1">
                  <a:ea typeface="ＭＳ Ｐゴシック" panose="020B0600070205080204" pitchFamily="34" charset="-128"/>
                </a:rPr>
                <a:t>c</a:t>
              </a:r>
              <a:r>
                <a:rPr lang="en-US" altLang="en-US" sz="2400" i="1" dirty="0" err="1">
                  <a:ea typeface="ＭＳ Ｐゴシック" panose="020B0600070205080204" pitchFamily="34" charset="-128"/>
                </a:rPr>
                <a:t>,R</a:t>
              </a:r>
              <a:r>
                <a:rPr lang="en-US" altLang="en-US" sz="2400" i="1" baseline="-25000" dirty="0" err="1">
                  <a:ea typeface="ＭＳ Ｐゴシック" panose="020B0600070205080204" pitchFamily="34" charset="-128"/>
                </a:rPr>
                <a:t>s</a:t>
              </a:r>
              <a:r>
                <a:rPr lang="en-US" altLang="en-US" sz="2400" i="1" dirty="0" err="1">
                  <a:ea typeface="ＭＳ Ｐゴシック" panose="020B0600070205080204" pitchFamily="34" charset="-128"/>
                </a:rPr>
                <a:t>,R</a:t>
              </a:r>
              <a:r>
                <a:rPr lang="en-US" altLang="en-US" sz="2400" i="1" dirty="0">
                  <a:ea typeface="ＭＳ Ｐゴシック" panose="020B0600070205080204" pitchFamily="34" charset="-128"/>
                </a:rPr>
                <a:t>/10)</a:t>
              </a:r>
            </a:p>
            <a:p>
              <a:pPr eaLnBrk="1" hangingPunct="1"/>
              <a:r>
                <a:rPr lang="en-US" altLang="en-US" sz="2400" dirty="0">
                  <a:ea typeface="ＭＳ Ｐゴシック" panose="020B0600070205080204" pitchFamily="34" charset="-128"/>
                </a:rPr>
                <a:t>in practice: </a:t>
              </a:r>
              <a:r>
                <a:rPr lang="en-US" altLang="en-US" sz="2400" i="1" dirty="0" err="1"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baseline="-25000" dirty="0" err="1">
                  <a:ea typeface="ＭＳ Ｐゴシック" panose="020B0600070205080204" pitchFamily="34" charset="-128"/>
                </a:rPr>
                <a:t>c</a:t>
              </a:r>
              <a:r>
                <a:rPr lang="en-US" altLang="en-US" sz="2400" dirty="0">
                  <a:ea typeface="ＭＳ Ｐゴシック" panose="020B0600070205080204" pitchFamily="34" charset="-128"/>
                </a:rPr>
                <a:t> or </a:t>
              </a:r>
              <a:r>
                <a:rPr lang="en-US" altLang="en-US" sz="2400" i="1" dirty="0">
                  <a:ea typeface="ＭＳ Ｐゴシック" panose="020B0600070205080204" pitchFamily="34" charset="-128"/>
                </a:rPr>
                <a:t>R</a:t>
              </a:r>
              <a:r>
                <a:rPr lang="en-US" altLang="en-US" sz="2400" i="1" baseline="-25000" dirty="0">
                  <a:ea typeface="ＭＳ Ｐゴシック" panose="020B0600070205080204" pitchFamily="34" charset="-128"/>
                </a:rPr>
                <a:t>s</a:t>
              </a:r>
              <a:r>
                <a:rPr lang="en-US" altLang="en-US" sz="2400" dirty="0">
                  <a:ea typeface="ＭＳ Ｐゴシック" panose="020B0600070205080204" pitchFamily="34" charset="-128"/>
                </a:rPr>
                <a:t> is often bottleneck</a:t>
              </a:r>
            </a:p>
          </p:txBody>
        </p:sp>
        <p:sp>
          <p:nvSpPr>
            <p:cNvPr id="757" name="TextBox 1">
              <a:extLst>
                <a:ext uri="{FF2B5EF4-FFF2-40B4-BE49-F238E27FC236}">
                  <a16:creationId xmlns:a16="http://schemas.microsoft.com/office/drawing/2014/main" id="{DA9B1A1A-980B-A04A-99EA-7721056B3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7710" y="4985599"/>
              <a:ext cx="4506913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050" dirty="0">
                  <a:solidFill>
                    <a:srgbClr val="000000"/>
                  </a:solidFill>
                </a:rPr>
                <a:t>* Check out the online interactive exercises for more examples: h</a:t>
              </a:r>
              <a:r>
                <a:rPr lang="en-US" altLang="en-US" sz="900" dirty="0">
                  <a:solidFill>
                    <a:srgbClr val="000000"/>
                  </a:solidFill>
                </a:rPr>
                <a:t>ttp://</a:t>
              </a:r>
              <a:r>
                <a:rPr lang="en-US" altLang="en-US" sz="900" dirty="0" err="1">
                  <a:solidFill>
                    <a:srgbClr val="000000"/>
                  </a:solidFill>
                </a:rPr>
                <a:t>gaia.cs.umass.edu</a:t>
              </a:r>
              <a:r>
                <a:rPr lang="en-US" altLang="en-US" sz="900" dirty="0">
                  <a:solidFill>
                    <a:srgbClr val="000000"/>
                  </a:solidFill>
                </a:rPr>
                <a:t>/</a:t>
              </a:r>
              <a:r>
                <a:rPr lang="en-US" altLang="en-US" sz="900" dirty="0" err="1">
                  <a:solidFill>
                    <a:srgbClr val="000000"/>
                  </a:solidFill>
                </a:rPr>
                <a:t>kurose_ross</a:t>
              </a:r>
              <a:r>
                <a:rPr lang="en-US" altLang="en-US" sz="900" dirty="0">
                  <a:solidFill>
                    <a:srgbClr val="000000"/>
                  </a:solidFill>
                </a:rPr>
                <a:t>/</a:t>
              </a:r>
            </a:p>
          </p:txBody>
        </p:sp>
      </p:grpSp>
      <p:sp>
        <p:nvSpPr>
          <p:cNvPr id="163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45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4051" y="3307690"/>
            <a:ext cx="919209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Network security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35135" y="1140289"/>
            <a:ext cx="7757123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field of network security: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bad guys can attack computer networks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we can defend networks against attacks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how to design architectures that are immune to attacks</a:t>
            </a:r>
          </a:p>
          <a:p>
            <a:pPr marL="215504" indent="-215504"/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Internet not originally designed with (much) security in mind</a:t>
            </a:r>
          </a:p>
          <a:p>
            <a:pPr marL="511969" lvl="1" indent="-169069"/>
            <a:r>
              <a:rPr lang="en-US" altLang="en-US" sz="2100" i="1" dirty="0">
                <a:ea typeface="Arial" panose="020B0604020202020204" pitchFamily="34" charset="0"/>
              </a:rPr>
              <a:t>original vision:</a:t>
            </a:r>
            <a:r>
              <a:rPr lang="en-US" altLang="en-US" sz="2100" dirty="0">
                <a:ea typeface="Arial" panose="020B0604020202020204" pitchFamily="34" charset="0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a group of mutually trusting users attached to a transparent network” </a:t>
            </a:r>
            <a:r>
              <a:rPr lang="en-US" altLang="ja-JP" sz="2100" dirty="0">
                <a:ea typeface="ＭＳ Ｐゴシック" panose="020B0600070205080204" pitchFamily="34" charset="-128"/>
                <a:sym typeface="Wingdings" pitchFamily="2" charset="2"/>
              </a:rPr>
              <a:t></a:t>
            </a:r>
            <a:endParaRPr lang="en-US" altLang="ja-JP" sz="2100" dirty="0">
              <a:ea typeface="ＭＳ Ｐゴシック" panose="020B0600070205080204" pitchFamily="34" charset="-128"/>
            </a:endParaRP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Internet protocol designers playing </a:t>
            </a:r>
            <a:r>
              <a:rPr lang="en-US" altLang="en-US" sz="2100" dirty="0">
                <a:ea typeface="ＭＳ Ｐゴシック" panose="020B0600070205080204" pitchFamily="34" charset="-128"/>
              </a:rPr>
              <a:t>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catch-up”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security considerations in all layers!</a:t>
            </a:r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94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Bad guys: malware 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683739" y="1140289"/>
            <a:ext cx="8181965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malware can get in host from:</a:t>
            </a:r>
            <a:endParaRPr lang="en-US" altLang="en-US" sz="210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 marL="511969" lvl="1" indent="-169069">
              <a:spcBef>
                <a:spcPts val="450"/>
              </a:spcBef>
            </a:pPr>
            <a:r>
              <a:rPr lang="en-US" altLang="en-US" sz="2100" i="1" dirty="0">
                <a:solidFill>
                  <a:srgbClr val="000099"/>
                </a:solidFill>
                <a:ea typeface="Arial" panose="020B0604020202020204" pitchFamily="34" charset="0"/>
              </a:rPr>
              <a:t>virus: </a:t>
            </a:r>
            <a:r>
              <a:rPr lang="en-US" altLang="en-US" sz="2100" dirty="0">
                <a:ea typeface="Arial" panose="020B0604020202020204" pitchFamily="34" charset="0"/>
              </a:rPr>
              <a:t>self-replicating infection by receiving/executing  object (e.g., e-mail attachment)</a:t>
            </a:r>
          </a:p>
          <a:p>
            <a:pPr marL="511969" lvl="1" indent="-169069">
              <a:spcBef>
                <a:spcPts val="450"/>
              </a:spcBef>
            </a:pPr>
            <a:r>
              <a:rPr lang="en-US" altLang="en-US" sz="2100" i="1" dirty="0">
                <a:solidFill>
                  <a:srgbClr val="000099"/>
                </a:solidFill>
                <a:ea typeface="Arial" panose="020B0604020202020204" pitchFamily="34" charset="0"/>
              </a:rPr>
              <a:t>worm: </a:t>
            </a:r>
            <a:r>
              <a:rPr lang="en-US" altLang="en-US" sz="2100" dirty="0">
                <a:ea typeface="Arial" panose="020B0604020202020204" pitchFamily="34" charset="0"/>
              </a:rPr>
              <a:t>self-replicating infection by passively receiving object that gets itself executed</a:t>
            </a:r>
          </a:p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spyware malware</a:t>
            </a:r>
            <a:r>
              <a:rPr lang="en-US" altLang="en-US" sz="2100" dirty="0">
                <a:ea typeface="ＭＳ Ｐゴシック" panose="020B0600070205080204" pitchFamily="34" charset="-128"/>
              </a:rPr>
              <a:t> can record keystrokes, web sites visited, upload info to collection site</a:t>
            </a:r>
          </a:p>
          <a:p>
            <a:pPr marL="215504" indent="-215504">
              <a:spcBef>
                <a:spcPct val="5000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infected host can be enrolled in  </a:t>
            </a: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botnet,</a:t>
            </a:r>
            <a:r>
              <a:rPr lang="en-US" altLang="en-US" sz="2100" dirty="0">
                <a:ea typeface="ＭＳ Ｐゴシック" panose="020B0600070205080204" pitchFamily="34" charset="-128"/>
              </a:rPr>
              <a:t> used for spam or distributed denial of service  (DDoS) attacks</a:t>
            </a:r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95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Bad guys: denial of service</a:t>
            </a:r>
          </a:p>
        </p:txBody>
      </p:sp>
      <p:grpSp>
        <p:nvGrpSpPr>
          <p:cNvPr id="5" name="Group 131">
            <a:extLst>
              <a:ext uri="{FF2B5EF4-FFF2-40B4-BE49-F238E27FC236}">
                <a16:creationId xmlns:a16="http://schemas.microsoft.com/office/drawing/2014/main" id="{5671BF31-8345-4A47-A6EE-F59651ABF1C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59508" y="2819836"/>
            <a:ext cx="551259" cy="510778"/>
            <a:chOff x="-44" y="1473"/>
            <a:chExt cx="981" cy="1105"/>
          </a:xfrm>
        </p:grpSpPr>
        <p:pic>
          <p:nvPicPr>
            <p:cNvPr id="7" name="Picture 132" descr="desktop_computer_stylized_medium">
              <a:extLst>
                <a:ext uri="{FF2B5EF4-FFF2-40B4-BE49-F238E27FC236}">
                  <a16:creationId xmlns:a16="http://schemas.microsoft.com/office/drawing/2014/main" id="{CF849B20-A34D-E044-9DF7-A03B28E73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133">
              <a:extLst>
                <a:ext uri="{FF2B5EF4-FFF2-40B4-BE49-F238E27FC236}">
                  <a16:creationId xmlns:a16="http://schemas.microsoft.com/office/drawing/2014/main" id="{F87F7675-3615-BE4C-BECA-BC2EB60FEB9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" name="Group 186">
            <a:extLst>
              <a:ext uri="{FF2B5EF4-FFF2-40B4-BE49-F238E27FC236}">
                <a16:creationId xmlns:a16="http://schemas.microsoft.com/office/drawing/2014/main" id="{A485E3ED-561D-B445-816D-36AEBD4DCE66}"/>
              </a:ext>
            </a:extLst>
          </p:cNvPr>
          <p:cNvGrpSpPr>
            <a:grpSpLocks/>
          </p:cNvGrpSpPr>
          <p:nvPr/>
        </p:nvGrpSpPr>
        <p:grpSpPr bwMode="auto">
          <a:xfrm>
            <a:off x="6065515" y="3002001"/>
            <a:ext cx="676275" cy="970360"/>
            <a:chOff x="5069" y="1396"/>
            <a:chExt cx="568" cy="815"/>
          </a:xfrm>
        </p:grpSpPr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252895BB-2B09-1C42-9FBA-A9EA9F582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40"/>
              <a:ext cx="56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500"/>
                <a:t>target</a:t>
              </a:r>
            </a:p>
          </p:txBody>
        </p:sp>
        <p:grpSp>
          <p:nvGrpSpPr>
            <p:cNvPr id="11" name="Group 153">
              <a:extLst>
                <a:ext uri="{FF2B5EF4-FFF2-40B4-BE49-F238E27FC236}">
                  <a16:creationId xmlns:a16="http://schemas.microsoft.com/office/drawing/2014/main" id="{2102AA82-D8E7-4149-9FC5-0E55B9687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12" name="Freeform 154">
                <a:extLst>
                  <a:ext uri="{FF2B5EF4-FFF2-40B4-BE49-F238E27FC236}">
                    <a16:creationId xmlns:a16="http://schemas.microsoft.com/office/drawing/2014/main" id="{4ABA3590-788E-A640-8340-D6788D8A7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3" name="Rectangle 155">
                <a:extLst>
                  <a:ext uri="{FF2B5EF4-FFF2-40B4-BE49-F238E27FC236}">
                    <a16:creationId xmlns:a16="http://schemas.microsoft.com/office/drawing/2014/main" id="{BA5EDD97-668D-144C-8C2C-961823730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9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4" name="Freeform 156">
                <a:extLst>
                  <a:ext uri="{FF2B5EF4-FFF2-40B4-BE49-F238E27FC236}">
                    <a16:creationId xmlns:a16="http://schemas.microsoft.com/office/drawing/2014/main" id="{2D62D25E-0524-B641-AAD0-241CA458D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5" name="Freeform 157">
                <a:extLst>
                  <a:ext uri="{FF2B5EF4-FFF2-40B4-BE49-F238E27FC236}">
                    <a16:creationId xmlns:a16="http://schemas.microsoft.com/office/drawing/2014/main" id="{2A48AA36-9069-1545-BFAF-1DE1C7CB8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16" name="Rectangle 158">
                <a:extLst>
                  <a:ext uri="{FF2B5EF4-FFF2-40B4-BE49-F238E27FC236}">
                    <a16:creationId xmlns:a16="http://schemas.microsoft.com/office/drawing/2014/main" id="{C46736B1-4F91-F541-8A78-57B6CCE47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18" name="Group 159">
                <a:extLst>
                  <a:ext uri="{FF2B5EF4-FFF2-40B4-BE49-F238E27FC236}">
                    <a16:creationId xmlns:a16="http://schemas.microsoft.com/office/drawing/2014/main" id="{58A0138B-7FFC-CD44-9B9E-6FB82DDE21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" name="AutoShape 160">
                  <a:extLst>
                    <a:ext uri="{FF2B5EF4-FFF2-40B4-BE49-F238E27FC236}">
                      <a16:creationId xmlns:a16="http://schemas.microsoft.com/office/drawing/2014/main" id="{A5FEEE84-EB21-BF47-A4F6-1E0F680B8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4" name="AutoShape 161">
                  <a:extLst>
                    <a:ext uri="{FF2B5EF4-FFF2-40B4-BE49-F238E27FC236}">
                      <a16:creationId xmlns:a16="http://schemas.microsoft.com/office/drawing/2014/main" id="{C8123062-722F-A642-9F03-DDE66E9B5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89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19" name="Rectangle 162">
                <a:extLst>
                  <a:ext uri="{FF2B5EF4-FFF2-40B4-BE49-F238E27FC236}">
                    <a16:creationId xmlns:a16="http://schemas.microsoft.com/office/drawing/2014/main" id="{C9020AB0-B17D-CB4F-A9B5-99244FB36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20" name="Group 163">
                <a:extLst>
                  <a:ext uri="{FF2B5EF4-FFF2-40B4-BE49-F238E27FC236}">
                    <a16:creationId xmlns:a16="http://schemas.microsoft.com/office/drawing/2014/main" id="{CE1259C3-A2E3-0149-B586-E73AACF0B1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1" name="AutoShape 164">
                  <a:extLst>
                    <a:ext uri="{FF2B5EF4-FFF2-40B4-BE49-F238E27FC236}">
                      <a16:creationId xmlns:a16="http://schemas.microsoft.com/office/drawing/2014/main" id="{D86524F2-6B03-3146-93C7-EA6450B7C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6"/>
                  <a:ext cx="724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2" name="AutoShape 165">
                  <a:extLst>
                    <a:ext uri="{FF2B5EF4-FFF2-40B4-BE49-F238E27FC236}">
                      <a16:creationId xmlns:a16="http://schemas.microsoft.com/office/drawing/2014/main" id="{6476B1C6-56E6-5B4A-8EB5-AE9CB1666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4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1" name="Rectangle 166">
                <a:extLst>
                  <a:ext uri="{FF2B5EF4-FFF2-40B4-BE49-F238E27FC236}">
                    <a16:creationId xmlns:a16="http://schemas.microsoft.com/office/drawing/2014/main" id="{19AC0D5F-2746-3944-A6FE-00A27A7A8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22" name="Rectangle 167">
                <a:extLst>
                  <a:ext uri="{FF2B5EF4-FFF2-40B4-BE49-F238E27FC236}">
                    <a16:creationId xmlns:a16="http://schemas.microsoft.com/office/drawing/2014/main" id="{51C0D0C0-5DDE-2749-8E54-4F5D8BBCC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grpSp>
            <p:nvGrpSpPr>
              <p:cNvPr id="23" name="Group 168">
                <a:extLst>
                  <a:ext uri="{FF2B5EF4-FFF2-40B4-BE49-F238E27FC236}">
                    <a16:creationId xmlns:a16="http://schemas.microsoft.com/office/drawing/2014/main" id="{2835C54C-E01E-FF41-8541-1761149C6D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" name="AutoShape 169">
                  <a:extLst>
                    <a:ext uri="{FF2B5EF4-FFF2-40B4-BE49-F238E27FC236}">
                      <a16:creationId xmlns:a16="http://schemas.microsoft.com/office/drawing/2014/main" id="{C174DDB7-5793-FE4E-9850-1A7EE0976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40" name="AutoShape 170">
                  <a:extLst>
                    <a:ext uri="{FF2B5EF4-FFF2-40B4-BE49-F238E27FC236}">
                      <a16:creationId xmlns:a16="http://schemas.microsoft.com/office/drawing/2014/main" id="{CD6C8529-D6B3-AB49-AAC4-D6272A047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4" name="Freeform 171">
                <a:extLst>
                  <a:ext uri="{FF2B5EF4-FFF2-40B4-BE49-F238E27FC236}">
                    <a16:creationId xmlns:a16="http://schemas.microsoft.com/office/drawing/2014/main" id="{2368CE90-8A8A-B34E-A754-54A2CDC4D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grpSp>
            <p:nvGrpSpPr>
              <p:cNvPr id="25" name="Group 172">
                <a:extLst>
                  <a:ext uri="{FF2B5EF4-FFF2-40B4-BE49-F238E27FC236}">
                    <a16:creationId xmlns:a16="http://schemas.microsoft.com/office/drawing/2014/main" id="{6BEBC90B-C3CE-7D4B-BA74-8D2E9FB58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7" name="AutoShape 173">
                  <a:extLst>
                    <a:ext uri="{FF2B5EF4-FFF2-40B4-BE49-F238E27FC236}">
                      <a16:creationId xmlns:a16="http://schemas.microsoft.com/office/drawing/2014/main" id="{AC94CA82-E128-0744-B46F-E756D9305C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38" name="AutoShape 174">
                  <a:extLst>
                    <a:ext uri="{FF2B5EF4-FFF2-40B4-BE49-F238E27FC236}">
                      <a16:creationId xmlns:a16="http://schemas.microsoft.com/office/drawing/2014/main" id="{708F3622-CE87-8044-8A8E-FF1DDA45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4"/>
                  <a:ext cx="695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</p:grpSp>
          <p:sp>
            <p:nvSpPr>
              <p:cNvPr id="26" name="Rectangle 175">
                <a:extLst>
                  <a:ext uri="{FF2B5EF4-FFF2-40B4-BE49-F238E27FC236}">
                    <a16:creationId xmlns:a16="http://schemas.microsoft.com/office/drawing/2014/main" id="{3FE17BF0-39BE-F44D-9554-2D4B846E4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6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27" name="Freeform 176">
                <a:extLst>
                  <a:ext uri="{FF2B5EF4-FFF2-40B4-BE49-F238E27FC236}">
                    <a16:creationId xmlns:a16="http://schemas.microsoft.com/office/drawing/2014/main" id="{633D9845-5E25-474E-8BF7-FC1F0BD4C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28" name="Freeform 177">
                <a:extLst>
                  <a:ext uri="{FF2B5EF4-FFF2-40B4-BE49-F238E27FC236}">
                    <a16:creationId xmlns:a16="http://schemas.microsoft.com/office/drawing/2014/main" id="{78C34C93-2320-564F-ADFD-350C3AD55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29" name="Oval 178">
                <a:extLst>
                  <a:ext uri="{FF2B5EF4-FFF2-40B4-BE49-F238E27FC236}">
                    <a16:creationId xmlns:a16="http://schemas.microsoft.com/office/drawing/2014/main" id="{5424D659-B05B-BA43-836D-2FA5040B7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0" name="Freeform 179">
                <a:extLst>
                  <a:ext uri="{FF2B5EF4-FFF2-40B4-BE49-F238E27FC236}">
                    <a16:creationId xmlns:a16="http://schemas.microsoft.com/office/drawing/2014/main" id="{901B4BB8-C637-AE40-85D1-E590B5A6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1050"/>
              </a:p>
            </p:txBody>
          </p:sp>
          <p:sp>
            <p:nvSpPr>
              <p:cNvPr id="31" name="AutoShape 180">
                <a:extLst>
                  <a:ext uri="{FF2B5EF4-FFF2-40B4-BE49-F238E27FC236}">
                    <a16:creationId xmlns:a16="http://schemas.microsoft.com/office/drawing/2014/main" id="{751300FB-CBCE-FB4E-84C9-1F4169450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9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2" name="AutoShape 181">
                <a:extLst>
                  <a:ext uri="{FF2B5EF4-FFF2-40B4-BE49-F238E27FC236}">
                    <a16:creationId xmlns:a16="http://schemas.microsoft.com/office/drawing/2014/main" id="{14F80730-26F5-7849-BE0D-295114CEF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2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3" name="Oval 182">
                <a:extLst>
                  <a:ext uri="{FF2B5EF4-FFF2-40B4-BE49-F238E27FC236}">
                    <a16:creationId xmlns:a16="http://schemas.microsoft.com/office/drawing/2014/main" id="{754B8C0E-A673-B848-BF9B-96DC9D86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0850A2C2-5BDF-8644-B742-A1CE7E134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Oval 184">
                <a:extLst>
                  <a:ext uri="{FF2B5EF4-FFF2-40B4-BE49-F238E27FC236}">
                    <a16:creationId xmlns:a16="http://schemas.microsoft.com/office/drawing/2014/main" id="{542B7A1C-5166-F14C-99EB-9D369CD71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6" name="Rectangle 185">
                <a:extLst>
                  <a:ext uri="{FF2B5EF4-FFF2-40B4-BE49-F238E27FC236}">
                    <a16:creationId xmlns:a16="http://schemas.microsoft.com/office/drawing/2014/main" id="{96E57170-1D21-3041-80C5-BCD5BCFE0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</p:grpSp>
      <p:sp>
        <p:nvSpPr>
          <p:cNvPr id="45" name="Rectangle 3">
            <a:extLst>
              <a:ext uri="{FF2B5EF4-FFF2-40B4-BE49-F238E27FC236}">
                <a16:creationId xmlns:a16="http://schemas.microsoft.com/office/drawing/2014/main" id="{B003BE48-58DC-5A4B-9250-A838A7C7044A}"/>
              </a:ext>
            </a:extLst>
          </p:cNvPr>
          <p:cNvSpPr txBox="1">
            <a:spLocks noChangeArrowheads="1"/>
          </p:cNvSpPr>
          <p:nvPr/>
        </p:nvSpPr>
        <p:spPr>
          <a:xfrm>
            <a:off x="545509" y="1044910"/>
            <a:ext cx="8326821" cy="82823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itchFamily="2" charset="2"/>
              <a:buNone/>
            </a:pPr>
            <a:r>
              <a:rPr lang="en-US" altLang="en-US" sz="1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Denial of Service (DoS):</a:t>
            </a:r>
            <a:r>
              <a:rPr lang="en-US" altLang="en-US" sz="1800" dirty="0">
                <a:ea typeface="ＭＳ Ｐゴシック" panose="020B0600070205080204" pitchFamily="34" charset="-128"/>
              </a:rPr>
              <a:t> attackers make resources (server, bandwidth) unavailable to legitimate traffic by overwhelming resource with bogus traffic</a:t>
            </a: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CEF91AB4-C999-A54F-97F0-0D764C08F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1244" y="2337640"/>
            <a:ext cx="308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1.</a:t>
            </a:r>
            <a:r>
              <a:rPr lang="en-US" altLang="en-US" sz="2100" dirty="0">
                <a:latin typeface="+mn-lt"/>
              </a:rPr>
              <a:t> </a:t>
            </a:r>
            <a:r>
              <a:rPr lang="en-US" altLang="en-US" sz="1800" dirty="0">
                <a:latin typeface="+mn-lt"/>
              </a:rPr>
              <a:t>select target</a:t>
            </a:r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075D78BA-F2C2-D04E-8588-A73192FF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2475" y="2881194"/>
            <a:ext cx="344075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2.</a:t>
            </a:r>
            <a:r>
              <a:rPr lang="en-US" altLang="en-US" sz="2100" dirty="0">
                <a:latin typeface="+mn-lt"/>
              </a:rPr>
              <a:t> </a:t>
            </a:r>
            <a:r>
              <a:rPr lang="en-US" altLang="en-US" sz="1800" dirty="0">
                <a:latin typeface="+mn-lt"/>
              </a:rPr>
              <a:t>break into hosts around the network (see botnet)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AutoNum type="arabicPeriod" startAt="2"/>
            </a:pPr>
            <a:endParaRPr lang="en-US" altLang="en-US" sz="2100" dirty="0">
              <a:latin typeface="+mn-lt"/>
            </a:endParaRP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9860933B-2B16-1242-A6CB-2A2E5DF5B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269" y="3670643"/>
            <a:ext cx="338335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2"/>
              <a:buNone/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3.</a:t>
            </a:r>
            <a:r>
              <a:rPr lang="en-US" altLang="en-US" sz="2100" dirty="0">
                <a:latin typeface="+mn-lt"/>
              </a:rPr>
              <a:t> </a:t>
            </a:r>
            <a:r>
              <a:rPr lang="en-US" altLang="en-US" sz="1800" dirty="0">
                <a:latin typeface="+mn-lt"/>
              </a:rPr>
              <a:t>send packets to target from compromised hosts</a:t>
            </a:r>
          </a:p>
        </p:txBody>
      </p:sp>
      <p:grpSp>
        <p:nvGrpSpPr>
          <p:cNvPr id="49" name="Group 152">
            <a:extLst>
              <a:ext uri="{FF2B5EF4-FFF2-40B4-BE49-F238E27FC236}">
                <a16:creationId xmlns:a16="http://schemas.microsoft.com/office/drawing/2014/main" id="{34BB1FB3-F797-CE40-A303-F67D5EA0D714}"/>
              </a:ext>
            </a:extLst>
          </p:cNvPr>
          <p:cNvGrpSpPr>
            <a:grpSpLocks/>
          </p:cNvGrpSpPr>
          <p:nvPr/>
        </p:nvGrpSpPr>
        <p:grpSpPr bwMode="auto">
          <a:xfrm>
            <a:off x="5157065" y="2473363"/>
            <a:ext cx="2040731" cy="2006204"/>
            <a:chOff x="-262" y="2555"/>
            <a:chExt cx="1714" cy="1685"/>
          </a:xfrm>
        </p:grpSpPr>
        <p:sp>
          <p:nvSpPr>
            <p:cNvPr id="50" name="Line 63">
              <a:extLst>
                <a:ext uri="{FF2B5EF4-FFF2-40B4-BE49-F238E27FC236}">
                  <a16:creationId xmlns:a16="http://schemas.microsoft.com/office/drawing/2014/main" id="{240D789E-07A8-4A47-8526-9F3894E15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" y="3261"/>
              <a:ext cx="436" cy="16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1" name="Line 64">
              <a:extLst>
                <a:ext uri="{FF2B5EF4-FFF2-40B4-BE49-F238E27FC236}">
                  <a16:creationId xmlns:a16="http://schemas.microsoft.com/office/drawing/2014/main" id="{8EA69BDD-6834-BA4E-8A9A-CDD3D334E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" y="3470"/>
              <a:ext cx="226" cy="32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2" name="Line 65">
              <a:extLst>
                <a:ext uri="{FF2B5EF4-FFF2-40B4-BE49-F238E27FC236}">
                  <a16:creationId xmlns:a16="http://schemas.microsoft.com/office/drawing/2014/main" id="{6F7FFC2D-076E-9641-9969-CA6045CBA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" y="3410"/>
              <a:ext cx="595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3" name="Line 66">
              <a:extLst>
                <a:ext uri="{FF2B5EF4-FFF2-40B4-BE49-F238E27FC236}">
                  <a16:creationId xmlns:a16="http://schemas.microsoft.com/office/drawing/2014/main" id="{411EA141-EA1B-9249-AC8C-AEFF840A4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2555"/>
              <a:ext cx="16" cy="46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4" name="Line 67">
              <a:extLst>
                <a:ext uri="{FF2B5EF4-FFF2-40B4-BE49-F238E27FC236}">
                  <a16:creationId xmlns:a16="http://schemas.microsoft.com/office/drawing/2014/main" id="{2980C73E-B307-9347-B762-286D7DB5F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" y="3011"/>
              <a:ext cx="473" cy="1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5" name="Line 68">
              <a:extLst>
                <a:ext uri="{FF2B5EF4-FFF2-40B4-BE49-F238E27FC236}">
                  <a16:creationId xmlns:a16="http://schemas.microsoft.com/office/drawing/2014/main" id="{671BC8F5-6316-CD48-97A2-C38DE07E4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62" y="3083"/>
              <a:ext cx="879" cy="1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6" name="Line 69">
              <a:extLst>
                <a:ext uri="{FF2B5EF4-FFF2-40B4-BE49-F238E27FC236}">
                  <a16:creationId xmlns:a16="http://schemas.microsoft.com/office/drawing/2014/main" id="{8B7BCBEF-584C-F74E-80E0-8BC296AF6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01" y="3362"/>
              <a:ext cx="800" cy="64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7" name="Line 70">
              <a:extLst>
                <a:ext uri="{FF2B5EF4-FFF2-40B4-BE49-F238E27FC236}">
                  <a16:creationId xmlns:a16="http://schemas.microsoft.com/office/drawing/2014/main" id="{673660B3-2563-1141-BC2A-1820CBC95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" y="2623"/>
              <a:ext cx="352" cy="39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8" name="Line 71">
              <a:extLst>
                <a:ext uri="{FF2B5EF4-FFF2-40B4-BE49-F238E27FC236}">
                  <a16:creationId xmlns:a16="http://schemas.microsoft.com/office/drawing/2014/main" id="{2AE70CDA-56D3-054F-9B05-C53E40B7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" y="3582"/>
              <a:ext cx="198" cy="6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D3EB0842-476A-254E-83F2-76A01FFE7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2738"/>
              <a:ext cx="416" cy="2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60" name="Group 113">
            <a:extLst>
              <a:ext uri="{FF2B5EF4-FFF2-40B4-BE49-F238E27FC236}">
                <a16:creationId xmlns:a16="http://schemas.microsoft.com/office/drawing/2014/main" id="{10A7333E-A585-D14F-B6DB-52435ACF18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81077" y="2203092"/>
            <a:ext cx="551259" cy="510778"/>
            <a:chOff x="-44" y="1473"/>
            <a:chExt cx="981" cy="1105"/>
          </a:xfrm>
        </p:grpSpPr>
        <p:pic>
          <p:nvPicPr>
            <p:cNvPr id="61" name="Picture 114" descr="desktop_computer_stylized_medium">
              <a:extLst>
                <a:ext uri="{FF2B5EF4-FFF2-40B4-BE49-F238E27FC236}">
                  <a16:creationId xmlns:a16="http://schemas.microsoft.com/office/drawing/2014/main" id="{01147AF7-C025-614C-95B2-DC5DF0AB4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115">
              <a:extLst>
                <a:ext uri="{FF2B5EF4-FFF2-40B4-BE49-F238E27FC236}">
                  <a16:creationId xmlns:a16="http://schemas.microsoft.com/office/drawing/2014/main" id="{EBCFF3AE-DFA4-114F-8873-ED4B72E8B4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63" name="Group 116">
            <a:extLst>
              <a:ext uri="{FF2B5EF4-FFF2-40B4-BE49-F238E27FC236}">
                <a16:creationId xmlns:a16="http://schemas.microsoft.com/office/drawing/2014/main" id="{A679AEDC-8797-7C4C-9512-CC63DE65687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96580" y="2830551"/>
            <a:ext cx="551260" cy="510779"/>
            <a:chOff x="-44" y="1473"/>
            <a:chExt cx="981" cy="1105"/>
          </a:xfrm>
        </p:grpSpPr>
        <p:pic>
          <p:nvPicPr>
            <p:cNvPr id="64" name="Picture 117" descr="desktop_computer_stylized_medium">
              <a:extLst>
                <a:ext uri="{FF2B5EF4-FFF2-40B4-BE49-F238E27FC236}">
                  <a16:creationId xmlns:a16="http://schemas.microsoft.com/office/drawing/2014/main" id="{99C8CCE2-64C9-E548-A809-8ACB9E412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118">
              <a:extLst>
                <a:ext uri="{FF2B5EF4-FFF2-40B4-BE49-F238E27FC236}">
                  <a16:creationId xmlns:a16="http://schemas.microsoft.com/office/drawing/2014/main" id="{FD178B63-073D-904B-AB24-5180E69BD2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66" name="Group 119">
            <a:extLst>
              <a:ext uri="{FF2B5EF4-FFF2-40B4-BE49-F238E27FC236}">
                <a16:creationId xmlns:a16="http://schemas.microsoft.com/office/drawing/2014/main" id="{A4F38700-463B-DC46-9ECE-001F57B0508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40633" y="3356807"/>
            <a:ext cx="551259" cy="510779"/>
            <a:chOff x="-44" y="1473"/>
            <a:chExt cx="981" cy="1105"/>
          </a:xfrm>
        </p:grpSpPr>
        <p:pic>
          <p:nvPicPr>
            <p:cNvPr id="67" name="Picture 120" descr="desktop_computer_stylized_medium">
              <a:extLst>
                <a:ext uri="{FF2B5EF4-FFF2-40B4-BE49-F238E27FC236}">
                  <a16:creationId xmlns:a16="http://schemas.microsoft.com/office/drawing/2014/main" id="{3A3D357D-C23A-4346-93FC-BEE43FD51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121">
              <a:extLst>
                <a:ext uri="{FF2B5EF4-FFF2-40B4-BE49-F238E27FC236}">
                  <a16:creationId xmlns:a16="http://schemas.microsoft.com/office/drawing/2014/main" id="{AB59AC13-2896-E340-8D89-AD696502F6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69" name="Group 122">
            <a:extLst>
              <a:ext uri="{FF2B5EF4-FFF2-40B4-BE49-F238E27FC236}">
                <a16:creationId xmlns:a16="http://schemas.microsoft.com/office/drawing/2014/main" id="{0D817B4B-4AD3-C14B-AE56-7E65C40EB00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68018" y="3942595"/>
            <a:ext cx="551260" cy="510779"/>
            <a:chOff x="-44" y="1473"/>
            <a:chExt cx="981" cy="1105"/>
          </a:xfrm>
        </p:grpSpPr>
        <p:pic>
          <p:nvPicPr>
            <p:cNvPr id="70" name="Picture 123" descr="desktop_computer_stylized_medium">
              <a:extLst>
                <a:ext uri="{FF2B5EF4-FFF2-40B4-BE49-F238E27FC236}">
                  <a16:creationId xmlns:a16="http://schemas.microsoft.com/office/drawing/2014/main" id="{D67B6E62-62DF-E440-84A6-40CD76C26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124">
              <a:extLst>
                <a:ext uri="{FF2B5EF4-FFF2-40B4-BE49-F238E27FC236}">
                  <a16:creationId xmlns:a16="http://schemas.microsoft.com/office/drawing/2014/main" id="{BFE0D576-BA51-9845-8319-80EBFDCB87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72" name="Group 125">
            <a:extLst>
              <a:ext uri="{FF2B5EF4-FFF2-40B4-BE49-F238E27FC236}">
                <a16:creationId xmlns:a16="http://schemas.microsoft.com/office/drawing/2014/main" id="{26C51172-8D8D-7A48-AF47-2DEAA12AA6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59558" y="2299532"/>
            <a:ext cx="551259" cy="510779"/>
            <a:chOff x="-44" y="1473"/>
            <a:chExt cx="981" cy="1105"/>
          </a:xfrm>
        </p:grpSpPr>
        <p:pic>
          <p:nvPicPr>
            <p:cNvPr id="73" name="Picture 126" descr="desktop_computer_stylized_medium">
              <a:extLst>
                <a:ext uri="{FF2B5EF4-FFF2-40B4-BE49-F238E27FC236}">
                  <a16:creationId xmlns:a16="http://schemas.microsoft.com/office/drawing/2014/main" id="{69C5B0D9-2504-0549-B400-71295C40B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27">
              <a:extLst>
                <a:ext uri="{FF2B5EF4-FFF2-40B4-BE49-F238E27FC236}">
                  <a16:creationId xmlns:a16="http://schemas.microsoft.com/office/drawing/2014/main" id="{9E974D9F-ACEC-1344-B5C8-FF8AAB7F54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75" name="Group 128">
            <a:extLst>
              <a:ext uri="{FF2B5EF4-FFF2-40B4-BE49-F238E27FC236}">
                <a16:creationId xmlns:a16="http://schemas.microsoft.com/office/drawing/2014/main" id="{9C958751-0861-8C42-9DE0-5B95FEB2EA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305893" y="2345967"/>
            <a:ext cx="551260" cy="510778"/>
            <a:chOff x="-44" y="1473"/>
            <a:chExt cx="981" cy="1105"/>
          </a:xfrm>
        </p:grpSpPr>
        <p:pic>
          <p:nvPicPr>
            <p:cNvPr id="76" name="Picture 129" descr="desktop_computer_stylized_medium">
              <a:extLst>
                <a:ext uri="{FF2B5EF4-FFF2-40B4-BE49-F238E27FC236}">
                  <a16:creationId xmlns:a16="http://schemas.microsoft.com/office/drawing/2014/main" id="{BAB817CE-0790-2B4E-B65F-A6498BE9CB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EFC5C2B3-2D8A-6747-B184-076FA411FE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78" name="Group 134">
            <a:extLst>
              <a:ext uri="{FF2B5EF4-FFF2-40B4-BE49-F238E27FC236}">
                <a16:creationId xmlns:a16="http://schemas.microsoft.com/office/drawing/2014/main" id="{87DE748A-5111-7641-85D8-040FC10E7AF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68921" y="2874605"/>
            <a:ext cx="551259" cy="510778"/>
            <a:chOff x="-44" y="1473"/>
            <a:chExt cx="981" cy="1105"/>
          </a:xfrm>
        </p:grpSpPr>
        <p:pic>
          <p:nvPicPr>
            <p:cNvPr id="79" name="Picture 135" descr="desktop_computer_stylized_medium">
              <a:extLst>
                <a:ext uri="{FF2B5EF4-FFF2-40B4-BE49-F238E27FC236}">
                  <a16:creationId xmlns:a16="http://schemas.microsoft.com/office/drawing/2014/main" id="{636D1BB9-AB82-8944-82FF-E59A7BD5E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136">
              <a:extLst>
                <a:ext uri="{FF2B5EF4-FFF2-40B4-BE49-F238E27FC236}">
                  <a16:creationId xmlns:a16="http://schemas.microsoft.com/office/drawing/2014/main" id="{1B6337C3-6A6A-3247-B100-E450F3744E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81" name="Group 137">
            <a:extLst>
              <a:ext uri="{FF2B5EF4-FFF2-40B4-BE49-F238E27FC236}">
                <a16:creationId xmlns:a16="http://schemas.microsoft.com/office/drawing/2014/main" id="{7EE5AE12-F723-1844-BF7D-895F4D162F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242790" y="3425863"/>
            <a:ext cx="551259" cy="510779"/>
            <a:chOff x="-44" y="1473"/>
            <a:chExt cx="981" cy="1105"/>
          </a:xfrm>
        </p:grpSpPr>
        <p:pic>
          <p:nvPicPr>
            <p:cNvPr id="82" name="Picture 138" descr="desktop_computer_stylized_medium">
              <a:extLst>
                <a:ext uri="{FF2B5EF4-FFF2-40B4-BE49-F238E27FC236}">
                  <a16:creationId xmlns:a16="http://schemas.microsoft.com/office/drawing/2014/main" id="{66F3AA24-FB01-0448-9AF5-44833FAC73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Freeform 139">
              <a:extLst>
                <a:ext uri="{FF2B5EF4-FFF2-40B4-BE49-F238E27FC236}">
                  <a16:creationId xmlns:a16="http://schemas.microsoft.com/office/drawing/2014/main" id="{F76D9B25-D392-6E4A-8438-3E7A671FB6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84" name="Group 140">
            <a:extLst>
              <a:ext uri="{FF2B5EF4-FFF2-40B4-BE49-F238E27FC236}">
                <a16:creationId xmlns:a16="http://schemas.microsoft.com/office/drawing/2014/main" id="{2D102063-F0AD-F642-9447-16BE27DA917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640458" y="3883063"/>
            <a:ext cx="551259" cy="510779"/>
            <a:chOff x="-44" y="1473"/>
            <a:chExt cx="981" cy="1105"/>
          </a:xfrm>
        </p:grpSpPr>
        <p:pic>
          <p:nvPicPr>
            <p:cNvPr id="85" name="Picture 141" descr="desktop_computer_stylized_medium">
              <a:extLst>
                <a:ext uri="{FF2B5EF4-FFF2-40B4-BE49-F238E27FC236}">
                  <a16:creationId xmlns:a16="http://schemas.microsoft.com/office/drawing/2014/main" id="{D5D011E5-F7A0-DA49-81C5-F47FA6BE6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142">
              <a:extLst>
                <a:ext uri="{FF2B5EF4-FFF2-40B4-BE49-F238E27FC236}">
                  <a16:creationId xmlns:a16="http://schemas.microsoft.com/office/drawing/2014/main" id="{071EB120-A48C-5541-A035-75E75050CB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87" name="Group 143">
            <a:extLst>
              <a:ext uri="{FF2B5EF4-FFF2-40B4-BE49-F238E27FC236}">
                <a16:creationId xmlns:a16="http://schemas.microsoft.com/office/drawing/2014/main" id="{C3CAAC65-E33C-344E-BA73-EDB94437CA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948705" y="4100949"/>
            <a:ext cx="551260" cy="510778"/>
            <a:chOff x="-44" y="1473"/>
            <a:chExt cx="981" cy="1105"/>
          </a:xfrm>
        </p:grpSpPr>
        <p:pic>
          <p:nvPicPr>
            <p:cNvPr id="88" name="Picture 144" descr="desktop_computer_stylized_medium">
              <a:extLst>
                <a:ext uri="{FF2B5EF4-FFF2-40B4-BE49-F238E27FC236}">
                  <a16:creationId xmlns:a16="http://schemas.microsoft.com/office/drawing/2014/main" id="{FAF13606-284B-D544-8976-8A32823F7C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145">
              <a:extLst>
                <a:ext uri="{FF2B5EF4-FFF2-40B4-BE49-F238E27FC236}">
                  <a16:creationId xmlns:a16="http://schemas.microsoft.com/office/drawing/2014/main" id="{591D49EF-BC84-FF48-8AB6-8F0B28E382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0" name="Group 146">
            <a:extLst>
              <a:ext uri="{FF2B5EF4-FFF2-40B4-BE49-F238E27FC236}">
                <a16:creationId xmlns:a16="http://schemas.microsoft.com/office/drawing/2014/main" id="{476E2AF9-489F-A04E-A23A-81549329EA2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42865" y="4480757"/>
            <a:ext cx="551259" cy="510779"/>
            <a:chOff x="-44" y="1473"/>
            <a:chExt cx="981" cy="1105"/>
          </a:xfrm>
        </p:grpSpPr>
        <p:pic>
          <p:nvPicPr>
            <p:cNvPr id="91" name="Picture 147" descr="desktop_computer_stylized_medium">
              <a:extLst>
                <a:ext uri="{FF2B5EF4-FFF2-40B4-BE49-F238E27FC236}">
                  <a16:creationId xmlns:a16="http://schemas.microsoft.com/office/drawing/2014/main" id="{D31CCA85-16F8-CF40-9FD2-361C58F0C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148">
              <a:extLst>
                <a:ext uri="{FF2B5EF4-FFF2-40B4-BE49-F238E27FC236}">
                  <a16:creationId xmlns:a16="http://schemas.microsoft.com/office/drawing/2014/main" id="{4B061CF6-50E2-0C4F-8DA2-97A8C0438F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3" name="Group 149">
            <a:extLst>
              <a:ext uri="{FF2B5EF4-FFF2-40B4-BE49-F238E27FC236}">
                <a16:creationId xmlns:a16="http://schemas.microsoft.com/office/drawing/2014/main" id="{BC019584-C571-0243-9746-D5FAF904985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01268" y="4189055"/>
            <a:ext cx="551260" cy="510778"/>
            <a:chOff x="-44" y="1473"/>
            <a:chExt cx="981" cy="1105"/>
          </a:xfrm>
        </p:grpSpPr>
        <p:pic>
          <p:nvPicPr>
            <p:cNvPr id="94" name="Picture 150" descr="desktop_computer_stylized_medium">
              <a:extLst>
                <a:ext uri="{FF2B5EF4-FFF2-40B4-BE49-F238E27FC236}">
                  <a16:creationId xmlns:a16="http://schemas.microsoft.com/office/drawing/2014/main" id="{008D1F22-90A3-BE4F-BA4C-262C33588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51">
              <a:extLst>
                <a:ext uri="{FF2B5EF4-FFF2-40B4-BE49-F238E27FC236}">
                  <a16:creationId xmlns:a16="http://schemas.microsoft.com/office/drawing/2014/main" id="{87AB5A67-132D-0D48-9235-45C2FC56AE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96" name="Group 89">
            <a:extLst>
              <a:ext uri="{FF2B5EF4-FFF2-40B4-BE49-F238E27FC236}">
                <a16:creationId xmlns:a16="http://schemas.microsoft.com/office/drawing/2014/main" id="{A6B06288-15F9-FA41-9711-4E4611B1C7A3}"/>
              </a:ext>
            </a:extLst>
          </p:cNvPr>
          <p:cNvGrpSpPr>
            <a:grpSpLocks/>
          </p:cNvGrpSpPr>
          <p:nvPr/>
        </p:nvGrpSpPr>
        <p:grpSpPr bwMode="auto">
          <a:xfrm>
            <a:off x="4787971" y="2254289"/>
            <a:ext cx="2644378" cy="2556272"/>
            <a:chOff x="2920" y="1824"/>
            <a:chExt cx="2221" cy="2147"/>
          </a:xfrm>
        </p:grpSpPr>
        <p:pic>
          <p:nvPicPr>
            <p:cNvPr id="97" name="Picture 7">
              <a:extLst>
                <a:ext uri="{FF2B5EF4-FFF2-40B4-BE49-F238E27FC236}">
                  <a16:creationId xmlns:a16="http://schemas.microsoft.com/office/drawing/2014/main" id="{D8D05F46-329F-7746-A822-2566BD6248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54">
              <a:extLst>
                <a:ext uri="{FF2B5EF4-FFF2-40B4-BE49-F238E27FC236}">
                  <a16:creationId xmlns:a16="http://schemas.microsoft.com/office/drawing/2014/main" id="{E0C724BB-6735-2F4C-B320-8B57ABD11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55">
              <a:extLst>
                <a:ext uri="{FF2B5EF4-FFF2-40B4-BE49-F238E27FC236}">
                  <a16:creationId xmlns:a16="http://schemas.microsoft.com/office/drawing/2014/main" id="{43360ABB-D0D2-114B-8A10-C62528490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56">
              <a:extLst>
                <a:ext uri="{FF2B5EF4-FFF2-40B4-BE49-F238E27FC236}">
                  <a16:creationId xmlns:a16="http://schemas.microsoft.com/office/drawing/2014/main" id="{7FEBFDE8-0666-7A45-8B5B-A74E50C0A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57">
              <a:extLst>
                <a:ext uri="{FF2B5EF4-FFF2-40B4-BE49-F238E27FC236}">
                  <a16:creationId xmlns:a16="http://schemas.microsoft.com/office/drawing/2014/main" id="{C1327435-8A3A-3549-A5BE-B588A9776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58">
              <a:extLst>
                <a:ext uri="{FF2B5EF4-FFF2-40B4-BE49-F238E27FC236}">
                  <a16:creationId xmlns:a16="http://schemas.microsoft.com/office/drawing/2014/main" id="{9F15F78D-2BDD-5041-95EA-4372AE320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" name="Picture 59">
              <a:extLst>
                <a:ext uri="{FF2B5EF4-FFF2-40B4-BE49-F238E27FC236}">
                  <a16:creationId xmlns:a16="http://schemas.microsoft.com/office/drawing/2014/main" id="{589B9A7E-C72C-3642-8499-4288D926E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0">
              <a:extLst>
                <a:ext uri="{FF2B5EF4-FFF2-40B4-BE49-F238E27FC236}">
                  <a16:creationId xmlns:a16="http://schemas.microsoft.com/office/drawing/2014/main" id="{FB16E4F5-EE33-084D-83BA-FA88374C8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1">
              <a:extLst>
                <a:ext uri="{FF2B5EF4-FFF2-40B4-BE49-F238E27FC236}">
                  <a16:creationId xmlns:a16="http://schemas.microsoft.com/office/drawing/2014/main" id="{72D217B6-6EB5-454E-A6D1-F8907DA44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2">
              <a:extLst>
                <a:ext uri="{FF2B5EF4-FFF2-40B4-BE49-F238E27FC236}">
                  <a16:creationId xmlns:a16="http://schemas.microsoft.com/office/drawing/2014/main" id="{D388E590-7D12-084D-B4AB-9486F64CA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19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52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 autoUpdateAnimBg="0"/>
      <p:bldP spid="47" grpId="0" autoUpdateAnimBg="0"/>
      <p:bldP spid="4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Bad guys: packet interception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630984" y="1008402"/>
            <a:ext cx="8203830" cy="15633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“</a:t>
            </a:r>
            <a:r>
              <a:rPr lang="en-US" altLang="ja-JP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sniffing”:</a:t>
            </a:r>
            <a:r>
              <a:rPr lang="en-US" altLang="ja-JP" sz="21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broadcast media (shared Ethernet, wireless)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promiscuous network interface reads/records all packets (e.g., including passwords!) passing by</a:t>
            </a:r>
          </a:p>
        </p:txBody>
      </p:sp>
      <p:grpSp>
        <p:nvGrpSpPr>
          <p:cNvPr id="5" name="Group 90">
            <a:extLst>
              <a:ext uri="{FF2B5EF4-FFF2-40B4-BE49-F238E27FC236}">
                <a16:creationId xmlns:a16="http://schemas.microsoft.com/office/drawing/2014/main" id="{4B8B6454-D739-8246-8FD0-D07116C10D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398077" y="2548698"/>
            <a:ext cx="551259" cy="510778"/>
            <a:chOff x="-44" y="1473"/>
            <a:chExt cx="981" cy="1105"/>
          </a:xfrm>
        </p:grpSpPr>
        <p:pic>
          <p:nvPicPr>
            <p:cNvPr id="7" name="Picture 91" descr="desktop_computer_stylized_medium">
              <a:extLst>
                <a:ext uri="{FF2B5EF4-FFF2-40B4-BE49-F238E27FC236}">
                  <a16:creationId xmlns:a16="http://schemas.microsoft.com/office/drawing/2014/main" id="{9D5E2D1E-EE9F-104B-B66B-CCD25447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2">
              <a:extLst>
                <a:ext uri="{FF2B5EF4-FFF2-40B4-BE49-F238E27FC236}">
                  <a16:creationId xmlns:a16="http://schemas.microsoft.com/office/drawing/2014/main" id="{B5AF61F7-8621-F54F-BE21-3743A44AEC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9" name="Freeform 43">
            <a:extLst>
              <a:ext uri="{FF2B5EF4-FFF2-40B4-BE49-F238E27FC236}">
                <a16:creationId xmlns:a16="http://schemas.microsoft.com/office/drawing/2014/main" id="{4DB7420B-BEB3-FA46-87C6-F4E3D7CFB690}"/>
              </a:ext>
            </a:extLst>
          </p:cNvPr>
          <p:cNvSpPr>
            <a:spLocks/>
          </p:cNvSpPr>
          <p:nvPr/>
        </p:nvSpPr>
        <p:spPr bwMode="auto">
          <a:xfrm>
            <a:off x="2519272" y="3099958"/>
            <a:ext cx="3440906" cy="546497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0" name="Freeform 44">
            <a:extLst>
              <a:ext uri="{FF2B5EF4-FFF2-40B4-BE49-F238E27FC236}">
                <a16:creationId xmlns:a16="http://schemas.microsoft.com/office/drawing/2014/main" id="{F85E0A6A-88C0-A24D-8518-8ED500586FDD}"/>
              </a:ext>
            </a:extLst>
          </p:cNvPr>
          <p:cNvSpPr>
            <a:spLocks/>
          </p:cNvSpPr>
          <p:nvPr/>
        </p:nvSpPr>
        <p:spPr bwMode="auto">
          <a:xfrm>
            <a:off x="4643346" y="3002326"/>
            <a:ext cx="3572" cy="391716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2ADBE0C5-B956-4149-BAB8-22ED6ADCCD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0334" y="3394042"/>
            <a:ext cx="0" cy="280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2" name="Line 46">
            <a:extLst>
              <a:ext uri="{FF2B5EF4-FFF2-40B4-BE49-F238E27FC236}">
                <a16:creationId xmlns:a16="http://schemas.microsoft.com/office/drawing/2014/main" id="{90C68912-5E92-7540-BFA2-DF07C51EF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4621" y="3927442"/>
            <a:ext cx="0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AEB79674-18BD-3B41-8E45-BBD3D9EB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057" y="256655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:a16="http://schemas.microsoft.com/office/drawing/2014/main" id="{9F0C9BB1-EE53-294F-B9A4-6D29AB02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355" y="3664313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B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84BD4A5A-ABEB-8E46-B54B-76C3BE0F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527" y="2549888"/>
            <a:ext cx="351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6D72FA-76CB-8443-8D46-D1C4AD6D2B36}"/>
              </a:ext>
            </a:extLst>
          </p:cNvPr>
          <p:cNvGrpSpPr/>
          <p:nvPr/>
        </p:nvGrpSpPr>
        <p:grpSpPr>
          <a:xfrm>
            <a:off x="3862296" y="3003516"/>
            <a:ext cx="1981201" cy="763196"/>
            <a:chOff x="5149728" y="4004689"/>
            <a:chExt cx="2641600" cy="1017595"/>
          </a:xfrm>
        </p:grpSpPr>
        <p:grpSp>
          <p:nvGrpSpPr>
            <p:cNvPr id="16" name="Group 50">
              <a:extLst>
                <a:ext uri="{FF2B5EF4-FFF2-40B4-BE49-F238E27FC236}">
                  <a16:creationId xmlns:a16="http://schemas.microsoft.com/office/drawing/2014/main" id="{3A21CC14-2FFD-1443-8AD6-ED95C8906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9728" y="4652396"/>
              <a:ext cx="2346325" cy="369888"/>
              <a:chOff x="2394" y="3342"/>
              <a:chExt cx="1478" cy="233"/>
            </a:xfrm>
          </p:grpSpPr>
          <p:sp>
            <p:nvSpPr>
              <p:cNvPr id="18" name="Rectangle 51">
                <a:extLst>
                  <a:ext uri="{FF2B5EF4-FFF2-40B4-BE49-F238E27FC236}">
                    <a16:creationId xmlns:a16="http://schemas.microsoft.com/office/drawing/2014/main" id="{FFA22DC9-8002-804E-BEF5-0AD6BF29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Line 52">
                <a:extLst>
                  <a:ext uri="{FF2B5EF4-FFF2-40B4-BE49-F238E27FC236}">
                    <a16:creationId xmlns:a16="http://schemas.microsoft.com/office/drawing/2014/main" id="{C5FFC7EF-F96B-754E-966C-1FA050A77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372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0" name="Line 53">
                <a:extLst>
                  <a:ext uri="{FF2B5EF4-FFF2-40B4-BE49-F238E27FC236}">
                    <a16:creationId xmlns:a16="http://schemas.microsoft.com/office/drawing/2014/main" id="{A20E5390-7423-1C4D-BCD6-93295C926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6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1" name="Line 54">
                <a:extLst>
                  <a:ext uri="{FF2B5EF4-FFF2-40B4-BE49-F238E27FC236}">
                    <a16:creationId xmlns:a16="http://schemas.microsoft.com/office/drawing/2014/main" id="{34698107-E0D4-2D40-8BD4-A07EF85A1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22" name="Text Box 55">
                <a:extLst>
                  <a:ext uri="{FF2B5EF4-FFF2-40B4-BE49-F238E27FC236}">
                    <a16:creationId xmlns:a16="http://schemas.microsoft.com/office/drawing/2014/main" id="{3034D655-D1DA-884B-85A3-B43DDCA03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4" y="3342"/>
                <a:ext cx="147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dirty="0" err="1"/>
                  <a:t>src:B</a:t>
                </a:r>
                <a:r>
                  <a:rPr lang="en-US" altLang="en-US" sz="1200" dirty="0"/>
                  <a:t> </a:t>
                </a:r>
                <a:r>
                  <a:rPr lang="en-US" altLang="en-US" sz="1200" dirty="0" err="1"/>
                  <a:t>dest:A</a:t>
                </a:r>
                <a:r>
                  <a:rPr lang="en-US" altLang="en-US" sz="1200" dirty="0"/>
                  <a:t>     payload</a:t>
                </a:r>
                <a:endParaRPr lang="en-US" altLang="en-US" sz="12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" name="Freeform 56">
              <a:extLst>
                <a:ext uri="{FF2B5EF4-FFF2-40B4-BE49-F238E27FC236}">
                  <a16:creationId xmlns:a16="http://schemas.microsoft.com/office/drawing/2014/main" id="{BCF74F8F-5676-9347-82B3-E439D97B3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078" y="4607939"/>
              <a:ext cx="2635250" cy="241300"/>
            </a:xfrm>
            <a:custGeom>
              <a:avLst/>
              <a:gdLst>
                <a:gd name="T0" fmla="*/ 2147483647 w 1660"/>
                <a:gd name="T1" fmla="*/ 2147483647 h 152"/>
                <a:gd name="T2" fmla="*/ 2147483647 w 1660"/>
                <a:gd name="T3" fmla="*/ 0 h 152"/>
                <a:gd name="T4" fmla="*/ 0 w 1660"/>
                <a:gd name="T5" fmla="*/ 2147483647 h 152"/>
                <a:gd name="T6" fmla="*/ 0 60000 65536"/>
                <a:gd name="T7" fmla="*/ 0 60000 65536"/>
                <a:gd name="T8" fmla="*/ 0 60000 65536"/>
                <a:gd name="T9" fmla="*/ 0 w 1660"/>
                <a:gd name="T10" fmla="*/ 0 h 152"/>
                <a:gd name="T11" fmla="*/ 1660 w 1660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0" h="152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24" name="Line 57">
              <a:extLst>
                <a:ext uri="{FF2B5EF4-FFF2-40B4-BE49-F238E27FC236}">
                  <a16:creationId xmlns:a16="http://schemas.microsoft.com/office/drawing/2014/main" id="{218F3DFE-62E8-1C42-A997-A96153618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9078" y="4004689"/>
              <a:ext cx="0" cy="6032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</p:grpSp>
      <p:pic>
        <p:nvPicPr>
          <p:cNvPr id="26" name="Picture 60">
            <a:extLst>
              <a:ext uri="{FF2B5EF4-FFF2-40B4-BE49-F238E27FC236}">
                <a16:creationId xmlns:a16="http://schemas.microsoft.com/office/drawing/2014/main" id="{6C78CF69-C5D1-1042-99DC-4222EA4DC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318" y="2599895"/>
            <a:ext cx="353616" cy="3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54">
            <a:extLst>
              <a:ext uri="{FF2B5EF4-FFF2-40B4-BE49-F238E27FC236}">
                <a16:creationId xmlns:a16="http://schemas.microsoft.com/office/drawing/2014/main" id="{E8873988-DB10-FE45-8043-BCFCC564ED65}"/>
              </a:ext>
            </a:extLst>
          </p:cNvPr>
          <p:cNvGrpSpPr>
            <a:grpSpLocks/>
          </p:cNvGrpSpPr>
          <p:nvPr/>
        </p:nvGrpSpPr>
        <p:grpSpPr bwMode="auto">
          <a:xfrm>
            <a:off x="2388303" y="2595132"/>
            <a:ext cx="273844" cy="534591"/>
            <a:chOff x="4140" y="429"/>
            <a:chExt cx="1425" cy="2396"/>
          </a:xfrm>
        </p:grpSpPr>
        <p:sp>
          <p:nvSpPr>
            <p:cNvPr id="28" name="Freeform 55">
              <a:extLst>
                <a:ext uri="{FF2B5EF4-FFF2-40B4-BE49-F238E27FC236}">
                  <a16:creationId xmlns:a16="http://schemas.microsoft.com/office/drawing/2014/main" id="{7E4CC2E0-3222-BE42-A828-FF50B8CF8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" name="Rectangle 56">
              <a:extLst>
                <a:ext uri="{FF2B5EF4-FFF2-40B4-BE49-F238E27FC236}">
                  <a16:creationId xmlns:a16="http://schemas.microsoft.com/office/drawing/2014/main" id="{A3A95F5A-927B-8844-AEEA-2C83A43D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0" name="Freeform 57">
              <a:extLst>
                <a:ext uri="{FF2B5EF4-FFF2-40B4-BE49-F238E27FC236}">
                  <a16:creationId xmlns:a16="http://schemas.microsoft.com/office/drawing/2014/main" id="{0069D4B1-B450-FA40-8C0C-BF8FC124F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1" name="Freeform 58">
              <a:extLst>
                <a:ext uri="{FF2B5EF4-FFF2-40B4-BE49-F238E27FC236}">
                  <a16:creationId xmlns:a16="http://schemas.microsoft.com/office/drawing/2014/main" id="{614429B8-C719-8644-AE6D-47F8C9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" name="Rectangle 59">
              <a:extLst>
                <a:ext uri="{FF2B5EF4-FFF2-40B4-BE49-F238E27FC236}">
                  <a16:creationId xmlns:a16="http://schemas.microsoft.com/office/drawing/2014/main" id="{2DD880A9-2F05-6141-8481-7222FC28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3" name="Group 60">
              <a:extLst>
                <a:ext uri="{FF2B5EF4-FFF2-40B4-BE49-F238E27FC236}">
                  <a16:creationId xmlns:a16="http://schemas.microsoft.com/office/drawing/2014/main" id="{719DB695-149D-A94C-90AB-A2D368B8E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" name="AutoShape 61">
                <a:extLst>
                  <a:ext uri="{FF2B5EF4-FFF2-40B4-BE49-F238E27FC236}">
                    <a16:creationId xmlns:a16="http://schemas.microsoft.com/office/drawing/2014/main" id="{7A4E2E24-3B0D-AF4F-A52C-2C357CC7E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9" name="AutoShape 62">
                <a:extLst>
                  <a:ext uri="{FF2B5EF4-FFF2-40B4-BE49-F238E27FC236}">
                    <a16:creationId xmlns:a16="http://schemas.microsoft.com/office/drawing/2014/main" id="{C6BB5F22-0BFB-674E-AB61-C51BC265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4" name="Rectangle 63">
              <a:extLst>
                <a:ext uri="{FF2B5EF4-FFF2-40B4-BE49-F238E27FC236}">
                  <a16:creationId xmlns:a16="http://schemas.microsoft.com/office/drawing/2014/main" id="{9C5A4256-A53F-874E-BFA1-39FC396F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5" name="Group 64">
              <a:extLst>
                <a:ext uri="{FF2B5EF4-FFF2-40B4-BE49-F238E27FC236}">
                  <a16:creationId xmlns:a16="http://schemas.microsoft.com/office/drawing/2014/main" id="{0E311E6A-3E40-F74F-B8AF-09D1E252A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" name="AutoShape 65">
                <a:extLst>
                  <a:ext uri="{FF2B5EF4-FFF2-40B4-BE49-F238E27FC236}">
                    <a16:creationId xmlns:a16="http://schemas.microsoft.com/office/drawing/2014/main" id="{1D179FF3-E8BF-8947-9AAD-E6B38311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7" name="AutoShape 66">
                <a:extLst>
                  <a:ext uri="{FF2B5EF4-FFF2-40B4-BE49-F238E27FC236}">
                    <a16:creationId xmlns:a16="http://schemas.microsoft.com/office/drawing/2014/main" id="{C3E96FCC-760E-C448-981B-346F9384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6" name="Rectangle 67">
              <a:extLst>
                <a:ext uri="{FF2B5EF4-FFF2-40B4-BE49-F238E27FC236}">
                  <a16:creationId xmlns:a16="http://schemas.microsoft.com/office/drawing/2014/main" id="{48149864-6DD7-D34A-BFF0-68E14067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" name="Rectangle 68">
              <a:extLst>
                <a:ext uri="{FF2B5EF4-FFF2-40B4-BE49-F238E27FC236}">
                  <a16:creationId xmlns:a16="http://schemas.microsoft.com/office/drawing/2014/main" id="{05CA4BF4-1ECD-CA4F-8A7A-7B9330DA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8" name="Group 69">
              <a:extLst>
                <a:ext uri="{FF2B5EF4-FFF2-40B4-BE49-F238E27FC236}">
                  <a16:creationId xmlns:a16="http://schemas.microsoft.com/office/drawing/2014/main" id="{F3E39B02-1298-0743-931E-B785BC775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" name="AutoShape 70">
                <a:extLst>
                  <a:ext uri="{FF2B5EF4-FFF2-40B4-BE49-F238E27FC236}">
                    <a16:creationId xmlns:a16="http://schemas.microsoft.com/office/drawing/2014/main" id="{F3EE4642-5A67-5747-9173-A2328DFB0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5" name="AutoShape 71">
                <a:extLst>
                  <a:ext uri="{FF2B5EF4-FFF2-40B4-BE49-F238E27FC236}">
                    <a16:creationId xmlns:a16="http://schemas.microsoft.com/office/drawing/2014/main" id="{5229E8D7-0E29-214E-AA57-AFE2A59BD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9" name="Freeform 72">
              <a:extLst>
                <a:ext uri="{FF2B5EF4-FFF2-40B4-BE49-F238E27FC236}">
                  <a16:creationId xmlns:a16="http://schemas.microsoft.com/office/drawing/2014/main" id="{D90341F2-014E-B14A-B581-851392F9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40" name="Group 73">
              <a:extLst>
                <a:ext uri="{FF2B5EF4-FFF2-40B4-BE49-F238E27FC236}">
                  <a16:creationId xmlns:a16="http://schemas.microsoft.com/office/drawing/2014/main" id="{280B6B26-F269-5C4C-8C19-DBA764C6C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" name="AutoShape 74">
                <a:extLst>
                  <a:ext uri="{FF2B5EF4-FFF2-40B4-BE49-F238E27FC236}">
                    <a16:creationId xmlns:a16="http://schemas.microsoft.com/office/drawing/2014/main" id="{6DB26256-77EF-F140-B0E4-C02F57D5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3" name="AutoShape 75">
                <a:extLst>
                  <a:ext uri="{FF2B5EF4-FFF2-40B4-BE49-F238E27FC236}">
                    <a16:creationId xmlns:a16="http://schemas.microsoft.com/office/drawing/2014/main" id="{EFE076B6-538F-1744-AEFF-42E849FD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1" name="Rectangle 76">
              <a:extLst>
                <a:ext uri="{FF2B5EF4-FFF2-40B4-BE49-F238E27FC236}">
                  <a16:creationId xmlns:a16="http://schemas.microsoft.com/office/drawing/2014/main" id="{022EA956-CFF7-F444-96E1-83E34982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2" name="Freeform 77">
              <a:extLst>
                <a:ext uri="{FF2B5EF4-FFF2-40B4-BE49-F238E27FC236}">
                  <a16:creationId xmlns:a16="http://schemas.microsoft.com/office/drawing/2014/main" id="{8B0DE4B6-8814-1E46-82AC-7B6D087A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3" name="Freeform 78">
              <a:extLst>
                <a:ext uri="{FF2B5EF4-FFF2-40B4-BE49-F238E27FC236}">
                  <a16:creationId xmlns:a16="http://schemas.microsoft.com/office/drawing/2014/main" id="{A9CF5A83-FC5F-8D4B-B779-B4100702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4" name="Oval 79">
              <a:extLst>
                <a:ext uri="{FF2B5EF4-FFF2-40B4-BE49-F238E27FC236}">
                  <a16:creationId xmlns:a16="http://schemas.microsoft.com/office/drawing/2014/main" id="{FDB262EF-72BC-F740-9B4D-1FFE5D070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5" name="Freeform 80">
              <a:extLst>
                <a:ext uri="{FF2B5EF4-FFF2-40B4-BE49-F238E27FC236}">
                  <a16:creationId xmlns:a16="http://schemas.microsoft.com/office/drawing/2014/main" id="{20A2BDF1-5362-9947-B37C-44E59013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6" name="AutoShape 81">
              <a:extLst>
                <a:ext uri="{FF2B5EF4-FFF2-40B4-BE49-F238E27FC236}">
                  <a16:creationId xmlns:a16="http://schemas.microsoft.com/office/drawing/2014/main" id="{BAC73710-D3B8-8C49-97AA-648DC14C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7" name="AutoShape 82">
              <a:extLst>
                <a:ext uri="{FF2B5EF4-FFF2-40B4-BE49-F238E27FC236}">
                  <a16:creationId xmlns:a16="http://schemas.microsoft.com/office/drawing/2014/main" id="{1AA6B3D5-8E2F-C340-A675-9DC59E4B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8" name="Oval 83">
              <a:extLst>
                <a:ext uri="{FF2B5EF4-FFF2-40B4-BE49-F238E27FC236}">
                  <a16:creationId xmlns:a16="http://schemas.microsoft.com/office/drawing/2014/main" id="{A39BEF0A-EE8E-7248-A007-97D328CC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9" name="Oval 84">
              <a:extLst>
                <a:ext uri="{FF2B5EF4-FFF2-40B4-BE49-F238E27FC236}">
                  <a16:creationId xmlns:a16="http://schemas.microsoft.com/office/drawing/2014/main" id="{27EEB08E-8DAC-7647-9E5A-B37F47E9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50" name="Oval 85">
              <a:extLst>
                <a:ext uri="{FF2B5EF4-FFF2-40B4-BE49-F238E27FC236}">
                  <a16:creationId xmlns:a16="http://schemas.microsoft.com/office/drawing/2014/main" id="{7165A7B4-85F9-2640-A0EE-2335D6B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1" name="Rectangle 86">
              <a:extLst>
                <a:ext uri="{FF2B5EF4-FFF2-40B4-BE49-F238E27FC236}">
                  <a16:creationId xmlns:a16="http://schemas.microsoft.com/office/drawing/2014/main" id="{C2E9996D-163B-D745-A6A8-45AB41D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:a16="http://schemas.microsoft.com/office/drawing/2014/main" id="{F67D1896-6BBC-AB41-B67F-AB3399BB37B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57771" y="3583351"/>
            <a:ext cx="551259" cy="510779"/>
            <a:chOff x="-44" y="1473"/>
            <a:chExt cx="981" cy="1105"/>
          </a:xfrm>
        </p:grpSpPr>
        <p:pic>
          <p:nvPicPr>
            <p:cNvPr id="61" name="Picture 88" descr="desktop_computer_stylized_medium">
              <a:extLst>
                <a:ext uri="{FF2B5EF4-FFF2-40B4-BE49-F238E27FC236}">
                  <a16:creationId xmlns:a16="http://schemas.microsoft.com/office/drawing/2014/main" id="{12544D91-DE12-C440-AF3A-72D906651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89">
              <a:extLst>
                <a:ext uri="{FF2B5EF4-FFF2-40B4-BE49-F238E27FC236}">
                  <a16:creationId xmlns:a16="http://schemas.microsoft.com/office/drawing/2014/main" id="{D8342731-E1B7-FF4F-B63A-2B9EF713C3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8E7B059-0C82-604F-9216-00FE9590AFC8}"/>
              </a:ext>
            </a:extLst>
          </p:cNvPr>
          <p:cNvGrpSpPr/>
          <p:nvPr/>
        </p:nvGrpSpPr>
        <p:grpSpPr>
          <a:xfrm>
            <a:off x="1092100" y="4218288"/>
            <a:ext cx="7488683" cy="702726"/>
            <a:chOff x="1456133" y="5624388"/>
            <a:chExt cx="11510671" cy="936968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CA066BBC-5B2D-0340-8A5E-0AB09584C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842" y="5645369"/>
              <a:ext cx="10900962" cy="915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lvl="1">
                <a:spcBef>
                  <a:spcPct val="20000"/>
                </a:spcBef>
                <a:buClr>
                  <a:srgbClr val="000090"/>
                </a:buClr>
                <a:buSzPct val="100000"/>
                <a:defRPr/>
              </a:pPr>
              <a:r>
                <a:rPr lang="en-US" sz="1600" dirty="0">
                  <a:ea typeface="ＭＳ Ｐゴシック" charset="0"/>
                  <a:cs typeface="ＭＳ Ｐゴシック" charset="0"/>
                </a:rPr>
                <a:t>Wireshark software used for our end-of-chapter labs is a (free) packet-sniffer</a:t>
              </a:r>
            </a:p>
            <a:p>
              <a:pPr marL="557213" lvl="1" indent="-214313">
                <a:spcBef>
                  <a:spcPct val="20000"/>
                </a:spcBef>
                <a:buClr>
                  <a:schemeClr val="accent2"/>
                </a:buClr>
                <a:buSzPct val="75000"/>
                <a:defRPr/>
              </a:pPr>
              <a:endParaRPr lang="en-US" sz="1050" dirty="0">
                <a:latin typeface="Gill Sans MT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194" name="Picture 2" descr="Image result for wireshark logo">
              <a:extLst>
                <a:ext uri="{FF2B5EF4-FFF2-40B4-BE49-F238E27FC236}">
                  <a16:creationId xmlns:a16="http://schemas.microsoft.com/office/drawing/2014/main" id="{05D86E15-2863-2D4D-B25D-A42C0FE63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133" y="5624388"/>
              <a:ext cx="667509" cy="667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9D1305C-AF63-6240-8FD1-E69B36970A8F}"/>
              </a:ext>
            </a:extLst>
          </p:cNvPr>
          <p:cNvGrpSpPr/>
          <p:nvPr/>
        </p:nvGrpSpPr>
        <p:grpSpPr>
          <a:xfrm>
            <a:off x="3040765" y="3588251"/>
            <a:ext cx="719138" cy="357188"/>
            <a:chOff x="7493876" y="2774731"/>
            <a:chExt cx="1481958" cy="894622"/>
          </a:xfrm>
        </p:grpSpPr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653ABFA-F7DB-F14E-95A5-0FDFB684F5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7CB97C4-3176-704C-832B-2769F9BD8A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C4E248C-B7EE-0749-BE84-6D97E6830A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D8ABCFB8-B1A0-CC43-8976-0D9324A60B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21E1551D-8D59-7F4D-9AC3-A82F786FCB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F50F35D5-457F-BD4D-9C04-D7E77ADC1C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43929AB4-076F-294E-B995-F22B57E519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72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72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Bad guys:  fake identity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91418" y="1456815"/>
            <a:ext cx="7757123" cy="15633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7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IP spoofing:</a:t>
            </a:r>
            <a:r>
              <a:rPr lang="en-US" altLang="en-US" sz="2400" i="1" dirty="0">
                <a:solidFill>
                  <a:srgbClr val="FF33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send packet with false source address</a:t>
            </a:r>
          </a:p>
        </p:txBody>
      </p:sp>
      <p:grpSp>
        <p:nvGrpSpPr>
          <p:cNvPr id="5" name="Group 90">
            <a:extLst>
              <a:ext uri="{FF2B5EF4-FFF2-40B4-BE49-F238E27FC236}">
                <a16:creationId xmlns:a16="http://schemas.microsoft.com/office/drawing/2014/main" id="{4B8B6454-D739-8246-8FD0-D07116C10D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398077" y="2548698"/>
            <a:ext cx="551259" cy="510778"/>
            <a:chOff x="-44" y="1473"/>
            <a:chExt cx="981" cy="1105"/>
          </a:xfrm>
        </p:grpSpPr>
        <p:pic>
          <p:nvPicPr>
            <p:cNvPr id="7" name="Picture 91" descr="desktop_computer_stylized_medium">
              <a:extLst>
                <a:ext uri="{FF2B5EF4-FFF2-40B4-BE49-F238E27FC236}">
                  <a16:creationId xmlns:a16="http://schemas.microsoft.com/office/drawing/2014/main" id="{9D5E2D1E-EE9F-104B-B66B-CCD25447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2">
              <a:extLst>
                <a:ext uri="{FF2B5EF4-FFF2-40B4-BE49-F238E27FC236}">
                  <a16:creationId xmlns:a16="http://schemas.microsoft.com/office/drawing/2014/main" id="{B5AF61F7-8621-F54F-BE21-3743A44AEC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9" name="Freeform 43">
            <a:extLst>
              <a:ext uri="{FF2B5EF4-FFF2-40B4-BE49-F238E27FC236}">
                <a16:creationId xmlns:a16="http://schemas.microsoft.com/office/drawing/2014/main" id="{4DB7420B-BEB3-FA46-87C6-F4E3D7CFB690}"/>
              </a:ext>
            </a:extLst>
          </p:cNvPr>
          <p:cNvSpPr>
            <a:spLocks/>
          </p:cNvSpPr>
          <p:nvPr/>
        </p:nvSpPr>
        <p:spPr bwMode="auto">
          <a:xfrm>
            <a:off x="2519272" y="3099958"/>
            <a:ext cx="3440906" cy="546497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0" name="Freeform 44">
            <a:extLst>
              <a:ext uri="{FF2B5EF4-FFF2-40B4-BE49-F238E27FC236}">
                <a16:creationId xmlns:a16="http://schemas.microsoft.com/office/drawing/2014/main" id="{F85E0A6A-88C0-A24D-8518-8ED500586FDD}"/>
              </a:ext>
            </a:extLst>
          </p:cNvPr>
          <p:cNvSpPr>
            <a:spLocks/>
          </p:cNvSpPr>
          <p:nvPr/>
        </p:nvSpPr>
        <p:spPr bwMode="auto">
          <a:xfrm>
            <a:off x="4643346" y="3002326"/>
            <a:ext cx="3572" cy="391716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2ADBE0C5-B956-4149-BAB8-22ED6ADCCD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0334" y="3394042"/>
            <a:ext cx="0" cy="280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2" name="Line 46">
            <a:extLst>
              <a:ext uri="{FF2B5EF4-FFF2-40B4-BE49-F238E27FC236}">
                <a16:creationId xmlns:a16="http://schemas.microsoft.com/office/drawing/2014/main" id="{90C68912-5E92-7540-BFA2-DF07C51EF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4621" y="3927442"/>
            <a:ext cx="0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AEB79674-18BD-3B41-8E45-BBD3D9EB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057" y="2566557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:a16="http://schemas.microsoft.com/office/drawing/2014/main" id="{9F0C9BB1-EE53-294F-B9A4-6D29AB02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355" y="3664313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B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84BD4A5A-ABEB-8E46-B54B-76C3BE0F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527" y="2549888"/>
            <a:ext cx="3513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C</a:t>
            </a:r>
          </a:p>
        </p:txBody>
      </p:sp>
      <p:pic>
        <p:nvPicPr>
          <p:cNvPr id="26" name="Picture 60">
            <a:extLst>
              <a:ext uri="{FF2B5EF4-FFF2-40B4-BE49-F238E27FC236}">
                <a16:creationId xmlns:a16="http://schemas.microsoft.com/office/drawing/2014/main" id="{6C78CF69-C5D1-1042-99DC-4222EA4DC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318" y="2599895"/>
            <a:ext cx="353616" cy="3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54">
            <a:extLst>
              <a:ext uri="{FF2B5EF4-FFF2-40B4-BE49-F238E27FC236}">
                <a16:creationId xmlns:a16="http://schemas.microsoft.com/office/drawing/2014/main" id="{E8873988-DB10-FE45-8043-BCFCC564ED65}"/>
              </a:ext>
            </a:extLst>
          </p:cNvPr>
          <p:cNvGrpSpPr>
            <a:grpSpLocks/>
          </p:cNvGrpSpPr>
          <p:nvPr/>
        </p:nvGrpSpPr>
        <p:grpSpPr bwMode="auto">
          <a:xfrm>
            <a:off x="2388303" y="2595132"/>
            <a:ext cx="273844" cy="534591"/>
            <a:chOff x="4140" y="429"/>
            <a:chExt cx="1425" cy="2396"/>
          </a:xfrm>
        </p:grpSpPr>
        <p:sp>
          <p:nvSpPr>
            <p:cNvPr id="28" name="Freeform 55">
              <a:extLst>
                <a:ext uri="{FF2B5EF4-FFF2-40B4-BE49-F238E27FC236}">
                  <a16:creationId xmlns:a16="http://schemas.microsoft.com/office/drawing/2014/main" id="{7E4CC2E0-3222-BE42-A828-FF50B8CF8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9" name="Rectangle 56">
              <a:extLst>
                <a:ext uri="{FF2B5EF4-FFF2-40B4-BE49-F238E27FC236}">
                  <a16:creationId xmlns:a16="http://schemas.microsoft.com/office/drawing/2014/main" id="{A3A95F5A-927B-8844-AEEA-2C83A43D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0" name="Freeform 57">
              <a:extLst>
                <a:ext uri="{FF2B5EF4-FFF2-40B4-BE49-F238E27FC236}">
                  <a16:creationId xmlns:a16="http://schemas.microsoft.com/office/drawing/2014/main" id="{0069D4B1-B450-FA40-8C0C-BF8FC124F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1" name="Freeform 58">
              <a:extLst>
                <a:ext uri="{FF2B5EF4-FFF2-40B4-BE49-F238E27FC236}">
                  <a16:creationId xmlns:a16="http://schemas.microsoft.com/office/drawing/2014/main" id="{614429B8-C719-8644-AE6D-47F8C9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32" name="Rectangle 59">
              <a:extLst>
                <a:ext uri="{FF2B5EF4-FFF2-40B4-BE49-F238E27FC236}">
                  <a16:creationId xmlns:a16="http://schemas.microsoft.com/office/drawing/2014/main" id="{2DD880A9-2F05-6141-8481-7222FC28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3" name="Group 60">
              <a:extLst>
                <a:ext uri="{FF2B5EF4-FFF2-40B4-BE49-F238E27FC236}">
                  <a16:creationId xmlns:a16="http://schemas.microsoft.com/office/drawing/2014/main" id="{719DB695-149D-A94C-90AB-A2D368B8E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" name="AutoShape 61">
                <a:extLst>
                  <a:ext uri="{FF2B5EF4-FFF2-40B4-BE49-F238E27FC236}">
                    <a16:creationId xmlns:a16="http://schemas.microsoft.com/office/drawing/2014/main" id="{7A4E2E24-3B0D-AF4F-A52C-2C357CC7E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9" name="AutoShape 62">
                <a:extLst>
                  <a:ext uri="{FF2B5EF4-FFF2-40B4-BE49-F238E27FC236}">
                    <a16:creationId xmlns:a16="http://schemas.microsoft.com/office/drawing/2014/main" id="{C6BB5F22-0BFB-674E-AB61-C51BC265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4" name="Rectangle 63">
              <a:extLst>
                <a:ext uri="{FF2B5EF4-FFF2-40B4-BE49-F238E27FC236}">
                  <a16:creationId xmlns:a16="http://schemas.microsoft.com/office/drawing/2014/main" id="{9C5A4256-A53F-874E-BFA1-39FC396F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5" name="Group 64">
              <a:extLst>
                <a:ext uri="{FF2B5EF4-FFF2-40B4-BE49-F238E27FC236}">
                  <a16:creationId xmlns:a16="http://schemas.microsoft.com/office/drawing/2014/main" id="{0E311E6A-3E40-F74F-B8AF-09D1E252A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" name="AutoShape 65">
                <a:extLst>
                  <a:ext uri="{FF2B5EF4-FFF2-40B4-BE49-F238E27FC236}">
                    <a16:creationId xmlns:a16="http://schemas.microsoft.com/office/drawing/2014/main" id="{1D179FF3-E8BF-8947-9AAD-E6B38311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7" name="AutoShape 66">
                <a:extLst>
                  <a:ext uri="{FF2B5EF4-FFF2-40B4-BE49-F238E27FC236}">
                    <a16:creationId xmlns:a16="http://schemas.microsoft.com/office/drawing/2014/main" id="{C3E96FCC-760E-C448-981B-346F9384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6" name="Rectangle 67">
              <a:extLst>
                <a:ext uri="{FF2B5EF4-FFF2-40B4-BE49-F238E27FC236}">
                  <a16:creationId xmlns:a16="http://schemas.microsoft.com/office/drawing/2014/main" id="{48149864-6DD7-D34A-BFF0-68E14067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" name="Rectangle 68">
              <a:extLst>
                <a:ext uri="{FF2B5EF4-FFF2-40B4-BE49-F238E27FC236}">
                  <a16:creationId xmlns:a16="http://schemas.microsoft.com/office/drawing/2014/main" id="{05CA4BF4-1ECD-CA4F-8A7A-7B9330DA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grpSp>
          <p:nvGrpSpPr>
            <p:cNvPr id="38" name="Group 69">
              <a:extLst>
                <a:ext uri="{FF2B5EF4-FFF2-40B4-BE49-F238E27FC236}">
                  <a16:creationId xmlns:a16="http://schemas.microsoft.com/office/drawing/2014/main" id="{F3E39B02-1298-0743-931E-B785BC775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" name="AutoShape 70">
                <a:extLst>
                  <a:ext uri="{FF2B5EF4-FFF2-40B4-BE49-F238E27FC236}">
                    <a16:creationId xmlns:a16="http://schemas.microsoft.com/office/drawing/2014/main" id="{F3EE4642-5A67-5747-9173-A2328DFB0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5" name="AutoShape 71">
                <a:extLst>
                  <a:ext uri="{FF2B5EF4-FFF2-40B4-BE49-F238E27FC236}">
                    <a16:creationId xmlns:a16="http://schemas.microsoft.com/office/drawing/2014/main" id="{5229E8D7-0E29-214E-AA57-AFE2A59BD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39" name="Freeform 72">
              <a:extLst>
                <a:ext uri="{FF2B5EF4-FFF2-40B4-BE49-F238E27FC236}">
                  <a16:creationId xmlns:a16="http://schemas.microsoft.com/office/drawing/2014/main" id="{D90341F2-014E-B14A-B581-851392F9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grpSp>
          <p:nvGrpSpPr>
            <p:cNvPr id="40" name="Group 73">
              <a:extLst>
                <a:ext uri="{FF2B5EF4-FFF2-40B4-BE49-F238E27FC236}">
                  <a16:creationId xmlns:a16="http://schemas.microsoft.com/office/drawing/2014/main" id="{280B6B26-F269-5C4C-8C19-DBA764C6C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" name="AutoShape 74">
                <a:extLst>
                  <a:ext uri="{FF2B5EF4-FFF2-40B4-BE49-F238E27FC236}">
                    <a16:creationId xmlns:a16="http://schemas.microsoft.com/office/drawing/2014/main" id="{6DB26256-77EF-F140-B0E4-C02F57D5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53" name="AutoShape 75">
                <a:extLst>
                  <a:ext uri="{FF2B5EF4-FFF2-40B4-BE49-F238E27FC236}">
                    <a16:creationId xmlns:a16="http://schemas.microsoft.com/office/drawing/2014/main" id="{EFE076B6-538F-1744-AEFF-42E849FD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sp>
          <p:nvSpPr>
            <p:cNvPr id="41" name="Rectangle 76">
              <a:extLst>
                <a:ext uri="{FF2B5EF4-FFF2-40B4-BE49-F238E27FC236}">
                  <a16:creationId xmlns:a16="http://schemas.microsoft.com/office/drawing/2014/main" id="{022EA956-CFF7-F444-96E1-83E34982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2" name="Freeform 77">
              <a:extLst>
                <a:ext uri="{FF2B5EF4-FFF2-40B4-BE49-F238E27FC236}">
                  <a16:creationId xmlns:a16="http://schemas.microsoft.com/office/drawing/2014/main" id="{8B0DE4B6-8814-1E46-82AC-7B6D087A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3" name="Freeform 78">
              <a:extLst>
                <a:ext uri="{FF2B5EF4-FFF2-40B4-BE49-F238E27FC236}">
                  <a16:creationId xmlns:a16="http://schemas.microsoft.com/office/drawing/2014/main" id="{A9CF5A83-FC5F-8D4B-B779-B4100702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4" name="Oval 79">
              <a:extLst>
                <a:ext uri="{FF2B5EF4-FFF2-40B4-BE49-F238E27FC236}">
                  <a16:creationId xmlns:a16="http://schemas.microsoft.com/office/drawing/2014/main" id="{FDB262EF-72BC-F740-9B4D-1FFE5D070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5" name="Freeform 80">
              <a:extLst>
                <a:ext uri="{FF2B5EF4-FFF2-40B4-BE49-F238E27FC236}">
                  <a16:creationId xmlns:a16="http://schemas.microsoft.com/office/drawing/2014/main" id="{20A2BDF1-5362-9947-B37C-44E59013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46" name="AutoShape 81">
              <a:extLst>
                <a:ext uri="{FF2B5EF4-FFF2-40B4-BE49-F238E27FC236}">
                  <a16:creationId xmlns:a16="http://schemas.microsoft.com/office/drawing/2014/main" id="{BAC73710-D3B8-8C49-97AA-648DC14C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7" name="AutoShape 82">
              <a:extLst>
                <a:ext uri="{FF2B5EF4-FFF2-40B4-BE49-F238E27FC236}">
                  <a16:creationId xmlns:a16="http://schemas.microsoft.com/office/drawing/2014/main" id="{1AA6B3D5-8E2F-C340-A675-9DC59E4B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8" name="Oval 83">
              <a:extLst>
                <a:ext uri="{FF2B5EF4-FFF2-40B4-BE49-F238E27FC236}">
                  <a16:creationId xmlns:a16="http://schemas.microsoft.com/office/drawing/2014/main" id="{A39BEF0A-EE8E-7248-A007-97D328CC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49" name="Oval 84">
              <a:extLst>
                <a:ext uri="{FF2B5EF4-FFF2-40B4-BE49-F238E27FC236}">
                  <a16:creationId xmlns:a16="http://schemas.microsoft.com/office/drawing/2014/main" id="{27EEB08E-8DAC-7647-9E5A-B37F47E9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50" name="Oval 85">
              <a:extLst>
                <a:ext uri="{FF2B5EF4-FFF2-40B4-BE49-F238E27FC236}">
                  <a16:creationId xmlns:a16="http://schemas.microsoft.com/office/drawing/2014/main" id="{7165A7B4-85F9-2640-A0EE-2335D6B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51" name="Rectangle 86">
              <a:extLst>
                <a:ext uri="{FF2B5EF4-FFF2-40B4-BE49-F238E27FC236}">
                  <a16:creationId xmlns:a16="http://schemas.microsoft.com/office/drawing/2014/main" id="{C2E9996D-163B-D745-A6A8-45AB41D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:a16="http://schemas.microsoft.com/office/drawing/2014/main" id="{F67D1896-6BBC-AB41-B67F-AB3399BB37B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57771" y="3583351"/>
            <a:ext cx="551259" cy="510779"/>
            <a:chOff x="-44" y="1473"/>
            <a:chExt cx="981" cy="1105"/>
          </a:xfrm>
        </p:grpSpPr>
        <p:pic>
          <p:nvPicPr>
            <p:cNvPr id="61" name="Picture 88" descr="desktop_computer_stylized_medium">
              <a:extLst>
                <a:ext uri="{FF2B5EF4-FFF2-40B4-BE49-F238E27FC236}">
                  <a16:creationId xmlns:a16="http://schemas.microsoft.com/office/drawing/2014/main" id="{12544D91-DE12-C440-AF3A-72D906651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89">
              <a:extLst>
                <a:ext uri="{FF2B5EF4-FFF2-40B4-BE49-F238E27FC236}">
                  <a16:creationId xmlns:a16="http://schemas.microsoft.com/office/drawing/2014/main" id="{D8342731-E1B7-FF4F-B63A-2B9EF713C3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25" name="Rectangle 59">
            <a:extLst>
              <a:ext uri="{FF2B5EF4-FFF2-40B4-BE49-F238E27FC236}">
                <a16:creationId xmlns:a16="http://schemas.microsoft.com/office/drawing/2014/main" id="{CA066BBC-5B2D-0340-8A5E-0AB09584C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56" y="4410307"/>
            <a:ext cx="7688069" cy="514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100" i="1" dirty="0"/>
              <a:t>… lots more on security (throughout, Chapter 8)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9D1305C-AF63-6240-8FD1-E69B36970A8F}"/>
              </a:ext>
            </a:extLst>
          </p:cNvPr>
          <p:cNvGrpSpPr/>
          <p:nvPr/>
        </p:nvGrpSpPr>
        <p:grpSpPr>
          <a:xfrm>
            <a:off x="3040765" y="3588251"/>
            <a:ext cx="719138" cy="357188"/>
            <a:chOff x="7493876" y="2774731"/>
            <a:chExt cx="1481958" cy="894622"/>
          </a:xfrm>
        </p:grpSpPr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653ABFA-F7DB-F14E-95A5-0FDFB684F5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7CB97C4-3176-704C-832B-2769F9BD8A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C4E248C-B7EE-0749-BE84-6D97E6830A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D8ABCFB8-B1A0-CC43-8976-0D9324A60B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21E1551D-8D59-7F4D-9AC3-A82F786FCB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F50F35D5-457F-BD4D-9C04-D7E77ADC1C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43929AB4-076F-294E-B995-F22B57E519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CE516A-DB7A-FB49-88E0-3F932755EEE9}"/>
              </a:ext>
            </a:extLst>
          </p:cNvPr>
          <p:cNvGrpSpPr/>
          <p:nvPr/>
        </p:nvGrpSpPr>
        <p:grpSpPr>
          <a:xfrm>
            <a:off x="2470359" y="2975297"/>
            <a:ext cx="2225279" cy="639371"/>
            <a:chOff x="3293812" y="3967064"/>
            <a:chExt cx="2967038" cy="852495"/>
          </a:xfrm>
        </p:grpSpPr>
        <p:sp>
          <p:nvSpPr>
            <p:cNvPr id="72" name="Freeform 77">
              <a:extLst>
                <a:ext uri="{FF2B5EF4-FFF2-40B4-BE49-F238E27FC236}">
                  <a16:creationId xmlns:a16="http://schemas.microsoft.com/office/drawing/2014/main" id="{31E2CC4C-34A2-A74C-B65A-214EFD240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812" y="3967064"/>
              <a:ext cx="2967038" cy="704850"/>
            </a:xfrm>
            <a:custGeom>
              <a:avLst/>
              <a:gdLst>
                <a:gd name="T0" fmla="*/ 2147483647 w 1869"/>
                <a:gd name="T1" fmla="*/ 0 h 444"/>
                <a:gd name="T2" fmla="*/ 2147483647 w 1869"/>
                <a:gd name="T3" fmla="*/ 2147483647 h 444"/>
                <a:gd name="T4" fmla="*/ 0 w 1869"/>
                <a:gd name="T5" fmla="*/ 2147483647 h 444"/>
                <a:gd name="T6" fmla="*/ 0 60000 65536"/>
                <a:gd name="T7" fmla="*/ 0 60000 65536"/>
                <a:gd name="T8" fmla="*/ 0 60000 65536"/>
                <a:gd name="T9" fmla="*/ 0 w 1869"/>
                <a:gd name="T10" fmla="*/ 0 h 444"/>
                <a:gd name="T11" fmla="*/ 1869 w 1869"/>
                <a:gd name="T12" fmla="*/ 444 h 4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69" h="444">
                  <a:moveTo>
                    <a:pt x="1869" y="0"/>
                  </a:moveTo>
                  <a:lnTo>
                    <a:pt x="1869" y="444"/>
                  </a:lnTo>
                  <a:lnTo>
                    <a:pt x="0" y="444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grpSp>
          <p:nvGrpSpPr>
            <p:cNvPr id="73" name="Group 78">
              <a:extLst>
                <a:ext uri="{FF2B5EF4-FFF2-40B4-BE49-F238E27FC236}">
                  <a16:creationId xmlns:a16="http://schemas.microsoft.com/office/drawing/2014/main" id="{9CEF9F64-861C-7C4C-8594-4DC43481E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2912" y="4449671"/>
              <a:ext cx="2365375" cy="369888"/>
              <a:chOff x="2388" y="3342"/>
              <a:chExt cx="1490" cy="233"/>
            </a:xfrm>
          </p:grpSpPr>
          <p:sp>
            <p:nvSpPr>
              <p:cNvPr id="74" name="Rectangle 79">
                <a:extLst>
                  <a:ext uri="{FF2B5EF4-FFF2-40B4-BE49-F238E27FC236}">
                    <a16:creationId xmlns:a16="http://schemas.microsoft.com/office/drawing/2014/main" id="{A1E49101-6F18-CB48-8EBB-03B456FEE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Line 80">
                <a:extLst>
                  <a:ext uri="{FF2B5EF4-FFF2-40B4-BE49-F238E27FC236}">
                    <a16:creationId xmlns:a16="http://schemas.microsoft.com/office/drawing/2014/main" id="{61144F55-A889-914E-A5B8-46BB6DF4F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372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6" name="Line 81">
                <a:extLst>
                  <a:ext uri="{FF2B5EF4-FFF2-40B4-BE49-F238E27FC236}">
                    <a16:creationId xmlns:a16="http://schemas.microsoft.com/office/drawing/2014/main" id="{352FD75E-78ED-5D49-88CB-67A89ED57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6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7" name="Line 82">
                <a:extLst>
                  <a:ext uri="{FF2B5EF4-FFF2-40B4-BE49-F238E27FC236}">
                    <a16:creationId xmlns:a16="http://schemas.microsoft.com/office/drawing/2014/main" id="{F00A1AE7-75BA-9F41-9557-FF2EC164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050"/>
              </a:p>
            </p:txBody>
          </p:sp>
          <p:sp>
            <p:nvSpPr>
              <p:cNvPr id="78" name="Text Box 83">
                <a:extLst>
                  <a:ext uri="{FF2B5EF4-FFF2-40B4-BE49-F238E27FC236}">
                    <a16:creationId xmlns:a16="http://schemas.microsoft.com/office/drawing/2014/main" id="{581B7D01-7767-D64C-AA40-D460CE7527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8" y="3342"/>
                <a:ext cx="1490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dirty="0" err="1">
                    <a:solidFill>
                      <a:srgbClr val="CC0000"/>
                    </a:solidFill>
                  </a:rPr>
                  <a:t>src:B</a:t>
                </a:r>
                <a:r>
                  <a:rPr lang="en-US" altLang="en-US" sz="1200" dirty="0"/>
                  <a:t> </a:t>
                </a:r>
                <a:r>
                  <a:rPr lang="en-US" altLang="en-US" sz="1200" dirty="0" err="1"/>
                  <a:t>dest:A</a:t>
                </a:r>
                <a:r>
                  <a:rPr lang="en-US" altLang="en-US" sz="1200" dirty="0"/>
                  <a:t>     payload</a:t>
                </a:r>
                <a:endParaRPr lang="en-US" altLang="en-US" sz="12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78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3786" y="3682660"/>
            <a:ext cx="3155872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5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Protocol “l</a:t>
            </a:r>
            <a:r>
              <a:rPr lang="en-US" altLang="ja-JP" dirty="0">
                <a:ea typeface="ＭＳ Ｐゴシック" panose="020B0600070205080204" pitchFamily="34" charset="-128"/>
              </a:rPr>
              <a:t>ayers” and reference models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B003BE48-58DC-5A4B-9250-A838A7C7044A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1181831"/>
            <a:ext cx="7865165" cy="37874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5000"/>
              </a:lnSpc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Networks are </a:t>
            </a:r>
            <a:r>
              <a:rPr lang="en-US" altLang="en-US" sz="2400" i="1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complex, with </a:t>
            </a: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many “</a:t>
            </a:r>
            <a:r>
              <a:rPr lang="en-US" altLang="ja-JP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pieces”: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hosts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routers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links of various media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applications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protocols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hardware, software</a:t>
            </a:r>
          </a:p>
          <a:p>
            <a:pPr>
              <a:lnSpc>
                <a:spcPct val="75000"/>
              </a:lnSpc>
              <a:buNone/>
            </a:pPr>
            <a:endParaRPr lang="en-US" altLang="ja-JP" sz="2400" i="1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organization of air travel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C3583CD-CBDD-864E-8D26-0A29FF1403C0}"/>
              </a:ext>
            </a:extLst>
          </p:cNvPr>
          <p:cNvSpPr txBox="1">
            <a:spLocks noChangeArrowheads="1"/>
          </p:cNvSpPr>
          <p:nvPr/>
        </p:nvSpPr>
        <p:spPr>
          <a:xfrm>
            <a:off x="1252904" y="4279867"/>
            <a:ext cx="7147238" cy="40719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airline travel: a series of steps, involving many services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6700FC8-9E28-1D45-9971-F07DEE93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589" y="1226939"/>
            <a:ext cx="2185214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ticket (purchase)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baggage (check)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gates (load)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runway takeoff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  <a:endParaRPr lang="en-US" altLang="en-US" sz="1500" dirty="0">
              <a:solidFill>
                <a:srgbClr val="000099"/>
              </a:solidFill>
              <a:latin typeface="+mn-lt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48D3D19-7497-FE45-B7B5-B81AA421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131" y="1231664"/>
            <a:ext cx="2141933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ticket (complain)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baggage (claim)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gates (unload)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runway landing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E16D6DCC-156C-2147-81DA-F433EE3A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2310" y="3398640"/>
            <a:ext cx="20345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rgbClr val="000099"/>
                </a:solidFill>
                <a:latin typeface="+mn-lt"/>
              </a:rPr>
              <a:t>airplane routing</a:t>
            </a: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F85E233E-0BC2-2743-AB47-FA853651C08B}"/>
              </a:ext>
            </a:extLst>
          </p:cNvPr>
          <p:cNvSpPr>
            <a:spLocks/>
          </p:cNvSpPr>
          <p:nvPr/>
        </p:nvSpPr>
        <p:spPr bwMode="auto">
          <a:xfrm>
            <a:off x="659919" y="1335287"/>
            <a:ext cx="5870825" cy="2466976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9" h="10000">
                <a:moveTo>
                  <a:pt x="0" y="0"/>
                </a:moveTo>
                <a:cubicBezTo>
                  <a:pt x="3" y="2793"/>
                  <a:pt x="7" y="5585"/>
                  <a:pt x="10" y="8378"/>
                </a:cubicBezTo>
                <a:lnTo>
                  <a:pt x="1961" y="9961"/>
                </a:lnTo>
                <a:lnTo>
                  <a:pt x="8459" y="1000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9478D4E-B913-5E48-A41F-691CE28FDFE4}"/>
              </a:ext>
            </a:extLst>
          </p:cNvPr>
          <p:cNvSpPr/>
          <p:nvPr/>
        </p:nvSpPr>
        <p:spPr>
          <a:xfrm flipH="1">
            <a:off x="6470594" y="1354990"/>
            <a:ext cx="1366903" cy="2447273"/>
          </a:xfrm>
          <a:custGeom>
            <a:avLst/>
            <a:gdLst>
              <a:gd name="connsiteX0" fmla="*/ 1822537 w 1822537"/>
              <a:gd name="connsiteY0" fmla="*/ 3263030 h 3263030"/>
              <a:gd name="connsiteX1" fmla="*/ 6263 w 1822537"/>
              <a:gd name="connsiteY1" fmla="*/ 2743200 h 3263030"/>
              <a:gd name="connsiteX2" fmla="*/ 0 w 1822537"/>
              <a:gd name="connsiteY2" fmla="*/ 0 h 326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2537" h="3263030">
                <a:moveTo>
                  <a:pt x="1822537" y="3263030"/>
                </a:moveTo>
                <a:lnTo>
                  <a:pt x="6263" y="2743200"/>
                </a:lnTo>
                <a:cubicBezTo>
                  <a:pt x="4175" y="1828800"/>
                  <a:pt x="2088" y="914400"/>
                  <a:pt x="0" y="0"/>
                </a:cubicBezTo>
              </a:path>
            </a:pathLst>
          </a:custGeom>
          <a:noFill/>
          <a:ln w="44450">
            <a:solidFill>
              <a:srgbClr val="C00000"/>
            </a:solidFill>
            <a:tailEnd type="triangle" w="med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B89B52-D8A0-B841-AE4D-367CE4C080B3}"/>
              </a:ext>
            </a:extLst>
          </p:cNvPr>
          <p:cNvGrpSpPr/>
          <p:nvPr/>
        </p:nvGrpSpPr>
        <p:grpSpPr>
          <a:xfrm>
            <a:off x="3549316" y="957263"/>
            <a:ext cx="1146572" cy="465535"/>
            <a:chOff x="-1042195" y="4302698"/>
            <a:chExt cx="1528763" cy="620713"/>
          </a:xfrm>
        </p:grpSpPr>
        <p:pic>
          <p:nvPicPr>
            <p:cNvPr id="22" name="Picture 11" descr="yylgaifm[1]">
              <a:extLst>
                <a:ext uri="{FF2B5EF4-FFF2-40B4-BE49-F238E27FC236}">
                  <a16:creationId xmlns:a16="http://schemas.microsoft.com/office/drawing/2014/main" id="{07194610-EC25-D04B-8A29-162F15606C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1042195" y="4463036"/>
              <a:ext cx="152876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F2D1C1C2-445D-BD44-9E5D-B94BC5DF4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61182" y="43026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4" name="Line 13">
              <a:extLst>
                <a:ext uri="{FF2B5EF4-FFF2-40B4-BE49-F238E27FC236}">
                  <a16:creationId xmlns:a16="http://schemas.microsoft.com/office/drawing/2014/main" id="{E3D0F8A1-57E5-0348-B7BD-5D6EB952C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408782" y="44550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41A01E04-873D-7D43-8A11-021CF72C19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56382" y="4607498"/>
              <a:ext cx="45085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6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D3D16B69-45D9-7743-ADEA-3DAD4240D5C8}"/>
              </a:ext>
            </a:extLst>
          </p:cNvPr>
          <p:cNvGrpSpPr/>
          <p:nvPr/>
        </p:nvGrpSpPr>
        <p:grpSpPr>
          <a:xfrm>
            <a:off x="348736" y="1314796"/>
            <a:ext cx="7824005" cy="2031032"/>
            <a:chOff x="464981" y="1753061"/>
            <a:chExt cx="10432006" cy="270804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425220C-9838-8D45-9BAA-2D96FF83A2F1}"/>
                </a:ext>
              </a:extLst>
            </p:cNvPr>
            <p:cNvSpPr/>
            <p:nvPr/>
          </p:nvSpPr>
          <p:spPr>
            <a:xfrm>
              <a:off x="464981" y="4061418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D8EE791-0739-6F48-8733-238C908C9A99}"/>
                </a:ext>
              </a:extLst>
            </p:cNvPr>
            <p:cNvSpPr/>
            <p:nvPr/>
          </p:nvSpPr>
          <p:spPr>
            <a:xfrm>
              <a:off x="475506" y="3495132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68A0430-7325-D84E-8C11-99062FE5509D}"/>
                </a:ext>
              </a:extLst>
            </p:cNvPr>
            <p:cNvSpPr/>
            <p:nvPr/>
          </p:nvSpPr>
          <p:spPr>
            <a:xfrm>
              <a:off x="470508" y="2945434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632A966-C6C7-424C-80FC-0FFB2F0BC371}"/>
                </a:ext>
              </a:extLst>
            </p:cNvPr>
            <p:cNvSpPr/>
            <p:nvPr/>
          </p:nvSpPr>
          <p:spPr>
            <a:xfrm>
              <a:off x="471525" y="2357714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58753E-88F3-B34F-B3B9-946C3E6C15F1}"/>
                </a:ext>
              </a:extLst>
            </p:cNvPr>
            <p:cNvSpPr/>
            <p:nvPr/>
          </p:nvSpPr>
          <p:spPr>
            <a:xfrm>
              <a:off x="464982" y="1753061"/>
              <a:ext cx="10421481" cy="3996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F1839DF-A204-F147-901F-403EDC096FCD}"/>
              </a:ext>
            </a:extLst>
          </p:cNvPr>
          <p:cNvGrpSpPr/>
          <p:nvPr/>
        </p:nvGrpSpPr>
        <p:grpSpPr>
          <a:xfrm>
            <a:off x="5679727" y="1234425"/>
            <a:ext cx="2197100" cy="2171701"/>
            <a:chOff x="1574800" y="1788319"/>
            <a:chExt cx="2929467" cy="289560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615A186-9ECD-7646-A746-B390E05134BE}"/>
                </a:ext>
              </a:extLst>
            </p:cNvPr>
            <p:cNvSpPr/>
            <p:nvPr/>
          </p:nvSpPr>
          <p:spPr>
            <a:xfrm>
              <a:off x="1591733" y="1788319"/>
              <a:ext cx="2794000" cy="28956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ED9F09-CF30-0E4F-B280-1114E1973095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2421466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190042-F4C0-EC46-9AF0-FF1083E60F8B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009694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EF134E-EA30-E347-8AE4-94F83CF21DB0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3581400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C8AEB97-F690-7742-BC15-87C7C38DE30C}"/>
                </a:ext>
              </a:extLst>
            </p:cNvPr>
            <p:cNvCxnSpPr>
              <a:cxnSpLocks/>
            </p:cNvCxnSpPr>
            <p:nvPr/>
          </p:nvCxnSpPr>
          <p:spPr>
            <a:xfrm>
              <a:off x="1574800" y="4115129"/>
              <a:ext cx="2929467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3438F92-3E54-F248-B85E-6C7214C6DAB3}"/>
              </a:ext>
            </a:extLst>
          </p:cNvPr>
          <p:cNvSpPr/>
          <p:nvPr/>
        </p:nvSpPr>
        <p:spPr>
          <a:xfrm>
            <a:off x="723907" y="1226940"/>
            <a:ext cx="2095500" cy="2171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organization of air travel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36700FC8-9E28-1D45-9971-F07DEE935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185" y="1226939"/>
            <a:ext cx="2164620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ticket (purchase)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baggage (check)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gates (load)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runway takeoff</a:t>
            </a:r>
          </a:p>
          <a:p>
            <a:pPr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airplane routing</a:t>
            </a:r>
            <a:endParaRPr lang="en-US" altLang="en-US" sz="15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48D3D19-7497-FE45-B7B5-B81AA4212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431" y="1231664"/>
            <a:ext cx="2141933" cy="219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ticket (complain)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baggage (claim)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gates (unload)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runway landing</a:t>
            </a:r>
          </a:p>
          <a:p>
            <a:pPr algn="r">
              <a:lnSpc>
                <a:spcPct val="130000"/>
              </a:lnSpc>
            </a:pPr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airplane routing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8FFC7C-C6FB-584F-8F6E-FFA01C23964A}"/>
              </a:ext>
            </a:extLst>
          </p:cNvPr>
          <p:cNvCxnSpPr>
            <a:cxnSpLocks/>
          </p:cNvCxnSpPr>
          <p:nvPr/>
        </p:nvCxnSpPr>
        <p:spPr>
          <a:xfrm>
            <a:off x="711208" y="1701800"/>
            <a:ext cx="21971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B8B1716-D4D2-3649-99C0-55319689F97F}"/>
              </a:ext>
            </a:extLst>
          </p:cNvPr>
          <p:cNvCxnSpPr>
            <a:cxnSpLocks/>
          </p:cNvCxnSpPr>
          <p:nvPr/>
        </p:nvCxnSpPr>
        <p:spPr>
          <a:xfrm>
            <a:off x="711208" y="2142971"/>
            <a:ext cx="21971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A253EA2-F916-EE42-B3CA-CA7A3F485F2C}"/>
              </a:ext>
            </a:extLst>
          </p:cNvPr>
          <p:cNvCxnSpPr>
            <a:cxnSpLocks/>
          </p:cNvCxnSpPr>
          <p:nvPr/>
        </p:nvCxnSpPr>
        <p:spPr>
          <a:xfrm>
            <a:off x="711208" y="2571750"/>
            <a:ext cx="21971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5EF4F97-2C46-FF44-9C8B-77221BDB15DC}"/>
              </a:ext>
            </a:extLst>
          </p:cNvPr>
          <p:cNvCxnSpPr>
            <a:cxnSpLocks/>
          </p:cNvCxnSpPr>
          <p:nvPr/>
        </p:nvCxnSpPr>
        <p:spPr>
          <a:xfrm>
            <a:off x="711208" y="2972047"/>
            <a:ext cx="21971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1E38E25-A98C-CC40-BE63-1E70E5A1D89B}"/>
              </a:ext>
            </a:extLst>
          </p:cNvPr>
          <p:cNvSpPr/>
          <p:nvPr/>
        </p:nvSpPr>
        <p:spPr>
          <a:xfrm>
            <a:off x="3195467" y="2979189"/>
            <a:ext cx="2095500" cy="426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E16D6DCC-156C-2147-81DA-F433EE3A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15" y="3000793"/>
            <a:ext cx="20345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100" dirty="0">
                <a:solidFill>
                  <a:schemeClr val="bg1"/>
                </a:solidFill>
                <a:latin typeface="+mn-lt"/>
              </a:rPr>
              <a:t>airplane routing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EEAE621-B95A-384F-A62F-7E5903AD8FBF}"/>
              </a:ext>
            </a:extLst>
          </p:cNvPr>
          <p:cNvGrpSpPr/>
          <p:nvPr/>
        </p:nvGrpSpPr>
        <p:grpSpPr>
          <a:xfrm>
            <a:off x="2961409" y="1274820"/>
            <a:ext cx="2642117" cy="2131780"/>
            <a:chOff x="3948545" y="1699760"/>
            <a:chExt cx="3522823" cy="284237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B4A6AAF-FC59-FA44-ACE5-C72FA686C0C2}"/>
                </a:ext>
              </a:extLst>
            </p:cNvPr>
            <p:cNvSpPr txBox="1"/>
            <p:nvPr/>
          </p:nvSpPr>
          <p:spPr>
            <a:xfrm>
              <a:off x="4400060" y="1699760"/>
              <a:ext cx="2796066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ticketing service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3B20036-2BB5-4241-87A9-6D4052E720AA}"/>
                </a:ext>
              </a:extLst>
            </p:cNvPr>
            <p:cNvSpPr txBox="1"/>
            <p:nvPr/>
          </p:nvSpPr>
          <p:spPr>
            <a:xfrm>
              <a:off x="4384330" y="2292643"/>
              <a:ext cx="2873010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baggage service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14652E-AC11-9744-91B6-642D2DAB1815}"/>
                </a:ext>
              </a:extLst>
            </p:cNvPr>
            <p:cNvSpPr txBox="1"/>
            <p:nvPr/>
          </p:nvSpPr>
          <p:spPr>
            <a:xfrm>
              <a:off x="4686266" y="2872079"/>
              <a:ext cx="2178375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gate service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4AEF81B-DB1C-5E49-A5CE-1930E0CD97F9}"/>
                </a:ext>
              </a:extLst>
            </p:cNvPr>
            <p:cNvSpPr txBox="1"/>
            <p:nvPr/>
          </p:nvSpPr>
          <p:spPr>
            <a:xfrm>
              <a:off x="4485938" y="3451513"/>
              <a:ext cx="2635764" cy="553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i="1" dirty="0"/>
                <a:t>runway service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1D67CFB-C1C3-034A-88B0-DF85F0C59330}"/>
                </a:ext>
              </a:extLst>
            </p:cNvPr>
            <p:cNvGrpSpPr/>
            <p:nvPr/>
          </p:nvGrpSpPr>
          <p:grpSpPr>
            <a:xfrm>
              <a:off x="3948545" y="3988136"/>
              <a:ext cx="3522823" cy="553997"/>
              <a:chOff x="3976681" y="3974068"/>
              <a:chExt cx="3522823" cy="553997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FCD8885-2FFE-5644-B703-7DA1C8AD8286}"/>
                  </a:ext>
                </a:extLst>
              </p:cNvPr>
              <p:cNvSpPr/>
              <p:nvPr/>
            </p:nvSpPr>
            <p:spPr>
              <a:xfrm>
                <a:off x="3976681" y="4046279"/>
                <a:ext cx="3522823" cy="40262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6025D16-29A9-4843-944E-D0F547FAEFB7}"/>
                  </a:ext>
                </a:extLst>
              </p:cNvPr>
              <p:cNvSpPr txBox="1"/>
              <p:nvPr/>
            </p:nvSpPr>
            <p:spPr>
              <a:xfrm>
                <a:off x="4506558" y="3974068"/>
                <a:ext cx="2575919" cy="55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100" i="1" dirty="0"/>
                  <a:t>routing service</a:t>
                </a:r>
              </a:p>
            </p:txBody>
          </p:sp>
        </p:grpSp>
      </p:grpSp>
      <p:sp>
        <p:nvSpPr>
          <p:cNvPr id="61" name="Rectangle 40">
            <a:extLst>
              <a:ext uri="{FF2B5EF4-FFF2-40B4-BE49-F238E27FC236}">
                <a16:creationId xmlns:a16="http://schemas.microsoft.com/office/drawing/2014/main" id="{8CA0C9F3-42E1-954A-929E-FDF9EBC1EB0B}"/>
              </a:ext>
            </a:extLst>
          </p:cNvPr>
          <p:cNvSpPr txBox="1">
            <a:spLocks noChangeArrowheads="1"/>
          </p:cNvSpPr>
          <p:nvPr/>
        </p:nvSpPr>
        <p:spPr>
          <a:xfrm>
            <a:off x="659581" y="3691224"/>
            <a:ext cx="5710238" cy="1322785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layers:</a:t>
            </a:r>
            <a:r>
              <a:rPr lang="en-US" altLang="en-US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each layer implements a service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via its own internal-layer actions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en-US" sz="2100" dirty="0">
                <a:ea typeface="Arial" panose="020B0604020202020204" pitchFamily="34" charset="0"/>
              </a:rPr>
              <a:t>relying on services provided by layer below</a:t>
            </a:r>
          </a:p>
          <a:p>
            <a:pPr>
              <a:buFont typeface="Wingdings" pitchFamily="2" charset="2"/>
              <a:buNone/>
            </a:pPr>
            <a:endParaRPr lang="en-US" altLang="en-US" sz="2100" dirty="0">
              <a:ea typeface="ＭＳ Ｐゴシック" panose="020B0600070205080204" pitchFamily="34" charset="-128"/>
            </a:endParaRPr>
          </a:p>
        </p:txBody>
      </p:sp>
      <p:sp>
        <p:nvSpPr>
          <p:cNvPr id="62" name="Rectangle 40">
            <a:extLst>
              <a:ext uri="{FF2B5EF4-FFF2-40B4-BE49-F238E27FC236}">
                <a16:creationId xmlns:a16="http://schemas.microsoft.com/office/drawing/2014/main" id="{0FFE33EE-FD55-DE49-A4D9-5FB9AC3C7255}"/>
              </a:ext>
            </a:extLst>
          </p:cNvPr>
          <p:cNvSpPr txBox="1">
            <a:spLocks noChangeArrowheads="1"/>
          </p:cNvSpPr>
          <p:nvPr/>
        </p:nvSpPr>
        <p:spPr>
          <a:xfrm>
            <a:off x="6404763" y="3803489"/>
            <a:ext cx="2272525" cy="995552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2406" indent="-25004">
              <a:buNone/>
            </a:pPr>
            <a:r>
              <a:rPr lang="en-US" altLang="en-US" sz="1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Q:</a:t>
            </a:r>
            <a:r>
              <a:rPr lang="en-US" altLang="en-US" sz="1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1800" i="1" dirty="0">
                <a:ea typeface="ＭＳ Ｐゴシック" panose="020B0600070205080204" pitchFamily="34" charset="-128"/>
              </a:rPr>
              <a:t>describe in words the service provided in each layer above</a:t>
            </a:r>
            <a:endParaRPr lang="en-US" altLang="en-US" sz="1500" i="1" dirty="0">
              <a:ea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endParaRPr lang="en-US" altLang="en-US" sz="2100" dirty="0">
              <a:ea typeface="ＭＳ Ｐゴシック" panose="020B0600070205080204" pitchFamily="34" charset="-128"/>
            </a:endParaRPr>
          </a:p>
        </p:txBody>
      </p:sp>
      <p:sp>
        <p:nvSpPr>
          <p:cNvPr id="3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04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Why layering?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618951" y="1015108"/>
            <a:ext cx="8053861" cy="3692028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700" dirty="0">
                <a:ea typeface="ＭＳ Ｐゴシック" panose="020B0600070205080204" pitchFamily="34" charset="-128"/>
              </a:rPr>
              <a:t>dealing with complex systems: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explicit structure allows identification, relationship of complex system’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pieces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layered </a:t>
            </a:r>
            <a:r>
              <a:rPr lang="en-US" altLang="en-US" sz="2100" i="1" dirty="0">
                <a:solidFill>
                  <a:srgbClr val="CC0000"/>
                </a:solidFill>
                <a:ea typeface="Arial" panose="020B0604020202020204" pitchFamily="34" charset="0"/>
              </a:rPr>
              <a:t>reference model</a:t>
            </a:r>
            <a:r>
              <a:rPr lang="en-US" altLang="en-US" sz="2100" dirty="0">
                <a:ea typeface="Arial" panose="020B0604020202020204" pitchFamily="34" charset="0"/>
              </a:rPr>
              <a:t> for discussion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modularization eases maintenance, updating of system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change in layer</a:t>
            </a:r>
            <a:r>
              <a:rPr lang="en-US" altLang="en-US" sz="2100" dirty="0">
                <a:ea typeface="ＭＳ Ｐゴシック" panose="020B0600070205080204" pitchFamily="34" charset="-128"/>
              </a:rPr>
              <a:t>'</a:t>
            </a:r>
            <a:r>
              <a:rPr lang="en-US" altLang="ja-JP" sz="2100" dirty="0">
                <a:ea typeface="ＭＳ Ｐゴシック" panose="020B0600070205080204" pitchFamily="34" charset="-128"/>
              </a:rPr>
              <a:t>s service </a:t>
            </a:r>
            <a:r>
              <a:rPr lang="en-US" altLang="ja-JP" sz="2100" i="1" dirty="0">
                <a:ea typeface="ＭＳ Ｐゴシック" panose="020B0600070205080204" pitchFamily="34" charset="-128"/>
              </a:rPr>
              <a:t>implementation</a:t>
            </a:r>
            <a:r>
              <a:rPr lang="en-US" altLang="ja-JP" sz="2100" dirty="0">
                <a:ea typeface="ＭＳ Ｐゴシック" panose="020B0600070205080204" pitchFamily="34" charset="-128"/>
              </a:rPr>
              <a:t>: transparent to rest of system</a:t>
            </a:r>
          </a:p>
          <a:p>
            <a:pPr marL="647700" lvl="1" indent="-216694"/>
            <a:r>
              <a:rPr lang="en-US" altLang="en-US" sz="2100" dirty="0">
                <a:ea typeface="Arial" panose="020B0604020202020204" pitchFamily="34" charset="0"/>
              </a:rPr>
              <a:t>e.g., change in gate procedure doesn</a:t>
            </a:r>
            <a:r>
              <a:rPr lang="en-US" altLang="en-US" sz="2100" dirty="0">
                <a:ea typeface="ＭＳ Ｐゴシック" panose="020B0600070205080204" pitchFamily="34" charset="-128"/>
              </a:rPr>
              <a:t>’</a:t>
            </a:r>
            <a:r>
              <a:rPr lang="en-US" altLang="ja-JP" sz="2100" dirty="0">
                <a:ea typeface="ＭＳ Ｐゴシック" panose="020B0600070205080204" pitchFamily="34" charset="-128"/>
              </a:rPr>
              <a:t>t affect rest of system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layering considered harmful?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layering in other complex systems?</a:t>
            </a:r>
          </a:p>
        </p:txBody>
      </p:sp>
      <p:sp>
        <p:nvSpPr>
          <p:cNvPr id="5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25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ISO/OSI reference model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499007" y="1006442"/>
            <a:ext cx="5074089" cy="3848100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Two layers not found in  Internet protocol stack!</a:t>
            </a:r>
          </a:p>
          <a:p>
            <a:pPr marL="215504" indent="-215504"/>
            <a:r>
              <a:rPr lang="en-US" altLang="en-US" sz="21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presentation:</a:t>
            </a:r>
            <a:r>
              <a:rPr lang="en-US" altLang="en-US" sz="21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allow applications to interpret meaning of data, e.g., encryption, compression, machine-specific conventions</a:t>
            </a:r>
          </a:p>
          <a:p>
            <a:pPr marL="215504" indent="-215504"/>
            <a:r>
              <a:rPr lang="en-US" altLang="en-US" sz="21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session:</a:t>
            </a:r>
            <a:r>
              <a:rPr lang="en-US" altLang="en-US" sz="21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synchronization, checkpointing, recovery of data exchange</a:t>
            </a:r>
          </a:p>
          <a:p>
            <a:pPr marL="215504" indent="-215504"/>
            <a:r>
              <a:rPr lang="en-US" altLang="en-US" sz="2100" dirty="0">
                <a:ea typeface="ＭＳ Ｐゴシック" panose="020B0600070205080204" pitchFamily="34" charset="-128"/>
              </a:rPr>
              <a:t>Internet stack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missing” these layers!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these services, </a:t>
            </a:r>
            <a:r>
              <a:rPr lang="en-US" altLang="en-US" sz="2100" i="1" dirty="0">
                <a:ea typeface="Arial" panose="020B0604020202020204" pitchFamily="34" charset="0"/>
              </a:rPr>
              <a:t>if needed,</a:t>
            </a:r>
            <a:r>
              <a:rPr lang="en-US" altLang="en-US" sz="2100" dirty="0">
                <a:ea typeface="Arial" panose="020B0604020202020204" pitchFamily="34" charset="0"/>
              </a:rPr>
              <a:t> must be implemented in application</a:t>
            </a:r>
          </a:p>
          <a:p>
            <a:pPr marL="511969" lvl="1" indent="-169069"/>
            <a:r>
              <a:rPr lang="en-US" altLang="en-US" sz="2100" dirty="0">
                <a:ea typeface="Arial" panose="020B0604020202020204" pitchFamily="34" charset="0"/>
              </a:rPr>
              <a:t>needed?</a:t>
            </a:r>
            <a:endParaRPr lang="en-US" altLang="en-US" sz="21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919DE3-1C67-444E-9B68-661747C79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681" y="1060251"/>
            <a:ext cx="1419225" cy="26479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39FC83A-3010-6E44-80DA-A0B478A2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956" y="1162645"/>
            <a:ext cx="1419225" cy="268962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02AF1634-8914-FF4A-8ACB-58E0BABFE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810" y="1291233"/>
            <a:ext cx="1487090" cy="261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1800" dirty="0"/>
              <a:t>application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presentation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session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transport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network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link</a:t>
            </a:r>
          </a:p>
          <a:p>
            <a:pPr algn="ctr">
              <a:lnSpc>
                <a:spcPct val="70000"/>
              </a:lnSpc>
            </a:pPr>
            <a:endParaRPr lang="en-US" altLang="en-US" sz="1800" dirty="0"/>
          </a:p>
          <a:p>
            <a:pPr algn="ctr">
              <a:lnSpc>
                <a:spcPct val="70000"/>
              </a:lnSpc>
            </a:pPr>
            <a:r>
              <a:rPr lang="en-US" altLang="en-US" sz="1800" dirty="0"/>
              <a:t>physical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2A989D6F-FA45-8C4E-9BBC-741936AB2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478" y="1606748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15317A6D-8DDE-594B-9C31-D329305C5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193" y="2338982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C0565FC-B6A4-1C41-A3C7-95333C728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6193" y="2743795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CB8177A7-EC5F-054E-9BF4-6807B276E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7384" y="3505795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E3C788FC-704D-5B46-BAF8-D2E15950C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5478" y="3143845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50AC6633-E0EA-2542-8345-CA3634789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4287" y="1996082"/>
            <a:ext cx="14144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44C3F-C77B-9A49-ACB6-EDB2E17C9D3A}"/>
              </a:ext>
            </a:extLst>
          </p:cNvPr>
          <p:cNvSpPr txBox="1"/>
          <p:nvPr/>
        </p:nvSpPr>
        <p:spPr>
          <a:xfrm>
            <a:off x="6251249" y="4014704"/>
            <a:ext cx="171713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The seven layer OSI/ISO </a:t>
            </a:r>
          </a:p>
          <a:p>
            <a:pPr algn="ctr"/>
            <a:r>
              <a:rPr lang="en-US" sz="1050" dirty="0"/>
              <a:t>reference model</a:t>
            </a:r>
          </a:p>
        </p:txBody>
      </p:sp>
      <p:sp>
        <p:nvSpPr>
          <p:cNvPr id="16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27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protocol stack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34537" y="1104006"/>
            <a:ext cx="5824109" cy="369202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application: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supporting network applications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IMAP, SMTP, HTTP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transport: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process-process data transfer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TCP, UDP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network: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routing of datagrams from source to destination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IP, routing protocols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link: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data transfer between neighboring  network elements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1800" dirty="0">
                <a:ea typeface="Arial" panose="020B0604020202020204" pitchFamily="34" charset="0"/>
              </a:rPr>
              <a:t>Ethernet, 802.11 (</a:t>
            </a:r>
            <a:r>
              <a:rPr lang="en-US" altLang="en-US" sz="1800" dirty="0" err="1">
                <a:ea typeface="Arial" panose="020B0604020202020204" pitchFamily="34" charset="0"/>
              </a:rPr>
              <a:t>WiFi</a:t>
            </a:r>
            <a:r>
              <a:rPr lang="en-US" altLang="en-US" sz="1800" dirty="0">
                <a:ea typeface="Arial" panose="020B0604020202020204" pitchFamily="34" charset="0"/>
              </a:rPr>
              <a:t>), PPP</a:t>
            </a:r>
          </a:p>
          <a:p>
            <a:pPr marL="215504" indent="-215504">
              <a:lnSpc>
                <a:spcPct val="80000"/>
              </a:lnSpc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physical:</a:t>
            </a:r>
            <a:r>
              <a:rPr lang="en-US" altLang="en-US" sz="24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bits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on the wire”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EE82EB-3D7B-324B-ADA2-7529491D0F68}"/>
              </a:ext>
            </a:extLst>
          </p:cNvPr>
          <p:cNvGrpSpPr/>
          <p:nvPr/>
        </p:nvGrpSpPr>
        <p:grpSpPr>
          <a:xfrm>
            <a:off x="6646754" y="1386532"/>
            <a:ext cx="1545542" cy="2720579"/>
            <a:chOff x="6407003" y="1727200"/>
            <a:chExt cx="2060722" cy="3627438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D52760EE-E3E5-AB4A-B314-FF76E6671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5425" y="1727200"/>
              <a:ext cx="1892300" cy="35306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7FC87645-22AD-8040-8C83-BC2F64C5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7950" y="1824038"/>
              <a:ext cx="1892300" cy="35306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545"/>
                </a:lnSpc>
              </a:pPr>
              <a:endParaRPr lang="en-US" altLang="en-US" sz="2100">
                <a:latin typeface="+mn-lt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8C032AE1-21C7-1541-9531-59DC0E0F6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7003" y="1920875"/>
              <a:ext cx="1956092" cy="335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application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transport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network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link</a:t>
              </a:r>
            </a:p>
            <a:p>
              <a:pPr algn="ctr">
                <a:lnSpc>
                  <a:spcPts val="2070"/>
                </a:lnSpc>
              </a:pPr>
              <a:endParaRPr lang="en-US" altLang="en-US" sz="2100" dirty="0">
                <a:latin typeface="+mn-lt"/>
              </a:endParaRPr>
            </a:p>
            <a:p>
              <a:pPr algn="ctr">
                <a:lnSpc>
                  <a:spcPts val="2070"/>
                </a:lnSpc>
              </a:pPr>
              <a:r>
                <a:rPr lang="en-US" altLang="en-US" sz="2100" dirty="0">
                  <a:latin typeface="+mn-lt"/>
                </a:rPr>
                <a:t>physical</a:t>
              </a: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2FF6CB9E-FC16-794F-9F97-8FE4CC7DA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251618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E0C842E9-2804-A24B-90F5-1E76ED56B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2210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80C10F46-6CD7-F647-A004-85EB56C77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9322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264B0C4A-9518-2F45-BBDA-97BCDD99E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4643438"/>
              <a:ext cx="1885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ts val="1545"/>
                </a:lnSpc>
              </a:pPr>
              <a:endParaRPr lang="en-US" sz="1500"/>
            </a:p>
          </p:txBody>
        </p:sp>
      </p:grpSp>
      <p:sp>
        <p:nvSpPr>
          <p:cNvPr id="1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28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4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Freeform 3">
            <a:extLst>
              <a:ext uri="{FF2B5EF4-FFF2-40B4-BE49-F238E27FC236}">
                <a16:creationId xmlns:a16="http://schemas.microsoft.com/office/drawing/2014/main" id="{FF79401E-326D-8443-A822-64EFF7D91F62}"/>
              </a:ext>
            </a:extLst>
          </p:cNvPr>
          <p:cNvSpPr>
            <a:spLocks/>
          </p:cNvSpPr>
          <p:nvPr/>
        </p:nvSpPr>
        <p:spPr bwMode="auto">
          <a:xfrm>
            <a:off x="6261503" y="1891900"/>
            <a:ext cx="478631" cy="62269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sz="1050"/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4E47CB1-938F-064D-AFFA-550D0F125117}"/>
              </a:ext>
            </a:extLst>
          </p:cNvPr>
          <p:cNvGrpSpPr/>
          <p:nvPr/>
        </p:nvGrpSpPr>
        <p:grpSpPr>
          <a:xfrm>
            <a:off x="6552832" y="2206651"/>
            <a:ext cx="719511" cy="358547"/>
            <a:chOff x="3668110" y="2448910"/>
            <a:chExt cx="3794234" cy="2165130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4113AFA1-3E53-2B44-844D-33D4D414E8F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6AACD184-A341-A64D-AF0A-E8273A8D120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397EA54E-AF9C-5E43-ABD4-420C1068CBF3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AAA61B04-18ED-CB4C-AA56-9EE1A97FE5C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F58AB38C-C52F-C046-8B42-AB402232C8F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40B533FA-5B0B-F640-8203-4E6686DF616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113B733F-5182-5C46-833B-B970C649E76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</p:grpSp>
      <p:sp>
        <p:nvSpPr>
          <p:cNvPr id="158" name="Freeform 99">
            <a:extLst>
              <a:ext uri="{FF2B5EF4-FFF2-40B4-BE49-F238E27FC236}">
                <a16:creationId xmlns:a16="http://schemas.microsoft.com/office/drawing/2014/main" id="{3E758716-A071-4141-B9BA-7927A5BFBD94}"/>
              </a:ext>
            </a:extLst>
          </p:cNvPr>
          <p:cNvSpPr>
            <a:spLocks/>
          </p:cNvSpPr>
          <p:nvPr/>
        </p:nvSpPr>
        <p:spPr bwMode="auto">
          <a:xfrm>
            <a:off x="6148392" y="3307554"/>
            <a:ext cx="491729" cy="851297"/>
          </a:xfrm>
          <a:custGeom>
            <a:avLst/>
            <a:gdLst>
              <a:gd name="T0" fmla="*/ 2147483646 w 413"/>
              <a:gd name="T1" fmla="*/ 2147483646 h 715"/>
              <a:gd name="T2" fmla="*/ 2147483646 w 413"/>
              <a:gd name="T3" fmla="*/ 0 h 715"/>
              <a:gd name="T4" fmla="*/ 0 w 413"/>
              <a:gd name="T5" fmla="*/ 2147483646 h 715"/>
              <a:gd name="T6" fmla="*/ 2147483646 w 413"/>
              <a:gd name="T7" fmla="*/ 2147483646 h 715"/>
              <a:gd name="T8" fmla="*/ 2147483646 w 413"/>
              <a:gd name="T9" fmla="*/ 2147483646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3" h="715">
                <a:moveTo>
                  <a:pt x="413" y="570"/>
                </a:moveTo>
                <a:lnTo>
                  <a:pt x="9" y="0"/>
                </a:lnTo>
                <a:lnTo>
                  <a:pt x="0" y="604"/>
                </a:lnTo>
                <a:lnTo>
                  <a:pt x="397" y="715"/>
                </a:lnTo>
                <a:lnTo>
                  <a:pt x="413" y="570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sz="1050"/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BEB0F95-AE9C-DA4D-9F9E-9C6AE4A652EE}"/>
              </a:ext>
            </a:extLst>
          </p:cNvPr>
          <p:cNvGrpSpPr/>
          <p:nvPr/>
        </p:nvGrpSpPr>
        <p:grpSpPr>
          <a:xfrm>
            <a:off x="6522250" y="3840145"/>
            <a:ext cx="719138" cy="357188"/>
            <a:chOff x="7493876" y="2774731"/>
            <a:chExt cx="1481958" cy="894622"/>
          </a:xfrm>
        </p:grpSpPr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6025F28A-8766-8949-96E6-DD0BD882AB2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     </a:t>
              </a:r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DFA4B720-1D85-4E4A-A3DF-4E2D8BCABCA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              </a:t>
              </a:r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DAD2409F-AAE1-4A47-A41C-4F8FC3073E0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10106D6-70AD-294D-966C-B6530FB2C38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03C28B18-54E7-EB4E-A70A-2F3A019FD15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5090762B-1155-2347-B6D2-D77A21D74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F0881117-1317-CD49-B4BD-8B8A1E6EB2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412" y="434657"/>
            <a:ext cx="313355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Encapsulation</a:t>
            </a:r>
            <a:endParaRPr lang="en-US" dirty="0"/>
          </a:p>
        </p:txBody>
      </p:sp>
      <p:sp>
        <p:nvSpPr>
          <p:cNvPr id="175" name="Freeform 2">
            <a:extLst>
              <a:ext uri="{FF2B5EF4-FFF2-40B4-BE49-F238E27FC236}">
                <a16:creationId xmlns:a16="http://schemas.microsoft.com/office/drawing/2014/main" id="{230063FB-CBF2-814F-9B6D-159C714DB102}"/>
              </a:ext>
            </a:extLst>
          </p:cNvPr>
          <p:cNvSpPr>
            <a:spLocks/>
          </p:cNvSpPr>
          <p:nvPr/>
        </p:nvSpPr>
        <p:spPr bwMode="auto">
          <a:xfrm>
            <a:off x="3777859" y="1276347"/>
            <a:ext cx="3036094" cy="2875360"/>
          </a:xfrm>
          <a:custGeom>
            <a:avLst/>
            <a:gdLst>
              <a:gd name="T0" fmla="*/ 2147483646 w 2550"/>
              <a:gd name="T1" fmla="*/ 0 h 2415"/>
              <a:gd name="T2" fmla="*/ 2147483646 w 2550"/>
              <a:gd name="T3" fmla="*/ 0 h 2415"/>
              <a:gd name="T4" fmla="*/ 2147483646 w 2550"/>
              <a:gd name="T5" fmla="*/ 2147483646 h 2415"/>
              <a:gd name="T6" fmla="*/ 0 w 2550"/>
              <a:gd name="T7" fmla="*/ 2147483646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76" name="Text Box 8">
            <a:extLst>
              <a:ext uri="{FF2B5EF4-FFF2-40B4-BE49-F238E27FC236}">
                <a16:creationId xmlns:a16="http://schemas.microsoft.com/office/drawing/2014/main" id="{D0A7F162-BF56-0D42-AC1A-1EA608D15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566" y="358375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0099"/>
                </a:solidFill>
                <a:latin typeface="Arial" panose="020B0604020202020204" pitchFamily="34" charset="0"/>
              </a:rPr>
              <a:t>source</a:t>
            </a:r>
          </a:p>
        </p:txBody>
      </p:sp>
      <p:sp>
        <p:nvSpPr>
          <p:cNvPr id="177" name="Freeform 10">
            <a:extLst>
              <a:ext uri="{FF2B5EF4-FFF2-40B4-BE49-F238E27FC236}">
                <a16:creationId xmlns:a16="http://schemas.microsoft.com/office/drawing/2014/main" id="{375C2B54-0F8A-624C-B0EA-326ECF0BEBFA}"/>
              </a:ext>
            </a:extLst>
          </p:cNvPr>
          <p:cNvSpPr>
            <a:spLocks/>
          </p:cNvSpPr>
          <p:nvPr/>
        </p:nvSpPr>
        <p:spPr bwMode="auto">
          <a:xfrm>
            <a:off x="3815958" y="678654"/>
            <a:ext cx="270272" cy="118348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 sz="1050"/>
          </a:p>
        </p:txBody>
      </p:sp>
      <p:sp>
        <p:nvSpPr>
          <p:cNvPr id="178" name="Rectangle 23">
            <a:extLst>
              <a:ext uri="{FF2B5EF4-FFF2-40B4-BE49-F238E27FC236}">
                <a16:creationId xmlns:a16="http://schemas.microsoft.com/office/drawing/2014/main" id="{8AEC6BBC-2646-7D42-ACF1-483474F09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86" y="685797"/>
            <a:ext cx="972741" cy="115966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9" name="Rectangle 24">
            <a:extLst>
              <a:ext uri="{FF2B5EF4-FFF2-40B4-BE49-F238E27FC236}">
                <a16:creationId xmlns:a16="http://schemas.microsoft.com/office/drawing/2014/main" id="{7EA1E797-77D1-3E4E-BE7E-ACEB5C9F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8" y="739375"/>
            <a:ext cx="954881" cy="11525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80" name="Line 25">
            <a:extLst>
              <a:ext uri="{FF2B5EF4-FFF2-40B4-BE49-F238E27FC236}">
                <a16:creationId xmlns:a16="http://schemas.microsoft.com/office/drawing/2014/main" id="{06DACFB6-A512-6346-ADF0-044A1E0D8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7" y="977501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81" name="Text Box 26">
            <a:extLst>
              <a:ext uri="{FF2B5EF4-FFF2-40B4-BE49-F238E27FC236}">
                <a16:creationId xmlns:a16="http://schemas.microsoft.com/office/drawing/2014/main" id="{955E0381-1B0E-544A-A7DD-37ADCBB63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122" y="714372"/>
            <a:ext cx="1020366" cy="123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7F5AA9D2-E3F5-C947-8DEE-283B00AD0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8220" y="1218007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83" name="Line 28">
            <a:extLst>
              <a:ext uri="{FF2B5EF4-FFF2-40B4-BE49-F238E27FC236}">
                <a16:creationId xmlns:a16="http://schemas.microsoft.com/office/drawing/2014/main" id="{D2FB6FCA-C219-0347-A799-A07286AA5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92" y="1428748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184" name="Line 29">
            <a:extLst>
              <a:ext uri="{FF2B5EF4-FFF2-40B4-BE49-F238E27FC236}">
                <a16:creationId xmlns:a16="http://schemas.microsoft.com/office/drawing/2014/main" id="{5DD86E94-6322-434A-87B3-1B856F1C7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92" y="1635916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185" name="Group 39">
            <a:extLst>
              <a:ext uri="{FF2B5EF4-FFF2-40B4-BE49-F238E27FC236}">
                <a16:creationId xmlns:a16="http://schemas.microsoft.com/office/drawing/2014/main" id="{8AA541B8-399A-EF48-9EFE-5AF447CE2F83}"/>
              </a:ext>
            </a:extLst>
          </p:cNvPr>
          <p:cNvGrpSpPr>
            <a:grpSpLocks/>
          </p:cNvGrpSpPr>
          <p:nvPr/>
        </p:nvGrpSpPr>
        <p:grpSpPr bwMode="auto">
          <a:xfrm>
            <a:off x="1828805" y="1216816"/>
            <a:ext cx="906066" cy="227410"/>
            <a:chOff x="501" y="1990"/>
            <a:chExt cx="761" cy="191"/>
          </a:xfrm>
        </p:grpSpPr>
        <p:sp>
          <p:nvSpPr>
            <p:cNvPr id="186" name="Rectangle 40">
              <a:extLst>
                <a:ext uri="{FF2B5EF4-FFF2-40B4-BE49-F238E27FC236}">
                  <a16:creationId xmlns:a16="http://schemas.microsoft.com/office/drawing/2014/main" id="{0387B9A7-F992-9246-A12A-3BB5DCDBD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7" name="Rectangle 41">
              <a:extLst>
                <a:ext uri="{FF2B5EF4-FFF2-40B4-BE49-F238E27FC236}">
                  <a16:creationId xmlns:a16="http://schemas.microsoft.com/office/drawing/2014/main" id="{313D90F6-44E7-5B43-9F40-EAB5A4BC3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88" name="Rectangle 42">
              <a:extLst>
                <a:ext uri="{FF2B5EF4-FFF2-40B4-BE49-F238E27FC236}">
                  <a16:creationId xmlns:a16="http://schemas.microsoft.com/office/drawing/2014/main" id="{09FD516E-DDA8-584C-AC12-7F5211BB3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89" name="Rectangle 43">
              <a:extLst>
                <a:ext uri="{FF2B5EF4-FFF2-40B4-BE49-F238E27FC236}">
                  <a16:creationId xmlns:a16="http://schemas.microsoft.com/office/drawing/2014/main" id="{6FFC472B-97D7-D347-9A3C-464686CD1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90" name="Line 44">
              <a:extLst>
                <a:ext uri="{FF2B5EF4-FFF2-40B4-BE49-F238E27FC236}">
                  <a16:creationId xmlns:a16="http://schemas.microsoft.com/office/drawing/2014/main" id="{72E3E927-7804-2B4F-BEB5-8E712FD0D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191" name="Line 45">
              <a:extLst>
                <a:ext uri="{FF2B5EF4-FFF2-40B4-BE49-F238E27FC236}">
                  <a16:creationId xmlns:a16="http://schemas.microsoft.com/office/drawing/2014/main" id="{FB19C408-B20F-B545-913F-0B0F21C3B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192" name="Text Box 5">
            <a:extLst>
              <a:ext uri="{FF2B5EF4-FFF2-40B4-BE49-F238E27FC236}">
                <a16:creationId xmlns:a16="http://schemas.microsoft.com/office/drawing/2014/main" id="{0D15D10E-958A-864A-A283-C2AB2D4E8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0871" y="938209"/>
            <a:ext cx="7729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Arial" panose="020B0604020202020204" pitchFamily="34" charset="0"/>
              </a:rPr>
              <a:t>segment</a:t>
            </a:r>
          </a:p>
        </p:txBody>
      </p:sp>
      <p:grpSp>
        <p:nvGrpSpPr>
          <p:cNvPr id="193" name="Group 178">
            <a:extLst>
              <a:ext uri="{FF2B5EF4-FFF2-40B4-BE49-F238E27FC236}">
                <a16:creationId xmlns:a16="http://schemas.microsoft.com/office/drawing/2014/main" id="{C602A8C6-FCB3-7248-AB25-E5D9AF0992ED}"/>
              </a:ext>
            </a:extLst>
          </p:cNvPr>
          <p:cNvGrpSpPr>
            <a:grpSpLocks/>
          </p:cNvGrpSpPr>
          <p:nvPr/>
        </p:nvGrpSpPr>
        <p:grpSpPr bwMode="auto">
          <a:xfrm>
            <a:off x="2064549" y="965594"/>
            <a:ext cx="226219" cy="219075"/>
            <a:chOff x="1962" y="2058"/>
            <a:chExt cx="190" cy="184"/>
          </a:xfrm>
        </p:grpSpPr>
        <p:sp>
          <p:nvSpPr>
            <p:cNvPr id="194" name="Rectangle 47">
              <a:extLst>
                <a:ext uri="{FF2B5EF4-FFF2-40B4-BE49-F238E27FC236}">
                  <a16:creationId xmlns:a16="http://schemas.microsoft.com/office/drawing/2014/main" id="{74D4FADB-78FF-754C-9258-3499AEC56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95" name="Rectangle 48">
              <a:extLst>
                <a:ext uri="{FF2B5EF4-FFF2-40B4-BE49-F238E27FC236}">
                  <a16:creationId xmlns:a16="http://schemas.microsoft.com/office/drawing/2014/main" id="{9A86A925-4488-C149-AC92-7E56AC2DB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96" name="Text Box 4">
            <a:extLst>
              <a:ext uri="{FF2B5EF4-FFF2-40B4-BE49-F238E27FC236}">
                <a16:creationId xmlns:a16="http://schemas.microsoft.com/office/drawing/2014/main" id="{0E8F71B9-D739-9B4D-B3C4-4209B53F4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853" y="1193003"/>
            <a:ext cx="83227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Arial" panose="020B0604020202020204" pitchFamily="34" charset="0"/>
              </a:rPr>
              <a:t>datagram</a:t>
            </a:r>
          </a:p>
        </p:txBody>
      </p:sp>
      <p:sp>
        <p:nvSpPr>
          <p:cNvPr id="197" name="Text Box 54">
            <a:extLst>
              <a:ext uri="{FF2B5EF4-FFF2-40B4-BE49-F238E27FC236}">
                <a16:creationId xmlns:a16="http://schemas.microsoft.com/office/drawing/2014/main" id="{74C41705-B97B-5F4E-BB03-C374DF491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265" y="3308745"/>
            <a:ext cx="111761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i="1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</a:p>
        </p:txBody>
      </p:sp>
      <p:sp>
        <p:nvSpPr>
          <p:cNvPr id="198" name="Freeform 56">
            <a:extLst>
              <a:ext uri="{FF2B5EF4-FFF2-40B4-BE49-F238E27FC236}">
                <a16:creationId xmlns:a16="http://schemas.microsoft.com/office/drawing/2014/main" id="{4EC19D7F-D3E4-204E-BAEB-FCE19F1C39A5}"/>
              </a:ext>
            </a:extLst>
          </p:cNvPr>
          <p:cNvSpPr>
            <a:spLocks/>
          </p:cNvSpPr>
          <p:nvPr/>
        </p:nvSpPr>
        <p:spPr bwMode="auto">
          <a:xfrm>
            <a:off x="3149208" y="3595685"/>
            <a:ext cx="270272" cy="118348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sz="1050"/>
          </a:p>
        </p:txBody>
      </p:sp>
      <p:sp>
        <p:nvSpPr>
          <p:cNvPr id="199" name="Rectangle 57">
            <a:extLst>
              <a:ext uri="{FF2B5EF4-FFF2-40B4-BE49-F238E27FC236}">
                <a16:creationId xmlns:a16="http://schemas.microsoft.com/office/drawing/2014/main" id="{8D9C3379-8F35-FD42-A8A5-43627B547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236" y="3600447"/>
            <a:ext cx="972741" cy="1159669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0" name="Rectangle 58">
            <a:extLst>
              <a:ext uri="{FF2B5EF4-FFF2-40B4-BE49-F238E27FC236}">
                <a16:creationId xmlns:a16="http://schemas.microsoft.com/office/drawing/2014/main" id="{50A25BA2-076C-6040-963D-F16F60BC8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8" y="3654025"/>
            <a:ext cx="954881" cy="11525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1" name="Line 59">
            <a:extLst>
              <a:ext uri="{FF2B5EF4-FFF2-40B4-BE49-F238E27FC236}">
                <a16:creationId xmlns:a16="http://schemas.microsoft.com/office/drawing/2014/main" id="{CD323237-4303-F04C-823F-998D288EE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7" y="3892151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02" name="Text Box 60">
            <a:extLst>
              <a:ext uri="{FF2B5EF4-FFF2-40B4-BE49-F238E27FC236}">
                <a16:creationId xmlns:a16="http://schemas.microsoft.com/office/drawing/2014/main" id="{D813B370-7619-514F-949A-FA387F1E5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3372" y="3629022"/>
            <a:ext cx="1007425" cy="123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dirty="0"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203" name="Line 61">
            <a:extLst>
              <a:ext uri="{FF2B5EF4-FFF2-40B4-BE49-F238E27FC236}">
                <a16:creationId xmlns:a16="http://schemas.microsoft.com/office/drawing/2014/main" id="{03F19FD5-3F16-414E-8F9C-949E0C209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1470" y="4132657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04" name="Line 62">
            <a:extLst>
              <a:ext uri="{FF2B5EF4-FFF2-40B4-BE49-F238E27FC236}">
                <a16:creationId xmlns:a16="http://schemas.microsoft.com/office/drawing/2014/main" id="{29B41373-0681-C44E-A7DD-458F21C511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42" y="4343398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sp>
        <p:nvSpPr>
          <p:cNvPr id="205" name="Line 63">
            <a:extLst>
              <a:ext uri="{FF2B5EF4-FFF2-40B4-BE49-F238E27FC236}">
                <a16:creationId xmlns:a16="http://schemas.microsoft.com/office/drawing/2014/main" id="{534B08A1-9834-7C47-839B-CB026F123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5042" y="4550566"/>
            <a:ext cx="947738" cy="23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206" name="Group 64">
            <a:extLst>
              <a:ext uri="{FF2B5EF4-FFF2-40B4-BE49-F238E27FC236}">
                <a16:creationId xmlns:a16="http://schemas.microsoft.com/office/drawing/2014/main" id="{C50D7752-68C1-8540-988D-5347ECFD1886}"/>
              </a:ext>
            </a:extLst>
          </p:cNvPr>
          <p:cNvGrpSpPr>
            <a:grpSpLocks/>
          </p:cNvGrpSpPr>
          <p:nvPr/>
        </p:nvGrpSpPr>
        <p:grpSpPr bwMode="auto">
          <a:xfrm>
            <a:off x="1028704" y="4336254"/>
            <a:ext cx="1109663" cy="227410"/>
            <a:chOff x="332" y="2224"/>
            <a:chExt cx="932" cy="191"/>
          </a:xfrm>
        </p:grpSpPr>
        <p:sp>
          <p:nvSpPr>
            <p:cNvPr id="207" name="Rectangle 65">
              <a:extLst>
                <a:ext uri="{FF2B5EF4-FFF2-40B4-BE49-F238E27FC236}">
                  <a16:creationId xmlns:a16="http://schemas.microsoft.com/office/drawing/2014/main" id="{1F3E093B-217C-A04B-B5D1-A6C902542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8" name="Rectangle 66">
              <a:extLst>
                <a:ext uri="{FF2B5EF4-FFF2-40B4-BE49-F238E27FC236}">
                  <a16:creationId xmlns:a16="http://schemas.microsoft.com/office/drawing/2014/main" id="{12601678-594C-E14C-9193-F38CE9075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9" name="Rectangle 67">
              <a:extLst>
                <a:ext uri="{FF2B5EF4-FFF2-40B4-BE49-F238E27FC236}">
                  <a16:creationId xmlns:a16="http://schemas.microsoft.com/office/drawing/2014/main" id="{C60FF2A5-B680-E647-99BC-03E16BB18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10" name="Rectangle 68">
              <a:extLst>
                <a:ext uri="{FF2B5EF4-FFF2-40B4-BE49-F238E27FC236}">
                  <a16:creationId xmlns:a16="http://schemas.microsoft.com/office/drawing/2014/main" id="{397B1F1F-935A-C84B-968D-E29BC9F4E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11" name="Rectangle 69">
              <a:extLst>
                <a:ext uri="{FF2B5EF4-FFF2-40B4-BE49-F238E27FC236}">
                  <a16:creationId xmlns:a16="http://schemas.microsoft.com/office/drawing/2014/main" id="{F6478DF2-BC33-B343-8620-1D9F679E4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12" name="Line 70">
              <a:extLst>
                <a:ext uri="{FF2B5EF4-FFF2-40B4-BE49-F238E27FC236}">
                  <a16:creationId xmlns:a16="http://schemas.microsoft.com/office/drawing/2014/main" id="{B65227E4-D34A-B045-A564-9F588CE81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3" name="Line 71">
              <a:extLst>
                <a:ext uri="{FF2B5EF4-FFF2-40B4-BE49-F238E27FC236}">
                  <a16:creationId xmlns:a16="http://schemas.microsoft.com/office/drawing/2014/main" id="{89581348-A579-E648-AF77-CC0CCFD73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14" name="Line 72">
              <a:extLst>
                <a:ext uri="{FF2B5EF4-FFF2-40B4-BE49-F238E27FC236}">
                  <a16:creationId xmlns:a16="http://schemas.microsoft.com/office/drawing/2014/main" id="{5CD35CDE-ACA7-B147-9033-013571F30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15" name="Group 73">
            <a:extLst>
              <a:ext uri="{FF2B5EF4-FFF2-40B4-BE49-F238E27FC236}">
                <a16:creationId xmlns:a16="http://schemas.microsoft.com/office/drawing/2014/main" id="{782EFA19-0788-864E-B946-830DAB797411}"/>
              </a:ext>
            </a:extLst>
          </p:cNvPr>
          <p:cNvGrpSpPr>
            <a:grpSpLocks/>
          </p:cNvGrpSpPr>
          <p:nvPr/>
        </p:nvGrpSpPr>
        <p:grpSpPr bwMode="auto">
          <a:xfrm>
            <a:off x="1229922" y="4112416"/>
            <a:ext cx="906065" cy="227410"/>
            <a:chOff x="501" y="1990"/>
            <a:chExt cx="761" cy="191"/>
          </a:xfrm>
        </p:grpSpPr>
        <p:sp>
          <p:nvSpPr>
            <p:cNvPr id="216" name="Rectangle 74">
              <a:extLst>
                <a:ext uri="{FF2B5EF4-FFF2-40B4-BE49-F238E27FC236}">
                  <a16:creationId xmlns:a16="http://schemas.microsoft.com/office/drawing/2014/main" id="{D970D459-C7BE-CB4F-B370-10A7B56F6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17" name="Rectangle 75">
              <a:extLst>
                <a:ext uri="{FF2B5EF4-FFF2-40B4-BE49-F238E27FC236}">
                  <a16:creationId xmlns:a16="http://schemas.microsoft.com/office/drawing/2014/main" id="{1904B028-B6FD-624E-A3E6-5B05A106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18" name="Rectangle 76">
              <a:extLst>
                <a:ext uri="{FF2B5EF4-FFF2-40B4-BE49-F238E27FC236}">
                  <a16:creationId xmlns:a16="http://schemas.microsoft.com/office/drawing/2014/main" id="{7E497BF0-01B9-9645-AADF-EC6ECCD69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19" name="Rectangle 77">
              <a:extLst>
                <a:ext uri="{FF2B5EF4-FFF2-40B4-BE49-F238E27FC236}">
                  <a16:creationId xmlns:a16="http://schemas.microsoft.com/office/drawing/2014/main" id="{F655CC88-7712-A040-B05C-B926BA640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20" name="Line 78">
              <a:extLst>
                <a:ext uri="{FF2B5EF4-FFF2-40B4-BE49-F238E27FC236}">
                  <a16:creationId xmlns:a16="http://schemas.microsoft.com/office/drawing/2014/main" id="{5F8C7ACF-60C6-EA40-ABF5-A21BAB3D7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21" name="Line 79">
              <a:extLst>
                <a:ext uri="{FF2B5EF4-FFF2-40B4-BE49-F238E27FC236}">
                  <a16:creationId xmlns:a16="http://schemas.microsoft.com/office/drawing/2014/main" id="{B9D1E0FC-D7EB-B94A-95BC-135127D0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22" name="Group 80">
            <a:extLst>
              <a:ext uri="{FF2B5EF4-FFF2-40B4-BE49-F238E27FC236}">
                <a16:creationId xmlns:a16="http://schemas.microsoft.com/office/drawing/2014/main" id="{ED606BB4-B8BF-EE47-81F0-E3489EBF698D}"/>
              </a:ext>
            </a:extLst>
          </p:cNvPr>
          <p:cNvGrpSpPr>
            <a:grpSpLocks/>
          </p:cNvGrpSpPr>
          <p:nvPr/>
        </p:nvGrpSpPr>
        <p:grpSpPr bwMode="auto">
          <a:xfrm>
            <a:off x="1457330" y="3881435"/>
            <a:ext cx="667941" cy="227410"/>
            <a:chOff x="645" y="1734"/>
            <a:chExt cx="561" cy="191"/>
          </a:xfrm>
        </p:grpSpPr>
        <p:sp>
          <p:nvSpPr>
            <p:cNvPr id="223" name="Rectangle 81">
              <a:extLst>
                <a:ext uri="{FF2B5EF4-FFF2-40B4-BE49-F238E27FC236}">
                  <a16:creationId xmlns:a16="http://schemas.microsoft.com/office/drawing/2014/main" id="{5E750AC6-B9B9-BA47-9749-5BA61D17A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4" name="Rectangle 82">
              <a:extLst>
                <a:ext uri="{FF2B5EF4-FFF2-40B4-BE49-F238E27FC236}">
                  <a16:creationId xmlns:a16="http://schemas.microsoft.com/office/drawing/2014/main" id="{203BBA7B-2CF5-6949-AEF6-9B5E4804A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25" name="Rectangle 83">
              <a:extLst>
                <a:ext uri="{FF2B5EF4-FFF2-40B4-BE49-F238E27FC236}">
                  <a16:creationId xmlns:a16="http://schemas.microsoft.com/office/drawing/2014/main" id="{D9094A29-8FA3-604F-BCB2-C28018927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26" name="Line 84">
              <a:extLst>
                <a:ext uri="{FF2B5EF4-FFF2-40B4-BE49-F238E27FC236}">
                  <a16:creationId xmlns:a16="http://schemas.microsoft.com/office/drawing/2014/main" id="{B797ADA3-EF18-7C49-99C2-2F8F051D9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27" name="Group 85">
            <a:extLst>
              <a:ext uri="{FF2B5EF4-FFF2-40B4-BE49-F238E27FC236}">
                <a16:creationId xmlns:a16="http://schemas.microsoft.com/office/drawing/2014/main" id="{11AB6D85-B7C0-8142-8671-E8110C22285E}"/>
              </a:ext>
            </a:extLst>
          </p:cNvPr>
          <p:cNvGrpSpPr>
            <a:grpSpLocks/>
          </p:cNvGrpSpPr>
          <p:nvPr/>
        </p:nvGrpSpPr>
        <p:grpSpPr bwMode="auto">
          <a:xfrm>
            <a:off x="1612111" y="3648072"/>
            <a:ext cx="509588" cy="226219"/>
            <a:chOff x="780" y="1553"/>
            <a:chExt cx="428" cy="190"/>
          </a:xfrm>
        </p:grpSpPr>
        <p:sp>
          <p:nvSpPr>
            <p:cNvPr id="228" name="Rectangle 86">
              <a:extLst>
                <a:ext uri="{FF2B5EF4-FFF2-40B4-BE49-F238E27FC236}">
                  <a16:creationId xmlns:a16="http://schemas.microsoft.com/office/drawing/2014/main" id="{5CCFD8AF-21AA-2143-8C8C-4C988C5ED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29" name="Rectangle 87">
              <a:extLst>
                <a:ext uri="{FF2B5EF4-FFF2-40B4-BE49-F238E27FC236}">
                  <a16:creationId xmlns:a16="http://schemas.microsoft.com/office/drawing/2014/main" id="{0247FE4B-63DA-1F45-A8DA-A5A5C63B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230" name="Group 88">
            <a:extLst>
              <a:ext uri="{FF2B5EF4-FFF2-40B4-BE49-F238E27FC236}">
                <a16:creationId xmlns:a16="http://schemas.microsoft.com/office/drawing/2014/main" id="{8B3437D5-3380-CA4A-BEF8-EAA97E88786A}"/>
              </a:ext>
            </a:extLst>
          </p:cNvPr>
          <p:cNvGrpSpPr>
            <a:grpSpLocks/>
          </p:cNvGrpSpPr>
          <p:nvPr/>
        </p:nvGrpSpPr>
        <p:grpSpPr bwMode="auto">
          <a:xfrm>
            <a:off x="5155412" y="3313506"/>
            <a:ext cx="1040606" cy="806054"/>
            <a:chOff x="3601" y="168"/>
            <a:chExt cx="874" cy="677"/>
          </a:xfrm>
        </p:grpSpPr>
        <p:sp>
          <p:nvSpPr>
            <p:cNvPr id="231" name="Rectangle 89">
              <a:extLst>
                <a:ext uri="{FF2B5EF4-FFF2-40B4-BE49-F238E27FC236}">
                  <a16:creationId xmlns:a16="http://schemas.microsoft.com/office/drawing/2014/main" id="{473B91E3-F305-D74D-918B-B42A6CF23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168"/>
              <a:ext cx="817" cy="59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2" name="Rectangle 90">
              <a:extLst>
                <a:ext uri="{FF2B5EF4-FFF2-40B4-BE49-F238E27FC236}">
                  <a16:creationId xmlns:a16="http://schemas.microsoft.com/office/drawing/2014/main" id="{990C22D1-7679-CB44-8984-10C1D99DC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3"/>
              <a:ext cx="802" cy="5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3" name="Line 91">
              <a:extLst>
                <a:ext uri="{FF2B5EF4-FFF2-40B4-BE49-F238E27FC236}">
                  <a16:creationId xmlns:a16="http://schemas.microsoft.com/office/drawing/2014/main" id="{19384907-F1F7-7342-B03B-0F3880C90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413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234" name="Text Box 92">
              <a:extLst>
                <a:ext uri="{FF2B5EF4-FFF2-40B4-BE49-F238E27FC236}">
                  <a16:creationId xmlns:a16="http://schemas.microsoft.com/office/drawing/2014/main" id="{1CB4056D-0AB4-094A-9E8C-7C63E13B1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1" y="192"/>
              <a:ext cx="830" cy="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network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physical</a:t>
              </a:r>
            </a:p>
          </p:txBody>
        </p:sp>
        <p:sp>
          <p:nvSpPr>
            <p:cNvPr id="235" name="Line 93">
              <a:extLst>
                <a:ext uri="{FF2B5EF4-FFF2-40B4-BE49-F238E27FC236}">
                  <a16:creationId xmlns:a16="http://schemas.microsoft.com/office/drawing/2014/main" id="{883D6FEA-BFB1-A54A-986E-6B3951173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3" y="615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</p:grpSp>
      <p:grpSp>
        <p:nvGrpSpPr>
          <p:cNvPr id="236" name="Group 94">
            <a:extLst>
              <a:ext uri="{FF2B5EF4-FFF2-40B4-BE49-F238E27FC236}">
                <a16:creationId xmlns:a16="http://schemas.microsoft.com/office/drawing/2014/main" id="{4E80CCAE-60C1-5A41-8D94-62FDEFBFE529}"/>
              </a:ext>
            </a:extLst>
          </p:cNvPr>
          <p:cNvGrpSpPr>
            <a:grpSpLocks/>
          </p:cNvGrpSpPr>
          <p:nvPr/>
        </p:nvGrpSpPr>
        <p:grpSpPr bwMode="auto">
          <a:xfrm>
            <a:off x="5280428" y="1894282"/>
            <a:ext cx="1040606" cy="577453"/>
            <a:chOff x="4696" y="597"/>
            <a:chExt cx="874" cy="485"/>
          </a:xfrm>
        </p:grpSpPr>
        <p:sp>
          <p:nvSpPr>
            <p:cNvPr id="237" name="Rectangle 95">
              <a:extLst>
                <a:ext uri="{FF2B5EF4-FFF2-40B4-BE49-F238E27FC236}">
                  <a16:creationId xmlns:a16="http://schemas.microsoft.com/office/drawing/2014/main" id="{CF59B32B-C542-B043-8288-0E845A43D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597"/>
              <a:ext cx="817" cy="416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8" name="Rectangle 96">
              <a:extLst>
                <a:ext uri="{FF2B5EF4-FFF2-40B4-BE49-F238E27FC236}">
                  <a16:creationId xmlns:a16="http://schemas.microsoft.com/office/drawing/2014/main" id="{259A49E6-709B-2347-990D-69F0B212F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3" y="642"/>
              <a:ext cx="802" cy="4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39" name="Line 97">
              <a:extLst>
                <a:ext uri="{FF2B5EF4-FFF2-40B4-BE49-F238E27FC236}">
                  <a16:creationId xmlns:a16="http://schemas.microsoft.com/office/drawing/2014/main" id="{D82D4EF1-E7DC-B146-B148-5E79F02BC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3" y="842"/>
              <a:ext cx="796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050"/>
            </a:p>
          </p:txBody>
        </p:sp>
        <p:sp>
          <p:nvSpPr>
            <p:cNvPr id="240" name="Text Box 98">
              <a:extLst>
                <a:ext uri="{FF2B5EF4-FFF2-40B4-BE49-F238E27FC236}">
                  <a16:creationId xmlns:a16="http://schemas.microsoft.com/office/drawing/2014/main" id="{9BC58A09-0AC8-5F40-B8A7-C0AF48D1D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6" y="621"/>
              <a:ext cx="830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link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50">
                  <a:latin typeface="Arial" panose="020B0604020202020204" pitchFamily="34" charset="0"/>
                </a:rPr>
                <a:t>physical</a:t>
              </a:r>
            </a:p>
          </p:txBody>
        </p:sp>
      </p:grpSp>
      <p:sp>
        <p:nvSpPr>
          <p:cNvPr id="241" name="Freeform 114">
            <a:extLst>
              <a:ext uri="{FF2B5EF4-FFF2-40B4-BE49-F238E27FC236}">
                <a16:creationId xmlns:a16="http://schemas.microsoft.com/office/drawing/2014/main" id="{BEDEB3A2-EFA9-6F44-A8E6-C8BD127C9FBD}"/>
              </a:ext>
            </a:extLst>
          </p:cNvPr>
          <p:cNvSpPr>
            <a:spLocks/>
          </p:cNvSpPr>
          <p:nvPr/>
        </p:nvSpPr>
        <p:spPr bwMode="auto">
          <a:xfrm>
            <a:off x="2286004" y="590546"/>
            <a:ext cx="3948113" cy="4120754"/>
          </a:xfrm>
          <a:custGeom>
            <a:avLst/>
            <a:gdLst>
              <a:gd name="T0" fmla="*/ 2147483646 w 3316"/>
              <a:gd name="T1" fmla="*/ 0 h 3461"/>
              <a:gd name="T2" fmla="*/ 2147483646 w 3316"/>
              <a:gd name="T3" fmla="*/ 2147483646 h 3461"/>
              <a:gd name="T4" fmla="*/ 2147483646 w 3316"/>
              <a:gd name="T5" fmla="*/ 2147483646 h 3461"/>
              <a:gd name="T6" fmla="*/ 2147483646 w 3316"/>
              <a:gd name="T7" fmla="*/ 2147483646 h 3461"/>
              <a:gd name="T8" fmla="*/ 2147483646 w 3316"/>
              <a:gd name="T9" fmla="*/ 2147483646 h 3461"/>
              <a:gd name="T10" fmla="*/ 2147483646 w 3316"/>
              <a:gd name="T11" fmla="*/ 2147483646 h 3461"/>
              <a:gd name="T12" fmla="*/ 2147483646 w 3316"/>
              <a:gd name="T13" fmla="*/ 2147483646 h 3461"/>
              <a:gd name="T14" fmla="*/ 2147483646 w 3316"/>
              <a:gd name="T15" fmla="*/ 2147483646 h 3461"/>
              <a:gd name="T16" fmla="*/ 2147483646 w 3316"/>
              <a:gd name="T17" fmla="*/ 2147483646 h 3461"/>
              <a:gd name="T18" fmla="*/ 2147483646 w 3316"/>
              <a:gd name="T19" fmla="*/ 2147483646 h 3461"/>
              <a:gd name="T20" fmla="*/ 2147483646 w 3316"/>
              <a:gd name="T21" fmla="*/ 2147483646 h 3461"/>
              <a:gd name="T22" fmla="*/ 0 w 3316"/>
              <a:gd name="T23" fmla="*/ 2147483646 h 3461"/>
              <a:gd name="T24" fmla="*/ 0 w 3316"/>
              <a:gd name="T25" fmla="*/ 2147483646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050"/>
          </a:p>
        </p:txBody>
      </p:sp>
      <p:grpSp>
        <p:nvGrpSpPr>
          <p:cNvPr id="242" name="Group 115">
            <a:extLst>
              <a:ext uri="{FF2B5EF4-FFF2-40B4-BE49-F238E27FC236}">
                <a16:creationId xmlns:a16="http://schemas.microsoft.com/office/drawing/2014/main" id="{85B6340C-1412-DD49-A487-35E5DC0144AC}"/>
              </a:ext>
            </a:extLst>
          </p:cNvPr>
          <p:cNvGrpSpPr>
            <a:grpSpLocks/>
          </p:cNvGrpSpPr>
          <p:nvPr/>
        </p:nvGrpSpPr>
        <p:grpSpPr bwMode="auto">
          <a:xfrm>
            <a:off x="4093373" y="3600447"/>
            <a:ext cx="1109663" cy="227410"/>
            <a:chOff x="332" y="2224"/>
            <a:chExt cx="932" cy="191"/>
          </a:xfrm>
        </p:grpSpPr>
        <p:sp>
          <p:nvSpPr>
            <p:cNvPr id="243" name="Rectangle 116">
              <a:extLst>
                <a:ext uri="{FF2B5EF4-FFF2-40B4-BE49-F238E27FC236}">
                  <a16:creationId xmlns:a16="http://schemas.microsoft.com/office/drawing/2014/main" id="{504C038E-092B-1D4B-AD07-733B523A2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44" name="Rectangle 117">
              <a:extLst>
                <a:ext uri="{FF2B5EF4-FFF2-40B4-BE49-F238E27FC236}">
                  <a16:creationId xmlns:a16="http://schemas.microsoft.com/office/drawing/2014/main" id="{99CDC4A5-2671-2F4C-AF10-D4F0B21A0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45" name="Rectangle 118">
              <a:extLst>
                <a:ext uri="{FF2B5EF4-FFF2-40B4-BE49-F238E27FC236}">
                  <a16:creationId xmlns:a16="http://schemas.microsoft.com/office/drawing/2014/main" id="{41C01446-A97C-0942-9110-AECA50BAD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46" name="Rectangle 119">
              <a:extLst>
                <a:ext uri="{FF2B5EF4-FFF2-40B4-BE49-F238E27FC236}">
                  <a16:creationId xmlns:a16="http://schemas.microsoft.com/office/drawing/2014/main" id="{AA06A8EE-28E9-AF46-9EEA-FBEDDAF18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47" name="Rectangle 120">
              <a:extLst>
                <a:ext uri="{FF2B5EF4-FFF2-40B4-BE49-F238E27FC236}">
                  <a16:creationId xmlns:a16="http://schemas.microsoft.com/office/drawing/2014/main" id="{EF7ADA06-A6C3-EC42-9026-08C964BC6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48" name="Line 121">
              <a:extLst>
                <a:ext uri="{FF2B5EF4-FFF2-40B4-BE49-F238E27FC236}">
                  <a16:creationId xmlns:a16="http://schemas.microsoft.com/office/drawing/2014/main" id="{F47A00CE-0D92-CA4D-9460-92CBEF8DE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49" name="Line 122">
              <a:extLst>
                <a:ext uri="{FF2B5EF4-FFF2-40B4-BE49-F238E27FC236}">
                  <a16:creationId xmlns:a16="http://schemas.microsoft.com/office/drawing/2014/main" id="{457AAAB2-E313-B54A-B86A-CBEACA43A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50" name="Line 123">
              <a:extLst>
                <a:ext uri="{FF2B5EF4-FFF2-40B4-BE49-F238E27FC236}">
                  <a16:creationId xmlns:a16="http://schemas.microsoft.com/office/drawing/2014/main" id="{777075DA-53C1-4349-BD44-36049E94C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51" name="Group 124">
            <a:extLst>
              <a:ext uri="{FF2B5EF4-FFF2-40B4-BE49-F238E27FC236}">
                <a16:creationId xmlns:a16="http://schemas.microsoft.com/office/drawing/2014/main" id="{F09DD616-F735-7046-9C1C-D2103F4D1E5C}"/>
              </a:ext>
            </a:extLst>
          </p:cNvPr>
          <p:cNvGrpSpPr>
            <a:grpSpLocks/>
          </p:cNvGrpSpPr>
          <p:nvPr/>
        </p:nvGrpSpPr>
        <p:grpSpPr bwMode="auto">
          <a:xfrm>
            <a:off x="4287447" y="3370656"/>
            <a:ext cx="906065" cy="227409"/>
            <a:chOff x="501" y="1990"/>
            <a:chExt cx="761" cy="191"/>
          </a:xfrm>
        </p:grpSpPr>
        <p:sp>
          <p:nvSpPr>
            <p:cNvPr id="252" name="Rectangle 125">
              <a:extLst>
                <a:ext uri="{FF2B5EF4-FFF2-40B4-BE49-F238E27FC236}">
                  <a16:creationId xmlns:a16="http://schemas.microsoft.com/office/drawing/2014/main" id="{DB941F93-1335-5645-94DE-59F001928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53" name="Rectangle 126">
              <a:extLst>
                <a:ext uri="{FF2B5EF4-FFF2-40B4-BE49-F238E27FC236}">
                  <a16:creationId xmlns:a16="http://schemas.microsoft.com/office/drawing/2014/main" id="{9EA1B2EB-B358-3D4C-841E-567FECFAD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54" name="Rectangle 127">
              <a:extLst>
                <a:ext uri="{FF2B5EF4-FFF2-40B4-BE49-F238E27FC236}">
                  <a16:creationId xmlns:a16="http://schemas.microsoft.com/office/drawing/2014/main" id="{13F00E9F-B735-5849-861F-39C839FD8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55" name="Rectangle 128">
              <a:extLst>
                <a:ext uri="{FF2B5EF4-FFF2-40B4-BE49-F238E27FC236}">
                  <a16:creationId xmlns:a16="http://schemas.microsoft.com/office/drawing/2014/main" id="{0CE33A55-3FFF-D247-A00E-5085ABE3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56" name="Line 129">
              <a:extLst>
                <a:ext uri="{FF2B5EF4-FFF2-40B4-BE49-F238E27FC236}">
                  <a16:creationId xmlns:a16="http://schemas.microsoft.com/office/drawing/2014/main" id="{5257F2F7-73B9-0943-A775-4320CC67F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57" name="Line 130">
              <a:extLst>
                <a:ext uri="{FF2B5EF4-FFF2-40B4-BE49-F238E27FC236}">
                  <a16:creationId xmlns:a16="http://schemas.microsoft.com/office/drawing/2014/main" id="{F79FB15F-B9B5-1C48-A8C6-B6B142E79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58" name="Group 140">
            <a:extLst>
              <a:ext uri="{FF2B5EF4-FFF2-40B4-BE49-F238E27FC236}">
                <a16:creationId xmlns:a16="http://schemas.microsoft.com/office/drawing/2014/main" id="{DC4925E6-41A9-8643-8E76-63BD0FB2392D}"/>
              </a:ext>
            </a:extLst>
          </p:cNvPr>
          <p:cNvGrpSpPr>
            <a:grpSpLocks/>
          </p:cNvGrpSpPr>
          <p:nvPr/>
        </p:nvGrpSpPr>
        <p:grpSpPr bwMode="auto">
          <a:xfrm>
            <a:off x="6366278" y="3645691"/>
            <a:ext cx="906065" cy="227410"/>
            <a:chOff x="501" y="1990"/>
            <a:chExt cx="761" cy="191"/>
          </a:xfrm>
        </p:grpSpPr>
        <p:sp>
          <p:nvSpPr>
            <p:cNvPr id="259" name="Rectangle 141">
              <a:extLst>
                <a:ext uri="{FF2B5EF4-FFF2-40B4-BE49-F238E27FC236}">
                  <a16:creationId xmlns:a16="http://schemas.microsoft.com/office/drawing/2014/main" id="{24DA0C2F-17DB-7643-B65D-18F2B43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60" name="Rectangle 142">
              <a:extLst>
                <a:ext uri="{FF2B5EF4-FFF2-40B4-BE49-F238E27FC236}">
                  <a16:creationId xmlns:a16="http://schemas.microsoft.com/office/drawing/2014/main" id="{296D85F8-DA00-E347-906C-91E4F9393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61" name="Rectangle 143">
              <a:extLst>
                <a:ext uri="{FF2B5EF4-FFF2-40B4-BE49-F238E27FC236}">
                  <a16:creationId xmlns:a16="http://schemas.microsoft.com/office/drawing/2014/main" id="{7E7E3D6E-A342-6648-9506-7A080F8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62" name="Rectangle 144">
              <a:extLst>
                <a:ext uri="{FF2B5EF4-FFF2-40B4-BE49-F238E27FC236}">
                  <a16:creationId xmlns:a16="http://schemas.microsoft.com/office/drawing/2014/main" id="{E27AB14D-C29B-DF45-8BD1-D050C50BE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63" name="Line 145">
              <a:extLst>
                <a:ext uri="{FF2B5EF4-FFF2-40B4-BE49-F238E27FC236}">
                  <a16:creationId xmlns:a16="http://schemas.microsoft.com/office/drawing/2014/main" id="{331963CB-8B11-1C4E-8253-0FDB3A375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64" name="Line 146">
              <a:extLst>
                <a:ext uri="{FF2B5EF4-FFF2-40B4-BE49-F238E27FC236}">
                  <a16:creationId xmlns:a16="http://schemas.microsoft.com/office/drawing/2014/main" id="{432304F0-73BB-2748-8E18-7151D5E33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grpSp>
        <p:nvGrpSpPr>
          <p:cNvPr id="265" name="Group 156">
            <a:extLst>
              <a:ext uri="{FF2B5EF4-FFF2-40B4-BE49-F238E27FC236}">
                <a16:creationId xmlns:a16="http://schemas.microsoft.com/office/drawing/2014/main" id="{2999D032-84BD-264A-ADD9-A5141E317962}"/>
              </a:ext>
            </a:extLst>
          </p:cNvPr>
          <p:cNvGrpSpPr>
            <a:grpSpLocks/>
          </p:cNvGrpSpPr>
          <p:nvPr/>
        </p:nvGrpSpPr>
        <p:grpSpPr bwMode="auto">
          <a:xfrm>
            <a:off x="1618064" y="1439462"/>
            <a:ext cx="1109663" cy="227409"/>
            <a:chOff x="332" y="2224"/>
            <a:chExt cx="932" cy="191"/>
          </a:xfrm>
        </p:grpSpPr>
        <p:sp>
          <p:nvSpPr>
            <p:cNvPr id="266" name="Rectangle 157">
              <a:extLst>
                <a:ext uri="{FF2B5EF4-FFF2-40B4-BE49-F238E27FC236}">
                  <a16:creationId xmlns:a16="http://schemas.microsoft.com/office/drawing/2014/main" id="{0E7166F5-9BCE-6142-A6E7-CDF949808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67" name="Rectangle 158">
              <a:extLst>
                <a:ext uri="{FF2B5EF4-FFF2-40B4-BE49-F238E27FC236}">
                  <a16:creationId xmlns:a16="http://schemas.microsoft.com/office/drawing/2014/main" id="{754F1661-A032-B447-9C02-84330F1B1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68" name="Rectangle 159">
              <a:extLst>
                <a:ext uri="{FF2B5EF4-FFF2-40B4-BE49-F238E27FC236}">
                  <a16:creationId xmlns:a16="http://schemas.microsoft.com/office/drawing/2014/main" id="{1C7AD2C3-C553-2A4B-9171-A8E09BA84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269" name="Rectangle 160">
              <a:extLst>
                <a:ext uri="{FF2B5EF4-FFF2-40B4-BE49-F238E27FC236}">
                  <a16:creationId xmlns:a16="http://schemas.microsoft.com/office/drawing/2014/main" id="{CE64079E-3B67-F34D-801D-A92A1F3B0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270" name="Rectangle 161">
              <a:extLst>
                <a:ext uri="{FF2B5EF4-FFF2-40B4-BE49-F238E27FC236}">
                  <a16:creationId xmlns:a16="http://schemas.microsoft.com/office/drawing/2014/main" id="{1E8F4774-501D-1F43-80F6-8E0FBDD2E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271" name="Line 162">
              <a:extLst>
                <a:ext uri="{FF2B5EF4-FFF2-40B4-BE49-F238E27FC236}">
                  <a16:creationId xmlns:a16="http://schemas.microsoft.com/office/drawing/2014/main" id="{AC823B9C-431D-F442-BF16-B2BB25763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2" name="Line 163">
              <a:extLst>
                <a:ext uri="{FF2B5EF4-FFF2-40B4-BE49-F238E27FC236}">
                  <a16:creationId xmlns:a16="http://schemas.microsoft.com/office/drawing/2014/main" id="{027C6256-CE60-DF44-B53C-314BE2376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  <p:sp>
          <p:nvSpPr>
            <p:cNvPr id="273" name="Line 164">
              <a:extLst>
                <a:ext uri="{FF2B5EF4-FFF2-40B4-BE49-F238E27FC236}">
                  <a16:creationId xmlns:a16="http://schemas.microsoft.com/office/drawing/2014/main" id="{EB0B6073-A87E-8C45-871D-8531AA065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050"/>
            </a:p>
          </p:txBody>
        </p:sp>
      </p:grpSp>
      <p:sp>
        <p:nvSpPr>
          <p:cNvPr id="274" name="Text Box 166">
            <a:extLst>
              <a:ext uri="{FF2B5EF4-FFF2-40B4-BE49-F238E27FC236}">
                <a16:creationId xmlns:a16="http://schemas.microsoft.com/office/drawing/2014/main" id="{B74B5829-1A8F-AE47-9517-C70C28E5B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624" y="4249338"/>
            <a:ext cx="6880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dirty="0">
                <a:latin typeface="+mn-lt"/>
              </a:rPr>
              <a:t>router</a:t>
            </a:r>
            <a:endParaRPr lang="en-US" altLang="en-US" sz="1350" dirty="0">
              <a:latin typeface="+mn-lt"/>
            </a:endParaRPr>
          </a:p>
        </p:txBody>
      </p:sp>
      <p:sp>
        <p:nvSpPr>
          <p:cNvPr id="275" name="Text Box 167">
            <a:extLst>
              <a:ext uri="{FF2B5EF4-FFF2-40B4-BE49-F238E27FC236}">
                <a16:creationId xmlns:a16="http://schemas.microsoft.com/office/drawing/2014/main" id="{28AC982F-9E27-1847-9770-EC46EAFE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6340" y="2539997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dirty="0">
                <a:latin typeface="+mn-lt"/>
              </a:rPr>
              <a:t>switch</a:t>
            </a:r>
            <a:endParaRPr lang="en-US" altLang="en-US" sz="1350" dirty="0">
              <a:latin typeface="+mn-lt"/>
            </a:endParaRPr>
          </a:p>
        </p:txBody>
      </p:sp>
      <p:sp>
        <p:nvSpPr>
          <p:cNvPr id="276" name="Text Box 174">
            <a:extLst>
              <a:ext uri="{FF2B5EF4-FFF2-40B4-BE49-F238E27FC236}">
                <a16:creationId xmlns:a16="http://schemas.microsoft.com/office/drawing/2014/main" id="{2A962AD2-9396-3D42-9E36-5C73F53C9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852" y="709609"/>
            <a:ext cx="8066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Arial" panose="020B0604020202020204" pitchFamily="34" charset="0"/>
              </a:rPr>
              <a:t>message</a:t>
            </a:r>
          </a:p>
        </p:txBody>
      </p:sp>
      <p:grpSp>
        <p:nvGrpSpPr>
          <p:cNvPr id="277" name="Group 175">
            <a:extLst>
              <a:ext uri="{FF2B5EF4-FFF2-40B4-BE49-F238E27FC236}">
                <a16:creationId xmlns:a16="http://schemas.microsoft.com/office/drawing/2014/main" id="{06D27889-C61F-0242-A608-3A140922A686}"/>
              </a:ext>
            </a:extLst>
          </p:cNvPr>
          <p:cNvGrpSpPr>
            <a:grpSpLocks/>
          </p:cNvGrpSpPr>
          <p:nvPr/>
        </p:nvGrpSpPr>
        <p:grpSpPr bwMode="auto">
          <a:xfrm>
            <a:off x="2237189" y="729851"/>
            <a:ext cx="509588" cy="226219"/>
            <a:chOff x="780" y="1553"/>
            <a:chExt cx="428" cy="190"/>
          </a:xfrm>
        </p:grpSpPr>
        <p:sp>
          <p:nvSpPr>
            <p:cNvPr id="278" name="Rectangle 176">
              <a:extLst>
                <a:ext uri="{FF2B5EF4-FFF2-40B4-BE49-F238E27FC236}">
                  <a16:creationId xmlns:a16="http://schemas.microsoft.com/office/drawing/2014/main" id="{8E4EC409-9300-A24E-856E-0C57A0500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9" name="Rectangle 177">
              <a:extLst>
                <a:ext uri="{FF2B5EF4-FFF2-40B4-BE49-F238E27FC236}">
                  <a16:creationId xmlns:a16="http://schemas.microsoft.com/office/drawing/2014/main" id="{C7120CFE-84DC-AE4A-96EA-467B21A3F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280" name="Group 185">
            <a:extLst>
              <a:ext uri="{FF2B5EF4-FFF2-40B4-BE49-F238E27FC236}">
                <a16:creationId xmlns:a16="http://schemas.microsoft.com/office/drawing/2014/main" id="{48F838C9-2064-8846-AE99-7D64C6F0E88A}"/>
              </a:ext>
            </a:extLst>
          </p:cNvPr>
          <p:cNvGrpSpPr>
            <a:grpSpLocks/>
          </p:cNvGrpSpPr>
          <p:nvPr/>
        </p:nvGrpSpPr>
        <p:grpSpPr bwMode="auto">
          <a:xfrm>
            <a:off x="2060978" y="970357"/>
            <a:ext cx="677465" cy="226219"/>
            <a:chOff x="1851" y="2046"/>
            <a:chExt cx="569" cy="190"/>
          </a:xfrm>
        </p:grpSpPr>
        <p:grpSp>
          <p:nvGrpSpPr>
            <p:cNvPr id="281" name="Group 179">
              <a:extLst>
                <a:ext uri="{FF2B5EF4-FFF2-40B4-BE49-F238E27FC236}">
                  <a16:creationId xmlns:a16="http://schemas.microsoft.com/office/drawing/2014/main" id="{B8E6789C-1509-4C48-885B-AD08332F4B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285" name="Rectangle 180">
                <a:extLst>
                  <a:ext uri="{FF2B5EF4-FFF2-40B4-BE49-F238E27FC236}">
                    <a16:creationId xmlns:a16="http://schemas.microsoft.com/office/drawing/2014/main" id="{06BC3922-CF81-3845-BA10-96DBBA1F4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6" name="Rectangle 181">
                <a:extLst>
                  <a:ext uri="{FF2B5EF4-FFF2-40B4-BE49-F238E27FC236}">
                    <a16:creationId xmlns:a16="http://schemas.microsoft.com/office/drawing/2014/main" id="{C4E3DD7C-9412-E741-BD84-C65290F3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050">
                    <a:latin typeface="Arial" panose="020B0604020202020204" pitchFamily="34" charset="0"/>
                  </a:rPr>
                  <a:t>H</a:t>
                </a:r>
                <a:r>
                  <a:rPr lang="en-US" altLang="en-US" sz="1350" baseline="-25000">
                    <a:latin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282" name="Group 182">
              <a:extLst>
                <a:ext uri="{FF2B5EF4-FFF2-40B4-BE49-F238E27FC236}">
                  <a16:creationId xmlns:a16="http://schemas.microsoft.com/office/drawing/2014/main" id="{19C49CDA-616B-0942-AEEF-049BB04DF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283" name="Rectangle 183">
                <a:extLst>
                  <a:ext uri="{FF2B5EF4-FFF2-40B4-BE49-F238E27FC236}">
                    <a16:creationId xmlns:a16="http://schemas.microsoft.com/office/drawing/2014/main" id="{4F97E7C1-6241-2842-9ACE-7FBCF045B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284" name="Rectangle 184">
                <a:extLst>
                  <a:ext uri="{FF2B5EF4-FFF2-40B4-BE49-F238E27FC236}">
                    <a16:creationId xmlns:a16="http://schemas.microsoft.com/office/drawing/2014/main" id="{FBAAFC8C-9356-294D-B8F3-F6E481079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050">
                    <a:latin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87" name="Group 187">
            <a:extLst>
              <a:ext uri="{FF2B5EF4-FFF2-40B4-BE49-F238E27FC236}">
                <a16:creationId xmlns:a16="http://schemas.microsoft.com/office/drawing/2014/main" id="{11860688-7535-2242-95B7-51DB4FCD1617}"/>
              </a:ext>
            </a:extLst>
          </p:cNvPr>
          <p:cNvGrpSpPr>
            <a:grpSpLocks/>
          </p:cNvGrpSpPr>
          <p:nvPr/>
        </p:nvGrpSpPr>
        <p:grpSpPr bwMode="auto">
          <a:xfrm>
            <a:off x="1840712" y="1213244"/>
            <a:ext cx="226219" cy="219075"/>
            <a:chOff x="1962" y="2058"/>
            <a:chExt cx="190" cy="184"/>
          </a:xfrm>
        </p:grpSpPr>
        <p:sp>
          <p:nvSpPr>
            <p:cNvPr id="288" name="Rectangle 188">
              <a:extLst>
                <a:ext uri="{FF2B5EF4-FFF2-40B4-BE49-F238E27FC236}">
                  <a16:creationId xmlns:a16="http://schemas.microsoft.com/office/drawing/2014/main" id="{731A6D81-5EA1-834F-A9B7-29A362ECB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89" name="Rectangle 189">
              <a:extLst>
                <a:ext uri="{FF2B5EF4-FFF2-40B4-BE49-F238E27FC236}">
                  <a16:creationId xmlns:a16="http://schemas.microsoft.com/office/drawing/2014/main" id="{2EAE3C28-1F19-034E-A583-4C40A2941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050">
                  <a:latin typeface="Arial" panose="020B0604020202020204" pitchFamily="34" charset="0"/>
                </a:rPr>
                <a:t>H</a:t>
              </a:r>
              <a:r>
                <a:rPr lang="en-US" altLang="en-US" sz="1350" baseline="-25000"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290" name="Text Box 7">
            <a:extLst>
              <a:ext uri="{FF2B5EF4-FFF2-40B4-BE49-F238E27FC236}">
                <a16:creationId xmlns:a16="http://schemas.microsoft.com/office/drawing/2014/main" id="{A538246A-59B9-0349-A984-2F7704DB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277" y="1422794"/>
            <a:ext cx="5774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</a:p>
        </p:txBody>
      </p:sp>
      <p:grpSp>
        <p:nvGrpSpPr>
          <p:cNvPr id="291" name="Group 187">
            <a:extLst>
              <a:ext uri="{FF2B5EF4-FFF2-40B4-BE49-F238E27FC236}">
                <a16:creationId xmlns:a16="http://schemas.microsoft.com/office/drawing/2014/main" id="{4888665C-41EE-644D-80C5-A5B9017648C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98037" y="3918345"/>
            <a:ext cx="602456" cy="578644"/>
            <a:chOff x="-44" y="1473"/>
            <a:chExt cx="981" cy="1105"/>
          </a:xfrm>
        </p:grpSpPr>
        <p:pic>
          <p:nvPicPr>
            <p:cNvPr id="292" name="Picture 188" descr="desktop_computer_stylized_medium">
              <a:extLst>
                <a:ext uri="{FF2B5EF4-FFF2-40B4-BE49-F238E27FC236}">
                  <a16:creationId xmlns:a16="http://schemas.microsoft.com/office/drawing/2014/main" id="{7A9F9E63-740A-7147-A711-8D8238FD97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3" name="Freeform 189">
              <a:extLst>
                <a:ext uri="{FF2B5EF4-FFF2-40B4-BE49-F238E27FC236}">
                  <a16:creationId xmlns:a16="http://schemas.microsoft.com/office/drawing/2014/main" id="{B678C5E1-8916-9C47-B1F3-E8A3F8BB6D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grpSp>
        <p:nvGrpSpPr>
          <p:cNvPr id="294" name="Group 190">
            <a:extLst>
              <a:ext uri="{FF2B5EF4-FFF2-40B4-BE49-F238E27FC236}">
                <a16:creationId xmlns:a16="http://schemas.microsoft.com/office/drawing/2014/main" id="{3A531A16-240C-9241-94EF-4C9AE49511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019556" y="1006076"/>
            <a:ext cx="602456" cy="578644"/>
            <a:chOff x="-44" y="1473"/>
            <a:chExt cx="981" cy="1105"/>
          </a:xfrm>
        </p:grpSpPr>
        <p:pic>
          <p:nvPicPr>
            <p:cNvPr id="295" name="Picture 191" descr="desktop_computer_stylized_medium">
              <a:extLst>
                <a:ext uri="{FF2B5EF4-FFF2-40B4-BE49-F238E27FC236}">
                  <a16:creationId xmlns:a16="http://schemas.microsoft.com/office/drawing/2014/main" id="{1407FE03-3BF1-1D45-8A83-D39E3D03C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6" name="Freeform 192">
              <a:extLst>
                <a:ext uri="{FF2B5EF4-FFF2-40B4-BE49-F238E27FC236}">
                  <a16:creationId xmlns:a16="http://schemas.microsoft.com/office/drawing/2014/main" id="{24E88B51-BE9B-3C48-9F67-26465B7496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1050"/>
            </a:p>
          </p:txBody>
        </p:sp>
      </p:grpSp>
      <p:sp>
        <p:nvSpPr>
          <p:cNvPr id="144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29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7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37 L 3.95833E-6 0.045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00926 L 2.08333E-7 0.0479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8.33333E-7 0.0421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2.08333E-7 0.1375 L 0.26732 0.1375 L 0.26732 0.09838 L 0.55482 0.09699 C 0.55534 0.25046 0.56029 0.44746 0.56198 0.60185 C 0.52161 0.57037 0.50326 0.57546 0.46302 0.54398 C 0.46302 0.51713 0.46315 0.47801 0.46315 0.45185 " pathEditMode="relative" rAng="0" ptsTypes="AAAAAAAA">
                                      <p:cBhvr>
                                        <p:cTn id="61" dur="3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99" y="3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-0.00047 L 0.00157 -0.04815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8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/>
      <p:bldP spid="192" grpId="1"/>
      <p:bldP spid="196" grpId="0"/>
      <p:bldP spid="196" grpId="1"/>
      <p:bldP spid="276" grpId="0"/>
      <p:bldP spid="290" grpId="0"/>
      <p:bldP spid="290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216994"/>
            <a:ext cx="82194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latin typeface="+mj-lt"/>
                <a:cs typeface="Calibri" panose="020F0502020204030204" pitchFamily="34" charset="0"/>
              </a:rPr>
              <a:t>Chapter 1: </a:t>
            </a:r>
            <a:r>
              <a:rPr lang="en-US" altLang="en-US" dirty="0" smtClean="0">
                <a:latin typeface="+mj-lt"/>
                <a:cs typeface="Calibri" panose="020F0502020204030204" pitchFamily="34" charset="0"/>
              </a:rPr>
              <a:t>Computer Networks and the Internet</a:t>
            </a:r>
            <a:endParaRPr lang="en-US" dirty="0">
              <a:latin typeface="+mj-lt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99018" y="1060509"/>
            <a:ext cx="8122418" cy="359926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Overview/roadmap: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 the Internet?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altLang="en-US" sz="1950" i="1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altLang="ja-JP" sz="1950" dirty="0">
                <a:latin typeface="Calibri" panose="020F0502020204030204" pitchFamily="34" charset="0"/>
                <a:cs typeface="Calibri" panose="020F0502020204030204" pitchFamily="34" charset="0"/>
              </a:rPr>
              <a:t>a protocol?</a:t>
            </a: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edge: </a:t>
            </a:r>
            <a:r>
              <a:rPr lang="en-US" altLang="en-US" sz="195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hosts, access network, physical media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2419" indent="-214313" algn="just"/>
            <a:r>
              <a:rPr lang="en-US" altLang="en-US" sz="1950" dirty="0" smtClean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Network </a:t>
            </a:r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packet/circuit switching, internet structure</a:t>
            </a:r>
          </a:p>
          <a:p>
            <a:pPr marL="302419" indent="-214313" algn="just"/>
            <a:r>
              <a:rPr lang="en-US" altLang="en-US" sz="1950" dirty="0">
                <a:solidFill>
                  <a:srgbClr val="0000A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Performance: </a:t>
            </a:r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loss, delay, throughput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</a:p>
          <a:p>
            <a:pPr marL="302419" indent="-214313" algn="just"/>
            <a:r>
              <a:rPr lang="en-US" altLang="en-US" sz="1950" dirty="0">
                <a:latin typeface="Calibri" panose="020F0502020204030204" pitchFamily="34" charset="0"/>
                <a:cs typeface="Calibri" panose="020F0502020204030204" pitchFamily="34" charset="0"/>
              </a:rPr>
              <a:t>Protocol layers, service models</a:t>
            </a:r>
          </a:p>
          <a:p>
            <a:pPr marL="302419" indent="-214313" algn="just"/>
            <a:r>
              <a:rPr lang="en-US" altLang="en-US" sz="1950" dirty="0" smtClean="0">
                <a:latin typeface="Calibri" panose="020F0502020204030204" pitchFamily="34" charset="0"/>
                <a:cs typeface="Calibri" panose="020F0502020204030204" pitchFamily="34" charset="0"/>
              </a:rPr>
              <a:t>History of Computer Networking and the Internet</a:t>
            </a:r>
            <a:endParaRPr lang="en-US" altLang="en-US" sz="19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dirty="0"/>
          </a:p>
        </p:txBody>
      </p:sp>
      <p:sp>
        <p:nvSpPr>
          <p:cNvPr id="11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30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87207" y="4011581"/>
            <a:ext cx="5076769" cy="30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32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panet2">
            <a:extLst>
              <a:ext uri="{FF2B5EF4-FFF2-40B4-BE49-F238E27FC236}">
                <a16:creationId xmlns:a16="http://schemas.microsoft.com/office/drawing/2014/main" id="{E7F81C40-077A-8344-A0DD-CCE7EDD75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8"/>
          <a:stretch>
            <a:fillRect/>
          </a:stretch>
        </p:blipFill>
        <p:spPr bwMode="auto">
          <a:xfrm>
            <a:off x="6961540" y="3201970"/>
            <a:ext cx="1832270" cy="1777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history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81025" y="1571625"/>
            <a:ext cx="3733800" cy="3260692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1961:</a:t>
            </a:r>
            <a:r>
              <a:rPr lang="en-US" sz="2100" dirty="0"/>
              <a:t> Kleinrock - queueing theory shows effectiveness of packet-switching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1964:</a:t>
            </a:r>
            <a:r>
              <a:rPr lang="en-US" sz="2100" dirty="0"/>
              <a:t> Baran - packet-switching in military nets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1967:</a:t>
            </a:r>
            <a:r>
              <a:rPr lang="en-US" sz="2100" dirty="0"/>
              <a:t> ARPAnet conceived by Advanced Research Projects Agency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>
                <a:solidFill>
                  <a:srgbClr val="000099"/>
                </a:solidFill>
              </a:rPr>
              <a:t>1969:</a:t>
            </a:r>
            <a:r>
              <a:rPr lang="en-US" sz="2100" dirty="0"/>
              <a:t> first ARPAnet node operational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156567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1972: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ARPAnet public demo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NCP (Network Control Protocol) first host-host protocol 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first e-mail program</a:t>
            </a:r>
          </a:p>
          <a:p>
            <a:pPr marL="392906" lvl="1" indent="-177404"/>
            <a:r>
              <a:rPr lang="en-US" altLang="en-US" sz="2100" dirty="0">
                <a:ea typeface="Arial" panose="020B0604020202020204" pitchFamily="34" charset="0"/>
              </a:rPr>
              <a:t>ARPAnet has 15 nodes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599901" y="908977"/>
            <a:ext cx="6282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1961-1972: Early packet-switching principles</a:t>
            </a:r>
            <a:endParaRPr lang="en-US" altLang="en-US" sz="2400" u="sng" dirty="0">
              <a:solidFill>
                <a:srgbClr val="C00000"/>
              </a:solidFill>
            </a:endParaRPr>
          </a:p>
        </p:txBody>
      </p:sp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31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21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history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495300" y="1571625"/>
            <a:ext cx="3962400" cy="3260692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1970:</a:t>
            </a:r>
            <a:r>
              <a:rPr lang="en-US" altLang="en-US" sz="2100" dirty="0">
                <a:ea typeface="ＭＳ Ｐゴシック" panose="020B0600070205080204" pitchFamily="34" charset="-128"/>
              </a:rPr>
              <a:t>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ALOHAnet</a:t>
            </a:r>
            <a:r>
              <a:rPr lang="en-US" altLang="en-US" sz="2100" dirty="0">
                <a:ea typeface="ＭＳ Ｐゴシック" panose="020B0600070205080204" pitchFamily="34" charset="-128"/>
              </a:rPr>
              <a:t> satellite network in Hawaii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1974:</a:t>
            </a:r>
            <a:r>
              <a:rPr lang="en-US" altLang="en-US" sz="2100" dirty="0">
                <a:ea typeface="ＭＳ Ｐゴシック" panose="020B0600070205080204" pitchFamily="34" charset="-128"/>
              </a:rPr>
              <a:t> Cerf and Kahn - architecture for interconnecting networks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1976:</a:t>
            </a:r>
            <a:r>
              <a:rPr lang="en-US" altLang="en-US" sz="2100" dirty="0">
                <a:ea typeface="ＭＳ Ｐゴシック" panose="020B0600070205080204" pitchFamily="34" charset="-128"/>
              </a:rPr>
              <a:t> Ethernet at Xerox PARC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late70’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ea typeface="ＭＳ Ｐゴシック" panose="020B0600070205080204" pitchFamily="34" charset="-128"/>
              </a:rPr>
              <a:t> proprietary architectures: </a:t>
            </a:r>
            <a:r>
              <a:rPr lang="en-US" altLang="ja-JP" sz="2100" dirty="0" err="1">
                <a:ea typeface="ＭＳ Ｐゴシック" panose="020B0600070205080204" pitchFamily="34" charset="-128"/>
              </a:rPr>
              <a:t>DECnet</a:t>
            </a:r>
            <a:r>
              <a:rPr lang="en-US" altLang="ja-JP" sz="2100" dirty="0">
                <a:ea typeface="ＭＳ Ｐゴシック" panose="020B0600070205080204" pitchFamily="34" charset="-128"/>
              </a:rPr>
              <a:t>, SNA, XNA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 70’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ea typeface="ＭＳ Ｐゴシック" panose="020B0600070205080204" pitchFamily="34" charset="-128"/>
              </a:rPr>
              <a:t> switching fixed length packets (ATM precursor)</a:t>
            </a:r>
          </a:p>
          <a:p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1979:</a:t>
            </a:r>
            <a:r>
              <a:rPr lang="en-US" altLang="en-US" sz="2100" dirty="0">
                <a:ea typeface="ＭＳ Ｐゴシック" panose="020B0600070205080204" pitchFamily="34" charset="-128"/>
              </a:rPr>
              <a:t> ARPAnet has 200 nodes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593089" y="901955"/>
            <a:ext cx="74959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1972-1980: Internetworking, new and proprietary nets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08262C8-1FAC-0443-9A02-4D30DF80F9F4}"/>
              </a:ext>
            </a:extLst>
          </p:cNvPr>
          <p:cNvSpPr txBox="1">
            <a:spLocks noChangeArrowheads="1"/>
          </p:cNvSpPr>
          <p:nvPr/>
        </p:nvSpPr>
        <p:spPr>
          <a:xfrm>
            <a:off x="5159947" y="1740250"/>
            <a:ext cx="3551853" cy="292714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106" indent="9525">
              <a:buNone/>
            </a:pPr>
            <a:r>
              <a:rPr lang="en-US" altLang="en-US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Cerf and Kahn’</a:t>
            </a:r>
            <a:r>
              <a:rPr lang="en-US" altLang="ja-JP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s internetworking principles: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minimalism, autonomy - no internal changes required to interconnect networks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best-effort service model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stateless routing</a:t>
            </a:r>
          </a:p>
          <a:p>
            <a:pPr marL="354806" lvl="1" indent="-216694">
              <a:buFont typeface="Wingdings" pitchFamily="2" charset="2"/>
              <a:buChar char="§"/>
            </a:pPr>
            <a:r>
              <a:rPr lang="en-US" altLang="en-US" sz="1800" dirty="0">
                <a:ea typeface="Arial" panose="020B0604020202020204" pitchFamily="34" charset="0"/>
              </a:rPr>
              <a:t>decentralized control</a:t>
            </a:r>
          </a:p>
          <a:p>
            <a:pPr marL="88106" indent="0">
              <a:buNone/>
            </a:pPr>
            <a:r>
              <a:rPr lang="en-US" altLang="en-US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define today’</a:t>
            </a:r>
            <a:r>
              <a:rPr lang="en-US" altLang="ja-JP" sz="1800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s Internet architecture</a:t>
            </a:r>
            <a:endParaRPr lang="en-US" altLang="en-US" sz="1800" dirty="0">
              <a:solidFill>
                <a:srgbClr val="00009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C6B9B7-113F-CF4E-B965-F2D14958F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515" y="1610472"/>
            <a:ext cx="3733799" cy="3037728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0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32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19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history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71500" y="1571625"/>
            <a:ext cx="3733800" cy="326069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1983:</a:t>
            </a:r>
            <a:r>
              <a:rPr lang="en-US" altLang="en-US" sz="2100" dirty="0">
                <a:ea typeface="ＭＳ Ｐゴシック" panose="020B0600070205080204" pitchFamily="34" charset="-128"/>
              </a:rPr>
              <a:t> deployment of TCP/IP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1982:</a:t>
            </a:r>
            <a:r>
              <a:rPr lang="en-US" altLang="en-US" sz="2100" dirty="0">
                <a:ea typeface="ＭＳ Ｐゴシック" panose="020B0600070205080204" pitchFamily="34" charset="-128"/>
              </a:rPr>
              <a:t> smtp e-mail protocol defined 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1983:</a:t>
            </a:r>
            <a:r>
              <a:rPr lang="en-US" altLang="en-US" sz="2100" dirty="0">
                <a:ea typeface="ＭＳ Ｐゴシック" panose="020B0600070205080204" pitchFamily="34" charset="-128"/>
              </a:rPr>
              <a:t> DNS defined for name-to-IP-address translation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1985:</a:t>
            </a:r>
            <a:r>
              <a:rPr lang="en-US" altLang="en-US" sz="2100" dirty="0">
                <a:ea typeface="ＭＳ Ｐゴシック" panose="020B0600070205080204" pitchFamily="34" charset="-128"/>
              </a:rPr>
              <a:t> ftp protocol defined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1988:</a:t>
            </a:r>
            <a:r>
              <a:rPr lang="en-US" altLang="en-US" sz="2100" dirty="0">
                <a:ea typeface="ＭＳ Ｐゴシック" panose="020B0600070205080204" pitchFamily="34" charset="-128"/>
              </a:rPr>
              <a:t> TCP congestion control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156567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new national networks: </a:t>
            </a:r>
            <a:r>
              <a:rPr lang="en-US" sz="2100" dirty="0" err="1"/>
              <a:t>CSnet</a:t>
            </a:r>
            <a:r>
              <a:rPr lang="en-US" sz="2100" dirty="0"/>
              <a:t>, </a:t>
            </a:r>
            <a:r>
              <a:rPr lang="en-US" sz="2100" dirty="0" err="1"/>
              <a:t>BITnet</a:t>
            </a:r>
            <a:r>
              <a:rPr lang="en-US" sz="2100" dirty="0"/>
              <a:t>, </a:t>
            </a:r>
            <a:r>
              <a:rPr lang="en-US" sz="2100" dirty="0" err="1"/>
              <a:t>NSFnet</a:t>
            </a:r>
            <a:r>
              <a:rPr lang="en-US" sz="2100" dirty="0"/>
              <a:t>, Minitel</a:t>
            </a:r>
          </a:p>
          <a:p>
            <a:pPr marL="215504" indent="-215504">
              <a:buFont typeface="Wingdings" charset="2"/>
              <a:buChar char="§"/>
              <a:defRPr/>
            </a:pPr>
            <a:r>
              <a:rPr lang="en-US" sz="2100" dirty="0"/>
              <a:t>100,000 hosts connected to confederation of networks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571500" y="909390"/>
            <a:ext cx="7427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1980-1990: new protocols, a proliferation of networks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43D9156-178D-FA4A-ACEB-4C58A8C3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749" y="2910400"/>
            <a:ext cx="2929748" cy="215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33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5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history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90376" y="1559726"/>
            <a:ext cx="4183711" cy="35345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s:</a:t>
            </a:r>
            <a:r>
              <a:rPr lang="en-US" altLang="ja-JP" sz="2100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ja-JP" sz="2100" dirty="0">
                <a:ea typeface="ＭＳ Ｐゴシック" panose="020B0600070205080204" pitchFamily="34" charset="-128"/>
              </a:rPr>
              <a:t>ARPAnet decommissioned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1991:</a:t>
            </a:r>
            <a:r>
              <a:rPr lang="en-US" altLang="en-US" sz="2100" dirty="0">
                <a:solidFill>
                  <a:schemeClr val="accent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ea typeface="ＭＳ Ｐゴシック" panose="020B0600070205080204" pitchFamily="34" charset="-128"/>
              </a:rPr>
              <a:t>NSF lifts restrictions on commercial use of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NSFnet</a:t>
            </a:r>
            <a:r>
              <a:rPr lang="en-US" altLang="en-US" sz="2100" dirty="0">
                <a:ea typeface="ＭＳ Ｐゴシック" panose="020B0600070205080204" pitchFamily="34" charset="-128"/>
              </a:rPr>
              <a:t> (decommissioned, 1995)</a:t>
            </a:r>
          </a:p>
          <a:p>
            <a:pPr marL="215504" indent="-215504"/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early 1990s:</a:t>
            </a:r>
            <a:r>
              <a:rPr lang="en-US" altLang="en-US" sz="2100" dirty="0">
                <a:ea typeface="ＭＳ Ｐゴシック" panose="020B0600070205080204" pitchFamily="34" charset="-128"/>
              </a:rPr>
              <a:t> Web</a:t>
            </a:r>
          </a:p>
          <a:p>
            <a:pPr marL="427435" lvl="1" indent="-169069"/>
            <a:r>
              <a:rPr lang="en-US" altLang="en-US" sz="1800" dirty="0">
                <a:ea typeface="Arial" panose="020B0604020202020204" pitchFamily="34" charset="0"/>
              </a:rPr>
              <a:t>hypertext </a:t>
            </a:r>
            <a:r>
              <a:rPr lang="en-US" altLang="en-US" sz="1350" dirty="0">
                <a:ea typeface="Arial" panose="020B0604020202020204" pitchFamily="34" charset="0"/>
              </a:rPr>
              <a:t>[Bush 1945, Nelson 1960</a:t>
            </a:r>
            <a:r>
              <a:rPr lang="en-US" altLang="en-US" sz="1350" dirty="0">
                <a:ea typeface="ＭＳ Ｐゴシック" panose="020B0600070205080204" pitchFamily="34" charset="-128"/>
              </a:rPr>
              <a:t>’</a:t>
            </a:r>
            <a:r>
              <a:rPr lang="en-US" altLang="ja-JP" sz="1350" dirty="0">
                <a:ea typeface="ＭＳ Ｐゴシック" panose="020B0600070205080204" pitchFamily="34" charset="-128"/>
              </a:rPr>
              <a:t>s]</a:t>
            </a:r>
          </a:p>
          <a:p>
            <a:pPr marL="427435" lvl="1" indent="-169069"/>
            <a:r>
              <a:rPr lang="en-US" altLang="en-US" sz="1800" dirty="0">
                <a:ea typeface="Arial" panose="020B0604020202020204" pitchFamily="34" charset="0"/>
              </a:rPr>
              <a:t>HTML, HTTP: Berners-Lee</a:t>
            </a:r>
          </a:p>
          <a:p>
            <a:pPr marL="427435" lvl="1" indent="-169069"/>
            <a:r>
              <a:rPr lang="en-US" altLang="en-US" sz="1800" dirty="0">
                <a:solidFill>
                  <a:srgbClr val="0000A8"/>
                </a:solidFill>
                <a:ea typeface="Arial" panose="020B0604020202020204" pitchFamily="34" charset="0"/>
              </a:rPr>
              <a:t>1994: </a:t>
            </a:r>
            <a:r>
              <a:rPr lang="en-US" altLang="en-US" sz="1800" dirty="0">
                <a:ea typeface="Arial" panose="020B0604020202020204" pitchFamily="34" charset="0"/>
              </a:rPr>
              <a:t>Mosaic, later Netscape</a:t>
            </a:r>
          </a:p>
          <a:p>
            <a:pPr marL="427435" lvl="1" indent="-169069"/>
            <a:r>
              <a:rPr lang="en-US" altLang="en-US" sz="1800" dirty="0">
                <a:solidFill>
                  <a:srgbClr val="0000A8"/>
                </a:solidFill>
                <a:ea typeface="Arial" panose="020B0604020202020204" pitchFamily="34" charset="0"/>
              </a:rPr>
              <a:t>late 1990</a:t>
            </a:r>
            <a:r>
              <a:rPr lang="en-US" altLang="ja-JP" sz="1800" dirty="0">
                <a:solidFill>
                  <a:srgbClr val="0000A8"/>
                </a:solidFill>
                <a:ea typeface="ＭＳ Ｐゴシック" panose="020B0600070205080204" pitchFamily="34" charset="-128"/>
              </a:rPr>
              <a:t>s: </a:t>
            </a:r>
            <a:r>
              <a:rPr lang="en-US" altLang="ja-JP" sz="1800" dirty="0">
                <a:ea typeface="ＭＳ Ｐゴシック" panose="020B0600070205080204" pitchFamily="34" charset="-128"/>
              </a:rPr>
              <a:t>commercialization</a:t>
            </a:r>
            <a:r>
              <a:rPr lang="en-US" altLang="ja-JP" sz="1500" dirty="0">
                <a:ea typeface="ＭＳ Ｐゴシック" panose="020B0600070205080204" pitchFamily="34" charset="-128"/>
              </a:rPr>
              <a:t> of the Web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4610100" y="1565675"/>
            <a:ext cx="4183711" cy="32579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late 1990</a:t>
            </a:r>
            <a:r>
              <a:rPr lang="en-US" altLang="ja-JP" sz="21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 – 2000s: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more killer apps: instant messaging, P2P file sharing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network security to forefront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est. 50 million host, 100 million+ users</a:t>
            </a:r>
          </a:p>
          <a:p>
            <a:r>
              <a:rPr lang="en-US" altLang="en-US" sz="2100" dirty="0">
                <a:ea typeface="ＭＳ Ｐゴシック" panose="020B0600070205080204" pitchFamily="34" charset="-128"/>
              </a:rPr>
              <a:t>backbone links running at Gbps</a:t>
            </a:r>
          </a:p>
          <a:p>
            <a:pPr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555435" y="911352"/>
            <a:ext cx="82830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</a:rPr>
              <a:t>1990, 2000s: commercialization, the Web, new applications</a:t>
            </a: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34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68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Internet history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615511" y="1435100"/>
            <a:ext cx="8356601" cy="38481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~18B devices attached to Internet </a:t>
            </a:r>
            <a:r>
              <a:rPr lang="en-US" altLang="en-US" sz="1500" dirty="0">
                <a:ea typeface="ＭＳ Ｐゴシック" panose="020B0600070205080204" pitchFamily="34" charset="-128"/>
              </a:rPr>
              <a:t>(2017)</a:t>
            </a:r>
          </a:p>
          <a:p>
            <a:pPr marL="647700" lvl="2" indent="-214313">
              <a:spcBef>
                <a:spcPts val="450"/>
              </a:spcBef>
              <a:buClr>
                <a:srgbClr val="0000A8"/>
              </a:buClr>
            </a:pPr>
            <a:r>
              <a:rPr lang="en-US" altLang="en-US" sz="1800" dirty="0">
                <a:ea typeface="ＭＳ Ｐゴシック" panose="020B0600070205080204" pitchFamily="34" charset="-128"/>
              </a:rPr>
              <a:t>rise of smartphones (iPhone: 2007)</a:t>
            </a:r>
          </a:p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aggressive deployment of broadband access</a:t>
            </a:r>
          </a:p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increasing ubiquity of high-speed wireless access: 4G/5G, </a:t>
            </a:r>
            <a:r>
              <a:rPr lang="en-US" altLang="en-US" sz="2100" dirty="0" err="1">
                <a:ea typeface="ＭＳ Ｐゴシック" panose="020B0600070205080204" pitchFamily="34" charset="-128"/>
              </a:rPr>
              <a:t>WiFi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emergence of online social networks: </a:t>
            </a:r>
          </a:p>
          <a:p>
            <a:pPr marL="354806" lvl="1" indent="-257175">
              <a:spcBef>
                <a:spcPts val="450"/>
              </a:spcBef>
            </a:pPr>
            <a:r>
              <a:rPr lang="en-US" altLang="en-US" sz="1800" dirty="0">
                <a:ea typeface="ＭＳ Ｐゴシック" panose="020B0600070205080204" pitchFamily="34" charset="-128"/>
              </a:rPr>
              <a:t>Facebook: ~ 2.5 billion users</a:t>
            </a:r>
            <a:endParaRPr lang="en-US" altLang="en-US" sz="2100" dirty="0">
              <a:ea typeface="ＭＳ Ｐゴシック" panose="020B0600070205080204" pitchFamily="34" charset="-128"/>
            </a:endParaRPr>
          </a:p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service providers </a:t>
            </a:r>
            <a:r>
              <a:rPr lang="en-US" altLang="en-US" sz="1800" dirty="0">
                <a:ea typeface="ＭＳ Ｐゴシック" panose="020B0600070205080204" pitchFamily="34" charset="-128"/>
              </a:rPr>
              <a:t>(Google, FB, Microsoft</a:t>
            </a:r>
            <a:r>
              <a:rPr lang="en-US" altLang="en-US" sz="2100" dirty="0">
                <a:ea typeface="ＭＳ Ｐゴシック" panose="020B0600070205080204" pitchFamily="34" charset="-128"/>
              </a:rPr>
              <a:t>) create their own networks</a:t>
            </a:r>
          </a:p>
          <a:p>
            <a:pPr marL="609600" lvl="2" indent="-176213">
              <a:spcBef>
                <a:spcPts val="450"/>
              </a:spcBef>
            </a:pPr>
            <a:r>
              <a:rPr lang="en-US" altLang="en-US" sz="1800" dirty="0">
                <a:ea typeface="ＭＳ Ｐゴシック" panose="020B0600070205080204" pitchFamily="34" charset="-128"/>
              </a:rPr>
              <a:t>bypass commercial Internet to connect “close” to end user, providing </a:t>
            </a:r>
            <a:r>
              <a:rPr lang="ja-JP" altLang="en-US" sz="1800" dirty="0">
                <a:ea typeface="ＭＳ Ｐゴシック" panose="020B0600070205080204" pitchFamily="34" charset="-128"/>
              </a:rPr>
              <a:t>“</a:t>
            </a:r>
            <a:r>
              <a:rPr lang="en-US" altLang="ja-JP" sz="1800" dirty="0">
                <a:ea typeface="ＭＳ Ｐゴシック" panose="020B0600070205080204" pitchFamily="34" charset="-128"/>
              </a:rPr>
              <a:t>instantaneous</a:t>
            </a:r>
            <a:r>
              <a:rPr lang="ja-JP" altLang="en-US" sz="1800" dirty="0">
                <a:ea typeface="ＭＳ Ｐゴシック" panose="020B0600070205080204" pitchFamily="34" charset="-128"/>
              </a:rPr>
              <a:t>”</a:t>
            </a:r>
            <a:r>
              <a:rPr lang="en-US" altLang="ja-JP" sz="1800" dirty="0">
                <a:ea typeface="ＭＳ Ｐゴシック" panose="020B0600070205080204" pitchFamily="34" charset="-128"/>
              </a:rPr>
              <a:t> access to search, video content, …</a:t>
            </a:r>
          </a:p>
          <a:p>
            <a:pPr marL="354806" indent="-257175">
              <a:spcBef>
                <a:spcPts val="450"/>
              </a:spcBef>
            </a:pPr>
            <a:r>
              <a:rPr lang="en-US" altLang="en-US" sz="2100" dirty="0">
                <a:ea typeface="ＭＳ Ｐゴシック" panose="020B0600070205080204" pitchFamily="34" charset="-128"/>
              </a:rPr>
              <a:t>enterprises run their services in “</a:t>
            </a:r>
            <a:r>
              <a:rPr lang="en-US" altLang="ja-JP" sz="2100" dirty="0">
                <a:ea typeface="ＭＳ Ｐゴシック" panose="020B0600070205080204" pitchFamily="34" charset="-128"/>
              </a:rPr>
              <a:t>cloud” </a:t>
            </a:r>
            <a:r>
              <a:rPr lang="en-US" altLang="ja-JP" sz="1800" dirty="0">
                <a:ea typeface="ＭＳ Ｐゴシック" panose="020B0600070205080204" pitchFamily="34" charset="-128"/>
              </a:rPr>
              <a:t>(e.g., Amazon Web Services, Microsoft Azure)</a:t>
            </a:r>
            <a:endParaRPr lang="en-US" altLang="en-US" sz="2100" dirty="0">
              <a:ea typeface="ＭＳ Ｐゴシック" panose="020B060007020508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600250" y="908977"/>
            <a:ext cx="86421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2005-present: more new applications, Internet is “everywhere”</a:t>
            </a:r>
          </a:p>
        </p:txBody>
      </p:sp>
      <p:sp>
        <p:nvSpPr>
          <p:cNvPr id="7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35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51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50" y="218960"/>
            <a:ext cx="7886700" cy="670967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Chapter 1: summary</a:t>
            </a:r>
            <a:endParaRPr lang="en-US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507999" y="994139"/>
            <a:ext cx="4642207" cy="3914775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We’ve covered a “</a:t>
            </a:r>
            <a:r>
              <a:rPr lang="en-US" altLang="ja-JP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ton” of material!</a:t>
            </a:r>
          </a:p>
          <a:p>
            <a:pPr marL="354806" indent="-2667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Internet overview</a:t>
            </a:r>
          </a:p>
          <a:p>
            <a:pPr marL="354806" indent="-2667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what</a:t>
            </a:r>
            <a:r>
              <a:rPr lang="ja-JP" altLang="en-US" sz="2100">
                <a:ea typeface="ＭＳ Ｐゴシック" panose="020B0600070205080204" pitchFamily="34" charset="-128"/>
              </a:rPr>
              <a:t>’</a:t>
            </a:r>
            <a:r>
              <a:rPr lang="en-US" altLang="ja-JP" sz="2100" dirty="0">
                <a:ea typeface="ＭＳ Ｐゴシック" panose="020B0600070205080204" pitchFamily="34" charset="-128"/>
              </a:rPr>
              <a:t>s a protocol?</a:t>
            </a:r>
          </a:p>
          <a:p>
            <a:pPr marL="354806" indent="-2667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network edge, access network, core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2100" dirty="0">
                <a:ea typeface="Arial" panose="020B0604020202020204" pitchFamily="34" charset="0"/>
              </a:rPr>
              <a:t>packet-switching versus circuit-switching</a:t>
            </a:r>
          </a:p>
          <a:p>
            <a:pPr marL="511969" lvl="1" indent="-169069">
              <a:lnSpc>
                <a:spcPct val="80000"/>
              </a:lnSpc>
            </a:pPr>
            <a:r>
              <a:rPr lang="en-US" altLang="en-US" sz="2100" dirty="0">
                <a:ea typeface="Arial" panose="020B0604020202020204" pitchFamily="34" charset="0"/>
              </a:rPr>
              <a:t>Internet structure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performance: loss, delay, throughput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layering, service models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security</a:t>
            </a:r>
          </a:p>
          <a:p>
            <a:pPr marL="354806" indent="-304800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</a:rPr>
              <a:t>history</a:t>
            </a:r>
            <a:endParaRPr lang="en-US" sz="21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515DDB-81B8-9745-A3D6-9EFD3E80B128}"/>
              </a:ext>
            </a:extLst>
          </p:cNvPr>
          <p:cNvSpPr txBox="1">
            <a:spLocks noChangeArrowheads="1"/>
          </p:cNvSpPr>
          <p:nvPr/>
        </p:nvSpPr>
        <p:spPr>
          <a:xfrm>
            <a:off x="5712445" y="1751376"/>
            <a:ext cx="2793206" cy="271902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You now have:</a:t>
            </a:r>
            <a:r>
              <a:rPr lang="en-US" altLang="en-US" sz="21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context, overview, vocabulary,  “</a:t>
            </a:r>
            <a:r>
              <a:rPr lang="en-US" altLang="ja-JP" sz="2400" dirty="0">
                <a:ea typeface="ＭＳ Ｐゴシック" panose="020B0600070205080204" pitchFamily="34" charset="-128"/>
              </a:rPr>
              <a:t>feel” of networking</a:t>
            </a:r>
          </a:p>
          <a:p>
            <a:pPr marL="354806" indent="-266700"/>
            <a:r>
              <a:rPr lang="en-US" altLang="en-US" sz="2400" dirty="0">
                <a:ea typeface="ＭＳ Ｐゴシック" panose="020B0600070205080204" pitchFamily="34" charset="-128"/>
              </a:rPr>
              <a:t>more depth, detail,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and fun </a:t>
            </a:r>
            <a:r>
              <a:rPr lang="en-US" altLang="en-US" sz="2400" dirty="0">
                <a:ea typeface="ＭＳ Ｐゴシック" panose="020B0600070205080204" pitchFamily="34" charset="-128"/>
              </a:rPr>
              <a:t>to follow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!</a:t>
            </a: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sp>
        <p:nvSpPr>
          <p:cNvPr id="8" name="Google Shape;79;p1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dirty="0" smtClean="0">
                <a:solidFill>
                  <a:schemeClr val="accent1"/>
                </a:solidFill>
                <a:latin typeface="Source Sans Pro" panose="020B0604020202020204" charset="0"/>
              </a:rPr>
              <a:t>36</a:t>
            </a:r>
            <a:endParaRPr sz="1300" b="1" dirty="0">
              <a:solidFill>
                <a:schemeClr val="accent1"/>
              </a:solidFill>
              <a:latin typeface="Source Sans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92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2683</Words>
  <Application>Microsoft Office PowerPoint</Application>
  <PresentationFormat>On-screen Show (16:9)</PresentationFormat>
  <Paragraphs>594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Arial</vt:lpstr>
      <vt:lpstr>Times New Roman</vt:lpstr>
      <vt:lpstr>ZapfDingbats</vt:lpstr>
      <vt:lpstr>Roboto Slab</vt:lpstr>
      <vt:lpstr>ＭＳ Ｐゴシック</vt:lpstr>
      <vt:lpstr>Wingdings</vt:lpstr>
      <vt:lpstr>Calibri</vt:lpstr>
      <vt:lpstr>Source Sans Pro</vt:lpstr>
      <vt:lpstr>ＭＳ Ｐゴシック</vt:lpstr>
      <vt:lpstr>Gill Sans MT</vt:lpstr>
      <vt:lpstr>Cordelia template</vt:lpstr>
      <vt:lpstr> </vt:lpstr>
      <vt:lpstr>Chapter 1: Computer Networks and the Internet</vt:lpstr>
      <vt:lpstr>How do packet loss and delay occur?</vt:lpstr>
      <vt:lpstr>Packet delay: four sources</vt:lpstr>
      <vt:lpstr>Packet delay: four sources</vt:lpstr>
      <vt:lpstr>Packet delay: four sources</vt:lpstr>
      <vt:lpstr>Caravan analogy</vt:lpstr>
      <vt:lpstr>Caravan analogy</vt:lpstr>
      <vt:lpstr>Packet queueing delay (revisited)</vt:lpstr>
      <vt:lpstr>“Real” Internet delays and routes</vt:lpstr>
      <vt:lpstr>Real Internet delays and routes</vt:lpstr>
      <vt:lpstr>Packet loss</vt:lpstr>
      <vt:lpstr>Throughput</vt:lpstr>
      <vt:lpstr>Throughput</vt:lpstr>
      <vt:lpstr>Throughput: network scenario</vt:lpstr>
      <vt:lpstr>Chapter 1: Computer Networks and the Internet</vt:lpstr>
      <vt:lpstr>Network security</vt:lpstr>
      <vt:lpstr>Bad guys: malware </vt:lpstr>
      <vt:lpstr>Bad guys: denial of service</vt:lpstr>
      <vt:lpstr>Bad guys: packet interception</vt:lpstr>
      <vt:lpstr>Bad guys:  fake identity</vt:lpstr>
      <vt:lpstr>Chapter 1: Computer Networks and the Internet</vt:lpstr>
      <vt:lpstr>Protocol “layers” and reference models</vt:lpstr>
      <vt:lpstr>Example: organization of air travel</vt:lpstr>
      <vt:lpstr>Example: organization of air travel</vt:lpstr>
      <vt:lpstr>Why layering?</vt:lpstr>
      <vt:lpstr>ISO/OSI reference model</vt:lpstr>
      <vt:lpstr>Internet protocol stack</vt:lpstr>
      <vt:lpstr>Encapsulation</vt:lpstr>
      <vt:lpstr>Chapter 1: Computer Networks and the Internet</vt:lpstr>
      <vt:lpstr>Internet history</vt:lpstr>
      <vt:lpstr>Internet history</vt:lpstr>
      <vt:lpstr>Internet history</vt:lpstr>
      <vt:lpstr>Internet history</vt:lpstr>
      <vt:lpstr>Internet history</vt:lpstr>
      <vt:lpstr>Chapter 1: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cp:lastModifiedBy>user</cp:lastModifiedBy>
  <cp:revision>63</cp:revision>
  <dcterms:modified xsi:type="dcterms:W3CDTF">2025-05-26T11:34:41Z</dcterms:modified>
</cp:coreProperties>
</file>